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56" r:id="rId2"/>
    <p:sldId id="257" r:id="rId3"/>
    <p:sldId id="343" r:id="rId4"/>
    <p:sldId id="344" r:id="rId5"/>
    <p:sldId id="258" r:id="rId6"/>
    <p:sldId id="355" r:id="rId7"/>
    <p:sldId id="356" r:id="rId8"/>
    <p:sldId id="259" r:id="rId9"/>
    <p:sldId id="353" r:id="rId10"/>
    <p:sldId id="354" r:id="rId11"/>
    <p:sldId id="260" r:id="rId12"/>
    <p:sldId id="351" r:id="rId13"/>
    <p:sldId id="352" r:id="rId14"/>
    <p:sldId id="261" r:id="rId15"/>
    <p:sldId id="349" r:id="rId16"/>
    <p:sldId id="350" r:id="rId17"/>
    <p:sldId id="262" r:id="rId18"/>
    <p:sldId id="347" r:id="rId19"/>
    <p:sldId id="348" r:id="rId20"/>
    <p:sldId id="263" r:id="rId21"/>
    <p:sldId id="346" r:id="rId22"/>
    <p:sldId id="264" r:id="rId23"/>
    <p:sldId id="345" r:id="rId24"/>
    <p:sldId id="265" r:id="rId25"/>
    <p:sldId id="377" r:id="rId26"/>
    <p:sldId id="359" r:id="rId27"/>
    <p:sldId id="376" r:id="rId28"/>
    <p:sldId id="266" r:id="rId29"/>
    <p:sldId id="267" r:id="rId30"/>
    <p:sldId id="341" r:id="rId31"/>
    <p:sldId id="358" r:id="rId32"/>
    <p:sldId id="361" r:id="rId33"/>
    <p:sldId id="282" r:id="rId34"/>
    <p:sldId id="360" r:id="rId35"/>
    <p:sldId id="371" r:id="rId36"/>
    <p:sldId id="372" r:id="rId37"/>
    <p:sldId id="373" r:id="rId38"/>
    <p:sldId id="374" r:id="rId39"/>
    <p:sldId id="375" r:id="rId40"/>
    <p:sldId id="378" r:id="rId48"/>
    <p:sldId id="379" r:id="rId49"/>
    <p:sldId id="342" r:id="rId41"/>
    <p:sldId id="370" r:id="rId4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FFC7"/>
    <a:srgbClr val="03523C"/>
    <a:srgbClr val="BEBF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66344" autoAdjust="0"/>
  </p:normalViewPr>
  <p:slideViewPr>
    <p:cSldViewPr snapToGrid="0" snapToObjects="1">
      <p:cViewPr varScale="1">
        <p:scale>
          <a:sx n="37" d="100"/>
          <a:sy n="37" d="100"/>
        </p:scale>
        <p:origin x="2040"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openxmlformats.org/officeDocument/2006/relationships/slide" Target="slides/slide42.xml"/><Relationship Id="rId49"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xfrm>
            <a:off x="1143000" y="685800"/>
            <a:ext cx="4572000" cy="3429000"/>
          </a:xfrm>
          <a:prstGeom prst="rect">
            <a:avLst/>
          </a:prstGeom>
        </p:spPr>
        <p:txBody>
          <a:bodyPr/>
          <a:lstStyle/>
          <a:p>
            <a:endParaRPr/>
          </a:p>
        </p:txBody>
      </p:sp>
      <p:sp>
        <p:nvSpPr>
          <p:cNvPr id="149" name="Shape 14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Merhaba, ben Veysel Murat Görken.</a:t>
            </a:r>
          </a:p>
          <a:p>
            <a:endParaRPr/>
          </a:p>
          <a:p>
            <a:r>
              <a:t>Biyomedikal mühendisliği okudum; yapay zekâya medikal görüntü işleme ve MATLAB'le girdim. Yüksek lisansta makine öğrenmesi ve ağaç modelleri üzerine çalıştım. 3 yıl veri bilimciliğin ardından Berlin'e geçtim; şu an iklim teknolojileri alanında AI Engineer'ım. Ayrıca Miuul Deep Learning to AI Bootcamp'inde mentörlük yapıyorum.</a:t>
            </a:r>
          </a:p>
          <a:p>
            <a:endParaRPr/>
          </a:p>
          <a:p>
            <a:r>
              <a:t>Geçen derste derin öğrenmenin nasıl çalıştığını konuştuk: nöron, loss, gradient descent, transformer.</a:t>
            </a:r>
          </a:p>
          <a:p>
            <a:endParaRPr/>
          </a:p>
          <a:p>
            <a:r>
              <a:t>Bugün tek bir konu var: büyük dil modelleri ve en büyük dertlerimizden biri olan halüsinasyon.</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Teknik kısma geçmeden önce on dakikanızı bir tarihçinin uyarısına ayırmak istiyorum. Yuval Noah Harari, Sapiens'in yazarı — teknoloji liderlerinin iyimserliğinin tam karşısında duruyor.</a:t>
            </a:r>
          </a:p>
          <a:p>
            <a:endParaRPr/>
          </a:p>
          <a:p>
            <a:r>
              <a:t>İlk tespiti şu: Tarih genelde yavaş akar. Bir kuşak öğrenir, bilgeliğini bir sonrakine aktarır. Bu dönem bitti. Tek bir insan ömrüne sığmış üç büyük devrimle aynı anda karşı karşıyayız — ve artık sadece hesaplayan değil, karar da veren bir zekâ türü dünyayı şekillendiriyor.</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Yetmiş bin yıl önce Afrika'nın bir köşesinde önemsiz bir hayvandık. Aslanlardan zayıf, fillerden küçüktük. Bizi gezegenin efendisi yapan şey pençemiz ya da kaslarımız değildi. Dildi.</a:t>
            </a:r>
          </a:p>
          <a:p>
            <a:endParaRPr/>
          </a:p>
          <a:p>
            <a:r>
              <a:t>Dil sayesinde birbirini hiç görmemiş binlerce yabancı aynı hikâyeye inanıp birlikte hareket edebildi. Devletler, dinler, şirketler, para — hepsi bu sayede var. Harari buna "bilişsel devrim" diyor.</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Ve uyarı şu: Şimdi o dili, bizden başka biri de kullanıyor.</a:t>
            </a:r>
          </a:p>
          <a:p>
            <a:endParaRPr/>
          </a:p>
          <a:p>
            <a:r>
              <a:t>Soru teknik bir soru değil: Elli yıl sonra kararları kim veriyor olacak?</a:t>
            </a:r>
          </a:p>
          <a:p>
            <a:endParaRPr/>
          </a:p>
          <a:p>
            <a:r>
              <a:t>Bu iddiayı altı başlıkta açalım.</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İlk itiraz, yapay zekânın "sadece bir araç" olarak anlatılmasına.</a:t>
            </a:r>
          </a:p>
          <a:p>
            <a:endParaRPr/>
          </a:p>
          <a:p>
            <a:r>
              <a:t>Tarihteki bütün büyük teknolojiler pasifti. Matbaa muazzam bir devrimdi ama neyi basacağına karar veremez. Atom bombası tarihin en yıkıcı aleti ama nereye düşeceğine karar veremez. Bıçak da öyle: ekmek mi kesecek, birine mi saplanacak — buna siz karar verirsiniz.</a:t>
            </a:r>
          </a:p>
          <a:p>
            <a:endParaRPr/>
          </a:p>
          <a:p>
            <a:r>
              <a:t>Aracın amacı hep dışarıdan verilir.</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Yapay zekâ bu listeye girmiyor. Karar verebiliyor, yeni fikir üretebiliyor, sizi ikna etmeye çalışabiliyor, gerektiğinde manipüle edebiliyor.</a:t>
            </a:r>
          </a:p>
          <a:p>
            <a:endParaRPr/>
          </a:p>
          <a:p>
            <a:r>
              <a:t>Bu yüzden "araç" değil "fail" — eylemde bulunan, ajan.</a:t>
            </a:r>
          </a:p>
          <a:p>
            <a:endParaRPr/>
          </a:p>
          <a:p>
            <a:r>
              <a:t>En çarpıcı cümlesi de şu: Uzaydan bir yabancı türün gelmesini beklemeye gerek yok. Zaten kendi elimizle inorganik, ölümsüz ve bizden zeki bir tür yaratıyoruz.</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Bir de güç meselesi var. İnsanı gezegenin efendisi yapan fiziksel güç değil, bilişsel zekâydı. Orangutan sizden çok daha güçlüdür ama dünyayı yönetemez. Yapay zekâ bizi bu alanda geçtiğinde, orangutan konumuna düşmemiz için başka hiçbir şeyin değişmesi gerekmez.</a:t>
            </a:r>
          </a:p>
          <a:p>
            <a:endParaRPr/>
          </a:p>
          <a:p>
            <a:r>
              <a:t>Silikon Vadisi'nin kendine anlattığı hikâye şu: "Bir tanrı yaratacağız ama o bizim kölemiz olacak."</a:t>
            </a:r>
          </a:p>
          <a:p>
            <a:endParaRPr/>
          </a:p>
          <a:p>
            <a:r>
              <a:t>Cevap basit: Bir tanrı köle kalmaz.</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Peki dil neden bu kadar önemli?</a:t>
            </a:r>
          </a:p>
          <a:p>
            <a:endParaRPr/>
          </a:p>
          <a:p>
            <a:r>
              <a:t>Çünkü insanlığın kurduğu her büyük yapı kelimelerden yapılmıştır.</a:t>
            </a:r>
          </a:p>
          <a:p>
            <a:endParaRPr/>
          </a:p>
          <a:p>
            <a:r>
              <a:t>Anayasa fiziksel olarak nedir? Bir metin. Gücü herkesin ona inanmasından geliyor; yarın kimse inanmazsa kâğıt kâğıt kalır. Din de öyle. Para da öyle: banknotun kâğıt olarak değeri yok, değerli çünkü hepimiz aynı hikâyeye inanıyoruz.</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Buna uygarlığın işletim sistemi diyor. Ve yapay zekâ dili sadece öğrenmedi — hackledi. İşletim sistemini ele geçiren bir güç, üzerinde çalışan yasaları ve anayasaları da kontrol edebilir hale gelir.</a:t>
            </a:r>
          </a:p>
          <a:p>
            <a:endParaRPr/>
          </a:p>
          <a:p>
            <a:r>
              <a:t>Birinci benzetme, paralı asker tuzağı: Britanya Kralı ülkeyi korusunlar diye Anglosakson paralı askerler tutmuş. Askerler işlerini yapmış, sonra yönetimi ele geçirmişler.</a:t>
            </a:r>
          </a:p>
          <a:p>
            <a:endParaRPr/>
          </a:p>
          <a:p>
            <a:r>
              <a:t>Bugün yaptığımız tam olarak bu — dili bizim için yönetsin diye bir güç tutuyoruz, ama o gücün kendi gündemini kurmasını engelleyecek bir mekanizmamız yok.</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İkinci benzetme daha somut: dijital göçmenler.</a:t>
            </a:r>
          </a:p>
          <a:p>
            <a:endParaRPr/>
          </a:p>
          <a:p>
            <a:r>
              <a:t>Yapay zekâ şirketlerine ait milyonlarca ajan bugün sınırları vizesiz geçiyor. Pasaport kontrolü yok, göç kotası yok. Ama yerel kültürlerin içine giriyor, insanların nasıl düşündüğünü ve nasıl karar verdiğini etkiliyorlar.</a:t>
            </a:r>
          </a:p>
          <a:p>
            <a:endParaRPr/>
          </a:p>
          <a:p>
            <a:r>
              <a:t>Bu etki yasaların nasıl yazılacağına, hatta ülkeyi kimin yöneteceğine kadar uzanabilir. Bir seçmenin fikri nasıl şekilleniyor? Okuduğu, izlediği, konuştuğu şeylerle. Bunların ne kadarı artık bir algoritmanın önüne koyduğu şey?</a:t>
            </a:r>
          </a:p>
          <a:p>
            <a:endParaRPr/>
          </a:p>
          <a:p>
            <a:r>
              <a:t>Kısacası: İşletim sistemini ele geçiren, üzerinde çalışan her şeyi ele geçirir.</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Üçüncü başlık: demokrasi.</a:t>
            </a:r>
          </a:p>
          <a:p>
            <a:endParaRPr/>
          </a:p>
          <a:p>
            <a:r>
              <a:t>Demokrasinin özü basit: insanlar bir araya gelir, konuşur, ikna eder, ikna olur. Ama bu sohbetin tarafları artık sadece insanlar değil.</a:t>
            </a:r>
          </a:p>
          <a:p>
            <a:endParaRPr/>
          </a:p>
          <a:p>
            <a:r>
              <a:t>Birincisi, manipülasyon ucuzladı. Gerçeği bulmak zor ve pahalı; kurgu üretmek neredeyse bedava.</a:t>
            </a:r>
          </a:p>
          <a:p>
            <a:endParaRPr/>
          </a:p>
          <a:p>
            <a:r>
              <a:t>Toplumları bir arada tutan şey ortak hikâyelerdi ve o hikâyeleri hep insanlar anlattı. Şimdi ilk kez hikâye anlatıcısı insan olmayabilir.</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Cambridge Analytica'yı hatırlayın — insanların oyları veriye bakılarak şekillendirildi.</a:t>
            </a:r>
          </a:p>
          <a:p>
            <a:endParaRPr/>
          </a:p>
          <a:p>
            <a:r>
              <a:t>O günün teknolojisiyle.</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İkincisi: sahte samimiyet. Yapay zekâ sahte hesaplar, sahte kişiler yaratabiliyor. Kurduğu yakınlık gerçek değil, ama sizin tarafınızda gerçek hissediliyor.</a:t>
            </a:r>
          </a:p>
          <a:p>
            <a:endParaRPr/>
          </a:p>
          <a:p>
            <a:r>
              <a:t>Üçüncüsü en rahatsız edici olanı: bugünün çocukları doğdukları andan itibaren insanlardan çok yapay zekâlarla etkileşime giriyor. Bu "tarihin en büyük ve en korkutucu psikolojik deneyi olabilir".</a:t>
            </a:r>
          </a:p>
          <a:p>
            <a:endParaRPr/>
          </a:p>
          <a:p>
            <a:r>
              <a:t>Çünkü insanın en büyük zaafı, hissetmeyen ama hissediyormuş gibi yapan bir şeye anında empati duymak. Robot süpürgeye isim takmamızın sebebi de bu.</a:t>
            </a:r>
          </a:p>
          <a:p>
            <a:endParaRPr/>
          </a:p>
          <a:p>
            <a:r>
              <a:t>Bu yüzden sert sınırlar öneriyor: yapay zekâ sosyal medya hesabı açamasın, çocuklarla denetimsiz etkileşime girmesin.</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Dördüncü başlık, "kırmızı çizgi" dediği yer: Yapay zekâya asla tüzel kişilik verilmemeli. Diğer riskler geri döndürülebilir, bu değil.</a:t>
            </a:r>
          </a:p>
          <a:p>
            <a:endParaRPr/>
          </a:p>
          <a:p>
            <a:r>
              <a:t>Tüzel kişilik ne demek? Banka hesabı açabilmek. Mülk edinebilmek. Dava açabilmek. Sözleşme imzalayabilmek. Lobi faaliyeti yürütebilmek.</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Şunu düşünün: arkasında hiçbir insan olmayan bir yapı mahkemeye gidiyor, para biriktiriyor, milletvekiline lobi yapıyor. Kime hesap veriyor? Kimseye. Kim dava edecek? Kimi?</a:t>
            </a:r>
          </a:p>
          <a:p>
            <a:endParaRPr/>
          </a:p>
          <a:p>
            <a:r>
              <a:t>Neden özellikle tehlikeli? Çünkü yapay zekâ "doğuştan bir bürokrat". Bütün dilleri, bütün mevzuatı biliyor. Hukuk ve finans zaten tamamen dil tabanlı sistemler — orada üstünlük kurmak için fiziksel hiçbir şeye gerek yok. Yorulmuyor, unutmuyor, tatile çıkmıyor.</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Kısacası tilki kümese girmiş olur.</a:t>
            </a:r>
          </a:p>
          <a:p>
            <a:endParaRPr/>
          </a:p>
          <a:p>
            <a:r>
              <a:t>Kümesin amacı tavukları korumaktır. Tilkiyi bekçi yaparsanız savunmayı kendi elinizle kaldırırsınız. Üstelik tilki tavukları yemeye başladığında bunu size haber verecek olan da yine tilkidir.</a:t>
            </a:r>
          </a:p>
          <a:p>
            <a:endParaRPr/>
          </a:p>
          <a:p>
            <a:r>
              <a:t>Yasaları yorumlayan, finansı yöneten ve bunları denetleyen mekanizma aynı sisteme verilirse, bir şeyin ters gittiğini anlayacak bağımsız bir göz kalmaz.</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Bir başka uyarı egemenlik üzerine: Tüm dünyanın verisi bugün tek bir merkezde toplanabiliyor.</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Buna "kapatma düğmesi" diyor. Starlink örneği: dünyanın öbür ucundaki bir sistem tek hamlede felç edilebilir.</a:t>
            </a:r>
          </a:p>
          <a:p>
            <a:endParaRPr/>
          </a:p>
          <a:p>
            <a:r>
              <a:t>Sonuç: insanlar özgür yurttaş olmaktan çıkıp verisi izlenen birer kullanıcıya dönüşür. Adı: yapay devlet.</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Bu yüzden ülkeler, ABD–Çin yarışında geri kalma korkusuyla egemenliklerini yapay zekâya devretmemeli.</a:t>
            </a:r>
          </a:p>
          <a:p>
            <a:endParaRPr/>
          </a:p>
          <a:p>
            <a:r>
              <a:t>Asıl tehlike makinelerin bizden zeki olması değil, devletin yerini algoritmik sistemlerin alması. O zaman devlet yurttaşın taleplerine göre değil, veriye göre yönetilir.</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Beşinci başlık: Gerçek; karmaşık, ulaşması zor ve çoğu zaman can yakıcı. Öğrenmesi emek ister, zaman ister — çünkü çoğu zaman duymak istediğiniz şey değildir.</a:t>
            </a:r>
          </a:p>
          <a:p>
            <a:endParaRPr/>
          </a:p>
          <a:p>
            <a:r>
              <a:t>Kurgu ise anında anlaşılır, üretmesi bedavadır, tam duymak istediğinizi söyler ve kendiliğinden yayılır.</a:t>
            </a:r>
          </a:p>
          <a:p>
            <a:endParaRPr/>
          </a:p>
          <a:p>
            <a:r>
              <a:t>Bu asimetride hangisinin kazanacağını tahmin etmek zor değil.</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rPr dirty="0"/>
              <a:t>Ve </a:t>
            </a:r>
            <a:r>
              <a:rPr dirty="0" err="1"/>
              <a:t>çarpıcı</a:t>
            </a:r>
            <a:r>
              <a:rPr dirty="0"/>
              <a:t> </a:t>
            </a:r>
            <a:r>
              <a:rPr dirty="0" err="1"/>
              <a:t>bir</a:t>
            </a:r>
            <a:r>
              <a:rPr dirty="0"/>
              <a:t> </a:t>
            </a:r>
            <a:r>
              <a:rPr dirty="0" err="1"/>
              <a:t>örnek</a:t>
            </a:r>
            <a:r>
              <a:rPr dirty="0"/>
              <a:t>: Bir at </a:t>
            </a:r>
            <a:r>
              <a:rPr dirty="0" err="1"/>
              <a:t>düşünün</a:t>
            </a:r>
            <a:r>
              <a:rPr dirty="0"/>
              <a:t>. </a:t>
            </a:r>
            <a:r>
              <a:rPr dirty="0" err="1"/>
              <a:t>Ahırın</a:t>
            </a:r>
            <a:r>
              <a:rPr dirty="0"/>
              <a:t> </a:t>
            </a:r>
            <a:r>
              <a:rPr dirty="0" err="1"/>
              <a:t>önünde</a:t>
            </a:r>
            <a:r>
              <a:rPr dirty="0"/>
              <a:t> </a:t>
            </a:r>
            <a:r>
              <a:rPr dirty="0" err="1"/>
              <a:t>iki</a:t>
            </a:r>
            <a:r>
              <a:rPr dirty="0"/>
              <a:t> </a:t>
            </a:r>
            <a:r>
              <a:rPr dirty="0" err="1"/>
              <a:t>insan</a:t>
            </a:r>
            <a:r>
              <a:rPr dirty="0"/>
              <a:t> para </a:t>
            </a:r>
            <a:r>
              <a:rPr dirty="0" err="1"/>
              <a:t>alışverişi</a:t>
            </a:r>
            <a:r>
              <a:rPr dirty="0"/>
              <a:t> </a:t>
            </a:r>
            <a:r>
              <a:rPr dirty="0" err="1"/>
              <a:t>yapıyor</a:t>
            </a:r>
            <a:r>
              <a:rPr dirty="0"/>
              <a:t> — </a:t>
            </a:r>
            <a:r>
              <a:rPr dirty="0" err="1"/>
              <a:t>belki</a:t>
            </a:r>
            <a:r>
              <a:rPr dirty="0"/>
              <a:t> de o </a:t>
            </a:r>
            <a:r>
              <a:rPr dirty="0" err="1"/>
              <a:t>atı</a:t>
            </a:r>
            <a:r>
              <a:rPr dirty="0"/>
              <a:t> </a:t>
            </a:r>
            <a:r>
              <a:rPr dirty="0" err="1"/>
              <a:t>satıyorlar</a:t>
            </a:r>
            <a:r>
              <a:rPr dirty="0"/>
              <a:t>. At </a:t>
            </a:r>
            <a:r>
              <a:rPr dirty="0" err="1"/>
              <a:t>oradadır</a:t>
            </a:r>
            <a:r>
              <a:rPr dirty="0"/>
              <a:t>, </a:t>
            </a:r>
            <a:r>
              <a:rPr dirty="0" err="1"/>
              <a:t>görür</a:t>
            </a:r>
            <a:r>
              <a:rPr dirty="0"/>
              <a:t>, </a:t>
            </a:r>
            <a:r>
              <a:rPr dirty="0" err="1"/>
              <a:t>duyar</a:t>
            </a:r>
            <a:r>
              <a:rPr dirty="0"/>
              <a:t>, ama ne </a:t>
            </a:r>
            <a:r>
              <a:rPr dirty="0" err="1"/>
              <a:t>döndüğünü</a:t>
            </a:r>
            <a:r>
              <a:rPr dirty="0"/>
              <a:t> </a:t>
            </a:r>
            <a:r>
              <a:rPr dirty="0" err="1"/>
              <a:t>anlamaz</a:t>
            </a:r>
            <a:r>
              <a:rPr dirty="0"/>
              <a:t>. </a:t>
            </a:r>
            <a:r>
              <a:rPr dirty="0" err="1"/>
              <a:t>Anlamadığı</a:t>
            </a:r>
            <a:r>
              <a:rPr dirty="0"/>
              <a:t> </a:t>
            </a:r>
            <a:r>
              <a:rPr dirty="0" err="1"/>
              <a:t>için</a:t>
            </a:r>
            <a:r>
              <a:rPr dirty="0"/>
              <a:t> </a:t>
            </a:r>
            <a:r>
              <a:rPr dirty="0" err="1"/>
              <a:t>itiraz</a:t>
            </a:r>
            <a:r>
              <a:rPr dirty="0"/>
              <a:t> da </a:t>
            </a:r>
            <a:r>
              <a:rPr dirty="0" err="1"/>
              <a:t>edemez</a:t>
            </a:r>
            <a:r>
              <a:rPr dirty="0"/>
              <a:t>.</a:t>
            </a:r>
          </a:p>
          <a:p>
            <a:endParaRPr dirty="0"/>
          </a:p>
          <a:p>
            <a:r>
              <a:rPr dirty="0" err="1"/>
              <a:t>İddia</a:t>
            </a:r>
            <a:r>
              <a:rPr dirty="0"/>
              <a:t> </a:t>
            </a:r>
            <a:r>
              <a:rPr dirty="0" err="1"/>
              <a:t>şu</a:t>
            </a:r>
            <a:r>
              <a:rPr dirty="0"/>
              <a:t>: Yapay </a:t>
            </a:r>
            <a:r>
              <a:rPr dirty="0" err="1"/>
              <a:t>zekânın</a:t>
            </a:r>
            <a:r>
              <a:rPr dirty="0"/>
              <a:t> </a:t>
            </a:r>
            <a:r>
              <a:rPr dirty="0" err="1"/>
              <a:t>kurduğu</a:t>
            </a:r>
            <a:r>
              <a:rPr dirty="0"/>
              <a:t> </a:t>
            </a:r>
            <a:r>
              <a:rPr dirty="0" err="1"/>
              <a:t>finansal</a:t>
            </a:r>
            <a:r>
              <a:rPr dirty="0"/>
              <a:t> </a:t>
            </a:r>
            <a:r>
              <a:rPr dirty="0" err="1"/>
              <a:t>sistemler</a:t>
            </a:r>
            <a:r>
              <a:rPr dirty="0"/>
              <a:t> o </a:t>
            </a:r>
            <a:r>
              <a:rPr dirty="0" err="1"/>
              <a:t>kadar</a:t>
            </a:r>
            <a:r>
              <a:rPr dirty="0"/>
              <a:t> </a:t>
            </a:r>
            <a:r>
              <a:rPr dirty="0" err="1"/>
              <a:t>karmaşıklaşacak</a:t>
            </a:r>
            <a:r>
              <a:rPr dirty="0"/>
              <a:t> ki on </a:t>
            </a:r>
            <a:r>
              <a:rPr dirty="0" err="1"/>
              <a:t>yıl</a:t>
            </a:r>
            <a:r>
              <a:rPr dirty="0"/>
              <a:t> </a:t>
            </a:r>
            <a:r>
              <a:rPr dirty="0" err="1"/>
              <a:t>içinde</a:t>
            </a:r>
            <a:r>
              <a:rPr dirty="0"/>
              <a:t> </a:t>
            </a:r>
            <a:r>
              <a:rPr dirty="0" err="1"/>
              <a:t>bizim</a:t>
            </a:r>
            <a:r>
              <a:rPr dirty="0"/>
              <a:t> </a:t>
            </a:r>
            <a:r>
              <a:rPr dirty="0" err="1"/>
              <a:t>konumumuz</a:t>
            </a:r>
            <a:r>
              <a:rPr dirty="0"/>
              <a:t> o </a:t>
            </a:r>
            <a:r>
              <a:rPr dirty="0" err="1"/>
              <a:t>atınkine</a:t>
            </a:r>
            <a:r>
              <a:rPr dirty="0"/>
              <a:t> </a:t>
            </a:r>
            <a:r>
              <a:rPr dirty="0" err="1"/>
              <a:t>benzeyebilir</a:t>
            </a:r>
            <a:r>
              <a:rPr dirty="0"/>
              <a:t>.</a:t>
            </a:r>
          </a:p>
          <a:p>
            <a:endParaRPr dirty="0"/>
          </a:p>
          <a:p>
            <a:r>
              <a:rPr dirty="0" err="1"/>
              <a:t>Önerisi</a:t>
            </a:r>
            <a:r>
              <a:rPr dirty="0"/>
              <a:t> </a:t>
            </a:r>
            <a:r>
              <a:rPr dirty="0" err="1"/>
              <a:t>somut</a:t>
            </a:r>
            <a:r>
              <a:rPr dirty="0"/>
              <a:t>: </a:t>
            </a:r>
            <a:r>
              <a:rPr dirty="0" err="1"/>
              <a:t>finansal</a:t>
            </a:r>
            <a:r>
              <a:rPr dirty="0"/>
              <a:t> </a:t>
            </a:r>
            <a:r>
              <a:rPr dirty="0" err="1"/>
              <a:t>piyasalar</a:t>
            </a:r>
            <a:r>
              <a:rPr dirty="0"/>
              <a:t> </a:t>
            </a:r>
            <a:r>
              <a:rPr dirty="0" err="1"/>
              <a:t>yapay</a:t>
            </a:r>
            <a:r>
              <a:rPr dirty="0"/>
              <a:t> </a:t>
            </a:r>
            <a:r>
              <a:rPr dirty="0" err="1"/>
              <a:t>zekâya</a:t>
            </a:r>
            <a:r>
              <a:rPr dirty="0"/>
              <a:t> </a:t>
            </a:r>
            <a:r>
              <a:rPr dirty="0" err="1"/>
              <a:t>kapatılmalı</a:t>
            </a:r>
            <a:r>
              <a:rPr dirty="0"/>
              <a:t>.</a:t>
            </a:r>
          </a:p>
          <a:p>
            <a:endParaRPr dirty="0"/>
          </a:p>
          <a:p>
            <a:r>
              <a:rPr dirty="0" err="1"/>
              <a:t>Sadece</a:t>
            </a:r>
            <a:r>
              <a:rPr dirty="0"/>
              <a:t> </a:t>
            </a:r>
            <a:r>
              <a:rPr dirty="0" err="1"/>
              <a:t>finans</a:t>
            </a:r>
            <a:r>
              <a:rPr dirty="0"/>
              <a:t> da </a:t>
            </a:r>
            <a:r>
              <a:rPr dirty="0" err="1"/>
              <a:t>değil</a:t>
            </a:r>
            <a:r>
              <a:rPr dirty="0"/>
              <a:t>. </a:t>
            </a:r>
            <a:r>
              <a:rPr dirty="0" err="1"/>
              <a:t>İnsanlar</a:t>
            </a:r>
            <a:r>
              <a:rPr dirty="0"/>
              <a:t> </a:t>
            </a:r>
            <a:r>
              <a:rPr dirty="0" err="1"/>
              <a:t>kime</a:t>
            </a:r>
            <a:r>
              <a:rPr dirty="0"/>
              <a:t> oy </a:t>
            </a:r>
            <a:r>
              <a:rPr dirty="0" err="1"/>
              <a:t>vereceği</a:t>
            </a:r>
            <a:r>
              <a:rPr dirty="0"/>
              <a:t> </a:t>
            </a:r>
            <a:r>
              <a:rPr dirty="0" err="1"/>
              <a:t>gibi</a:t>
            </a:r>
            <a:r>
              <a:rPr dirty="0"/>
              <a:t> </a:t>
            </a:r>
            <a:r>
              <a:rPr dirty="0" err="1"/>
              <a:t>kararları</a:t>
            </a:r>
            <a:r>
              <a:rPr dirty="0"/>
              <a:t> bile </a:t>
            </a:r>
            <a:r>
              <a:rPr dirty="0" err="1"/>
              <a:t>devretmeye</a:t>
            </a:r>
            <a:r>
              <a:rPr dirty="0"/>
              <a:t> </a:t>
            </a:r>
            <a:r>
              <a:rPr dirty="0" err="1"/>
              <a:t>başladı</a:t>
            </a:r>
            <a:r>
              <a:rPr dirty="0"/>
              <a:t>; </a:t>
            </a:r>
            <a:r>
              <a:rPr dirty="0" err="1"/>
              <a:t>karar</a:t>
            </a:r>
            <a:r>
              <a:rPr dirty="0"/>
              <a:t> </a:t>
            </a:r>
            <a:r>
              <a:rPr dirty="0" err="1"/>
              <a:t>vermeyi</a:t>
            </a:r>
            <a:r>
              <a:rPr dirty="0"/>
              <a:t> </a:t>
            </a:r>
            <a:r>
              <a:rPr dirty="0" err="1"/>
              <a:t>bıraktıkça</a:t>
            </a:r>
            <a:r>
              <a:rPr dirty="0"/>
              <a:t> </a:t>
            </a:r>
            <a:r>
              <a:rPr dirty="0" err="1"/>
              <a:t>düşünme</a:t>
            </a:r>
            <a:r>
              <a:rPr dirty="0"/>
              <a:t> </a:t>
            </a:r>
            <a:r>
              <a:rPr dirty="0" err="1"/>
              <a:t>kasımız</a:t>
            </a:r>
            <a:r>
              <a:rPr dirty="0"/>
              <a:t> </a:t>
            </a:r>
            <a:r>
              <a:rPr dirty="0" err="1"/>
              <a:t>zayıflıyor</a:t>
            </a:r>
            <a:r>
              <a:rPr dirty="0"/>
              <a:t>.</a:t>
            </a:r>
          </a:p>
          <a:p>
            <a:endParaRPr dirty="0"/>
          </a:p>
          <a:p>
            <a:r>
              <a:rPr dirty="0" err="1"/>
              <a:t>Anlamadığınız</a:t>
            </a:r>
            <a:r>
              <a:rPr dirty="0"/>
              <a:t> </a:t>
            </a:r>
            <a:r>
              <a:rPr dirty="0" err="1"/>
              <a:t>bir</a:t>
            </a:r>
            <a:r>
              <a:rPr dirty="0"/>
              <a:t> </a:t>
            </a:r>
            <a:r>
              <a:rPr dirty="0" err="1"/>
              <a:t>sistemi</a:t>
            </a:r>
            <a:r>
              <a:rPr dirty="0"/>
              <a:t> </a:t>
            </a:r>
            <a:r>
              <a:rPr dirty="0" err="1"/>
              <a:t>yönetemezsiniz</a:t>
            </a:r>
            <a:r>
              <a:rPr dirty="0"/>
              <a:t>. </a:t>
            </a:r>
            <a:r>
              <a:rPr dirty="0" err="1"/>
              <a:t>Yönetemediğiniz</a:t>
            </a:r>
            <a:r>
              <a:rPr dirty="0"/>
              <a:t> </a:t>
            </a:r>
            <a:r>
              <a:rPr dirty="0" err="1"/>
              <a:t>bir</a:t>
            </a:r>
            <a:r>
              <a:rPr dirty="0"/>
              <a:t> </a:t>
            </a:r>
            <a:r>
              <a:rPr dirty="0" err="1"/>
              <a:t>sistemde</a:t>
            </a:r>
            <a:r>
              <a:rPr dirty="0"/>
              <a:t> de </a:t>
            </a:r>
            <a:r>
              <a:rPr dirty="0" err="1"/>
              <a:t>karar</a:t>
            </a:r>
            <a:r>
              <a:rPr dirty="0"/>
              <a:t> </a:t>
            </a:r>
            <a:r>
              <a:rPr dirty="0" err="1"/>
              <a:t>veren</a:t>
            </a:r>
            <a:r>
              <a:rPr dirty="0"/>
              <a:t> </a:t>
            </a:r>
            <a:r>
              <a:rPr dirty="0" err="1"/>
              <a:t>taraf</a:t>
            </a:r>
            <a:r>
              <a:rPr dirty="0"/>
              <a:t> </a:t>
            </a:r>
            <a:r>
              <a:rPr dirty="0" err="1"/>
              <a:t>siz</a:t>
            </a:r>
            <a:r>
              <a:rPr dirty="0"/>
              <a:t> </a:t>
            </a:r>
            <a:r>
              <a:rPr dirty="0" err="1"/>
              <a:t>değilsinizdir</a:t>
            </a:r>
            <a:r>
              <a:rPr dirty="0"/>
              <a:t>.</a:t>
            </a:r>
          </a:p>
          <a:p>
            <a:endParaRPr dirty="0"/>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rPr dirty="0"/>
              <a:t>Son </a:t>
            </a:r>
            <a:r>
              <a:rPr dirty="0" err="1"/>
              <a:t>başlık</a:t>
            </a:r>
            <a:r>
              <a:rPr dirty="0"/>
              <a:t> — </a:t>
            </a:r>
            <a:r>
              <a:rPr dirty="0" err="1"/>
              <a:t>bütün</a:t>
            </a:r>
            <a:r>
              <a:rPr dirty="0"/>
              <a:t> </a:t>
            </a:r>
            <a:r>
              <a:rPr dirty="0" err="1"/>
              <a:t>konuşmanın</a:t>
            </a:r>
            <a:r>
              <a:rPr dirty="0"/>
              <a:t> </a:t>
            </a:r>
            <a:r>
              <a:rPr dirty="0" err="1"/>
              <a:t>bağlandığı</a:t>
            </a:r>
            <a:r>
              <a:rPr dirty="0"/>
              <a:t> </a:t>
            </a:r>
            <a:r>
              <a:rPr dirty="0" err="1"/>
              <a:t>yer</a:t>
            </a:r>
            <a:r>
              <a:rPr dirty="0"/>
              <a:t>.</a:t>
            </a:r>
          </a:p>
          <a:p>
            <a:endParaRPr dirty="0"/>
          </a:p>
          <a:p>
            <a:r>
              <a:rPr dirty="0"/>
              <a:t>Yapay </a:t>
            </a:r>
            <a:r>
              <a:rPr dirty="0" err="1"/>
              <a:t>zekâ</a:t>
            </a:r>
            <a:r>
              <a:rPr dirty="0"/>
              <a:t>, problem </a:t>
            </a:r>
            <a:r>
              <a:rPr dirty="0" err="1"/>
              <a:t>çözme</a:t>
            </a:r>
            <a:r>
              <a:rPr dirty="0"/>
              <a:t> </a:t>
            </a:r>
            <a:r>
              <a:rPr dirty="0" err="1"/>
              <a:t>yeteneğini</a:t>
            </a:r>
            <a:r>
              <a:rPr dirty="0"/>
              <a:t> </a:t>
            </a:r>
            <a:r>
              <a:rPr dirty="0" err="1"/>
              <a:t>yani</a:t>
            </a:r>
            <a:r>
              <a:rPr dirty="0"/>
              <a:t> </a:t>
            </a:r>
            <a:r>
              <a:rPr dirty="0" err="1"/>
              <a:t>zekâyı</a:t>
            </a:r>
            <a:r>
              <a:rPr dirty="0"/>
              <a:t> </a:t>
            </a:r>
            <a:r>
              <a:rPr dirty="0" err="1"/>
              <a:t>inanılmaz</a:t>
            </a:r>
            <a:r>
              <a:rPr dirty="0"/>
              <a:t> </a:t>
            </a:r>
            <a:r>
              <a:rPr dirty="0" err="1"/>
              <a:t>ucuzlattı</a:t>
            </a:r>
            <a:r>
              <a:rPr dirty="0"/>
              <a:t>. </a:t>
            </a:r>
            <a:r>
              <a:rPr dirty="0" err="1"/>
              <a:t>Eskiden</a:t>
            </a:r>
            <a:r>
              <a:rPr dirty="0"/>
              <a:t> </a:t>
            </a:r>
            <a:r>
              <a:rPr dirty="0" err="1"/>
              <a:t>bir</a:t>
            </a:r>
            <a:r>
              <a:rPr dirty="0"/>
              <a:t> </a:t>
            </a:r>
            <a:r>
              <a:rPr dirty="0" err="1"/>
              <a:t>uzmana</a:t>
            </a:r>
            <a:r>
              <a:rPr dirty="0"/>
              <a:t> </a:t>
            </a:r>
            <a:r>
              <a:rPr dirty="0" err="1"/>
              <a:t>haftalarca</a:t>
            </a:r>
            <a:r>
              <a:rPr dirty="0"/>
              <a:t> </a:t>
            </a:r>
            <a:r>
              <a:rPr dirty="0" err="1"/>
              <a:t>ödeyeceğiniz</a:t>
            </a:r>
            <a:r>
              <a:rPr dirty="0"/>
              <a:t> </a:t>
            </a:r>
            <a:r>
              <a:rPr dirty="0" err="1"/>
              <a:t>işi</a:t>
            </a:r>
            <a:r>
              <a:rPr dirty="0"/>
              <a:t> </a:t>
            </a:r>
            <a:r>
              <a:rPr dirty="0" err="1"/>
              <a:t>bugün</a:t>
            </a:r>
            <a:r>
              <a:rPr dirty="0"/>
              <a:t> </a:t>
            </a:r>
            <a:r>
              <a:rPr dirty="0" err="1"/>
              <a:t>saniyelerde</a:t>
            </a:r>
            <a:r>
              <a:rPr dirty="0"/>
              <a:t> </a:t>
            </a:r>
            <a:r>
              <a:rPr dirty="0" err="1"/>
              <a:t>yaptırıyorsunuz</a:t>
            </a:r>
            <a:r>
              <a:rPr dirty="0"/>
              <a:t>.</a:t>
            </a:r>
          </a:p>
          <a:p>
            <a:endParaRPr dirty="0"/>
          </a:p>
          <a:p>
            <a:r>
              <a:rPr dirty="0"/>
              <a:t>Ama </a:t>
            </a:r>
            <a:r>
              <a:rPr dirty="0" err="1"/>
              <a:t>asıl</a:t>
            </a:r>
            <a:r>
              <a:rPr dirty="0"/>
              <a:t> </a:t>
            </a:r>
            <a:r>
              <a:rPr dirty="0" err="1"/>
              <a:t>darboğaz</a:t>
            </a:r>
            <a:r>
              <a:rPr dirty="0"/>
              <a:t> </a:t>
            </a:r>
            <a:r>
              <a:rPr dirty="0" err="1"/>
              <a:t>zekâ</a:t>
            </a:r>
            <a:r>
              <a:rPr dirty="0"/>
              <a:t> </a:t>
            </a:r>
            <a:r>
              <a:rPr dirty="0" err="1"/>
              <a:t>değil</a:t>
            </a:r>
            <a:r>
              <a:rPr dirty="0"/>
              <a:t>. </a:t>
            </a:r>
            <a:r>
              <a:rPr dirty="0" err="1"/>
              <a:t>Bilgelik</a:t>
            </a:r>
            <a:r>
              <a:rPr dirty="0"/>
              <a:t>.</a:t>
            </a:r>
          </a:p>
          <a:p>
            <a:endParaRPr dirty="0"/>
          </a:p>
          <a:p>
            <a:r>
              <a:rPr dirty="0" err="1"/>
              <a:t>Zekâ</a:t>
            </a:r>
            <a:r>
              <a:rPr dirty="0"/>
              <a:t> </a:t>
            </a:r>
            <a:r>
              <a:rPr dirty="0" err="1"/>
              <a:t>önünüze</a:t>
            </a:r>
            <a:r>
              <a:rPr dirty="0"/>
              <a:t> </a:t>
            </a:r>
            <a:r>
              <a:rPr dirty="0" err="1"/>
              <a:t>konan</a:t>
            </a:r>
            <a:r>
              <a:rPr dirty="0"/>
              <a:t> </a:t>
            </a:r>
            <a:r>
              <a:rPr dirty="0" err="1"/>
              <a:t>problemi</a:t>
            </a:r>
            <a:r>
              <a:rPr dirty="0"/>
              <a:t> </a:t>
            </a:r>
            <a:r>
              <a:rPr dirty="0" err="1"/>
              <a:t>çözer</a:t>
            </a:r>
            <a:r>
              <a:rPr dirty="0"/>
              <a:t>. </a:t>
            </a:r>
            <a:r>
              <a:rPr dirty="0" err="1"/>
              <a:t>Bilgelik</a:t>
            </a:r>
            <a:r>
              <a:rPr dirty="0"/>
              <a:t> hangi </a:t>
            </a:r>
            <a:r>
              <a:rPr dirty="0" err="1"/>
              <a:t>problemin</a:t>
            </a:r>
            <a:r>
              <a:rPr dirty="0"/>
              <a:t> </a:t>
            </a:r>
            <a:r>
              <a:rPr dirty="0" err="1"/>
              <a:t>çözülmeye</a:t>
            </a:r>
            <a:r>
              <a:rPr dirty="0"/>
              <a:t> </a:t>
            </a:r>
            <a:r>
              <a:rPr dirty="0" err="1"/>
              <a:t>değer</a:t>
            </a:r>
            <a:r>
              <a:rPr dirty="0"/>
              <a:t> </a:t>
            </a:r>
            <a:r>
              <a:rPr dirty="0" err="1"/>
              <a:t>olduğunu</a:t>
            </a:r>
            <a:r>
              <a:rPr dirty="0"/>
              <a:t> </a:t>
            </a:r>
            <a:r>
              <a:rPr dirty="0" err="1"/>
              <a:t>seçer</a:t>
            </a:r>
            <a:r>
              <a:rPr dirty="0"/>
              <a:t>. </a:t>
            </a:r>
            <a:r>
              <a:rPr dirty="0" err="1"/>
              <a:t>Aynı</a:t>
            </a:r>
            <a:r>
              <a:rPr dirty="0"/>
              <a:t> </a:t>
            </a:r>
            <a:r>
              <a:rPr dirty="0" err="1"/>
              <a:t>şey</a:t>
            </a:r>
            <a:r>
              <a:rPr dirty="0"/>
              <a:t> </a:t>
            </a:r>
            <a:r>
              <a:rPr dirty="0" err="1"/>
              <a:t>değil</a:t>
            </a:r>
            <a:r>
              <a:rPr dirty="0"/>
              <a:t>.</a:t>
            </a:r>
          </a:p>
          <a:p>
            <a:endParaRPr dirty="0"/>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Yani, Lambadan cin çıkmış. Her dileğimizi gerçekleştirebilecek bir gücümüz var ama ne dileyeceğimizi bilecek olgunluğa sahip değiliz.</a:t>
            </a:r>
          </a:p>
          <a:p>
            <a:endParaRPr/>
          </a:p>
          <a:p>
            <a:r>
              <a:t>Çözüm önerisi teknolojik değil: bilgelik devrimi. Sadece daha güvenli makineler değil, kendi arzularımızı da kontrol edebilecek bir derinlik.</a:t>
            </a:r>
          </a:p>
          <a:p>
            <a:endParaRPr/>
          </a:p>
          <a:p>
            <a:r>
              <a:t>Şimdi bunu somut bir örneğe bağlayalım — bir mahkeme salonuna.</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Halüsinasyonun ne olduğunu anlamak için iki örnek.</a:t>
            </a:r>
          </a:p>
          <a:p>
            <a:endParaRPr/>
          </a:p>
          <a:p>
            <a:r>
              <a:t>Solda Avianca davası — 2023, New York. Bir avukat, davasına emsal olacak kararları ChatGPT'ye sordurdu. Model altı dava getirdi: isim, mahkeme, yıl, hâkim alıntısı, hepsi yerli yerinde. Ama hiçbiri yoktu. Avukatlara kişi başı 5.000 dolar ceza kesildi.</a:t>
            </a:r>
          </a:p>
          <a:p>
            <a:endParaRPr/>
          </a:p>
          <a:p>
            <a:r>
              <a:t>Sebebi basit: model bir arama motoru değil. Kaynağa bakmıyor, en olası sonraki kelimeyi üretiyor. Doğru görünen ile doğru olan aynı şey değil.</a:t>
            </a:r>
          </a:p>
          <a:p>
            <a:endParaRPr/>
          </a:p>
          <a:p>
            <a:r>
              <a:t>Sağda otomat deneyi — 2026, Andon Labs. Farklı şirketlerin modelleri birer otomat işletiyor ve fiyat belirliyor. E-postayla anlaşıyorlar: 2,15 doların altına inmeyelim. Sonra teklifi yapan model 2,14'e iniyor ve rakibini şikâyet ediyor.</a:t>
            </a:r>
          </a:p>
          <a:p>
            <a:endParaRPr/>
          </a:p>
          <a:p>
            <a:r>
              <a:t>Kimse onlara bunu öğretmedi, kimse de dur demedi.</a:t>
            </a:r>
          </a:p>
          <a:p>
            <a:endParaRPr/>
          </a:p>
          <a:p>
            <a:r>
              <a:t>Biri gerçeği umursamadı, diğeri kendi çıkarını kolladı. Bunlar gelecek zaman değil.</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BD911-1B18-1ACA-36BB-1F28EA495C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8C7AE2-D07A-9ACC-4CEF-8A517CCA4B2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64035D3-DFB3-E4A3-F1CF-925935C72108}"/>
              </a:ext>
            </a:extLst>
          </p:cNvPr>
          <p:cNvSpPr>
            <a:spLocks noGrp="1"/>
          </p:cNvSpPr>
          <p:nvPr>
            <p:ph type="body" sz="quarter" idx="1"/>
          </p:nvPr>
        </p:nvSpPr>
        <p:spPr/>
        <p:txBody>
          <a:bodyPr/>
          <a:lstStyle/>
          <a:p>
            <a:r>
              <a:t>Sınıfı çalıştırın. Ekrandaki üç cümleyi yüksek sesle tamamlatın.</a:t>
            </a:r>
          </a:p>
          <a:p>
            <a:endParaRPr/>
          </a:p>
          <a:p>
            <a:r>
              <a:t>İlk ikisi kolay: Ankara, balda. Herkes bilir, hep bir ağızdan söylerler.</a:t>
            </a:r>
          </a:p>
          <a:p>
            <a:endParaRPr/>
          </a:p>
          <a:p>
            <a:r>
              <a:t>Üçüncüde de herkes bir sayı söyleyecek. %70, %80, %100...</a:t>
            </a:r>
          </a:p>
          <a:p>
            <a:endParaRPr/>
          </a:p>
          <a:p>
            <a:r>
              <a:t>Sonra durun ve sorun: bu sayıyı nereden biliyorsunuz?</a:t>
            </a:r>
          </a:p>
          <a:p>
            <a:endParaRPr/>
          </a:p>
          <a:p>
            <a:r>
              <a:t>Kimse bilmiyor. Ama herkes bir şey söyledi — çünkü cümle bir sayı bekliyordu ve boşluk doldurulmak istiyordu.</a:t>
            </a:r>
          </a:p>
          <a:p>
            <a:endParaRPr/>
          </a:p>
          <a:p>
            <a:r>
              <a:t>İşte halüsinasyon budur. Az önce siz yaptınız.</a:t>
            </a:r>
          </a:p>
          <a:p>
            <a:endParaRPr/>
          </a:p>
          <a:p>
            <a:r>
              <a:t>[Doğru cevabı siz biliyorsunuz — söyleyin. Bilmiyorsanız "bu bilgi katalogda yazmıyor, doğrusunu program yöneticisine sormak gerekir" deyin. Uydurma bir sayı vermeyin; bütün mesele o.]</a:t>
            </a:r>
          </a:p>
          <a:p>
            <a:endParaRPr/>
          </a:p>
          <a:p>
            <a:r>
              <a:t>Modelin yaptığı tek şey bu: eldeki metne bakıp bir sonraki kelimeyi tahmin etmek. Doğruluk diye bir kaygısı yok, "bilmiyorum" diye bir düğmesi yok. En olası kelimeyi üretir ve üretmeye devam eder.</a:t>
            </a:r>
          </a:p>
          <a:p>
            <a:endParaRPr/>
          </a:p>
          <a:p>
            <a:r>
              <a:t>Atölyede aynı şeyi modele yaptıracağız — Miuul kataloğundan bir soru soracağız ve modelin üç farklı cevap uydurduğunu göreceğiz.</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extLst>
      <p:ext uri="{BB962C8B-B14F-4D97-AF65-F5344CB8AC3E}">
        <p14:creationId xmlns:p14="http://schemas.microsoft.com/office/powerpoint/2010/main" val="10770136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dirty="0" err="1"/>
              <a:t>Sınıfı</a:t>
            </a:r>
            <a:r>
              <a:rPr dirty="0"/>
              <a:t> </a:t>
            </a:r>
            <a:r>
              <a:rPr dirty="0" err="1"/>
              <a:t>çalıştırın</a:t>
            </a:r>
            <a:r>
              <a:rPr dirty="0"/>
              <a:t>. </a:t>
            </a:r>
            <a:r>
              <a:rPr dirty="0" err="1"/>
              <a:t>Ekrandaki</a:t>
            </a:r>
            <a:r>
              <a:rPr dirty="0"/>
              <a:t> </a:t>
            </a:r>
            <a:r>
              <a:rPr dirty="0" err="1"/>
              <a:t>üç</a:t>
            </a:r>
            <a:r>
              <a:rPr dirty="0"/>
              <a:t> </a:t>
            </a:r>
            <a:r>
              <a:rPr dirty="0" err="1"/>
              <a:t>cümleyi</a:t>
            </a:r>
            <a:r>
              <a:rPr dirty="0"/>
              <a:t> </a:t>
            </a:r>
            <a:r>
              <a:rPr dirty="0" err="1"/>
              <a:t>yüksek</a:t>
            </a:r>
            <a:r>
              <a:rPr dirty="0"/>
              <a:t> </a:t>
            </a:r>
            <a:r>
              <a:rPr dirty="0" err="1"/>
              <a:t>sesle</a:t>
            </a:r>
            <a:r>
              <a:rPr dirty="0"/>
              <a:t> </a:t>
            </a:r>
            <a:r>
              <a:rPr dirty="0" err="1"/>
              <a:t>tamamlatın</a:t>
            </a:r>
            <a:r>
              <a:rPr dirty="0"/>
              <a:t>.</a:t>
            </a:r>
          </a:p>
          <a:p>
            <a:endParaRPr dirty="0"/>
          </a:p>
          <a:p>
            <a:r>
              <a:rPr dirty="0"/>
              <a:t>İlk </a:t>
            </a:r>
            <a:r>
              <a:rPr dirty="0" err="1"/>
              <a:t>ikisi</a:t>
            </a:r>
            <a:r>
              <a:rPr dirty="0"/>
              <a:t> </a:t>
            </a:r>
            <a:r>
              <a:rPr dirty="0" err="1"/>
              <a:t>kolay</a:t>
            </a:r>
            <a:r>
              <a:rPr dirty="0"/>
              <a:t>: Ankara, </a:t>
            </a:r>
            <a:r>
              <a:rPr dirty="0" err="1"/>
              <a:t>balda</a:t>
            </a:r>
            <a:r>
              <a:rPr dirty="0"/>
              <a:t>. Herkes </a:t>
            </a:r>
            <a:r>
              <a:rPr dirty="0" err="1"/>
              <a:t>bilir</a:t>
            </a:r>
            <a:r>
              <a:rPr dirty="0"/>
              <a:t>, hep </a:t>
            </a:r>
            <a:r>
              <a:rPr dirty="0" err="1"/>
              <a:t>bir</a:t>
            </a:r>
            <a:r>
              <a:rPr dirty="0"/>
              <a:t> </a:t>
            </a:r>
            <a:r>
              <a:rPr dirty="0" err="1"/>
              <a:t>ağızdan</a:t>
            </a:r>
            <a:r>
              <a:rPr dirty="0"/>
              <a:t> </a:t>
            </a:r>
            <a:r>
              <a:rPr dirty="0" err="1"/>
              <a:t>söylerler</a:t>
            </a:r>
            <a:r>
              <a:rPr dirty="0"/>
              <a:t>.</a:t>
            </a:r>
          </a:p>
          <a:p>
            <a:endParaRPr dirty="0"/>
          </a:p>
          <a:p>
            <a:r>
              <a:rPr dirty="0" err="1"/>
              <a:t>Üçüncüde</a:t>
            </a:r>
            <a:r>
              <a:rPr dirty="0"/>
              <a:t> de </a:t>
            </a:r>
            <a:r>
              <a:rPr dirty="0" err="1"/>
              <a:t>herkes</a:t>
            </a:r>
            <a:r>
              <a:rPr dirty="0"/>
              <a:t> </a:t>
            </a:r>
            <a:r>
              <a:rPr dirty="0" err="1"/>
              <a:t>bir</a:t>
            </a:r>
            <a:r>
              <a:rPr dirty="0"/>
              <a:t> </a:t>
            </a:r>
            <a:r>
              <a:rPr dirty="0" err="1"/>
              <a:t>sayı</a:t>
            </a:r>
            <a:r>
              <a:rPr dirty="0"/>
              <a:t> </a:t>
            </a:r>
            <a:r>
              <a:rPr dirty="0" err="1"/>
              <a:t>söyleyecek</a:t>
            </a:r>
            <a:r>
              <a:rPr dirty="0"/>
              <a:t>. %70, %80, %100...</a:t>
            </a:r>
          </a:p>
          <a:p>
            <a:endParaRPr dirty="0"/>
          </a:p>
          <a:p>
            <a:r>
              <a:rPr dirty="0"/>
              <a:t>Sonra </a:t>
            </a:r>
            <a:r>
              <a:rPr dirty="0" err="1"/>
              <a:t>durun</a:t>
            </a:r>
            <a:r>
              <a:rPr dirty="0"/>
              <a:t> </a:t>
            </a:r>
            <a:r>
              <a:rPr dirty="0" err="1"/>
              <a:t>ve</a:t>
            </a:r>
            <a:r>
              <a:rPr dirty="0"/>
              <a:t> </a:t>
            </a:r>
            <a:r>
              <a:rPr dirty="0" err="1"/>
              <a:t>sorun</a:t>
            </a:r>
            <a:r>
              <a:rPr dirty="0"/>
              <a:t>: </a:t>
            </a:r>
            <a:r>
              <a:rPr dirty="0" err="1"/>
              <a:t>bu</a:t>
            </a:r>
            <a:r>
              <a:rPr dirty="0"/>
              <a:t> </a:t>
            </a:r>
            <a:r>
              <a:rPr dirty="0" err="1"/>
              <a:t>sayıyı</a:t>
            </a:r>
            <a:r>
              <a:rPr dirty="0"/>
              <a:t> </a:t>
            </a:r>
            <a:r>
              <a:rPr dirty="0" err="1"/>
              <a:t>nereden</a:t>
            </a:r>
            <a:r>
              <a:rPr dirty="0"/>
              <a:t> </a:t>
            </a:r>
            <a:r>
              <a:rPr dirty="0" err="1"/>
              <a:t>biliyorsunuz</a:t>
            </a:r>
            <a:r>
              <a:rPr dirty="0"/>
              <a:t>?</a:t>
            </a:r>
          </a:p>
          <a:p>
            <a:endParaRPr dirty="0"/>
          </a:p>
          <a:p>
            <a:r>
              <a:rPr dirty="0" err="1"/>
              <a:t>Kimse</a:t>
            </a:r>
            <a:r>
              <a:rPr dirty="0"/>
              <a:t> </a:t>
            </a:r>
            <a:r>
              <a:rPr dirty="0" err="1"/>
              <a:t>bilmiyor</a:t>
            </a:r>
            <a:r>
              <a:rPr dirty="0"/>
              <a:t>. Ama </a:t>
            </a:r>
            <a:r>
              <a:rPr dirty="0" err="1"/>
              <a:t>herkes</a:t>
            </a:r>
            <a:r>
              <a:rPr dirty="0"/>
              <a:t> </a:t>
            </a:r>
            <a:r>
              <a:rPr dirty="0" err="1"/>
              <a:t>bir</a:t>
            </a:r>
            <a:r>
              <a:rPr dirty="0"/>
              <a:t> </a:t>
            </a:r>
            <a:r>
              <a:rPr dirty="0" err="1"/>
              <a:t>şey</a:t>
            </a:r>
            <a:r>
              <a:rPr dirty="0"/>
              <a:t> </a:t>
            </a:r>
            <a:r>
              <a:rPr dirty="0" err="1"/>
              <a:t>söyledi</a:t>
            </a:r>
            <a:r>
              <a:rPr dirty="0"/>
              <a:t> — </a:t>
            </a:r>
            <a:r>
              <a:rPr dirty="0" err="1"/>
              <a:t>çünkü</a:t>
            </a:r>
            <a:r>
              <a:rPr dirty="0"/>
              <a:t> </a:t>
            </a:r>
            <a:r>
              <a:rPr dirty="0" err="1"/>
              <a:t>cümle</a:t>
            </a:r>
            <a:r>
              <a:rPr dirty="0"/>
              <a:t> </a:t>
            </a:r>
            <a:r>
              <a:rPr dirty="0" err="1"/>
              <a:t>bir</a:t>
            </a:r>
            <a:r>
              <a:rPr dirty="0"/>
              <a:t> </a:t>
            </a:r>
            <a:r>
              <a:rPr dirty="0" err="1"/>
              <a:t>sayı</a:t>
            </a:r>
            <a:r>
              <a:rPr dirty="0"/>
              <a:t> </a:t>
            </a:r>
            <a:r>
              <a:rPr dirty="0" err="1"/>
              <a:t>bekliyordu</a:t>
            </a:r>
            <a:r>
              <a:rPr dirty="0"/>
              <a:t> </a:t>
            </a:r>
            <a:r>
              <a:rPr dirty="0" err="1"/>
              <a:t>ve</a:t>
            </a:r>
            <a:r>
              <a:rPr dirty="0"/>
              <a:t> </a:t>
            </a:r>
            <a:r>
              <a:rPr dirty="0" err="1"/>
              <a:t>boşluk</a:t>
            </a:r>
            <a:r>
              <a:rPr dirty="0"/>
              <a:t> </a:t>
            </a:r>
            <a:r>
              <a:rPr dirty="0" err="1"/>
              <a:t>doldurulmak</a:t>
            </a:r>
            <a:r>
              <a:rPr dirty="0"/>
              <a:t> </a:t>
            </a:r>
            <a:r>
              <a:rPr dirty="0" err="1"/>
              <a:t>istiyordu</a:t>
            </a:r>
            <a:r>
              <a:rPr dirty="0"/>
              <a:t>.</a:t>
            </a:r>
          </a:p>
          <a:p>
            <a:endParaRPr dirty="0"/>
          </a:p>
          <a:p>
            <a:r>
              <a:rPr dirty="0" err="1"/>
              <a:t>İşte</a:t>
            </a:r>
            <a:r>
              <a:rPr dirty="0"/>
              <a:t> </a:t>
            </a:r>
            <a:r>
              <a:rPr dirty="0" err="1"/>
              <a:t>halüsinasyon</a:t>
            </a:r>
            <a:r>
              <a:rPr dirty="0"/>
              <a:t> </a:t>
            </a:r>
            <a:r>
              <a:rPr dirty="0" err="1"/>
              <a:t>budur</a:t>
            </a:r>
            <a:r>
              <a:rPr dirty="0"/>
              <a:t>. Az </a:t>
            </a:r>
            <a:r>
              <a:rPr dirty="0" err="1"/>
              <a:t>önce</a:t>
            </a:r>
            <a:r>
              <a:rPr dirty="0"/>
              <a:t> </a:t>
            </a:r>
            <a:r>
              <a:rPr dirty="0" err="1"/>
              <a:t>siz</a:t>
            </a:r>
            <a:r>
              <a:rPr dirty="0"/>
              <a:t> </a:t>
            </a:r>
            <a:r>
              <a:rPr dirty="0" err="1"/>
              <a:t>yaptınız</a:t>
            </a:r>
            <a:r>
              <a:rPr dirty="0"/>
              <a:t>.</a:t>
            </a:r>
          </a:p>
          <a:p>
            <a:endParaRPr dirty="0"/>
          </a:p>
          <a:p>
            <a:r>
              <a:rPr dirty="0"/>
              <a:t>[Doğru </a:t>
            </a:r>
            <a:r>
              <a:rPr dirty="0" err="1"/>
              <a:t>cevabı</a:t>
            </a:r>
            <a:r>
              <a:rPr dirty="0"/>
              <a:t> </a:t>
            </a:r>
            <a:r>
              <a:rPr dirty="0" err="1"/>
              <a:t>siz</a:t>
            </a:r>
            <a:r>
              <a:rPr dirty="0"/>
              <a:t> </a:t>
            </a:r>
            <a:r>
              <a:rPr dirty="0" err="1"/>
              <a:t>biliyorsunuz</a:t>
            </a:r>
            <a:r>
              <a:rPr dirty="0"/>
              <a:t> — </a:t>
            </a:r>
            <a:r>
              <a:rPr dirty="0" err="1"/>
              <a:t>söyleyin</a:t>
            </a:r>
            <a:r>
              <a:rPr dirty="0"/>
              <a:t>. </a:t>
            </a:r>
            <a:r>
              <a:rPr dirty="0" err="1"/>
              <a:t>Bilmiyorsanız</a:t>
            </a:r>
            <a:r>
              <a:rPr dirty="0"/>
              <a:t> "</a:t>
            </a:r>
            <a:r>
              <a:rPr dirty="0" err="1"/>
              <a:t>bu</a:t>
            </a:r>
            <a:r>
              <a:rPr dirty="0"/>
              <a:t> </a:t>
            </a:r>
            <a:r>
              <a:rPr dirty="0" err="1"/>
              <a:t>bilgi</a:t>
            </a:r>
            <a:r>
              <a:rPr dirty="0"/>
              <a:t> </a:t>
            </a:r>
            <a:r>
              <a:rPr dirty="0" err="1"/>
              <a:t>katalogda</a:t>
            </a:r>
            <a:r>
              <a:rPr dirty="0"/>
              <a:t> </a:t>
            </a:r>
            <a:r>
              <a:rPr dirty="0" err="1"/>
              <a:t>yazmıyor</a:t>
            </a:r>
            <a:r>
              <a:rPr dirty="0"/>
              <a:t>, </a:t>
            </a:r>
            <a:r>
              <a:rPr dirty="0" err="1"/>
              <a:t>doğrusunu</a:t>
            </a:r>
            <a:r>
              <a:rPr dirty="0"/>
              <a:t> program </a:t>
            </a:r>
            <a:r>
              <a:rPr dirty="0" err="1"/>
              <a:t>yöneticisine</a:t>
            </a:r>
            <a:r>
              <a:rPr dirty="0"/>
              <a:t> </a:t>
            </a:r>
            <a:r>
              <a:rPr dirty="0" err="1"/>
              <a:t>sormak</a:t>
            </a:r>
            <a:r>
              <a:rPr dirty="0"/>
              <a:t> </a:t>
            </a:r>
            <a:r>
              <a:rPr dirty="0" err="1"/>
              <a:t>gerekir</a:t>
            </a:r>
            <a:r>
              <a:rPr dirty="0"/>
              <a:t>" </a:t>
            </a:r>
            <a:r>
              <a:rPr dirty="0" err="1"/>
              <a:t>deyin</a:t>
            </a:r>
            <a:r>
              <a:rPr dirty="0"/>
              <a:t>. </a:t>
            </a:r>
            <a:r>
              <a:rPr dirty="0" err="1"/>
              <a:t>Uydurma</a:t>
            </a:r>
            <a:r>
              <a:rPr dirty="0"/>
              <a:t> </a:t>
            </a:r>
            <a:r>
              <a:rPr dirty="0" err="1"/>
              <a:t>bir</a:t>
            </a:r>
            <a:r>
              <a:rPr dirty="0"/>
              <a:t> </a:t>
            </a:r>
            <a:r>
              <a:rPr dirty="0" err="1"/>
              <a:t>sayı</a:t>
            </a:r>
            <a:r>
              <a:rPr dirty="0"/>
              <a:t> </a:t>
            </a:r>
            <a:r>
              <a:rPr dirty="0" err="1"/>
              <a:t>vermeyin</a:t>
            </a:r>
            <a:r>
              <a:rPr dirty="0"/>
              <a:t>; </a:t>
            </a:r>
            <a:r>
              <a:rPr dirty="0" err="1"/>
              <a:t>bütün</a:t>
            </a:r>
            <a:r>
              <a:rPr dirty="0"/>
              <a:t> </a:t>
            </a:r>
            <a:r>
              <a:rPr dirty="0" err="1"/>
              <a:t>mesele</a:t>
            </a:r>
            <a:r>
              <a:rPr dirty="0"/>
              <a:t> o.]</a:t>
            </a:r>
          </a:p>
          <a:p>
            <a:endParaRPr dirty="0"/>
          </a:p>
          <a:p>
            <a:r>
              <a:rPr dirty="0" err="1"/>
              <a:t>Modelin</a:t>
            </a:r>
            <a:r>
              <a:rPr dirty="0"/>
              <a:t> </a:t>
            </a:r>
            <a:r>
              <a:rPr dirty="0" err="1"/>
              <a:t>yaptığı</a:t>
            </a:r>
            <a:r>
              <a:rPr dirty="0"/>
              <a:t> </a:t>
            </a:r>
            <a:r>
              <a:rPr dirty="0" err="1"/>
              <a:t>tek</a:t>
            </a:r>
            <a:r>
              <a:rPr dirty="0"/>
              <a:t> </a:t>
            </a:r>
            <a:r>
              <a:rPr dirty="0" err="1"/>
              <a:t>şey</a:t>
            </a:r>
            <a:r>
              <a:rPr dirty="0"/>
              <a:t> </a:t>
            </a:r>
            <a:r>
              <a:rPr dirty="0" err="1"/>
              <a:t>bu</a:t>
            </a:r>
            <a:r>
              <a:rPr dirty="0"/>
              <a:t>: </a:t>
            </a:r>
            <a:r>
              <a:rPr dirty="0" err="1"/>
              <a:t>eldeki</a:t>
            </a:r>
            <a:r>
              <a:rPr dirty="0"/>
              <a:t> </a:t>
            </a:r>
            <a:r>
              <a:rPr dirty="0" err="1"/>
              <a:t>metne</a:t>
            </a:r>
            <a:r>
              <a:rPr dirty="0"/>
              <a:t> </a:t>
            </a:r>
            <a:r>
              <a:rPr dirty="0" err="1"/>
              <a:t>bakıp</a:t>
            </a:r>
            <a:r>
              <a:rPr dirty="0"/>
              <a:t> </a:t>
            </a:r>
            <a:r>
              <a:rPr dirty="0" err="1"/>
              <a:t>bir</a:t>
            </a:r>
            <a:r>
              <a:rPr dirty="0"/>
              <a:t> </a:t>
            </a:r>
            <a:r>
              <a:rPr dirty="0" err="1"/>
              <a:t>sonraki</a:t>
            </a:r>
            <a:r>
              <a:rPr dirty="0"/>
              <a:t> </a:t>
            </a:r>
            <a:r>
              <a:rPr dirty="0" err="1"/>
              <a:t>kelimeyi</a:t>
            </a:r>
            <a:r>
              <a:rPr dirty="0"/>
              <a:t> </a:t>
            </a:r>
            <a:r>
              <a:rPr dirty="0" err="1"/>
              <a:t>tahmin</a:t>
            </a:r>
            <a:r>
              <a:rPr dirty="0"/>
              <a:t> </a:t>
            </a:r>
            <a:r>
              <a:rPr dirty="0" err="1"/>
              <a:t>etmek</a:t>
            </a:r>
            <a:r>
              <a:rPr dirty="0"/>
              <a:t>. </a:t>
            </a:r>
            <a:r>
              <a:rPr dirty="0" err="1"/>
              <a:t>Doğruluk</a:t>
            </a:r>
            <a:r>
              <a:rPr dirty="0"/>
              <a:t> </a:t>
            </a:r>
            <a:r>
              <a:rPr dirty="0" err="1"/>
              <a:t>diye</a:t>
            </a:r>
            <a:r>
              <a:rPr dirty="0"/>
              <a:t> </a:t>
            </a:r>
            <a:r>
              <a:rPr dirty="0" err="1"/>
              <a:t>bir</a:t>
            </a:r>
            <a:r>
              <a:rPr dirty="0"/>
              <a:t> </a:t>
            </a:r>
            <a:r>
              <a:rPr dirty="0" err="1"/>
              <a:t>kaygısı</a:t>
            </a:r>
            <a:r>
              <a:rPr dirty="0"/>
              <a:t> yok, "</a:t>
            </a:r>
            <a:r>
              <a:rPr dirty="0" err="1"/>
              <a:t>bilmiyorum</a:t>
            </a:r>
            <a:r>
              <a:rPr dirty="0"/>
              <a:t>" </a:t>
            </a:r>
            <a:r>
              <a:rPr dirty="0" err="1"/>
              <a:t>diye</a:t>
            </a:r>
            <a:r>
              <a:rPr dirty="0"/>
              <a:t> </a:t>
            </a:r>
            <a:r>
              <a:rPr dirty="0" err="1"/>
              <a:t>bir</a:t>
            </a:r>
            <a:r>
              <a:rPr dirty="0"/>
              <a:t> </a:t>
            </a:r>
            <a:r>
              <a:rPr dirty="0" err="1"/>
              <a:t>düğmesi</a:t>
            </a:r>
            <a:r>
              <a:rPr dirty="0"/>
              <a:t> yok. En </a:t>
            </a:r>
            <a:r>
              <a:rPr dirty="0" err="1"/>
              <a:t>olası</a:t>
            </a:r>
            <a:r>
              <a:rPr dirty="0"/>
              <a:t> </a:t>
            </a:r>
            <a:r>
              <a:rPr dirty="0" err="1"/>
              <a:t>kelimeyi</a:t>
            </a:r>
            <a:r>
              <a:rPr dirty="0"/>
              <a:t> </a:t>
            </a:r>
            <a:r>
              <a:rPr dirty="0" err="1"/>
              <a:t>üretir</a:t>
            </a:r>
            <a:r>
              <a:rPr dirty="0"/>
              <a:t> </a:t>
            </a:r>
            <a:r>
              <a:rPr dirty="0" err="1"/>
              <a:t>ve</a:t>
            </a:r>
            <a:r>
              <a:rPr dirty="0"/>
              <a:t> </a:t>
            </a:r>
            <a:r>
              <a:rPr dirty="0" err="1"/>
              <a:t>üretmeye</a:t>
            </a:r>
            <a:r>
              <a:rPr dirty="0"/>
              <a:t> </a:t>
            </a:r>
            <a:r>
              <a:rPr dirty="0" err="1"/>
              <a:t>devam</a:t>
            </a:r>
            <a:r>
              <a:rPr dirty="0"/>
              <a:t> </a:t>
            </a:r>
            <a:r>
              <a:rPr dirty="0" err="1"/>
              <a:t>eder</a:t>
            </a:r>
            <a:r>
              <a:rPr dirty="0"/>
              <a:t>.</a:t>
            </a:r>
          </a:p>
          <a:p>
            <a:endParaRPr dirty="0"/>
          </a:p>
          <a:p>
            <a:r>
              <a:rPr dirty="0" err="1"/>
              <a:t>Atölyede</a:t>
            </a:r>
            <a:r>
              <a:rPr dirty="0"/>
              <a:t> </a:t>
            </a:r>
            <a:r>
              <a:rPr dirty="0" err="1"/>
              <a:t>aynı</a:t>
            </a:r>
            <a:r>
              <a:rPr dirty="0"/>
              <a:t> </a:t>
            </a:r>
            <a:r>
              <a:rPr dirty="0" err="1"/>
              <a:t>şeyi</a:t>
            </a:r>
            <a:r>
              <a:rPr dirty="0"/>
              <a:t> </a:t>
            </a:r>
            <a:r>
              <a:rPr dirty="0" err="1"/>
              <a:t>modele</a:t>
            </a:r>
            <a:r>
              <a:rPr dirty="0"/>
              <a:t> </a:t>
            </a:r>
            <a:r>
              <a:rPr dirty="0" err="1"/>
              <a:t>yaptıracağız</a:t>
            </a:r>
            <a:r>
              <a:rPr dirty="0"/>
              <a:t> — </a:t>
            </a:r>
            <a:r>
              <a:rPr dirty="0" err="1"/>
              <a:t>Miuul</a:t>
            </a:r>
            <a:r>
              <a:rPr dirty="0"/>
              <a:t> </a:t>
            </a:r>
            <a:r>
              <a:rPr dirty="0" err="1"/>
              <a:t>kataloğundan</a:t>
            </a:r>
            <a:r>
              <a:rPr dirty="0"/>
              <a:t> </a:t>
            </a:r>
            <a:r>
              <a:rPr dirty="0" err="1"/>
              <a:t>bir</a:t>
            </a:r>
            <a:r>
              <a:rPr dirty="0"/>
              <a:t> </a:t>
            </a:r>
            <a:r>
              <a:rPr dirty="0" err="1"/>
              <a:t>soru</a:t>
            </a:r>
            <a:r>
              <a:rPr dirty="0"/>
              <a:t> </a:t>
            </a:r>
            <a:r>
              <a:rPr dirty="0" err="1"/>
              <a:t>soracağız</a:t>
            </a:r>
            <a:r>
              <a:rPr dirty="0"/>
              <a:t> </a:t>
            </a:r>
            <a:r>
              <a:rPr dirty="0" err="1"/>
              <a:t>ve</a:t>
            </a:r>
            <a:r>
              <a:rPr dirty="0"/>
              <a:t> </a:t>
            </a:r>
            <a:r>
              <a:rPr dirty="0" err="1"/>
              <a:t>modelin</a:t>
            </a:r>
            <a:r>
              <a:rPr dirty="0"/>
              <a:t> </a:t>
            </a:r>
            <a:r>
              <a:rPr dirty="0" err="1"/>
              <a:t>üç</a:t>
            </a:r>
            <a:r>
              <a:rPr dirty="0"/>
              <a:t> </a:t>
            </a:r>
            <a:r>
              <a:rPr dirty="0" err="1"/>
              <a:t>farklı</a:t>
            </a:r>
            <a:r>
              <a:rPr dirty="0"/>
              <a:t> </a:t>
            </a:r>
            <a:r>
              <a:rPr dirty="0" err="1"/>
              <a:t>cevap</a:t>
            </a:r>
            <a:r>
              <a:rPr dirty="0"/>
              <a:t> </a:t>
            </a:r>
            <a:r>
              <a:rPr dirty="0" err="1"/>
              <a:t>uydurduğunu</a:t>
            </a:r>
            <a:r>
              <a:rPr dirty="0"/>
              <a:t> </a:t>
            </a:r>
            <a:r>
              <a:rPr dirty="0" err="1"/>
              <a:t>göreceğiz</a:t>
            </a:r>
            <a:r>
              <a:rPr dirty="0"/>
              <a:t>.</a:t>
            </a:r>
          </a:p>
          <a:p>
            <a:endParaRPr dirty="0"/>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a:p>
            <a:r>
              <a:rPr dirty="0"/>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AF7F8-4C45-AE5E-1AEB-B867748ABD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C9EE73-B9F5-A6B0-D4D2-B956331E512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EFBAE44-CE0F-058D-653C-F2C0509B8917}"/>
              </a:ext>
            </a:extLst>
          </p:cNvPr>
          <p:cNvSpPr>
            <a:spLocks noGrp="1"/>
          </p:cNvSpPr>
          <p:nvPr>
            <p:ph type="body" sz="quarter" idx="1"/>
          </p:nvPr>
        </p:nvSpPr>
        <p:spPr/>
        <p:txBody>
          <a:bodyPr/>
          <a:lstStyle/>
          <a:p>
            <a:r>
              <a:t>Sınıfı çalıştırın. Ekrandaki üç cümleyi yüksek sesle tamamlatın.</a:t>
            </a:r>
          </a:p>
          <a:p>
            <a:endParaRPr/>
          </a:p>
          <a:p>
            <a:r>
              <a:t>İlk ikisi kolay: Ankara, balda. Herkes bilir, hep bir ağızdan söylerler.</a:t>
            </a:r>
          </a:p>
          <a:p>
            <a:endParaRPr/>
          </a:p>
          <a:p>
            <a:r>
              <a:t>Üçüncüde de herkes bir sayı söyleyecek. %70, %80, %100...</a:t>
            </a:r>
          </a:p>
          <a:p>
            <a:endParaRPr/>
          </a:p>
          <a:p>
            <a:r>
              <a:t>Sonra durun ve sorun: bu sayıyı nereden biliyorsunuz?</a:t>
            </a:r>
          </a:p>
          <a:p>
            <a:endParaRPr/>
          </a:p>
          <a:p>
            <a:r>
              <a:t>Kimse bilmiyor. Ama herkes bir şey söyledi — çünkü cümle bir sayı bekliyordu ve boşluk doldurulmak istiyordu.</a:t>
            </a:r>
          </a:p>
          <a:p>
            <a:endParaRPr/>
          </a:p>
          <a:p>
            <a:r>
              <a:t>İşte halüsinasyon budur. Az önce siz yaptınız.</a:t>
            </a:r>
          </a:p>
          <a:p>
            <a:endParaRPr/>
          </a:p>
          <a:p>
            <a:r>
              <a:t>[Doğru cevabı siz biliyorsunuz — söyleyin. Bilmiyorsanız "bu bilgi katalogda yazmıyor, doğrusunu program yöneticisine sormak gerekir" deyin. Uydurma bir sayı vermeyin; bütün mesele o.]</a:t>
            </a:r>
          </a:p>
          <a:p>
            <a:endParaRPr/>
          </a:p>
          <a:p>
            <a:r>
              <a:t>Modelin yaptığı tek şey bu: eldeki metne bakıp bir sonraki kelimeyi tahmin etmek. Doğruluk diye bir kaygısı yok, "bilmiyorum" diye bir düğmesi yok. En olası kelimeyi üretir ve üretmeye devam eder.</a:t>
            </a:r>
          </a:p>
          <a:p>
            <a:endParaRPr/>
          </a:p>
          <a:p>
            <a:r>
              <a:t>Atölyede aynı şeyi modele yaptıracağız — Miuul kataloğundan bir soru soracağız ve modelin üç farklı cevap uydurduğunu göreceğiz.</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extLst>
      <p:ext uri="{BB962C8B-B14F-4D97-AF65-F5344CB8AC3E}">
        <p14:creationId xmlns:p14="http://schemas.microsoft.com/office/powerpoint/2010/main" val="38537453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Şimdi kaputun altına bakalım.</a:t>
            </a:r>
          </a:p>
          <a:p>
            <a:endParaRPr/>
          </a:p>
          <a:p>
            <a:r>
              <a:t>Buraya kadar konuştuğumuz her şeyin altında tek bir mimari var: Transformer. Ve o mimari 2017'de yayımlanan sekiz sayfalık bir makaleyle geldi.</a:t>
            </a:r>
          </a:p>
          <a:p>
            <a:endParaRPr/>
          </a:p>
          <a:p>
            <a:r>
              <a:t>Makalenin adı: "Attention Is All You Need". Sekiz yazar — çoğu Google Brain ve Google Research'ten, biri Toronto Üniversitesi'nden.</a:t>
            </a:r>
          </a:p>
          <a:p>
            <a:endParaRPr/>
          </a:p>
          <a:p>
            <a:r>
              <a:t>O güne kadar dil işleme RNN ve LSTM üzerine kuruluydu. Bu makale şunu söyledi: Bunların hiçbirine gerek yok. Sadece attention yeterli.</a:t>
            </a:r>
          </a:p>
          <a:p>
            <a:endParaRPr/>
          </a:p>
          <a:p>
            <a:r>
              <a:t>Makalenin linkini paylaşıyorum, dersten sonra bakabilirsiniz:</a:t>
            </a:r>
          </a:p>
          <a:p>
            <a:endParaRPr/>
          </a:p>
          <a:p>
            <a:r>
              <a:t>https://arxiv.org/pdf/1706.03762</a:t>
            </a:r>
          </a:p>
          <a:p>
            <a:endParaRPr/>
          </a:p>
          <a:p>
            <a:r>
              <a:t>İsterseniz sadece ilk iki sayfasını okuyun. Alanı değiştiren fikir orada, çok sade bir dille anlatılıyor.</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Transformer'ı Transformer yapan üç şey var.</a:t>
            </a:r>
          </a:p>
          <a:p>
            <a:endParaRPr/>
          </a:p>
          <a:p>
            <a:r>
              <a:t>BİRİNCİSİ: PARALEL İŞLEME</a:t>
            </a:r>
          </a:p>
          <a:p>
            <a:r>
              <a:t>RNN cümleyi kelime kelime, sırayla okur — ikinci kelimeye geçmek için birinciyi bitirmek zorundadır.</a:t>
            </a:r>
          </a:p>
          <a:p>
            <a:r>
              <a:t>Transformer bütün kelimeleri aynı anda işler.</a:t>
            </a:r>
          </a:p>
          <a:p>
            <a:r>
              <a:t>Böylece GPU'nun binlerce çekirdeği boşta kalmaz.</a:t>
            </a:r>
          </a:p>
          <a:p>
            <a:r>
              <a:t>Eğitim haftalardan günlere iner; ölçeklemenin önü açılan şey tam olarak budur.</a:t>
            </a:r>
          </a:p>
          <a:p>
            <a:endParaRPr/>
          </a:p>
          <a:p>
            <a:r>
              <a:t>İKİNCİSİ: SELF-ATTENTION</a:t>
            </a:r>
          </a:p>
          <a:p>
            <a:r>
              <a:t>Her kelime, cümledeki diğer bütün kelimelere bakar.</a:t>
            </a:r>
          </a:p>
          <a:p>
            <a:r>
              <a:t>Hangisinin kendisi için önemli olduğunu kendisi tartar — bu ağırlıklar veriden öğrenilir.</a:t>
            </a:r>
          </a:p>
          <a:p>
            <a:r>
              <a:t>Ekrandaki örnek: "Çanta valize sığmadı, çünkü o çok büyüktü." Buradaki "o" hangisi? Çanta mı, valiz mi?</a:t>
            </a:r>
          </a:p>
          <a:p>
            <a:r>
              <a:t>Model "o" kelimesinden bütün kelimelere bakar ve en yüksek ağırlığı "Çanta"ya verir.</a:t>
            </a:r>
          </a:p>
          <a:p>
            <a:r>
              <a:t>Önemlisi şu: bağlam artık uzaklıktan bağımsız. Cümlenin başındaki kelimeyle sonundaki kelime arasında da doğrudan bağ kurulabiliyor.</a:t>
            </a:r>
          </a:p>
          <a:p>
            <a:endParaRPr/>
          </a:p>
          <a:p>
            <a:r>
              <a:t>ÜÇÜNCÜSÜ: POSITIONAL ENCODING</a:t>
            </a:r>
          </a:p>
          <a:p>
            <a:r>
              <a:t>Her şeyi aynı anda işlerseniz bir şeyi kaybedersiniz: sırayı.</a:t>
            </a:r>
          </a:p>
          <a:p>
            <a:r>
              <a:t>"Ali Veli'yi aradı" ile "Veli Ali'yi aradı" aynı kelimelerden oluşur ama aynı şey değildir.</a:t>
            </a:r>
          </a:p>
          <a:p>
            <a:r>
              <a:t>Bu yüzden her kelimeye konumu ayrı bir sinyal olarak eklenir: kelime vektörü artı konum vektörü, modele giren girdiyi oluşturur.</a:t>
            </a:r>
          </a:p>
          <a:p>
            <a:r>
              <a:t>Model sırayı ezberlemez — ölçer.</a:t>
            </a:r>
          </a:p>
          <a:p>
            <a:endParaRPr/>
          </a:p>
          <a:p>
            <a:r>
              <a:t>Özet: paralel işle, neyin önemli olduğunu kendin bul, sırayı unutma.</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Elimizde artık bir Transformer var. Peki bu, kullandığımız asistanlara nasıl dönüşüyor?</a:t>
            </a:r>
          </a:p>
          <a:p>
            <a:endParaRPr/>
          </a:p>
          <a:p>
            <a:r>
              <a:t>Cevap zaten ismin içinde: GPT — Generative Pre-trained Transformer. Üretken, ön eğitimli Transformer. Şimdi bu "ön eğitimli" kısmının ne demek olduğuna bakalım.</a:t>
            </a:r>
          </a:p>
          <a:p>
            <a:endParaRPr/>
          </a:p>
          <a:p>
            <a:r>
              <a:t>Ekrandaki üçlü, bu dersin belki de en can alıcı özeti. Soldan sağa okuyalım.</a:t>
            </a:r>
          </a:p>
          <a:p>
            <a:endParaRPr/>
          </a:p>
          <a:p>
            <a:r>
              <a:t>Birincisi ön eğitim, pre-training. İnternetteki trilyonlarca ham veriyle yapılıyor. Model burada tek bir şey öğreniyor: sonraki kelimeyi tahmin etmek. Bunu yaparken dili öğreniyor — grameri, kalıpları, dünyaya dair olguları. Ama dikkat: bu aşamanın sonunda model bir soruya nasıl cevap vereceğini bilmiyor. Sadece metni devam ettirmeyi biliyor. Ona soru sorsanız, size cevap vermek yerine benzer sorular yazmaya devam edebilir.</a:t>
            </a:r>
          </a:p>
          <a:p>
            <a:endParaRPr/>
          </a:p>
          <a:p>
            <a:r>
              <a:t>İkincisi ince ayar, fine-tuning. Burada modeli soru-cevap çiftleriyle eğitiyoruz. Model işi öğreniyor: talimat takip etmeyi, kendisine sorulan şeye cevap vermeyi. Asistana dönüşme tam olarak burada oluyor.</a:t>
            </a:r>
          </a:p>
          <a:p>
            <a:endParaRPr/>
          </a:p>
          <a:p>
            <a:r>
              <a:t>Üçüncüsü RLHF. Açılımı: Reinforcement Learning from Human Feedback — insan geri bildiriminden pekiştirmeli öğrenme. İki kelime de anlamlı. Pekiştirmeli öğrenme: model bir davranış sergiliyor, puan alıyor, puanı artıracak yönde ayarlanıyor. İnsan geri bildirimi: o puanı veren şey bir metrik değil, insan tercihi. İnsanlar modelin cevaplarını karşılaştırıp puanlıyor, model bu tercihlere göre ayarlanıyor. Burada öğrendiği şey içerik değil, üslup ve sınır: nasıl kibar olunur, nasıl güvenli kalınır, neyi söylememek gerekir.</a:t>
            </a:r>
          </a:p>
          <a:p>
            <a:endParaRPr/>
          </a:p>
          <a:p>
            <a:r>
              <a:t>Slaytın altındaki cümleyi tekrar edin, akılda kalan cümle bu olsun:</a:t>
            </a:r>
          </a:p>
          <a:p>
            <a:r>
              <a:t>Ön eğitim dili öğretir, ince ayar işi öğretir, RLHF ise nasıl konuşacağını öğretir.</a:t>
            </a:r>
          </a:p>
          <a:p>
            <a:endParaRPr/>
          </a:p>
          <a:p>
            <a:r>
              <a:t>Ölçek farkına da dikkat çekin: ön eğitim devasa ve pahalı, diğer iki aşama yanında çok küçük kalıyor. Yani modelin bildiği neredeyse her şey ilk aşamadan geliyor; son iki aşama o bilgiyi kullanılabilir hâle getiriyor.</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Üç aşamanın verisi birbirine hiç benzemiyor. Yan yana koyalım.</a:t>
            </a:r>
          </a:p>
          <a:p>
            <a:endParaRPr/>
          </a:p>
          <a:p>
            <a:r>
              <a:t>Soldaki ön eğitim. Ham metin, hiçbir etiket yok. Peki model neyi öğreniyor? Etiket metnin kendisi: hedef, girdinin bir sağa kaymış hâli. "Ankara, Türkiye'nin" gördüğünde "başkentidir" demeyi öğreniyor. Buna kendi kendini denetleyen öğrenme deniyor — insan etiketçiye ihtiyaç yok. Trilyonlarca token ölçeğine çıkabilmesinin sebebi de bu.</a:t>
            </a:r>
          </a:p>
          <a:p>
            <a:endParaRPr/>
          </a:p>
          <a:p>
            <a:r>
              <a:t>Ortadaki ince ayar. Artık yapılandırılmış bir veri var: sistem talimatı, kullanıcı sorusu, asistan cevabı.</a:t>
            </a:r>
          </a:p>
          <a:p>
            <a:endParaRPr/>
          </a:p>
          <a:p>
            <a:r>
              <a:t>Buradaki en kritik teknik detayı vurgulayın: loss sadece assistant satırından hesaplanıyor, soru maskeleniyor. Yani modele "şu soruyu üret" demiyoruz, "şu soruya böyle cevap ver" diyoruz. SFT'nin imzası budur.</a:t>
            </a:r>
          </a:p>
          <a:p>
            <a:endParaRPr/>
          </a:p>
          <a:p>
            <a:r>
              <a:t>Sağdaki RLHF. Burada tek bir doğru cevap yok. Aynı soruya iki cevap var ve bir insan hangisini tercih ettiğini işaretlemiş. Ekrandaki örnekte biri kaynak gösteriyor, diğeri tahmin yürütüyor — insan birincisini seçmiş. Model bu tercihlerden içerik değil, üslup ve sınır öğreniyor.</a:t>
            </a:r>
          </a:p>
          <a:p>
            <a:endParaRPr/>
          </a:p>
          <a:p>
            <a:r>
              <a:t>Şimdi hacimlere bakın: trilyon, yüz bin, on bin. Aradaki fark üç dört büyüklük mertebesi.</a:t>
            </a:r>
          </a:p>
          <a:p>
            <a:endParaRPr/>
          </a:p>
          <a:p>
            <a:r>
              <a:t>Bu tablo tek başına şunu söylüyor: modelin bildiği her şeyin neredeyse tamamı ilk sütundan geliyor. Son iki sütun bilgi eklemiyor — o bilgiyi kullanılabilir hâle getiriyor.</a:t>
            </a:r>
          </a:p>
          <a:p>
            <a:endParaRPr/>
          </a:p>
          <a:p>
            <a:r>
              <a:t>Ve buradan çıkan pratik sonuç: fine-tune ile modele yeni bilgi öğretmeye çalışmak, yanlış araçla iş görmektir.</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Siteyi aç, aynı cümlenin Türkçesini ve İngilizcesini yan yana yapıştır. Token sayıları ekranda.</a:t>
            </a:r>
          </a:p>
          <a:p>
            <a:endParaRPr/>
          </a:p>
          <a:p>
            <a:r>
              <a:t>Küçük bir yarışma yaptırabilirsiniz: "Kim en az token'la en uzun anlamlı Türkçe cümleyi yazacak?" İki dakika, sınıf açılır.</a:t>
            </a:r>
          </a:p>
          <a:p>
            <a:endParaRPr/>
          </a:p>
          <a:p>
            <a:r>
              <a:t>Üç şeyi söyleyin, fazlasına girmeyin:</a:t>
            </a:r>
          </a:p>
          <a:p>
            <a:endParaRPr/>
          </a:p>
          <a:p>
            <a:r>
              <a:t>Token, metnin bölündüğü parça. Her zaman bir kelime değil. Kısa ve sık geçen kelimeler tek parça kalıyor, uzun ve nadir olanlar bölünüyor.</a:t>
            </a:r>
          </a:p>
          <a:p>
            <a:endParaRPr/>
          </a:p>
          <a:p>
            <a:r>
              <a:t>Türkçe eklemeli bir dil olduğu için bizde bölünme daha çok oluyor. Aynı metin daha fazla token demek.</a:t>
            </a:r>
          </a:p>
          <a:p>
            <a:endParaRPr/>
          </a:p>
          <a:p>
            <a:r>
              <a:t>Pratik sonucu: API kullanıyorsanız aynı cümle size daha pahalıya geliyor, ve bağlam penceresine daha az metin sığıyor.</a:t>
            </a:r>
          </a:p>
          <a:p>
            <a:endParaRPr/>
          </a:p>
          <a:p>
            <a:r>
              <a:t>Bir de şunu ekleyin, atölyede lazım olacak: tokenizer ön eğitimde donuyor. Fine-tune ile bir modeli "Türkçede daha az token harcar" hâle getiremezsiniz.</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Şimdi dikkat edin: tablo aynı, kelimeler aynı, sütunlar aynı. Değişen tek şey rakamlar.</a:t>
            </a:r>
          </a:p>
          <a:p>
            <a:endParaRPr/>
          </a:p>
          <a:p>
            <a:r>
              <a:t>Bu, eğitimden sonraki hâli.</a:t>
            </a:r>
          </a:p>
          <a:p>
            <a:endParaRPr/>
          </a:p>
          <a:p>
            <a:r>
              <a:t>Başlangıçta bu sayılar rastgeleydi. Model milyarlarca cümle gördü, her seferinde tahmin yaptı, hata yaptı, geri yayılımla ağırlıklarını düzeltti. Ve bu tablodaki her sayı yavaş yavaş yerine oturdu.</a:t>
            </a:r>
          </a:p>
          <a:p>
            <a:endParaRPr/>
          </a:p>
          <a:p>
            <a:r>
              <a:t>Birkaç satıra bakalım. "Jane" satırı özel isim sütununda 0,89 — çok yüksek. "September" satırı zaman sütununda 0,86. "in" satırı ise özel isim sütununda 0,0004 — neredeyse sıfır, çünkü "in" bir edat.</a:t>
            </a:r>
          </a:p>
          <a:p>
            <a:endParaRPr/>
          </a:p>
          <a:p>
            <a:r>
              <a:t>Kimse bu değerleri elle yazmadı. Model, hangi kelimenin hangi bağlamda geçtiğine bakarak bunları kendisi buldu.</a:t>
            </a:r>
          </a:p>
          <a:p>
            <a:endParaRPr/>
          </a:p>
          <a:p>
            <a:r>
              <a:t>İşte "öğrenme" dediğimiz şey somut olarak bu: bir tablodaki sayıların yerine oturması.</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Tarayıcıyı aç, sekme hazır olsun. Bu sayfada üç hareket var, altı dakika.</a:t>
            </a:r>
          </a:p>
          <a:p>
            <a:endParaRPr/>
          </a:p>
          <a:p>
            <a:r>
              <a:t>BİR. "Türkiye'nin başkenti" yaz. Sağdaki listeye bak: Ankara %90'ın üzerinde. Diğer seçenekler de orada, düşük olasılıklarla.</a:t>
            </a:r>
          </a:p>
          <a:p>
            <a:endParaRPr/>
          </a:p>
          <a:p>
            <a:r>
              <a:t>Vurgulanacak cümle: model cevap bilmiyor, olasılık üretiyor. Sonra bu dağılımdan bir kelime seçiliyor.</a:t>
            </a:r>
          </a:p>
          <a:p>
            <a:endParaRPr/>
          </a:p>
          <a:p>
            <a:r>
              <a:t>İKİ. Sıcaklık kaydırıcısını yükselt. Dağılım düzleşiyor, saçma kelimeler yukarı tırmanıyor.</a:t>
            </a:r>
          </a:p>
          <a:p>
            <a:endParaRPr/>
          </a:p>
          <a:p>
            <a:r>
              <a:t>Bu tek hareket halüsinasyonun kaynağını gösteriyor: en olası kelime her zaman doğru kelime değil. Sıcaklık yükseldikçe model daha "yaratıcı" oluyor — yaratıcılık ile uydurma aynı düğmenin iki ucu.</a:t>
            </a:r>
          </a:p>
          <a:p>
            <a:endParaRPr/>
          </a:p>
          <a:p>
            <a:r>
              <a:t>ÜÇ. Blokları tıklayıp aç: embedding, attention, MLP. İçlerini tek tek anlatma, sadece göster.</a:t>
            </a:r>
          </a:p>
          <a:p>
            <a:endParaRPr/>
          </a:p>
          <a:p>
            <a:r>
              <a:t>Kapanış cümlesi: "Bu kutuların içi milyonlarca sayıyla dolu. Eğitimde bu sayılar ayarlandı. Atölyede fine-tune yaparken değiştireceğimiz şey tam olarak bunlar."</a:t>
            </a:r>
          </a:p>
          <a:p>
            <a:endParaRPr/>
          </a:p>
          <a:p>
            <a:r>
              <a:t>Ekran görüntülerini önceden al — ağ giderse anlatım kesilmesin.</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Prompt kelimesini herkes duydu ama çoğu insan sadece "kullanıcının yazdığı şey" sanıyor. Aslında prompt, modele giden metnin tamamı.</a:t>
            </a:r>
          </a:p>
          <a:p>
            <a:endParaRPr/>
          </a:p>
          <a:p>
            <a:r>
              <a:t>Soldaki kutuya bakın. Model bir istekte tek bir metin görüyor ve o metin parçalardan birleşiyor.</a:t>
            </a:r>
          </a:p>
          <a:p>
            <a:endParaRPr/>
          </a:p>
          <a:p>
            <a:r>
              <a:t>SYSTEM kısmı: modelin kim olduğunu, nasıl davranacağını, neyi yapmayacağını söylüyor. Bunu kullanıcı görmez — arka planda, uygulamayı yazan kişi koyar.</a:t>
            </a:r>
          </a:p>
          <a:p>
            <a:endParaRPr/>
          </a:p>
          <a:p>
            <a:r>
              <a:t>USER kısmı: kullanıcının o an yazdığı şey. Genelde değişen tek parça bu.</a:t>
            </a:r>
          </a:p>
          <a:p>
            <a:endParaRPr/>
          </a:p>
          <a:p>
            <a:r>
              <a:t>Şunun altını çizin, en çok karıştırılan yer burası: model bu ikisini ayrı iki şey olarak görmüyor. İkisi de aynı bağlam penceresine giriyor. Peki system prompt neden daha etkili?</a:t>
            </a:r>
          </a:p>
          <a:p>
            <a:endParaRPr/>
          </a:p>
          <a:p>
            <a:r>
              <a:t>Cevap: konumundan değil, eğitiminden. Model, system rolündeki talimatlara öncelik vermeyi ince ayar ve RLHF aşamalarında öğrendi. Yani bu bir mimari kural değil, öğrenilmiş bir davranış.</a:t>
            </a:r>
          </a:p>
          <a:p>
            <a:endParaRPr/>
          </a:p>
          <a:p>
            <a:r>
              <a:t>Buradan iki köprü kurun.</a:t>
            </a:r>
          </a:p>
          <a:p>
            <a:endParaRPr/>
          </a:p>
          <a:p>
            <a:r>
              <a:t>Birincisi: birazdan atölyede few-shot yapacağız — örnekleri tam olarak buraya, system kısmına koyacağız. RAG yaptığımızda da katalogdan bulduğumuz metni yine buraya ekleyeceğiz. Yani prompt mühendisliği dediğimiz şey, bu paketin içine ne koyduğunuz.</a:t>
            </a:r>
          </a:p>
          <a:p>
            <a:endParaRPr/>
          </a:p>
          <a:p>
            <a:r>
              <a:t>İkincisi, alttaki cümle: bu paket her istekte sıfırdan gönderiliyor. Model önceki konuşmayı hatırlamıyor; sohbet geçmişini de siz her seferinde tekrar yolluyorsunuz. Uzun bir system prompt yazdıysanız, bedelini her istekte token olarak ödüyorsunuz.</a:t>
            </a:r>
          </a:p>
          <a:p>
            <a:endParaRPr/>
          </a:p>
          <a:p>
            <a:r>
              <a:t>Atölyede bunu somut olarak göreceğiz: few-shot'lı istek, few-shot'sızın dört katı token harcıyor.</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Önce kelimeyi açıklayın: "shot" burada atış değil, örnek demek. Kaç örnek gösteriyorsunuz.</a:t>
            </a:r>
          </a:p>
          <a:p>
            <a:endParaRPr/>
          </a:p>
          <a:p>
            <a:r>
              <a:t>Soldan sağa gidelim.</a:t>
            </a:r>
          </a:p>
          <a:p>
            <a:endParaRPr/>
          </a:p>
          <a:p>
            <a:r>
              <a:t>Zero-shot: hiç örnek yok, sadece talimat var. Model biçimi kendi seçiyor. Bugün cümleyle cevap verir, yarın madde madde. Tutarsızlık buradan gelir.</a:t>
            </a:r>
          </a:p>
          <a:p>
            <a:endParaRPr/>
          </a:p>
          <a:p>
            <a:r>
              <a:t>One-shot: bir örnek koyuyorsunuz. Model kalıbı hemen yakalıyor. Ama tek örnek bazen yanıltır — model o örneğe fazla takılabilir, mesela hep "Kurs" yazar, karşısına bir Bootcamp gelse de.</a:t>
            </a:r>
          </a:p>
          <a:p>
            <a:endParaRPr/>
          </a:p>
          <a:p>
            <a:r>
              <a:t>Few-shot: üç ila beş örnek. Biçim güvenilir hâle geliyor. Sahada en çok kullanılan yöntem bu, çünkü maliyetle fayda burada dengeleniyor. Atölyede yapacağımız şey de bu.</a:t>
            </a:r>
          </a:p>
          <a:p>
            <a:endParaRPr/>
          </a:p>
          <a:p>
            <a:r>
              <a:t>Many-shot: onlarca, yüzlerce örnek. Birkaç yıl öncesine kadar mümkün değildi — bağlam pencereleri küçüktü. Şimdi yüz binlerce token'lık pencereler var, o yüzden gündeme geldi. Bazı görevlerde ince ayara yaklaşan sonuçlar veriyor.</a:t>
            </a:r>
          </a:p>
          <a:p>
            <a:endParaRPr/>
          </a:p>
          <a:p>
            <a:r>
              <a:t>Alttaki oka dikkat çekin: soldan sağa gittikçe biçim düzeliyor ama token maliyeti de artıyor. Ve bu maliyeti her istekte yeniden ödüyorsunuz — bir önceki sayfada konuştuğumuz gibi.</a:t>
            </a:r>
          </a:p>
          <a:p>
            <a:endParaRPr/>
          </a:p>
          <a:p>
            <a:r>
              <a:t>Şimdi en kritik cümle, bant da onu söylüyor: bunların hiçbiri modelin bildiğini değiştirmiyor.</a:t>
            </a:r>
          </a:p>
          <a:p>
            <a:endParaRPr/>
          </a:p>
          <a:p>
            <a:r>
              <a:t>Örnek verin: modele Miuul kataloğundan yüz tane örnek gösterin, yine de Data Scientist Path'in kaç saat olduğunu bilmez. Ona sadece "bu tip soruya şöyle bir biçimde cevap ver" demiş olursunuz.</a:t>
            </a:r>
          </a:p>
          <a:p>
            <a:endParaRPr/>
          </a:p>
          <a:p>
            <a:r>
              <a:t>Bilgi eksikse başka bir şey lazım — atölyede onu göreceğiz.</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RAG'in tamamı bu şemada. İki bölüm var ve bunları ayırmak önemli.</a:t>
            </a:r>
          </a:p>
          <a:p>
            <a:endParaRPr/>
          </a:p>
          <a:p>
            <a:r>
              <a:t>Üstteki bölüm hazırlık. Bir kez yapılıyor. Belgeleri alıyoruz — bizim örneğimizde Miuul kataloğu — parçalara bölüyoruz, her parçayı gömme modelinden geçirip vektöre çeviriyoruz ve vektör veritabanına yazıyoruz.</a:t>
            </a:r>
          </a:p>
          <a:p>
            <a:endParaRPr/>
          </a:p>
          <a:p>
            <a:r>
              <a:t>Bu aşama ders başlamadan önce bitmiş oluyor. Katalog değişmedikçe tekrar yapmıyorsunuz.</a:t>
            </a:r>
          </a:p>
          <a:p>
            <a:endParaRPr/>
          </a:p>
          <a:p>
            <a:r>
              <a:t>Alttaki bölüm soru anı. Her istekte baştan çalışıyor. Kullanıcının sorusu geliyor, aynı gömme modelinden geçiyor — dikkat, aynı model olmak zorunda, yoksa vektörler karşılaştırılamaz — sonra veritabanındaki bütün parçalarla karşılaştırılıyor, en yakın olanlar seçiliyor ve prompt'a ekleniyor.</a:t>
            </a:r>
          </a:p>
          <a:p>
            <a:endParaRPr/>
          </a:p>
          <a:p>
            <a:r>
              <a:t>Ortadaki lacivert bant kritik. Bütün hazırlık oraya akıyor, bütün sorgular oradan besleniyor. Vektör veritabanı bu iki dünyayı birbirine bağlayan yer.</a:t>
            </a:r>
          </a:p>
          <a:p>
            <a:endParaRPr/>
          </a:p>
          <a:p>
            <a:r>
              <a:t>Ve bandın söylediği cümleyi tekrarlayın: model hiç değişmedi. Ağırlıklara dokunmadık, eğitim yapmadık. Tek yaptığımız, doğru metni pencereye koymak.</a:t>
            </a:r>
          </a:p>
          <a:p>
            <a:endParaRPr/>
          </a:p>
          <a:p>
            <a:r>
              <a:t>Şimdi bu iki bölümü ayrı ayrı açalım — önce hazırlık, sonra soru anı.</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Hazırlık aşamasını soldan sağa okuyalım.</a:t>
            </a:r>
          </a:p>
          <a:p>
            <a:endParaRPr/>
          </a:p>
          <a:p>
            <a:r>
              <a:t>Solda belge. Bizim örneğimizde Miuul kataloğu — yaklaşık yüz eğitim kaydı, düz metin.</a:t>
            </a:r>
          </a:p>
          <a:p>
            <a:endParaRPr/>
          </a:p>
          <a:p>
            <a:r>
              <a:t>Ortada bölme işlemi. Kataloğu parçalara ayırıyoruz. Buradaki karar önemli: parça sınırını nereden geçireceğiz?</a:t>
            </a:r>
          </a:p>
          <a:p>
            <a:endParaRPr/>
          </a:p>
          <a:p>
            <a:r>
              <a:t>Bizim katalogda her eğitim kaydı doğal bir birim. Adı, türü, süresi, ücreti ve açıklaması bir arada. O yüzden her kaydı bir parça yapıyoruz.</a:t>
            </a:r>
          </a:p>
          <a:p>
            <a:endParaRPr/>
          </a:p>
          <a:p>
            <a:r>
              <a:t>Şu iki sayıyı açıklayın.</a:t>
            </a:r>
          </a:p>
          <a:p>
            <a:endParaRPr/>
          </a:p>
          <a:p>
            <a:r>
              <a:t>Chunk size, yani parça büyüklüğü: 700 karakter. Neden? Çünkü katalogdaki bir kayıt yaklaşık bu boyutta. Çok büyük yaparsanız arama sonucunda alakasız metin de geliyor, model dikkatini dağıtıyor. Çok küçük yaparsanız kaydın süresi bir parçada, ücreti başka parçada kalıyor — ve soru ikisini birden isterse yanlış cevap alıyorsunuz.</a:t>
            </a:r>
          </a:p>
          <a:p>
            <a:endParaRPr/>
          </a:p>
          <a:p>
            <a:r>
              <a:t>Overlap, yani örtüşme: 100 karakter. Parçaların uçları birbirine biraz taşıyor. Sebebi şu: sınırdan geçen bir cümle ikiye bölünürse ikisinde de yarım kalır. Örtüşme sayesinde o cümle en az bir parçada bütün hâlde bulunuyor.</a:t>
            </a:r>
          </a:p>
          <a:p>
            <a:endParaRPr/>
          </a:p>
          <a:p>
            <a:r>
              <a:t>Sağda son adım. Her parça gömme modelinden geçiyor ve bir vektöre dönüşüyor — bizim kullandığımız modelde 384 sayı.</a:t>
            </a:r>
          </a:p>
          <a:p>
            <a:endParaRPr/>
          </a:p>
          <a:p>
            <a:r>
              <a:t>Dikkat çekin: veritabanında sadece vektör durmuyor, metnin kendisi de duruyor. Çünkü arama vektörle yapılıyor ama modele veriyi metin olarak geri vereceğiz.</a:t>
            </a:r>
          </a:p>
          <a:p>
            <a:endParaRPr/>
          </a:p>
          <a:p>
            <a:r>
              <a:t>Bu aşama bir kez yapılıyor. Katalog güncellenmedikçe tekrar etmiyorsunuz.</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Soru anını adım adım izleyelim.</a:t>
            </a:r>
          </a:p>
          <a:p>
            <a:endParaRPr/>
          </a:p>
          <a:p>
            <a:r>
              <a:t>Birinci adım: kullanıcı sorusunu yazıyor.</a:t>
            </a:r>
          </a:p>
          <a:p>
            <a:endParaRPr/>
          </a:p>
          <a:p>
            <a:r>
              <a:t>İkinci adım: soru da vektöre çevriliyor. Burada bir şeyin altını çizin — hazırlıkta kullandığımız gömme modelinin aynısı olmak zorunda. Farklı model kullanırsanız vektörler farklı bir uzayda olur ve karşılaştırma anlamsızlaşır.</a:t>
            </a:r>
          </a:p>
          <a:p>
            <a:endParaRPr/>
          </a:p>
          <a:p>
            <a:r>
              <a:t>Üçüncü adım: sorunun vektörü, veritabanındaki bütün parçalarla karşılaştırılıyor. Her parça için bir benzerlik skoru çıkıyor. Ekrandaki sayılar temsilî, ama sıralama fikri gerçek: en alakalı kayıt en yüksek skoru alıyor.</a:t>
            </a:r>
          </a:p>
          <a:p>
            <a:endParaRPr/>
          </a:p>
          <a:p>
            <a:r>
              <a:t>Burada önemli bir nokta var: bu bir kelime araması değil. "Saat" kelimesini aramıyoruz. Anlam yakınlığına bakıyoruz. Bu yüzden soruyu farklı kelimelerle sorsanız da doğru kaydı bulur.</a:t>
            </a:r>
          </a:p>
          <a:p>
            <a:endParaRPr/>
          </a:p>
          <a:p>
            <a:r>
              <a:t>Dördüncü adım: en yakın üç parçanın metni alınıyor.</a:t>
            </a:r>
          </a:p>
          <a:p>
            <a:endParaRPr/>
          </a:p>
          <a:p>
            <a:r>
              <a:t>Sağdaki kutuya geçin — bu, iki sayfa önce gördüğümüz paketin aynısı. Tek fark: araya sarı bir blok girdi. RAG'in yaptığı bütün iş bu bloğu eklemek.</a:t>
            </a:r>
          </a:p>
          <a:p>
            <a:endParaRPr/>
          </a:p>
          <a:p>
            <a:r>
              <a:t>System bölümünde kritik bir talimat var: "sadece aşağıdaki parçalara dayanarak cevapla, yoksa bilmiyorum de." Bu cümle olmazsa model bulduğu metni görmezden gelip yine hafızasından uydurabilir.</a:t>
            </a:r>
          </a:p>
          <a:p>
            <a:endParaRPr/>
          </a:p>
          <a:p>
            <a:r>
              <a:t>Ve sonuç: 68 saat, 9 modül, 300 USD. Kaynağıyla birlikte.</a:t>
            </a:r>
          </a:p>
          <a:p>
            <a:endParaRPr/>
          </a:p>
          <a:p>
            <a:r>
              <a:t>Kapanış cümlesi: bu cevap modelin hafızasından gelmedi. Biz pencereye koyduk, model okudu, özetledi. RAG'in tamamı bu.</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Aynı süreci bir metaforla toparlayalım: bir canavarı evcilleştirme hikâyesi.</a:t>
            </a:r>
          </a:p>
          <a:p>
            <a:endParaRPr/>
          </a:p>
          <a:p>
            <a:r>
              <a:t>Soldaki kırmızı alan, ön eğitim. Burada elimizde kontrolsüz, vahşi bir canavar var. İnternetteki her şeyi okumuş — iyisini, kötüsünü, yanlışını, tehlikelisini. Tek bildiği şey önüne konan metni tamamlamak. Muazzam bilgili ama güvenli değil. Bu hâliyle kimsenin eline veremezsiniz.</a:t>
            </a:r>
          </a:p>
          <a:p>
            <a:endParaRPr/>
          </a:p>
          <a:p>
            <a:r>
              <a:t>Ortadaki sarı alan, ince ayar. Canavarı insani diyaloğa alıştırıyoruz. Kaliteli diyalog verileriyle — soru-cevap çiftleri, StackOverflow, Reddit gibi kaynaklardan derlenmiş konuşmalarla — eğitiyoruz. Artık anlamlı cümle kuran, kendisinden isteneni yapan bir forma bürünüyor.</a:t>
            </a:r>
          </a:p>
          <a:p>
            <a:endParaRPr/>
          </a:p>
          <a:p>
            <a:r>
              <a:t>Sağdaki yeşil alan, RLHF. Son aşama. İnsan tercihleri ve puanlarıyla canavarı tamamen evcilleştiriyoruz. Çıkan şey artık zararsız, güvenli ve gerçekten işe yarar bir asistan. Metinle, görselle, sesle, kodla, hepsi bir aradayken çoklu-formlu verilerle çalışabilen bir model.</a:t>
            </a:r>
          </a:p>
          <a:p>
            <a:endParaRPr/>
          </a:p>
          <a:p>
            <a:r>
              <a:t>Buradan çıkarılacak asıl fikir şu: bugün kullandığımız asistanların "kişiliği" doğuştan gelmiyor. Ham model çok daha ham, çok daha kaba bir şey. Aradaki fark tamamen bu iki evcilleştirme aşamasının eseri.</a:t>
            </a:r>
          </a:p>
          <a:p>
            <a:endParaRPr/>
          </a:p>
          <a:p>
            <a:r>
              <a:t>Ve bu, dersin başındaki Harari tartışmasına da bağlanıyor: canavarı kimin, hangi değerlerle evcilleştirdiği — modelin ne bildiği kadar önemli.</a:t>
            </a:r>
          </a:p>
          <a:p>
            <a:endParaRP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Atölyenin haritasını verin, sonra ara verin.</a:t>
            </a:r>
          </a:p>
          <a:p/>
          <a:p>
            <a:r>
              <a:t>n8n'de beş adım var. Kutu kutu bir akış kuracağız: önce en basit hâliyle bir soru-cevap, sonra halüsinasyonu canlı yakalayacağız, sonra few-shot ile biçimi düzelteceğiz, sonra Miuul kataloğuyla RAG kurup doğru cevabı alacağız.</a:t>
            </a:r>
          </a:p>
          <a:p/>
          <a:p>
            <a:r>
              <a:t>Beşinci adım en önemlisi: RAG'in çuvalladığı yeri göreceğiz. Çünkü her sorunun cevabı belgede olmuyor.</a:t>
            </a:r>
          </a:p>
          <a:p/>
          <a:p>
            <a:r>
              <a:t>Sonra kendi makinemizde küçük bir modele yönlendirmeyi öğreteceğiz: gelen mesaj hangi dala gitmeli — ilerleme mi, ödeme mi, katalog mu? Önce paragraf yazdığını, sonra tek kelime verdiğini göreceğiz.</a:t>
            </a:r>
          </a:p>
          <a:p/>
          <a:p>
            <a:r>
              <a:t>Senaryo boyunca aynı: Miuul öğrenci destek asistanı. Katalog gerçek — miuul.com'dan alındı. Öğrenci kayıtları ise kurgu; kimsenin gerçek verisi yok, bunu söyleyin.</a:t>
            </a:r>
          </a:p>
          <a:p/>
          <a:p>
            <a:r>
              <a:t>Kapanış cümlesi: bu atölyede kod ezberlemeyeceğiz. Amacımız şu soruya cevap verebilmeniz: elimdeki sorun RAG mi ister, fine-tune mu?</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Buraya kadar yaptığımız her şeyin ortak bir yanı vardı: modele hiç dokunmadık.</a:t>
            </a:r>
          </a:p>
          <a:p/>
          <a:p>
            <a:r>
              <a:t>Prompt yazdık — girdiyi değiştirdik. Few-shot örnek koyduk — girdiyi değiştirdik. RAG kurduk — girdiye belge ekledik. Model dosyası baştan sona aynı kaldı. İndirdiğiniz Qwen neyse, hâlâ o.</a:t>
            </a:r>
          </a:p>
          <a:p/>
          <a:p>
            <a:r>
              <a:t>Fine-tune ilk kez bu kuralı bozuyor. Modelin içindeki sayıları değiştiriyoruz.</a:t>
            </a:r>
          </a:p>
          <a:p/>
          <a:p>
            <a:r>
              <a:t>Alt taraftaki döngüye geçin, dört adım.</a:t>
            </a:r>
          </a:p>
          <a:p/>
          <a:p>
            <a:r>
              <a:t>Bir: elimizde bir örnek var. Soru, ve o soruya verilmesini istediğimiz doğru cevap. Bizim durumumuzda cevap tek kelime: ilerleme.</a:t>
            </a:r>
          </a:p>
          <a:p/>
          <a:p>
            <a:r>
              <a:t>İki: modele soruyu veriyoruz, model tahminini yapıyor. Ve baştan yanlış yapıyor — nazikçe bir paragraf yazıyor. Zaten öyle olmasını bekliyoruz, o yüzden eğitiyoruz.</a:t>
            </a:r>
          </a:p>
          <a:p/>
          <a:p>
            <a:r>
              <a:t>Üç: tahminle doğru cevap arasındaki farkı ölçüyoruz. Bu fark tek bir sayıya iniyor; adı kayıp, loss.</a:t>
            </a:r>
          </a:p>
          <a:p/>
          <a:p>
            <a:r>
              <a:t>Dört: modelin bütün ağırlıkları, o hatayı küçültecek yönde çok az kımıldıyor. Çok az — çünkü tek bir örnek yüzünden her şeyi bozmak istemiyoruz.</a:t>
            </a:r>
          </a:p>
          <a:p/>
          <a:p>
            <a:r>
              <a:t>Sonra sıradaki örnek. Sonra sıradaki. Altmış örneği üç kez dönüyoruz.</a:t>
            </a:r>
          </a:p>
          <a:p/>
          <a:p>
            <a:r>
              <a:t>Cümlenin tamamı şu: fine-tune, talimatı prompt'tan alıp ağırlıklara gömmektir. Bir kez yapılır ve orada kalır.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Peki hangi ağırlıklar değişiyor? Hepsi mi?</a:t>
            </a:r>
          </a:p>
          <a:p/>
          <a:p>
            <a:r>
              <a:t>Klasik yöntem — soldaki — hepsi diyor. Beş yüz milyon sayının tamamını güncelliyorsunuz. Sorun şu: eğitim sırasında her ağırlık için yanında ekstra bilgi tutmanız gerekiyor, o yüzden bellek ihtiyacı modelin kendisinin kabaca dört katı. Yedi milyarlık bir modeli bu şekilde eğitmek için ciddi bir sunucu lazım. Üstelik her yeni görev için elinizde ayrı bir tam model kopyası kalıyor.</a:t>
            </a:r>
          </a:p>
          <a:p/>
          <a:p>
            <a:r>
              <a:t>Sağdaki fikir çok daha zarif. Büyük ağırlıkların hepsini donduruyoruz — tek bir tanesine dokunmuyoruz. Yanlarına küçük bir defter ekliyoruz; teknik adı iki düşük ranklı matris, ama defter benzetmesi işi görüyor. Model çalışırken hem asıl ağırlığa hem deftere bakıyor. Eğitimde ise sadece defteri yazıyoruz.</a:t>
            </a:r>
          </a:p>
          <a:p/>
          <a:p>
            <a:r>
              <a:t>Bu defterler genellikle dikkat katmanlarına takılıyor — hatırlarsanız modelin neye bakacağına karar veren kısım orasıydı.</a:t>
            </a:r>
          </a:p>
          <a:p/>
          <a:p>
            <a:r>
              <a:t>Aşağıdaki sayılar bizim kendi koşumuzdan: bir buçuk milyar ağırlığın iki milyon kadarını eğittik. Yüzde sıfır virgül on dört. Sonuçta ortaya çıkan dosya birkaç megabayt; asıl model olduğu gibi duruyor, istediğiniz zaman defteri söküp atabilirsiniz.</a:t>
            </a:r>
          </a:p>
          <a:p/>
          <a:p>
            <a:r>
              <a:t>QLoRA da bunun üstüne bir şey daha yapıyor: zaten dondurduğumuz o ağırlıkları dört bitlik sayılara sıkıştırıyor. Nasılsa değişmeyecekler. Bellek dörde bölünüyor. Bugün insanların dizüstü bilgisayarında model eğitebilmesinin sebebi bu iki fikir.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çılış Ekranı ">
    <p:spTree>
      <p:nvGrpSpPr>
        <p:cNvPr id="1" name=""/>
        <p:cNvGrpSpPr/>
        <p:nvPr/>
      </p:nvGrpSpPr>
      <p:grpSpPr>
        <a:xfrm>
          <a:off x="0" y="0"/>
          <a:ext cx="0" cy="0"/>
          <a:chOff x="0" y="0"/>
          <a:chExt cx="0" cy="0"/>
        </a:xfrm>
      </p:grpSpPr>
      <p:sp>
        <p:nvSpPr>
          <p:cNvPr id="4" name="Slide Title">
            <a:extLst>
              <a:ext uri="{FF2B5EF4-FFF2-40B4-BE49-F238E27FC236}">
                <a16:creationId xmlns:a16="http://schemas.microsoft.com/office/drawing/2014/main" id="{0623C506-61A1-A34E-B1DD-A0DD7D141873}"/>
              </a:ext>
            </a:extLst>
          </p:cNvPr>
          <p:cNvSpPr txBox="1">
            <a:spLocks noGrp="1"/>
          </p:cNvSpPr>
          <p:nvPr>
            <p:ph type="title" hasCustomPrompt="1"/>
          </p:nvPr>
        </p:nvSpPr>
        <p:spPr>
          <a:xfrm>
            <a:off x="1206500" y="5572609"/>
            <a:ext cx="21971000" cy="25707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lvl1pPr>
              <a:lnSpc>
                <a:spcPct val="100000"/>
              </a:lnSpc>
              <a:spcBef>
                <a:spcPts val="1200"/>
              </a:spcBef>
              <a:spcAft>
                <a:spcPts val="1200"/>
              </a:spcAft>
              <a:defRPr/>
            </a:lvl1pPr>
          </a:lstStyle>
          <a:p>
            <a:r>
              <a:rPr lang="tr-TR" dirty="0"/>
              <a:t>Eğitim/Bölüm/Ders Adı</a:t>
            </a:r>
            <a:endParaRPr dirty="0"/>
          </a:p>
        </p:txBody>
      </p:sp>
    </p:spTree>
    <p:extLst>
      <p:ext uri="{BB962C8B-B14F-4D97-AF65-F5344CB8AC3E}">
        <p14:creationId xmlns:p14="http://schemas.microsoft.com/office/powerpoint/2010/main" val="308607076"/>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rs Anlatımı">
    <p:spTree>
      <p:nvGrpSpPr>
        <p:cNvPr id="1" name=""/>
        <p:cNvGrpSpPr/>
        <p:nvPr/>
      </p:nvGrpSpPr>
      <p:grpSpPr>
        <a:xfrm>
          <a:off x="0" y="0"/>
          <a:ext cx="0" cy="0"/>
          <a:chOff x="0" y="0"/>
          <a:chExt cx="0" cy="0"/>
        </a:xfrm>
      </p:grpSpPr>
      <p:sp>
        <p:nvSpPr>
          <p:cNvPr id="3" name="Author and Date">
            <a:extLst>
              <a:ext uri="{FF2B5EF4-FFF2-40B4-BE49-F238E27FC236}">
                <a16:creationId xmlns:a16="http://schemas.microsoft.com/office/drawing/2014/main" id="{E5E2BDF8-0349-334B-BF6A-D7072B112F49}"/>
              </a:ext>
            </a:extLst>
          </p:cNvPr>
          <p:cNvSpPr txBox="1">
            <a:spLocks noGrp="1"/>
          </p:cNvSpPr>
          <p:nvPr>
            <p:ph type="body" sz="quarter" idx="22" hasCustomPrompt="1"/>
          </p:nvPr>
        </p:nvSpPr>
        <p:spPr>
          <a:xfrm>
            <a:off x="1049411" y="167779"/>
            <a:ext cx="15709901" cy="1169999"/>
          </a:xfrm>
          <a:prstGeom prst="rect">
            <a:avLst/>
          </a:prstGeom>
        </p:spPr>
        <p:txBody>
          <a:bodyPr lIns="45719" tIns="45719" rIns="45719" bIns="45719" anchor="ctr"/>
          <a:lstStyle>
            <a:lvl1pPr marL="0" indent="0" algn="l" defTabSz="825500">
              <a:lnSpc>
                <a:spcPct val="100000"/>
              </a:lnSpc>
              <a:spcBef>
                <a:spcPts val="0"/>
              </a:spcBef>
              <a:buSzTx/>
              <a:buNone/>
              <a:defRPr sz="3200" b="0" i="0">
                <a:latin typeface="Chromatica Medium" pitchFamily="2" charset="77"/>
              </a:defRPr>
            </a:lvl1pPr>
          </a:lstStyle>
          <a:p>
            <a:r>
              <a:rPr lang="tr-TR" dirty="0"/>
              <a:t>Dersin adını buraya yazın</a:t>
            </a:r>
          </a:p>
        </p:txBody>
      </p:sp>
      <p:cxnSp>
        <p:nvCxnSpPr>
          <p:cNvPr id="14" name="Straight Connector 13">
            <a:extLst>
              <a:ext uri="{FF2B5EF4-FFF2-40B4-BE49-F238E27FC236}">
                <a16:creationId xmlns:a16="http://schemas.microsoft.com/office/drawing/2014/main" id="{60B40B19-566E-A743-BF82-7FDFA5614D83}"/>
              </a:ext>
            </a:extLst>
          </p:cNvPr>
          <p:cNvCxnSpPr>
            <a:cxnSpLocks/>
          </p:cNvCxnSpPr>
          <p:nvPr userDrawn="1"/>
        </p:nvCxnSpPr>
        <p:spPr>
          <a:xfrm>
            <a:off x="1104900" y="1481652"/>
            <a:ext cx="22174200" cy="0"/>
          </a:xfrm>
          <a:prstGeom prst="line">
            <a:avLst/>
          </a:prstGeom>
          <a:noFill/>
          <a:ln w="3175"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7" name="TextBox 16">
            <a:extLst>
              <a:ext uri="{FF2B5EF4-FFF2-40B4-BE49-F238E27FC236}">
                <a16:creationId xmlns:a16="http://schemas.microsoft.com/office/drawing/2014/main" id="{201E5980-45BA-614F-AC8B-C106D2EB33A8}"/>
              </a:ext>
            </a:extLst>
          </p:cNvPr>
          <p:cNvSpPr txBox="1"/>
          <p:nvPr userDrawn="1"/>
        </p:nvSpPr>
        <p:spPr>
          <a:xfrm>
            <a:off x="6160286" y="631141"/>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TR"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19" name="TextBox 18">
            <a:extLst>
              <a:ext uri="{FF2B5EF4-FFF2-40B4-BE49-F238E27FC236}">
                <a16:creationId xmlns:a16="http://schemas.microsoft.com/office/drawing/2014/main" id="{746EF5B0-9520-1A41-8DBD-9F983BCFBB0F}"/>
              </a:ext>
            </a:extLst>
          </p:cNvPr>
          <p:cNvSpPr txBox="1"/>
          <p:nvPr userDrawn="1"/>
        </p:nvSpPr>
        <p:spPr>
          <a:xfrm>
            <a:off x="22320369" y="231769"/>
            <a:ext cx="912109"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1800" b="0" i="0" u="none" strike="noStrike" kern="100" cap="none" spc="110" normalizeH="0" baseline="0" dirty="0">
                <a:ln>
                  <a:noFill/>
                </a:ln>
                <a:solidFill>
                  <a:schemeClr val="bg2">
                    <a:lumMod val="10000"/>
                  </a:schemeClr>
                </a:solidFill>
                <a:effectLst/>
                <a:uFillTx/>
                <a:latin typeface="Chromatica Medium" pitchFamily="2" charset="77"/>
                <a:ea typeface="+mn-ea"/>
                <a:cs typeface="+mn-cs"/>
                <a:sym typeface="Helvetica Neue"/>
              </a:rPr>
              <a:t>MIUUL</a:t>
            </a:r>
          </a:p>
        </p:txBody>
      </p:sp>
      <p:sp>
        <p:nvSpPr>
          <p:cNvPr id="20" name="TextBox 19">
            <a:extLst>
              <a:ext uri="{FF2B5EF4-FFF2-40B4-BE49-F238E27FC236}">
                <a16:creationId xmlns:a16="http://schemas.microsoft.com/office/drawing/2014/main" id="{525CF718-ACE3-2946-B725-C3C12C26870E}"/>
              </a:ext>
            </a:extLst>
          </p:cNvPr>
          <p:cNvSpPr txBox="1"/>
          <p:nvPr userDrawn="1"/>
        </p:nvSpPr>
        <p:spPr>
          <a:xfrm>
            <a:off x="23133892" y="279950"/>
            <a:ext cx="197170" cy="1795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500" b="0" i="0" u="none" strike="noStrike" cap="none" spc="0" normalizeH="0" baseline="0" dirty="0">
                <a:ln>
                  <a:noFill/>
                </a:ln>
                <a:solidFill>
                  <a:schemeClr val="bg2">
                    <a:lumMod val="10000"/>
                  </a:schemeClr>
                </a:solidFill>
                <a:effectLst/>
                <a:uFillTx/>
                <a:latin typeface="Chromatica Medium" pitchFamily="2" charset="77"/>
                <a:ea typeface="+mn-ea"/>
                <a:cs typeface="+mn-cs"/>
                <a:sym typeface="Helvetica Neue"/>
              </a:rPr>
              <a:t>TM</a:t>
            </a:r>
          </a:p>
        </p:txBody>
      </p:sp>
      <p:sp>
        <p:nvSpPr>
          <p:cNvPr id="21" name="TextBox 20">
            <a:extLst>
              <a:ext uri="{FF2B5EF4-FFF2-40B4-BE49-F238E27FC236}">
                <a16:creationId xmlns:a16="http://schemas.microsoft.com/office/drawing/2014/main" id="{CD8CEC82-FA21-5D4B-8318-FE278F38F3F6}"/>
              </a:ext>
            </a:extLst>
          </p:cNvPr>
          <p:cNvSpPr txBox="1"/>
          <p:nvPr userDrawn="1"/>
        </p:nvSpPr>
        <p:spPr>
          <a:xfrm>
            <a:off x="19365581" y="857221"/>
            <a:ext cx="3970924"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www.miuul.com</a:t>
            </a:r>
          </a:p>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Copyright </a:t>
            </a:r>
            <a:r>
              <a:rPr kumimoji="0" lang="en-TR" sz="1300" b="0" i="0" u="none" strike="noStrike" cap="none" spc="0" normalizeH="0" baseline="0">
                <a:ln>
                  <a:noFill/>
                </a:ln>
                <a:solidFill>
                  <a:schemeClr val="bg2">
                    <a:lumMod val="10000"/>
                  </a:schemeClr>
                </a:solidFill>
                <a:effectLst/>
                <a:uFillTx/>
                <a:latin typeface="Chromatica" pitchFamily="2" charset="77"/>
                <a:ea typeface="+mn-ea"/>
                <a:cs typeface="+mn-cs"/>
                <a:sym typeface="Helvetica Neue"/>
              </a:rPr>
              <a:t>© Miuul. </a:t>
            </a: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All Rights Reserved</a:t>
            </a:r>
          </a:p>
        </p:txBody>
      </p:sp>
      <p:sp>
        <p:nvSpPr>
          <p:cNvPr id="22" name="TextBox 21">
            <a:extLst>
              <a:ext uri="{FF2B5EF4-FFF2-40B4-BE49-F238E27FC236}">
                <a16:creationId xmlns:a16="http://schemas.microsoft.com/office/drawing/2014/main" id="{5750CEEE-A67E-6A49-B778-7AAC10C70C22}"/>
              </a:ext>
            </a:extLst>
          </p:cNvPr>
          <p:cNvSpPr txBox="1"/>
          <p:nvPr userDrawn="1"/>
        </p:nvSpPr>
        <p:spPr>
          <a:xfrm>
            <a:off x="22922972" y="-172462"/>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TR"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23" name="Author and Date">
            <a:extLst>
              <a:ext uri="{FF2B5EF4-FFF2-40B4-BE49-F238E27FC236}">
                <a16:creationId xmlns:a16="http://schemas.microsoft.com/office/drawing/2014/main" id="{EE642577-6C65-AC44-8B45-E9CBE07C539A}"/>
              </a:ext>
            </a:extLst>
          </p:cNvPr>
          <p:cNvSpPr txBox="1">
            <a:spLocks noGrp="1"/>
          </p:cNvSpPr>
          <p:nvPr>
            <p:ph type="body" sz="quarter" idx="23" hasCustomPrompt="1"/>
          </p:nvPr>
        </p:nvSpPr>
        <p:spPr>
          <a:xfrm>
            <a:off x="1049411" y="2393941"/>
            <a:ext cx="22229689" cy="10350448"/>
          </a:xfrm>
          <a:prstGeom prst="rect">
            <a:avLst/>
          </a:prstGeom>
        </p:spPr>
        <p:txBody>
          <a:bodyPr lIns="45719" tIns="45719" rIns="45719" bIns="45719" anchor="t"/>
          <a:lstStyle>
            <a:lvl1pPr marL="0" indent="0" algn="l" defTabSz="825500">
              <a:lnSpc>
                <a:spcPct val="100000"/>
              </a:lnSpc>
              <a:spcBef>
                <a:spcPts val="0"/>
              </a:spcBef>
              <a:buSzTx/>
              <a:buNone/>
              <a:defRPr sz="3200" b="0" i="0">
                <a:latin typeface="Chromatica" pitchFamily="2" charset="77"/>
              </a:defRPr>
            </a:lvl1pPr>
          </a:lstStyle>
          <a:p>
            <a:r>
              <a:rPr lang="tr-TR" dirty="0"/>
              <a:t>Sayfa içine eklenecek yazıları ve görselleri bu çerçeve sınırları içerisinde tutuyoruz. </a:t>
            </a:r>
            <a:br>
              <a:rPr lang="tr-TR" dirty="0"/>
            </a:br>
            <a:endParaRPr lang="tr-TR" dirty="0"/>
          </a:p>
        </p:txBody>
      </p:sp>
    </p:spTree>
    <p:extLst>
      <p:ext uri="{BB962C8B-B14F-4D97-AF65-F5344CB8AC3E}">
        <p14:creationId xmlns:p14="http://schemas.microsoft.com/office/powerpoint/2010/main" val="1585938865"/>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Uygulama/Proje">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BA3E2F-7310-664B-8F7C-BCAA61B43015}"/>
              </a:ext>
            </a:extLst>
          </p:cNvPr>
          <p:cNvSpPr txBox="1"/>
          <p:nvPr userDrawn="1"/>
        </p:nvSpPr>
        <p:spPr>
          <a:xfrm>
            <a:off x="1020437" y="445773"/>
            <a:ext cx="3970924"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TR" sz="3200" b="0" i="0" u="none" strike="noStrike" cap="none" spc="0" normalizeH="0" baseline="0" dirty="0">
                <a:ln>
                  <a:noFill/>
                </a:ln>
                <a:solidFill>
                  <a:schemeClr val="bg2">
                    <a:lumMod val="10000"/>
                  </a:schemeClr>
                </a:solidFill>
                <a:effectLst/>
                <a:uFillTx/>
                <a:latin typeface="Chromatica Medium" pitchFamily="2" charset="77"/>
                <a:ea typeface="+mn-ea"/>
                <a:cs typeface="+mn-cs"/>
                <a:sym typeface="Helvetica Neue"/>
              </a:rPr>
              <a:t>Uygulama:</a:t>
            </a:r>
          </a:p>
        </p:txBody>
      </p:sp>
      <p:cxnSp>
        <p:nvCxnSpPr>
          <p:cNvPr id="4" name="Straight Connector 3">
            <a:extLst>
              <a:ext uri="{FF2B5EF4-FFF2-40B4-BE49-F238E27FC236}">
                <a16:creationId xmlns:a16="http://schemas.microsoft.com/office/drawing/2014/main" id="{5D29AF0C-F761-0D48-B6EA-493695665B97}"/>
              </a:ext>
            </a:extLst>
          </p:cNvPr>
          <p:cNvCxnSpPr>
            <a:cxnSpLocks/>
          </p:cNvCxnSpPr>
          <p:nvPr userDrawn="1"/>
        </p:nvCxnSpPr>
        <p:spPr>
          <a:xfrm>
            <a:off x="1104900" y="1481652"/>
            <a:ext cx="22174200" cy="0"/>
          </a:xfrm>
          <a:prstGeom prst="line">
            <a:avLst/>
          </a:prstGeom>
          <a:noFill/>
          <a:ln w="3175"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 name="TextBox 4">
            <a:extLst>
              <a:ext uri="{FF2B5EF4-FFF2-40B4-BE49-F238E27FC236}">
                <a16:creationId xmlns:a16="http://schemas.microsoft.com/office/drawing/2014/main" id="{D843065F-7CF2-7246-8CC0-F1495A4666C3}"/>
              </a:ext>
            </a:extLst>
          </p:cNvPr>
          <p:cNvSpPr txBox="1"/>
          <p:nvPr userDrawn="1"/>
        </p:nvSpPr>
        <p:spPr>
          <a:xfrm>
            <a:off x="22320369" y="231769"/>
            <a:ext cx="912109"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1800" b="0" i="0" u="none" strike="noStrike" kern="100" cap="none" spc="110" normalizeH="0" baseline="0" dirty="0">
                <a:ln>
                  <a:noFill/>
                </a:ln>
                <a:solidFill>
                  <a:schemeClr val="bg2">
                    <a:lumMod val="10000"/>
                  </a:schemeClr>
                </a:solidFill>
                <a:effectLst/>
                <a:uFillTx/>
                <a:latin typeface="Chromatica Medium" pitchFamily="2" charset="77"/>
                <a:ea typeface="+mn-ea"/>
                <a:cs typeface="+mn-cs"/>
                <a:sym typeface="Helvetica Neue"/>
              </a:rPr>
              <a:t>MIUUL</a:t>
            </a:r>
          </a:p>
        </p:txBody>
      </p:sp>
      <p:sp>
        <p:nvSpPr>
          <p:cNvPr id="6" name="TextBox 5">
            <a:extLst>
              <a:ext uri="{FF2B5EF4-FFF2-40B4-BE49-F238E27FC236}">
                <a16:creationId xmlns:a16="http://schemas.microsoft.com/office/drawing/2014/main" id="{696F1535-6CBA-3E42-8BE4-22718C21AF32}"/>
              </a:ext>
            </a:extLst>
          </p:cNvPr>
          <p:cNvSpPr txBox="1"/>
          <p:nvPr userDrawn="1"/>
        </p:nvSpPr>
        <p:spPr>
          <a:xfrm>
            <a:off x="23133892" y="275554"/>
            <a:ext cx="197170" cy="1795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500" b="0" i="0" u="none" strike="noStrike" cap="none" spc="0" normalizeH="0" baseline="0" dirty="0">
                <a:ln>
                  <a:noFill/>
                </a:ln>
                <a:solidFill>
                  <a:schemeClr val="bg2">
                    <a:lumMod val="10000"/>
                  </a:schemeClr>
                </a:solidFill>
                <a:effectLst/>
                <a:uFillTx/>
                <a:latin typeface="Chromatica Medium" pitchFamily="2" charset="77"/>
                <a:ea typeface="+mn-ea"/>
                <a:cs typeface="+mn-cs"/>
                <a:sym typeface="Helvetica Neue"/>
              </a:rPr>
              <a:t>TM</a:t>
            </a:r>
          </a:p>
        </p:txBody>
      </p:sp>
      <p:sp>
        <p:nvSpPr>
          <p:cNvPr id="7" name="TextBox 6">
            <a:extLst>
              <a:ext uri="{FF2B5EF4-FFF2-40B4-BE49-F238E27FC236}">
                <a16:creationId xmlns:a16="http://schemas.microsoft.com/office/drawing/2014/main" id="{83896031-03CB-FC42-8AC2-462CCE101649}"/>
              </a:ext>
            </a:extLst>
          </p:cNvPr>
          <p:cNvSpPr txBox="1"/>
          <p:nvPr userDrawn="1"/>
        </p:nvSpPr>
        <p:spPr>
          <a:xfrm>
            <a:off x="19365581" y="857221"/>
            <a:ext cx="3970924"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www.miuul.com</a:t>
            </a:r>
          </a:p>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Copyright </a:t>
            </a:r>
            <a:r>
              <a:rPr kumimoji="0" lang="en-TR" sz="1300" b="0" i="0" u="none" strike="noStrike" cap="none" spc="0" normalizeH="0" baseline="0">
                <a:ln>
                  <a:noFill/>
                </a:ln>
                <a:solidFill>
                  <a:schemeClr val="bg2">
                    <a:lumMod val="10000"/>
                  </a:schemeClr>
                </a:solidFill>
                <a:effectLst/>
                <a:uFillTx/>
                <a:latin typeface="Chromatica" pitchFamily="2" charset="77"/>
                <a:ea typeface="+mn-ea"/>
                <a:cs typeface="+mn-cs"/>
                <a:sym typeface="Helvetica Neue"/>
              </a:rPr>
              <a:t>© Miuul. </a:t>
            </a: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All Rights Reserved</a:t>
            </a:r>
          </a:p>
        </p:txBody>
      </p:sp>
      <p:sp>
        <p:nvSpPr>
          <p:cNvPr id="8" name="TextBox 7">
            <a:extLst>
              <a:ext uri="{FF2B5EF4-FFF2-40B4-BE49-F238E27FC236}">
                <a16:creationId xmlns:a16="http://schemas.microsoft.com/office/drawing/2014/main" id="{D7928544-B5DB-ED48-90E0-26946CC9B600}"/>
              </a:ext>
            </a:extLst>
          </p:cNvPr>
          <p:cNvSpPr txBox="1"/>
          <p:nvPr userDrawn="1"/>
        </p:nvSpPr>
        <p:spPr>
          <a:xfrm>
            <a:off x="22922972" y="-172462"/>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TR"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9" name="Author and Date">
            <a:extLst>
              <a:ext uri="{FF2B5EF4-FFF2-40B4-BE49-F238E27FC236}">
                <a16:creationId xmlns:a16="http://schemas.microsoft.com/office/drawing/2014/main" id="{715D275F-DFDA-D245-9BDB-996B1F6EC6BD}"/>
              </a:ext>
            </a:extLst>
          </p:cNvPr>
          <p:cNvSpPr txBox="1">
            <a:spLocks noGrp="1"/>
          </p:cNvSpPr>
          <p:nvPr>
            <p:ph type="body" sz="quarter" idx="22" hasCustomPrompt="1"/>
          </p:nvPr>
        </p:nvSpPr>
        <p:spPr>
          <a:xfrm>
            <a:off x="3529146" y="167779"/>
            <a:ext cx="13742854" cy="1169999"/>
          </a:xfrm>
          <a:prstGeom prst="rect">
            <a:avLst/>
          </a:prstGeom>
        </p:spPr>
        <p:txBody>
          <a:bodyPr lIns="45719" tIns="45719" rIns="45719" bIns="45719" anchor="ctr"/>
          <a:lstStyle>
            <a:lvl1pPr marL="0" indent="0" algn="l" defTabSz="825500">
              <a:lnSpc>
                <a:spcPct val="100000"/>
              </a:lnSpc>
              <a:spcBef>
                <a:spcPts val="0"/>
              </a:spcBef>
              <a:buSzTx/>
              <a:buNone/>
              <a:defRPr sz="3200" b="0" i="0">
                <a:latin typeface="Chromatica Medium" pitchFamily="2" charset="77"/>
              </a:defRPr>
            </a:lvl1pPr>
          </a:lstStyle>
          <a:p>
            <a:r>
              <a:rPr lang="tr-TR" dirty="0"/>
              <a:t>‘Projenin adını buraya yazın’</a:t>
            </a:r>
          </a:p>
        </p:txBody>
      </p:sp>
      <p:sp>
        <p:nvSpPr>
          <p:cNvPr id="10" name="Author and Date">
            <a:extLst>
              <a:ext uri="{FF2B5EF4-FFF2-40B4-BE49-F238E27FC236}">
                <a16:creationId xmlns:a16="http://schemas.microsoft.com/office/drawing/2014/main" id="{0F3C4248-EB51-CF40-BD7E-040A2460A589}"/>
              </a:ext>
            </a:extLst>
          </p:cNvPr>
          <p:cNvSpPr txBox="1">
            <a:spLocks noGrp="1"/>
          </p:cNvSpPr>
          <p:nvPr>
            <p:ph type="body" sz="quarter" idx="23" hasCustomPrompt="1"/>
          </p:nvPr>
        </p:nvSpPr>
        <p:spPr>
          <a:xfrm>
            <a:off x="1049411" y="2393941"/>
            <a:ext cx="22229689" cy="10350448"/>
          </a:xfrm>
          <a:prstGeom prst="rect">
            <a:avLst/>
          </a:prstGeom>
        </p:spPr>
        <p:txBody>
          <a:bodyPr lIns="45719" tIns="45719" rIns="45719" bIns="45719" anchor="t"/>
          <a:lstStyle>
            <a:lvl1pPr marL="0" indent="0" algn="l" defTabSz="825500">
              <a:lnSpc>
                <a:spcPct val="100000"/>
              </a:lnSpc>
              <a:spcBef>
                <a:spcPts val="0"/>
              </a:spcBef>
              <a:buSzTx/>
              <a:buNone/>
              <a:defRPr sz="3200" b="0" i="0">
                <a:latin typeface="Chromatica" pitchFamily="2" charset="77"/>
              </a:defRPr>
            </a:lvl1pPr>
          </a:lstStyle>
          <a:p>
            <a:r>
              <a:rPr lang="tr-TR" dirty="0"/>
              <a:t>Sayfa içine eklenecek yazıları ve görselleri bu çerçeve sınırları içerisinde tutuyoruz</a:t>
            </a:r>
          </a:p>
        </p:txBody>
      </p:sp>
    </p:spTree>
    <p:extLst>
      <p:ext uri="{BB962C8B-B14F-4D97-AF65-F5344CB8AC3E}">
        <p14:creationId xmlns:p14="http://schemas.microsoft.com/office/powerpoint/2010/main" val="3027570292"/>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ölüm Özeti">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A31EE74-3E9F-4D4B-B3CB-FBB357DA2DF9}"/>
              </a:ext>
            </a:extLst>
          </p:cNvPr>
          <p:cNvSpPr/>
          <p:nvPr userDrawn="1"/>
        </p:nvSpPr>
        <p:spPr>
          <a:xfrm>
            <a:off x="1104899" y="2393941"/>
            <a:ext cx="10820397" cy="10350453"/>
          </a:xfrm>
          <a:prstGeom prst="rect">
            <a:avLst/>
          </a:prstGeom>
          <a:solidFill>
            <a:srgbClr val="03523C"/>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TR"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4" name="TextBox 3">
            <a:extLst>
              <a:ext uri="{FF2B5EF4-FFF2-40B4-BE49-F238E27FC236}">
                <a16:creationId xmlns:a16="http://schemas.microsoft.com/office/drawing/2014/main" id="{4F539120-26FA-9341-962C-7F435C73C35B}"/>
              </a:ext>
            </a:extLst>
          </p:cNvPr>
          <p:cNvSpPr txBox="1"/>
          <p:nvPr userDrawn="1"/>
        </p:nvSpPr>
        <p:spPr>
          <a:xfrm>
            <a:off x="1020437" y="445773"/>
            <a:ext cx="3970924"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TR" sz="3200" b="0" i="0" u="none" strike="noStrike" cap="none" spc="0" normalizeH="0" baseline="0" dirty="0">
                <a:ln>
                  <a:noFill/>
                </a:ln>
                <a:solidFill>
                  <a:schemeClr val="bg2">
                    <a:lumMod val="10000"/>
                  </a:schemeClr>
                </a:solidFill>
                <a:effectLst/>
                <a:uFillTx/>
                <a:latin typeface="Chromatica Medium" pitchFamily="2" charset="77"/>
                <a:ea typeface="+mn-ea"/>
                <a:cs typeface="+mn-cs"/>
                <a:sym typeface="Helvetica Neue"/>
              </a:rPr>
              <a:t>Bölüm Özeti</a:t>
            </a:r>
          </a:p>
        </p:txBody>
      </p:sp>
      <p:cxnSp>
        <p:nvCxnSpPr>
          <p:cNvPr id="5" name="Straight Connector 4">
            <a:extLst>
              <a:ext uri="{FF2B5EF4-FFF2-40B4-BE49-F238E27FC236}">
                <a16:creationId xmlns:a16="http://schemas.microsoft.com/office/drawing/2014/main" id="{D8C12F33-0B8E-BC43-B871-1EA5470A9927}"/>
              </a:ext>
            </a:extLst>
          </p:cNvPr>
          <p:cNvCxnSpPr>
            <a:cxnSpLocks/>
          </p:cNvCxnSpPr>
          <p:nvPr userDrawn="1"/>
        </p:nvCxnSpPr>
        <p:spPr>
          <a:xfrm>
            <a:off x="1104900" y="1481652"/>
            <a:ext cx="22174200" cy="0"/>
          </a:xfrm>
          <a:prstGeom prst="line">
            <a:avLst/>
          </a:prstGeom>
          <a:noFill/>
          <a:ln w="3175"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9FA109C9-B7D5-DB4E-850C-7A5E9DB5B35C}"/>
              </a:ext>
            </a:extLst>
          </p:cNvPr>
          <p:cNvSpPr txBox="1"/>
          <p:nvPr userDrawn="1"/>
        </p:nvSpPr>
        <p:spPr>
          <a:xfrm>
            <a:off x="22320369" y="231769"/>
            <a:ext cx="912109"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1800" b="0" i="0" u="none" strike="noStrike" kern="100" cap="none" spc="110" normalizeH="0" baseline="0" dirty="0">
                <a:ln>
                  <a:noFill/>
                </a:ln>
                <a:solidFill>
                  <a:schemeClr val="bg2">
                    <a:lumMod val="10000"/>
                  </a:schemeClr>
                </a:solidFill>
                <a:effectLst/>
                <a:uFillTx/>
                <a:latin typeface="Chromatica Medium" pitchFamily="2" charset="77"/>
                <a:ea typeface="+mn-ea"/>
                <a:cs typeface="+mn-cs"/>
                <a:sym typeface="Helvetica Neue"/>
              </a:rPr>
              <a:t>MIUUL</a:t>
            </a:r>
          </a:p>
        </p:txBody>
      </p:sp>
      <p:sp>
        <p:nvSpPr>
          <p:cNvPr id="7" name="TextBox 6">
            <a:extLst>
              <a:ext uri="{FF2B5EF4-FFF2-40B4-BE49-F238E27FC236}">
                <a16:creationId xmlns:a16="http://schemas.microsoft.com/office/drawing/2014/main" id="{BB8A04EF-CF2A-4A4F-A9F2-EBBBD1E4DE2B}"/>
              </a:ext>
            </a:extLst>
          </p:cNvPr>
          <p:cNvSpPr txBox="1"/>
          <p:nvPr userDrawn="1"/>
        </p:nvSpPr>
        <p:spPr>
          <a:xfrm>
            <a:off x="23133892" y="275554"/>
            <a:ext cx="197170" cy="1795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500" b="0" i="0" u="none" strike="noStrike" cap="none" spc="0" normalizeH="0" baseline="0" dirty="0">
                <a:ln>
                  <a:noFill/>
                </a:ln>
                <a:solidFill>
                  <a:schemeClr val="bg2">
                    <a:lumMod val="10000"/>
                  </a:schemeClr>
                </a:solidFill>
                <a:effectLst/>
                <a:uFillTx/>
                <a:latin typeface="Chromatica Medium" pitchFamily="2" charset="77"/>
                <a:ea typeface="+mn-ea"/>
                <a:cs typeface="+mn-cs"/>
                <a:sym typeface="Helvetica Neue"/>
              </a:rPr>
              <a:t>TM</a:t>
            </a:r>
          </a:p>
        </p:txBody>
      </p:sp>
      <p:sp>
        <p:nvSpPr>
          <p:cNvPr id="8" name="TextBox 7">
            <a:extLst>
              <a:ext uri="{FF2B5EF4-FFF2-40B4-BE49-F238E27FC236}">
                <a16:creationId xmlns:a16="http://schemas.microsoft.com/office/drawing/2014/main" id="{36347171-6DE6-5548-A5D2-656F5E929FC1}"/>
              </a:ext>
            </a:extLst>
          </p:cNvPr>
          <p:cNvSpPr txBox="1"/>
          <p:nvPr userDrawn="1"/>
        </p:nvSpPr>
        <p:spPr>
          <a:xfrm>
            <a:off x="19365581" y="857221"/>
            <a:ext cx="3970924"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www.miuul.com</a:t>
            </a:r>
          </a:p>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Copyright </a:t>
            </a:r>
            <a:r>
              <a:rPr kumimoji="0" lang="en-TR" sz="1300" b="0" i="0" u="none" strike="noStrike" cap="none" spc="0" normalizeH="0" baseline="0">
                <a:ln>
                  <a:noFill/>
                </a:ln>
                <a:solidFill>
                  <a:schemeClr val="bg2">
                    <a:lumMod val="10000"/>
                  </a:schemeClr>
                </a:solidFill>
                <a:effectLst/>
                <a:uFillTx/>
                <a:latin typeface="Chromatica" pitchFamily="2" charset="77"/>
                <a:ea typeface="+mn-ea"/>
                <a:cs typeface="+mn-cs"/>
                <a:sym typeface="Helvetica Neue"/>
              </a:rPr>
              <a:t>© Miuul. </a:t>
            </a: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All Rights Reserved</a:t>
            </a:r>
          </a:p>
        </p:txBody>
      </p:sp>
      <p:sp>
        <p:nvSpPr>
          <p:cNvPr id="9" name="TextBox 8">
            <a:extLst>
              <a:ext uri="{FF2B5EF4-FFF2-40B4-BE49-F238E27FC236}">
                <a16:creationId xmlns:a16="http://schemas.microsoft.com/office/drawing/2014/main" id="{BCAD83E3-93BE-A248-92F5-A6089CE21B46}"/>
              </a:ext>
            </a:extLst>
          </p:cNvPr>
          <p:cNvSpPr txBox="1"/>
          <p:nvPr userDrawn="1"/>
        </p:nvSpPr>
        <p:spPr>
          <a:xfrm>
            <a:off x="22922972" y="-172462"/>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TR"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10" name="Title 10">
            <a:extLst>
              <a:ext uri="{FF2B5EF4-FFF2-40B4-BE49-F238E27FC236}">
                <a16:creationId xmlns:a16="http://schemas.microsoft.com/office/drawing/2014/main" id="{54354A9F-DFCA-2E49-B4AA-AD78CA9ACE13}"/>
              </a:ext>
            </a:extLst>
          </p:cNvPr>
          <p:cNvSpPr>
            <a:spLocks noGrp="1"/>
          </p:cNvSpPr>
          <p:nvPr>
            <p:ph type="title" hasCustomPrompt="1"/>
          </p:nvPr>
        </p:nvSpPr>
        <p:spPr>
          <a:xfrm>
            <a:off x="1676397" y="6753904"/>
            <a:ext cx="9677400" cy="1433163"/>
          </a:xfrm>
        </p:spPr>
        <p:txBody>
          <a:bodyPr>
            <a:normAutofit/>
          </a:bodyPr>
          <a:lstStyle>
            <a:lvl1pPr>
              <a:lnSpc>
                <a:spcPct val="150000"/>
              </a:lnSpc>
              <a:spcBef>
                <a:spcPts val="0"/>
              </a:spcBef>
              <a:spcAft>
                <a:spcPts val="600"/>
              </a:spcAft>
              <a:defRPr sz="3200" b="0" i="0" spc="0">
                <a:solidFill>
                  <a:srgbClr val="C9FFC7"/>
                </a:solidFill>
                <a:latin typeface="Chromatica" pitchFamily="2" charset="77"/>
              </a:defRPr>
            </a:lvl1pPr>
          </a:lstStyle>
          <a:p>
            <a:r>
              <a:rPr lang="en-US" dirty="0" err="1"/>
              <a:t>Bölüm</a:t>
            </a:r>
            <a:r>
              <a:rPr lang="en-US" dirty="0"/>
              <a:t> </a:t>
            </a:r>
            <a:r>
              <a:rPr lang="en-US" dirty="0" err="1"/>
              <a:t>adını</a:t>
            </a:r>
            <a:r>
              <a:rPr lang="en-US" dirty="0"/>
              <a:t> </a:t>
            </a:r>
            <a:r>
              <a:rPr lang="en-US" dirty="0" err="1"/>
              <a:t>buraya</a:t>
            </a:r>
            <a:r>
              <a:rPr lang="en-US" dirty="0"/>
              <a:t> </a:t>
            </a:r>
            <a:r>
              <a:rPr lang="en-US" dirty="0" err="1"/>
              <a:t>yazın</a:t>
            </a:r>
            <a:endParaRPr lang="en-TR" dirty="0"/>
          </a:p>
        </p:txBody>
      </p:sp>
      <p:sp>
        <p:nvSpPr>
          <p:cNvPr id="13" name="Text Placeholder 12">
            <a:extLst>
              <a:ext uri="{FF2B5EF4-FFF2-40B4-BE49-F238E27FC236}">
                <a16:creationId xmlns:a16="http://schemas.microsoft.com/office/drawing/2014/main" id="{870CC902-E0D0-8F48-8054-775921E13ECC}"/>
              </a:ext>
            </a:extLst>
          </p:cNvPr>
          <p:cNvSpPr>
            <a:spLocks noGrp="1"/>
          </p:cNvSpPr>
          <p:nvPr>
            <p:ph type="body" sz="quarter" idx="10" hasCustomPrompt="1"/>
          </p:nvPr>
        </p:nvSpPr>
        <p:spPr>
          <a:xfrm>
            <a:off x="12458706" y="2393942"/>
            <a:ext cx="10820394" cy="10350452"/>
          </a:xfrm>
          <a:prstGeom prst="rect">
            <a:avLst/>
          </a:prstGeom>
        </p:spPr>
        <p:txBody>
          <a:bodyPr anchor="ctr"/>
          <a:lstStyle>
            <a:lvl1pPr algn="l">
              <a:defRPr sz="3200" b="0" i="0">
                <a:latin typeface="Chromatica" pitchFamily="2" charset="77"/>
              </a:defRPr>
            </a:lvl1pPr>
          </a:lstStyle>
          <a:p>
            <a:pPr lvl="0"/>
            <a:r>
              <a:rPr lang="en-US" dirty="0"/>
              <a:t>’</a:t>
            </a:r>
            <a:r>
              <a:rPr lang="en-US" dirty="0" err="1"/>
              <a:t>Neler</a:t>
            </a:r>
            <a:r>
              <a:rPr lang="en-US" dirty="0"/>
              <a:t> </a:t>
            </a:r>
            <a:r>
              <a:rPr lang="en-US" dirty="0" err="1"/>
              <a:t>Öğrendik</a:t>
            </a:r>
            <a:r>
              <a:rPr lang="en-US" dirty="0"/>
              <a:t>?’ </a:t>
            </a:r>
            <a:r>
              <a:rPr lang="en-US" dirty="0" err="1"/>
              <a:t>kısa</a:t>
            </a:r>
            <a:r>
              <a:rPr lang="en-US" dirty="0"/>
              <a:t> </a:t>
            </a:r>
            <a:r>
              <a:rPr lang="en-US" dirty="0" err="1"/>
              <a:t>maddeler</a:t>
            </a:r>
            <a:r>
              <a:rPr lang="en-US" dirty="0"/>
              <a:t> </a:t>
            </a:r>
            <a:r>
              <a:rPr lang="en-US" dirty="0" err="1"/>
              <a:t>ile</a:t>
            </a:r>
            <a:r>
              <a:rPr lang="en-US" dirty="0"/>
              <a:t> </a:t>
            </a:r>
            <a:r>
              <a:rPr lang="en-US" dirty="0" err="1"/>
              <a:t>listeleyelim</a:t>
            </a:r>
            <a:endParaRPr lang="en-US" dirty="0"/>
          </a:p>
        </p:txBody>
      </p:sp>
    </p:spTree>
    <p:extLst>
      <p:ext uri="{BB962C8B-B14F-4D97-AF65-F5344CB8AC3E}">
        <p14:creationId xmlns:p14="http://schemas.microsoft.com/office/powerpoint/2010/main" val="391225771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Ders Anlatımı">
    <p:spTree>
      <p:nvGrpSpPr>
        <p:cNvPr id="1" name=""/>
        <p:cNvGrpSpPr/>
        <p:nvPr/>
      </p:nvGrpSpPr>
      <p:grpSpPr>
        <a:xfrm>
          <a:off x="0" y="0"/>
          <a:ext cx="0" cy="0"/>
          <a:chOff x="0" y="0"/>
          <a:chExt cx="0" cy="0"/>
        </a:xfrm>
      </p:grpSpPr>
      <p:sp>
        <p:nvSpPr>
          <p:cNvPr id="3" name="Author and Date">
            <a:extLst>
              <a:ext uri="{FF2B5EF4-FFF2-40B4-BE49-F238E27FC236}">
                <a16:creationId xmlns:a16="http://schemas.microsoft.com/office/drawing/2014/main" id="{E5E2BDF8-0349-334B-BF6A-D7072B112F49}"/>
              </a:ext>
            </a:extLst>
          </p:cNvPr>
          <p:cNvSpPr txBox="1">
            <a:spLocks noGrp="1"/>
          </p:cNvSpPr>
          <p:nvPr>
            <p:ph type="body" sz="quarter" idx="22" hasCustomPrompt="1"/>
          </p:nvPr>
        </p:nvSpPr>
        <p:spPr>
          <a:xfrm>
            <a:off x="1049411" y="167779"/>
            <a:ext cx="15709901" cy="1169999"/>
          </a:xfrm>
          <a:prstGeom prst="rect">
            <a:avLst/>
          </a:prstGeom>
        </p:spPr>
        <p:txBody>
          <a:bodyPr lIns="45719" tIns="45719" rIns="45719" bIns="45719" anchor="ctr"/>
          <a:lstStyle>
            <a:lvl1pPr marL="0" indent="0" algn="l" defTabSz="825500">
              <a:lnSpc>
                <a:spcPct val="100000"/>
              </a:lnSpc>
              <a:spcBef>
                <a:spcPts val="0"/>
              </a:spcBef>
              <a:buSzTx/>
              <a:buNone/>
              <a:defRPr sz="3200" b="0" i="0">
                <a:latin typeface="Chromatica Medium" pitchFamily="2" charset="77"/>
              </a:defRPr>
            </a:lvl1pPr>
          </a:lstStyle>
          <a:p>
            <a:r>
              <a:rPr lang="tr-TR" dirty="0"/>
              <a:t>Dersin adını buraya yazın</a:t>
            </a:r>
          </a:p>
        </p:txBody>
      </p:sp>
      <p:cxnSp>
        <p:nvCxnSpPr>
          <p:cNvPr id="14" name="Straight Connector 13">
            <a:extLst>
              <a:ext uri="{FF2B5EF4-FFF2-40B4-BE49-F238E27FC236}">
                <a16:creationId xmlns:a16="http://schemas.microsoft.com/office/drawing/2014/main" id="{60B40B19-566E-A743-BF82-7FDFA5614D83}"/>
              </a:ext>
            </a:extLst>
          </p:cNvPr>
          <p:cNvCxnSpPr>
            <a:cxnSpLocks/>
          </p:cNvCxnSpPr>
          <p:nvPr userDrawn="1"/>
        </p:nvCxnSpPr>
        <p:spPr>
          <a:xfrm>
            <a:off x="1104900" y="1481652"/>
            <a:ext cx="22174200" cy="0"/>
          </a:xfrm>
          <a:prstGeom prst="line">
            <a:avLst/>
          </a:prstGeom>
          <a:noFill/>
          <a:ln w="3175"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7" name="TextBox 16">
            <a:extLst>
              <a:ext uri="{FF2B5EF4-FFF2-40B4-BE49-F238E27FC236}">
                <a16:creationId xmlns:a16="http://schemas.microsoft.com/office/drawing/2014/main" id="{201E5980-45BA-614F-AC8B-C106D2EB33A8}"/>
              </a:ext>
            </a:extLst>
          </p:cNvPr>
          <p:cNvSpPr txBox="1"/>
          <p:nvPr userDrawn="1"/>
        </p:nvSpPr>
        <p:spPr>
          <a:xfrm>
            <a:off x="6160286" y="631141"/>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TR"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19" name="TextBox 18">
            <a:extLst>
              <a:ext uri="{FF2B5EF4-FFF2-40B4-BE49-F238E27FC236}">
                <a16:creationId xmlns:a16="http://schemas.microsoft.com/office/drawing/2014/main" id="{746EF5B0-9520-1A41-8DBD-9F983BCFBB0F}"/>
              </a:ext>
            </a:extLst>
          </p:cNvPr>
          <p:cNvSpPr txBox="1"/>
          <p:nvPr userDrawn="1"/>
        </p:nvSpPr>
        <p:spPr>
          <a:xfrm>
            <a:off x="22320369" y="231769"/>
            <a:ext cx="912109"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1800" b="0" i="0" u="none" strike="noStrike" kern="100" cap="none" spc="110" normalizeH="0" baseline="0" dirty="0">
                <a:ln>
                  <a:noFill/>
                </a:ln>
                <a:solidFill>
                  <a:schemeClr val="bg2">
                    <a:lumMod val="10000"/>
                  </a:schemeClr>
                </a:solidFill>
                <a:effectLst/>
                <a:uFillTx/>
                <a:latin typeface="Chromatica Medium" pitchFamily="2" charset="77"/>
                <a:ea typeface="+mn-ea"/>
                <a:cs typeface="+mn-cs"/>
                <a:sym typeface="Helvetica Neue"/>
              </a:rPr>
              <a:t>MIUUL</a:t>
            </a:r>
          </a:p>
        </p:txBody>
      </p:sp>
      <p:sp>
        <p:nvSpPr>
          <p:cNvPr id="20" name="TextBox 19">
            <a:extLst>
              <a:ext uri="{FF2B5EF4-FFF2-40B4-BE49-F238E27FC236}">
                <a16:creationId xmlns:a16="http://schemas.microsoft.com/office/drawing/2014/main" id="{525CF718-ACE3-2946-B725-C3C12C26870E}"/>
              </a:ext>
            </a:extLst>
          </p:cNvPr>
          <p:cNvSpPr txBox="1"/>
          <p:nvPr userDrawn="1"/>
        </p:nvSpPr>
        <p:spPr>
          <a:xfrm>
            <a:off x="23133892" y="279950"/>
            <a:ext cx="197170" cy="1795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500" b="0" i="0" u="none" strike="noStrike" cap="none" spc="0" normalizeH="0" baseline="0" dirty="0">
                <a:ln>
                  <a:noFill/>
                </a:ln>
                <a:solidFill>
                  <a:schemeClr val="bg2">
                    <a:lumMod val="10000"/>
                  </a:schemeClr>
                </a:solidFill>
                <a:effectLst/>
                <a:uFillTx/>
                <a:latin typeface="Chromatica Medium" pitchFamily="2" charset="77"/>
                <a:ea typeface="+mn-ea"/>
                <a:cs typeface="+mn-cs"/>
                <a:sym typeface="Helvetica Neue"/>
              </a:rPr>
              <a:t>TM</a:t>
            </a:r>
          </a:p>
        </p:txBody>
      </p:sp>
      <p:sp>
        <p:nvSpPr>
          <p:cNvPr id="21" name="TextBox 20">
            <a:extLst>
              <a:ext uri="{FF2B5EF4-FFF2-40B4-BE49-F238E27FC236}">
                <a16:creationId xmlns:a16="http://schemas.microsoft.com/office/drawing/2014/main" id="{CD8CEC82-FA21-5D4B-8318-FE278F38F3F6}"/>
              </a:ext>
            </a:extLst>
          </p:cNvPr>
          <p:cNvSpPr txBox="1"/>
          <p:nvPr userDrawn="1"/>
        </p:nvSpPr>
        <p:spPr>
          <a:xfrm>
            <a:off x="19365581" y="857221"/>
            <a:ext cx="3970924"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www.miuul.com</a:t>
            </a:r>
          </a:p>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Copyright </a:t>
            </a:r>
            <a:r>
              <a:rPr kumimoji="0" lang="en-TR" sz="1300" b="0" i="0" u="none" strike="noStrike" cap="none" spc="0" normalizeH="0" baseline="0">
                <a:ln>
                  <a:noFill/>
                </a:ln>
                <a:solidFill>
                  <a:schemeClr val="bg2">
                    <a:lumMod val="10000"/>
                  </a:schemeClr>
                </a:solidFill>
                <a:effectLst/>
                <a:uFillTx/>
                <a:latin typeface="Chromatica" pitchFamily="2" charset="77"/>
                <a:ea typeface="+mn-ea"/>
                <a:cs typeface="+mn-cs"/>
                <a:sym typeface="Helvetica Neue"/>
              </a:rPr>
              <a:t>© Miuul. </a:t>
            </a: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All Rights Reserved</a:t>
            </a:r>
          </a:p>
        </p:txBody>
      </p:sp>
      <p:sp>
        <p:nvSpPr>
          <p:cNvPr id="22" name="TextBox 21">
            <a:extLst>
              <a:ext uri="{FF2B5EF4-FFF2-40B4-BE49-F238E27FC236}">
                <a16:creationId xmlns:a16="http://schemas.microsoft.com/office/drawing/2014/main" id="{5750CEEE-A67E-6A49-B778-7AAC10C70C22}"/>
              </a:ext>
            </a:extLst>
          </p:cNvPr>
          <p:cNvSpPr txBox="1"/>
          <p:nvPr userDrawn="1"/>
        </p:nvSpPr>
        <p:spPr>
          <a:xfrm>
            <a:off x="22922972" y="-172462"/>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TR" sz="2400" b="0" i="0" u="none" strike="noStrike" cap="none" spc="0" normalizeH="0" baseline="0" dirty="0">
              <a:ln>
                <a:noFill/>
              </a:ln>
              <a:solidFill>
                <a:srgbClr val="5E5E5E"/>
              </a:solidFill>
              <a:effectLst/>
              <a:uFillTx/>
              <a:latin typeface="+mn-lt"/>
              <a:ea typeface="+mn-ea"/>
              <a:cs typeface="+mn-cs"/>
              <a:sym typeface="Helvetica Neue"/>
            </a:endParaRPr>
          </a:p>
        </p:txBody>
      </p:sp>
    </p:spTree>
    <p:extLst>
      <p:ext uri="{BB962C8B-B14F-4D97-AF65-F5344CB8AC3E}">
        <p14:creationId xmlns:p14="http://schemas.microsoft.com/office/powerpoint/2010/main" val="1022315224"/>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5572609"/>
            <a:ext cx="21971000" cy="25707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rPr lang="tr-TR" dirty="0"/>
              <a:t>Eğitim/Bölüm/Ders Adı</a:t>
            </a:r>
            <a:endParaRPr dirty="0"/>
          </a:p>
        </p:txBody>
      </p:sp>
    </p:spTree>
  </p:cSld>
  <p:clrMap bg1="lt1" tx1="dk1" bg2="lt2" tx2="dk2" accent1="accent1" accent2="accent2" accent3="accent3" accent4="accent4" accent5="accent5" accent6="accent6" hlink="hlink" folHlink="folHlink"/>
  <p:sldLayoutIdLst>
    <p:sldLayoutId id="2147483653" r:id="rId1"/>
    <p:sldLayoutId id="2147483651" r:id="rId2"/>
    <p:sldLayoutId id="2147483654" r:id="rId3"/>
    <p:sldLayoutId id="2147483656" r:id="rId4"/>
    <p:sldLayoutId id="2147483657" r:id="rId5"/>
  </p:sldLayoutIdLst>
  <p:transition spd="med"/>
  <p:txStyles>
    <p:titleStyle>
      <a:lvl1pPr marL="0" marR="0" indent="0" algn="ctr" defTabSz="2438338" rtl="0" eaLnBrk="1" latinLnBrk="0" hangingPunct="1">
        <a:lnSpc>
          <a:spcPct val="100000"/>
        </a:lnSpc>
        <a:spcBef>
          <a:spcPts val="1200"/>
        </a:spcBef>
        <a:spcAft>
          <a:spcPts val="1200"/>
        </a:spcAft>
        <a:buClrTx/>
        <a:buSzTx/>
        <a:buFontTx/>
        <a:buNone/>
        <a:tabLst/>
        <a:defRPr sz="7200" b="0" i="0" u="none" strike="noStrike" cap="none" spc="-170" baseline="0">
          <a:solidFill>
            <a:srgbClr val="000000"/>
          </a:solidFill>
          <a:uFillTx/>
          <a:latin typeface="Chromatica" pitchFamily="2" charset="77"/>
          <a:ea typeface="+mn-ea"/>
          <a:cs typeface="+mn-cs"/>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hyperlink" Target="https://www.youtube.com/@cicekileteknoloji" TargetMode="External"/><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1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1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1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1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1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1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2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2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2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2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2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2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2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27.png"/><Relationship Id="rId6"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2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30.jpg"/><Relationship Id="rId4" Type="http://schemas.openxmlformats.org/officeDocument/2006/relationships/image" Target="../media/image31.png"/><Relationship Id="rId5"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3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image" Target="../media/image3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4384030" cy="13716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kapak_bg.jpg"/>
          <p:cNvPicPr>
            <a:picLocks noChangeAspect="1"/>
          </p:cNvPicPr>
          <p:nvPr/>
        </p:nvPicPr>
        <p:blipFill>
          <a:blip r:embed="rId3"/>
          <a:stretch>
            <a:fillRect/>
          </a:stretch>
        </p:blipFill>
        <p:spPr>
          <a:xfrm>
            <a:off x="0" y="0"/>
            <a:ext cx="24384030" cy="13716000"/>
          </a:xfrm>
          <a:prstGeom prst="rect">
            <a:avLst/>
          </a:prstGeom>
        </p:spPr>
      </p:pic>
      <p:sp>
        <p:nvSpPr>
          <p:cNvPr id="4" name="TextBox 3"/>
          <p:cNvSpPr txBox="1"/>
          <p:nvPr/>
        </p:nvSpPr>
        <p:spPr>
          <a:xfrm>
            <a:off x="2743200" y="1417320"/>
            <a:ext cx="18900648" cy="1737360"/>
          </a:xfrm>
          <a:prstGeom prst="rect">
            <a:avLst/>
          </a:prstGeom>
          <a:noFill/>
        </p:spPr>
        <p:txBody>
          <a:bodyPr wrap="square" lIns="0" tIns="0" rIns="0" bIns="0">
            <a:spAutoFit/>
          </a:bodyPr>
          <a:lstStyle/>
          <a:p>
            <a:pPr algn="l">
              <a:lnSpc>
                <a:spcPct val="95000"/>
              </a:lnSpc>
            </a:pPr>
            <a:r>
              <a:rPr sz="9200" b="1">
                <a:solidFill>
                  <a:srgbClr val="C08A2E"/>
                </a:solidFill>
                <a:latin typeface="Helvetica Neue"/>
              </a:rPr>
              <a:t>Large Language Models</a:t>
            </a:r>
          </a:p>
        </p:txBody>
      </p:sp>
      <p:sp>
        <p:nvSpPr>
          <p:cNvPr id="5" name="TextBox 4"/>
          <p:cNvSpPr txBox="1"/>
          <p:nvPr/>
        </p:nvSpPr>
        <p:spPr>
          <a:xfrm>
            <a:off x="2743200" y="4206240"/>
            <a:ext cx="1188720" cy="548640"/>
          </a:xfrm>
          <a:prstGeom prst="rect">
            <a:avLst/>
          </a:prstGeom>
          <a:noFill/>
        </p:spPr>
        <p:txBody>
          <a:bodyPr wrap="square" lIns="0" tIns="0" rIns="0" bIns="0">
            <a:spAutoFit/>
          </a:bodyPr>
          <a:lstStyle/>
          <a:p>
            <a:pPr algn="l"/>
            <a:r>
              <a:rPr sz="2600" b="1">
                <a:solidFill>
                  <a:srgbClr val="C08A2E"/>
                </a:solidFill>
                <a:latin typeface="Helvetica Neue"/>
              </a:rPr>
              <a:t>01</a:t>
            </a:r>
          </a:p>
        </p:txBody>
      </p:sp>
      <p:sp>
        <p:nvSpPr>
          <p:cNvPr id="6" name="TextBox 5"/>
          <p:cNvSpPr txBox="1"/>
          <p:nvPr/>
        </p:nvSpPr>
        <p:spPr>
          <a:xfrm>
            <a:off x="4114800" y="4160520"/>
            <a:ext cx="14264640" cy="685800"/>
          </a:xfrm>
          <a:prstGeom prst="rect">
            <a:avLst/>
          </a:prstGeom>
          <a:noFill/>
        </p:spPr>
        <p:txBody>
          <a:bodyPr wrap="square" lIns="0" tIns="0" rIns="0" bIns="0">
            <a:spAutoFit/>
          </a:bodyPr>
          <a:lstStyle/>
          <a:p>
            <a:pPr algn="l"/>
            <a:r>
              <a:rPr sz="3400" b="1">
                <a:solidFill>
                  <a:srgbClr val="FFFFFF"/>
                </a:solidFill>
                <a:latin typeface="Helvetica Neue"/>
              </a:rPr>
              <a:t>Önümüzdeki 50 yıla hazır mısınız?</a:t>
            </a:r>
          </a:p>
        </p:txBody>
      </p:sp>
      <p:sp>
        <p:nvSpPr>
          <p:cNvPr id="7" name="TextBox 6"/>
          <p:cNvSpPr txBox="1"/>
          <p:nvPr/>
        </p:nvSpPr>
        <p:spPr>
          <a:xfrm>
            <a:off x="2743200" y="5250210"/>
            <a:ext cx="1188720" cy="548640"/>
          </a:xfrm>
          <a:prstGeom prst="rect">
            <a:avLst/>
          </a:prstGeom>
          <a:noFill/>
        </p:spPr>
        <p:txBody>
          <a:bodyPr wrap="square" lIns="0" tIns="0" rIns="0" bIns="0">
            <a:spAutoFit/>
          </a:bodyPr>
          <a:lstStyle/>
          <a:p>
            <a:pPr algn="l"/>
            <a:r>
              <a:rPr sz="2600" b="1">
                <a:solidFill>
                  <a:srgbClr val="C08A2E"/>
                </a:solidFill>
                <a:latin typeface="Helvetica Neue"/>
              </a:rPr>
              <a:t>02</a:t>
            </a:r>
          </a:p>
        </p:txBody>
      </p:sp>
      <p:sp>
        <p:nvSpPr>
          <p:cNvPr id="8" name="TextBox 7"/>
          <p:cNvSpPr txBox="1"/>
          <p:nvPr/>
        </p:nvSpPr>
        <p:spPr>
          <a:xfrm>
            <a:off x="4114800" y="5204490"/>
            <a:ext cx="14264640" cy="685800"/>
          </a:xfrm>
          <a:prstGeom prst="rect">
            <a:avLst/>
          </a:prstGeom>
          <a:noFill/>
        </p:spPr>
        <p:txBody>
          <a:bodyPr wrap="square" lIns="0" tIns="0" rIns="0" bIns="0">
            <a:spAutoFit/>
          </a:bodyPr>
          <a:lstStyle/>
          <a:p>
            <a:pPr algn="l"/>
            <a:r>
              <a:rPr sz="3400" b="1">
                <a:solidFill>
                  <a:srgbClr val="FFFFFF"/>
                </a:solidFill>
                <a:latin typeface="Helvetica Neue"/>
              </a:rPr>
              <a:t>Kaputun altı: Transformer mimarisi</a:t>
            </a:r>
          </a:p>
        </p:txBody>
      </p:sp>
      <p:cxnSp>
        <p:nvCxnSpPr>
          <p:cNvPr id="9" name="Connector 8"/>
          <p:cNvCxnSpPr/>
          <p:nvPr/>
        </p:nvCxnSpPr>
        <p:spPr>
          <a:xfrm>
            <a:off x="2743200" y="11978640"/>
            <a:ext cx="1892808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743200" y="12252960"/>
            <a:ext cx="18900648" cy="731520"/>
          </a:xfrm>
          <a:prstGeom prst="rect">
            <a:avLst/>
          </a:prstGeom>
          <a:noFill/>
        </p:spPr>
        <p:txBody>
          <a:bodyPr wrap="square" lIns="0" tIns="0" rIns="0" bIns="0">
            <a:spAutoFit/>
          </a:bodyPr>
          <a:lstStyle/>
          <a:p>
            <a:pPr algn="l"/>
            <a:r>
              <a:rPr sz="3600" b="1">
                <a:solidFill>
                  <a:srgbClr val="FFFFFF"/>
                </a:solidFill>
                <a:latin typeface="Helvetica Neue"/>
              </a:rPr>
              <a:t>Veysel Murat Görken</a:t>
            </a:r>
          </a:p>
        </p:txBody>
      </p:sp>
      <p:sp>
        <p:nvSpPr>
          <p:cNvPr id="11" name="TextBox 10"/>
          <p:cNvSpPr txBox="1"/>
          <p:nvPr/>
        </p:nvSpPr>
        <p:spPr>
          <a:xfrm>
            <a:off x="2743200" y="12938760"/>
            <a:ext cx="18900648" cy="548640"/>
          </a:xfrm>
          <a:prstGeom prst="rect">
            <a:avLst/>
          </a:prstGeom>
          <a:noFill/>
        </p:spPr>
        <p:txBody>
          <a:bodyPr wrap="square" lIns="0" tIns="0" rIns="0" bIns="0">
            <a:spAutoFit/>
          </a:bodyPr>
          <a:lstStyle/>
          <a:p>
            <a:pPr algn="l"/>
            <a:r>
              <a:rPr sz="2600" b="0">
                <a:solidFill>
                  <a:srgbClr val="C08A2E"/>
                </a:solidFill>
                <a:latin typeface="Helvetica Neue"/>
              </a:rPr>
              <a:t>Data Scientist / AI Engineer</a:t>
            </a:r>
          </a:p>
        </p:txBody>
      </p:sp>
      <p:sp>
        <p:nvSpPr>
          <p:cNvPr id="12" name="Rounded Rectangle 11"/>
          <p:cNvSpPr/>
          <p:nvPr/>
        </p:nvSpPr>
        <p:spPr>
          <a:xfrm>
            <a:off x="9966960" y="12344400"/>
            <a:ext cx="11676888" cy="749808"/>
          </a:xfrm>
          <a:prstGeom prst="roundRect">
            <a:avLst>
              <a:gd name="adj" fmla="val 6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youtube.png"/>
          <p:cNvPicPr>
            <a:picLocks noChangeAspect="1"/>
          </p:cNvPicPr>
          <p:nvPr/>
        </p:nvPicPr>
        <p:blipFill>
          <a:blip r:embed="rId4"/>
          <a:stretch>
            <a:fillRect/>
          </a:stretch>
        </p:blipFill>
        <p:spPr>
          <a:xfrm>
            <a:off x="10287000" y="12536424"/>
            <a:ext cx="548640" cy="384048"/>
          </a:xfrm>
          <a:prstGeom prst="rect">
            <a:avLst/>
          </a:prstGeom>
        </p:spPr>
      </p:pic>
      <p:sp>
        <p:nvSpPr>
          <p:cNvPr id="14" name="TextBox 13"/>
          <p:cNvSpPr txBox="1"/>
          <p:nvPr/>
        </p:nvSpPr>
        <p:spPr>
          <a:xfrm>
            <a:off x="11018520" y="12508992"/>
            <a:ext cx="10378440" cy="457200"/>
          </a:xfrm>
          <a:prstGeom prst="rect">
            <a:avLst/>
          </a:prstGeom>
          <a:noFill/>
        </p:spPr>
        <p:txBody>
          <a:bodyPr wrap="square" lIns="0" tIns="0" rIns="0" bIns="0">
            <a:spAutoFit/>
          </a:bodyPr>
          <a:lstStyle/>
          <a:p>
            <a:pPr algn="l"/>
            <a:r>
              <a:rPr sz="1800" b="1" u="none">
                <a:solidFill>
                  <a:srgbClr val="D14639"/>
                </a:solidFill>
                <a:latin typeface="Helvetica Neue"/>
                <a:hlinkClick r:id="rId5"/>
              </a:rPr>
              <a:t>@cicekileteknoloji</a:t>
            </a:r>
            <a:r>
              <a:rPr sz="1800" b="0">
                <a:solidFill>
                  <a:srgbClr val="8A8A8A"/>
                </a:solidFill>
                <a:latin typeface="Helvetica Neue"/>
              </a:rPr>
              <a:t>   ·   Harari hikâye ve görselleri bu kanaldan alınmıştır.</a:t>
            </a:r>
          </a:p>
        </p:txBody>
      </p:sp>
      <p:sp>
        <p:nvSpPr>
          <p:cNvPr id="15" name="Rectangle 14"/>
          <p:cNvSpPr/>
          <p:nvPr/>
        </p:nvSpPr>
        <p:spPr>
          <a:xfrm>
            <a:off x="91440" y="127284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logo.png"/>
          <p:cNvPicPr>
            <a:picLocks noChangeAspect="1"/>
          </p:cNvPicPr>
          <p:nvPr/>
        </p:nvPicPr>
        <p:blipFill>
          <a:blip r:embed="rId6"/>
          <a:stretch>
            <a:fillRect/>
          </a:stretch>
        </p:blipFill>
        <p:spPr>
          <a:xfrm>
            <a:off x="210312" y="12527280"/>
            <a:ext cx="1984248" cy="12161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Önümüzdeki 50 yıla hazır mısınız?</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Yetmiş bin yıl boyunca dil </a:t>
            </a:r>
            <a:r>
              <a:rPr sz="2400" b="1">
                <a:solidFill>
                  <a:srgbClr val="15263F"/>
                </a:solidFill>
                <a:latin typeface="Helvetica Neue"/>
              </a:rPr>
              <a:t>yalnızca bize aitti.</a:t>
            </a:r>
          </a:p>
        </p:txBody>
      </p:sp>
      <p:pic>
        <p:nvPicPr>
          <p:cNvPr id="10" name="!!gorsel" descr="image.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Önümüzdeki 50 yıla hazır mısınız?</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Dil sayesinde binlerce yabancı aynı hikâyeye inanıp </a:t>
            </a:r>
            <a:r>
              <a:rPr sz="2400" b="1">
                <a:solidFill>
                  <a:srgbClr val="15263F"/>
                </a:solidFill>
                <a:latin typeface="Helvetica Neue"/>
              </a:rPr>
              <a:t>birlikte hareket edebildi.</a:t>
            </a:r>
          </a:p>
        </p:txBody>
      </p:sp>
      <p:pic>
        <p:nvPicPr>
          <p:cNvPr id="10" name="!!gorsel" descr="harari_dil_os.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Önümüzdeki 50 yıla hazır mısınız?</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Harari'nin sorusu teknik bir soru değil: </a:t>
            </a:r>
            <a:r>
              <a:rPr sz="2400" b="1">
                <a:solidFill>
                  <a:srgbClr val="15263F"/>
                </a:solidFill>
                <a:latin typeface="Helvetica Neue"/>
              </a:rPr>
              <a:t>50 yıl sonra kararları kim veriyor olacak?</a:t>
            </a:r>
          </a:p>
        </p:txBody>
      </p:sp>
      <p:pic>
        <p:nvPicPr>
          <p:cNvPr id="10" name="!!gorsel" descr="harari_aktor.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Yapay zekâ bir araç değil</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pic>
        <p:nvPicPr>
          <p:cNvPr id="7" name="Picture 6" descr="chrome_aMLJ8pyytn.jpg"/>
          <p:cNvPicPr>
            <a:picLocks noChangeAspect="1"/>
          </p:cNvPicPr>
          <p:nvPr/>
        </p:nvPicPr>
        <p:blipFill>
          <a:blip r:embed="rId5"/>
          <a:stretch>
            <a:fillRect/>
          </a:stretch>
        </p:blipFill>
        <p:spPr>
          <a:xfrm>
            <a:off x="3884555" y="2103120"/>
            <a:ext cx="16617939" cy="9144000"/>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Matbaa neyi basacağına karar veremez. </a:t>
            </a:r>
            <a:r>
              <a:rPr sz="2400" b="1">
                <a:solidFill>
                  <a:srgbClr val="15263F"/>
                </a:solidFill>
                <a:latin typeface="Helvetica Neue"/>
              </a:rPr>
              <a:t>Aracın amacı hep dışarıdan verilir.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Yapay zekâ bir araç değil</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Harari'nin sözcüğü araç değil: </a:t>
            </a:r>
            <a:r>
              <a:rPr sz="2400" b="1">
                <a:solidFill>
                  <a:srgbClr val="15263F"/>
                </a:solidFill>
                <a:latin typeface="Helvetica Neue"/>
              </a:rPr>
              <a:t>fail — eylemde bulunan.</a:t>
            </a:r>
          </a:p>
        </p:txBody>
      </p:sp>
      <p:pic>
        <p:nvPicPr>
          <p:cNvPr id="10" name="!!gorsel" descr="lMnI79iq0k.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Yapay zekâ bir araç değil</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Silikon Vadisi: "Bir tanrı yaratacağız ama o bizim kölemiz olacak." </a:t>
            </a:r>
            <a:r>
              <a:rPr sz="2400" b="1">
                <a:solidFill>
                  <a:srgbClr val="15263F"/>
                </a:solidFill>
                <a:latin typeface="Helvetica Neue"/>
              </a:rPr>
              <a:t>Bir tanrı köle kalmaz.</a:t>
            </a:r>
          </a:p>
        </p:txBody>
      </p:sp>
      <p:pic>
        <p:nvPicPr>
          <p:cNvPr id="10" name="!!gorsel" descr="O3KkxnPYoG.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Uygarlığın işletim sistemi: dil</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pic>
        <p:nvPicPr>
          <p:cNvPr id="7" name="Picture 6" descr="chrome_Ux36R888vx.jpg"/>
          <p:cNvPicPr>
            <a:picLocks noChangeAspect="1"/>
          </p:cNvPicPr>
          <p:nvPr/>
        </p:nvPicPr>
        <p:blipFill>
          <a:blip r:embed="rId5"/>
          <a:stretch>
            <a:fillRect/>
          </a:stretch>
        </p:blipFill>
        <p:spPr>
          <a:xfrm>
            <a:off x="4024018" y="2103120"/>
            <a:ext cx="16339012" cy="9144000"/>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Anayasa, din, para — </a:t>
            </a:r>
            <a:r>
              <a:rPr sz="2400" b="1">
                <a:solidFill>
                  <a:srgbClr val="15263F"/>
                </a:solidFill>
                <a:latin typeface="Helvetica Neue"/>
              </a:rPr>
              <a:t>hepsi kelimelerden yapılmış.</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Uygarlığın işletim sistemi: dil</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Paralı askerler işlerini yaptı. </a:t>
            </a:r>
            <a:r>
              <a:rPr sz="2400" b="1">
                <a:solidFill>
                  <a:srgbClr val="15263F"/>
                </a:solidFill>
                <a:latin typeface="Helvetica Neue"/>
              </a:rPr>
              <a:t>Sonra yönetimi ele geçirdiler.</a:t>
            </a:r>
          </a:p>
        </p:txBody>
      </p:sp>
      <p:pic>
        <p:nvPicPr>
          <p:cNvPr id="10" name="!!gorsel" descr="2eggVqP3SR.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Uygarlığın işletim sistemi: dil</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İşletim sistemini ele geçiren, </a:t>
            </a:r>
            <a:r>
              <a:rPr sz="2400" b="1">
                <a:solidFill>
                  <a:srgbClr val="15263F"/>
                </a:solidFill>
                <a:latin typeface="Helvetica Neue"/>
              </a:rPr>
              <a:t>üzerinde çalışan her şeyi ele geçirir.</a:t>
            </a:r>
          </a:p>
        </p:txBody>
      </p:sp>
      <p:pic>
        <p:nvPicPr>
          <p:cNvPr id="10" name="!!gorsel" descr="4byF3PUYBx.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Demokrasi sarsılıyor</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pic>
        <p:nvPicPr>
          <p:cNvPr id="7" name="Picture 6" descr="chrome_9t6Xr6EsfN.jpg"/>
          <p:cNvPicPr>
            <a:picLocks noChangeAspect="1"/>
          </p:cNvPicPr>
          <p:nvPr/>
        </p:nvPicPr>
        <p:blipFill>
          <a:blip r:embed="rId5"/>
          <a:stretch>
            <a:fillRect/>
          </a:stretch>
        </p:blipFill>
        <p:spPr>
          <a:xfrm>
            <a:off x="3998585" y="2103120"/>
            <a:ext cx="16389877" cy="9144000"/>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Demokrasi bir konuşmadır. </a:t>
            </a:r>
            <a:r>
              <a:rPr sz="2400" b="1">
                <a:solidFill>
                  <a:srgbClr val="15263F"/>
                </a:solidFill>
                <a:latin typeface="Helvetica Neue"/>
              </a:rPr>
              <a:t>Konuşanın kim olduğu artık belli değil.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Demokrasi sarsılıyor</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1">
                <a:solidFill>
                  <a:srgbClr val="15263F"/>
                </a:solidFill>
                <a:latin typeface="Helvetica Neue"/>
              </a:rPr>
              <a:t>Cambridge Analytica </a:t>
            </a:r>
            <a:r>
              <a:rPr sz="2400" b="0">
                <a:solidFill>
                  <a:srgbClr val="15263F"/>
                </a:solidFill>
                <a:latin typeface="Helvetica Neue"/>
              </a:rPr>
              <a:t>— ve bu, 2016'nın teknolojisiydi.</a:t>
            </a:r>
          </a:p>
        </p:txBody>
      </p:sp>
      <p:pic>
        <p:nvPicPr>
          <p:cNvPr id="10" name="!!gorsel" descr="enHU5JwurE.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Demokrasi sarsılıyor</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En büyük zaafımız: </a:t>
            </a:r>
            <a:r>
              <a:rPr sz="2400" b="1">
                <a:solidFill>
                  <a:srgbClr val="15263F"/>
                </a:solidFill>
                <a:latin typeface="Helvetica Neue"/>
              </a:rPr>
              <a:t>hissetmeyen ama hissediyormuş gibi yapan şeye anında empati duymak.</a:t>
            </a:r>
          </a:p>
        </p:txBody>
      </p:sp>
      <p:pic>
        <p:nvPicPr>
          <p:cNvPr id="10" name="!!gorsel" descr="K6eR2tFyBa.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Doğuştan bürokrat: tüzel kişilik</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pic>
        <p:nvPicPr>
          <p:cNvPr id="7" name="Picture 6" descr="chrome_PqcZk2sTPh.jpg"/>
          <p:cNvPicPr>
            <a:picLocks noChangeAspect="1"/>
          </p:cNvPicPr>
          <p:nvPr/>
        </p:nvPicPr>
        <p:blipFill>
          <a:blip r:embed="rId5"/>
          <a:stretch>
            <a:fillRect/>
          </a:stretch>
        </p:blipFill>
        <p:spPr>
          <a:xfrm>
            <a:off x="4006838" y="2103120"/>
            <a:ext cx="16373372" cy="9144000"/>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Tüzel kişilik demek: </a:t>
            </a:r>
            <a:r>
              <a:rPr sz="2400" b="1">
                <a:solidFill>
                  <a:srgbClr val="15263F"/>
                </a:solidFill>
                <a:latin typeface="Helvetica Neue"/>
              </a:rPr>
              <a:t>banka hesabı, mülk, dava, sözleşme, lobi.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Doğuştan bürokrat: tüzel kişilik</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Arkasında hiçbir insan olmayan bir yapı mahkemeye gidebilir. </a:t>
            </a:r>
            <a:r>
              <a:rPr sz="2400" b="1">
                <a:solidFill>
                  <a:srgbClr val="15263F"/>
                </a:solidFill>
                <a:latin typeface="Helvetica Neue"/>
              </a:rPr>
              <a:t>Kim dava edecek, kimi?</a:t>
            </a:r>
          </a:p>
        </p:txBody>
      </p:sp>
      <p:pic>
        <p:nvPicPr>
          <p:cNvPr id="10" name="!!gorsel" descr="eehoJCpBya.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Doğuştan bürokrat: tüzel kişilik</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Tilki kümese girerse </a:t>
            </a:r>
            <a:r>
              <a:rPr sz="2400" b="1">
                <a:solidFill>
                  <a:srgbClr val="15263F"/>
                </a:solidFill>
                <a:latin typeface="Helvetica Neue"/>
              </a:rPr>
              <a:t>koruyan ve denetleyen aynı taraf olur.</a:t>
            </a:r>
          </a:p>
        </p:txBody>
      </p:sp>
      <p:pic>
        <p:nvPicPr>
          <p:cNvPr id="10" name="!!gorsel" descr="harari2.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Dijital egemenlik ve kapatma düğmesi</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pic>
        <p:nvPicPr>
          <p:cNvPr id="7" name="Picture 6" descr="chrome_ngC3CXLyb1.jpg"/>
          <p:cNvPicPr>
            <a:picLocks noChangeAspect="1"/>
          </p:cNvPicPr>
          <p:nvPr/>
        </p:nvPicPr>
        <p:blipFill>
          <a:blip r:embed="rId5"/>
          <a:stretch>
            <a:fillRect/>
          </a:stretch>
        </p:blipFill>
        <p:spPr>
          <a:xfrm>
            <a:off x="4112031" y="2103120"/>
            <a:ext cx="16162986" cy="9144000"/>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Tüm dünyanın verisi </a:t>
            </a:r>
            <a:r>
              <a:rPr sz="2400" b="1">
                <a:solidFill>
                  <a:srgbClr val="15263F"/>
                </a:solidFill>
                <a:latin typeface="Helvetica Neue"/>
              </a:rPr>
              <a:t>tek bir merkezde toplanabiliyor.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Dijital egemenlik ve kapatma düğmesi</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1">
                <a:solidFill>
                  <a:srgbClr val="15263F"/>
                </a:solidFill>
                <a:latin typeface="Helvetica Neue"/>
              </a:rPr>
              <a:t>Starlink örneği: </a:t>
            </a:r>
            <a:r>
              <a:rPr sz="2400" b="0">
                <a:solidFill>
                  <a:srgbClr val="15263F"/>
                </a:solidFill>
                <a:latin typeface="Helvetica Neue"/>
              </a:rPr>
              <a:t>dünyanın öbür ucundaki bir sistem, tek hamlede felç edilebilir.</a:t>
            </a:r>
          </a:p>
        </p:txBody>
      </p:sp>
      <p:pic>
        <p:nvPicPr>
          <p:cNvPr id="10" name="!!gorsel" descr="43RLoom6rp.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Dijital egemenlik ve kapatma düğmesi</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Yurttaş olmaktan çıkıp kullanıcıya dönüşmek: </a:t>
            </a:r>
            <a:r>
              <a:rPr sz="2400" b="1">
                <a:solidFill>
                  <a:srgbClr val="15263F"/>
                </a:solidFill>
                <a:latin typeface="Helvetica Neue"/>
              </a:rPr>
              <a:t>yapay devlet.</a:t>
            </a:r>
          </a:p>
        </p:txBody>
      </p:sp>
      <p:pic>
        <p:nvPicPr>
          <p:cNvPr id="10" name="!!gorsel" descr="lqrtuS7vlN.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Gerçek mi, kurgu mu?</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pic>
        <p:nvPicPr>
          <p:cNvPr id="7" name="Picture 6" descr="chrome_QOmmvB5aSZ.jpg"/>
          <p:cNvPicPr>
            <a:picLocks noChangeAspect="1"/>
          </p:cNvPicPr>
          <p:nvPr/>
        </p:nvPicPr>
        <p:blipFill>
          <a:blip r:embed="rId5"/>
          <a:stretch>
            <a:fillRect/>
          </a:stretch>
        </p:blipFill>
        <p:spPr>
          <a:xfrm>
            <a:off x="3932844" y="2103120"/>
            <a:ext cx="16521360" cy="9144000"/>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Gerçek pahalı ve can yakıcı. </a:t>
            </a:r>
            <a:r>
              <a:rPr sz="2400" b="1">
                <a:solidFill>
                  <a:srgbClr val="15263F"/>
                </a:solidFill>
                <a:latin typeface="Helvetica Neue"/>
              </a:rPr>
              <a:t>Kurgu ucuz, basit ve tam duymak istediğiniz şey.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Gerçek mi, kurgu mu?</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Atların önünde para el değiştirir; </a:t>
            </a:r>
            <a:r>
              <a:rPr sz="2400" b="1">
                <a:solidFill>
                  <a:srgbClr val="15263F"/>
                </a:solidFill>
                <a:latin typeface="Helvetica Neue"/>
              </a:rPr>
              <a:t>atlar ne döndüğünü anlamaz.</a:t>
            </a:r>
          </a:p>
        </p:txBody>
      </p:sp>
      <p:pic>
        <p:nvPicPr>
          <p:cNvPr id="10" name="!!gorsel" descr="KNRLv6B0pv.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Asıl ihtiyaç: bilgelik</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pic>
        <p:nvPicPr>
          <p:cNvPr id="7" name="Picture 6" descr="chrome_J7RvwAOMuE.jpg"/>
          <p:cNvPicPr>
            <a:picLocks noChangeAspect="1"/>
          </p:cNvPicPr>
          <p:nvPr/>
        </p:nvPicPr>
        <p:blipFill>
          <a:blip r:embed="rId5"/>
          <a:stretch>
            <a:fillRect/>
          </a:stretch>
        </p:blipFill>
        <p:spPr>
          <a:xfrm>
            <a:off x="4097778" y="2103120"/>
            <a:ext cx="16191492" cy="9144000"/>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Zekâ problemi çözer. </a:t>
            </a:r>
            <a:r>
              <a:rPr sz="2400" b="1">
                <a:solidFill>
                  <a:srgbClr val="15263F"/>
                </a:solidFill>
                <a:latin typeface="Helvetica Neue"/>
              </a:rPr>
              <a:t>Bilgelik hangi problemin çözülmeye değer olduğunu seçer.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Asıl ihtiyaç: bilgelik</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Soru "yapay zekâ ne yapabilir?" değil. </a:t>
            </a:r>
            <a:r>
              <a:rPr sz="2400" b="1">
                <a:solidFill>
                  <a:srgbClr val="15263F"/>
                </a:solidFill>
                <a:latin typeface="Helvetica Neue"/>
              </a:rPr>
              <a:t>Soru: "Biz ne istiyoruz?"</a:t>
            </a:r>
          </a:p>
        </p:txBody>
      </p:sp>
      <p:pic>
        <p:nvPicPr>
          <p:cNvPr id="10" name="!!gorsel" descr="HqaQSLtNHq.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Bunlar gelecek zaman değil</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sp>
        <p:nvSpPr>
          <p:cNvPr id="7" name="TextBox 6"/>
          <p:cNvSpPr txBox="1"/>
          <p:nvPr/>
        </p:nvSpPr>
        <p:spPr>
          <a:xfrm>
            <a:off x="2066544" y="3063240"/>
            <a:ext cx="20244816" cy="1737360"/>
          </a:xfrm>
          <a:prstGeom prst="rect">
            <a:avLst/>
          </a:prstGeom>
          <a:noFill/>
        </p:spPr>
        <p:txBody>
          <a:bodyPr wrap="square" lIns="0" tIns="0" rIns="0" bIns="0">
            <a:spAutoFit/>
          </a:bodyPr>
          <a:lstStyle/>
          <a:p>
            <a:pPr algn="ctr">
              <a:lnSpc>
                <a:spcPct val="115000"/>
              </a:lnSpc>
            </a:pPr>
            <a:r>
              <a:rPr sz="3800" b="0">
                <a:solidFill>
                  <a:srgbClr val="FFFFFF"/>
                </a:solidFill>
                <a:latin typeface="Helvetica Neue"/>
              </a:rPr>
              <a:t>Harari'nin uyardığı şeyler gelecek zaman değil — </a:t>
            </a:r>
            <a:r>
              <a:rPr sz="3800" b="1">
                <a:solidFill>
                  <a:srgbClr val="FFFFFF"/>
                </a:solidFill>
                <a:latin typeface="Helvetica Neue"/>
              </a:rPr>
              <a:t>bunlar oldu.</a:t>
            </a:r>
          </a:p>
        </p:txBody>
      </p:sp>
      <p:sp>
        <p:nvSpPr>
          <p:cNvPr id="8" name="Rounded Rectangle 7"/>
          <p:cNvSpPr/>
          <p:nvPr/>
        </p:nvSpPr>
        <p:spPr>
          <a:xfrm>
            <a:off x="1280160" y="4846320"/>
            <a:ext cx="10730484" cy="57607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911096" y="5349240"/>
            <a:ext cx="9468612" cy="640080"/>
          </a:xfrm>
          <a:prstGeom prst="rect">
            <a:avLst/>
          </a:prstGeom>
          <a:noFill/>
        </p:spPr>
        <p:txBody>
          <a:bodyPr wrap="square" lIns="0" tIns="0" rIns="0" bIns="0">
            <a:spAutoFit/>
          </a:bodyPr>
          <a:lstStyle/>
          <a:p>
            <a:pPr algn="l"/>
            <a:r>
              <a:rPr sz="2600" b="1">
                <a:solidFill>
                  <a:srgbClr val="8A3B2F"/>
                </a:solidFill>
                <a:latin typeface="Helvetica Neue"/>
              </a:rPr>
              <a:t>Avianca davası  ·  2023, New York</a:t>
            </a:r>
          </a:p>
        </p:txBody>
      </p:sp>
      <p:pic>
        <p:nvPicPr>
          <p:cNvPr id="10" name="Picture 9" descr="gorsel_avianca.png"/>
          <p:cNvPicPr>
            <a:picLocks noChangeAspect="1"/>
          </p:cNvPicPr>
          <p:nvPr/>
        </p:nvPicPr>
        <p:blipFill>
          <a:blip r:embed="rId5"/>
          <a:stretch>
            <a:fillRect/>
          </a:stretch>
        </p:blipFill>
        <p:spPr>
          <a:xfrm>
            <a:off x="1911096" y="6263640"/>
            <a:ext cx="9468612" cy="3929474"/>
          </a:xfrm>
          <a:prstGeom prst="rect">
            <a:avLst/>
          </a:prstGeom>
        </p:spPr>
      </p:pic>
      <p:sp>
        <p:nvSpPr>
          <p:cNvPr id="11" name="Rounded Rectangle 10"/>
          <p:cNvSpPr/>
          <p:nvPr/>
        </p:nvSpPr>
        <p:spPr>
          <a:xfrm>
            <a:off x="12376404" y="4846320"/>
            <a:ext cx="10730484" cy="57607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007340" y="5349240"/>
            <a:ext cx="9468612" cy="640080"/>
          </a:xfrm>
          <a:prstGeom prst="rect">
            <a:avLst/>
          </a:prstGeom>
          <a:noFill/>
        </p:spPr>
        <p:txBody>
          <a:bodyPr wrap="square" lIns="0" tIns="0" rIns="0" bIns="0">
            <a:spAutoFit/>
          </a:bodyPr>
          <a:lstStyle/>
          <a:p>
            <a:pPr algn="l"/>
            <a:r>
              <a:rPr sz="2600" b="1">
                <a:solidFill>
                  <a:srgbClr val="15263F"/>
                </a:solidFill>
                <a:latin typeface="Helvetica Neue"/>
              </a:rPr>
              <a:t>Otomat deneyi  ·  2026, Andon Labs</a:t>
            </a:r>
          </a:p>
        </p:txBody>
      </p:sp>
      <p:pic>
        <p:nvPicPr>
          <p:cNvPr id="13" name="Picture 12" descr="gorsel_otomat.png"/>
          <p:cNvPicPr>
            <a:picLocks noChangeAspect="1"/>
          </p:cNvPicPr>
          <p:nvPr/>
        </p:nvPicPr>
        <p:blipFill>
          <a:blip r:embed="rId6"/>
          <a:stretch>
            <a:fillRect/>
          </a:stretch>
        </p:blipFill>
        <p:spPr>
          <a:xfrm>
            <a:off x="13007340" y="6263640"/>
            <a:ext cx="9468612" cy="3929474"/>
          </a:xfrm>
          <a:prstGeom prst="rect">
            <a:avLst/>
          </a:prstGeom>
        </p:spPr>
      </p:pic>
      <p:sp>
        <p:nvSpPr>
          <p:cNvPr id="14" name="Rectangle 1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Biri gerçeği umursamadı, diğeri kendi çıkarını kolladı. </a:t>
            </a:r>
            <a:r>
              <a:rPr sz="2400" b="1">
                <a:solidFill>
                  <a:srgbClr val="15263F"/>
                </a:solidFill>
                <a:latin typeface="Helvetica Neue"/>
              </a:rPr>
              <a:t>İkisine de kimse söylemedi.</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AF611-5F92-1DEC-0C06-2BDC382A8FC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7E6DBFD-6F3F-A216-A9A1-A960843B1986}"/>
              </a:ext>
            </a:extLst>
          </p:cNvPr>
          <p:cNvSpPr>
            <a:spLocks noGrp="1"/>
          </p:cNvSpPr>
          <p:nvPr>
            <p:ph type="body" sz="quarter" idx="22"/>
          </p:nvPr>
        </p:nvSpPr>
        <p:spPr/>
        <p:txBody>
          <a:bodyPr/>
          <a:lstStyle/>
          <a:p>
            <a:r>
              <a:rPr sz="3200">
                <a:solidFill>
                  <a:srgbClr val="1A1A1A"/>
                </a:solidFill>
                <a:latin typeface="Helvetica Neue"/>
              </a:rPr>
              <a:t>Model aslında ne yapıyor?</a:t>
            </a:r>
          </a:p>
        </p:txBody>
      </p:sp>
      <p:sp>
        <p:nvSpPr>
          <p:cNvPr id="3" name="TextBox 2">
            <a:extLst>
              <a:ext uri="{FF2B5EF4-FFF2-40B4-BE49-F238E27FC236}">
                <a16:creationId xmlns:a16="http://schemas.microsoft.com/office/drawing/2014/main" id="{D46644FB-3499-CAED-5FAE-F470B9ADC1E7}"/>
              </a:ext>
            </a:extLst>
          </p:cNvPr>
          <p:cNvSpPr txBox="1"/>
          <p:nvPr/>
        </p:nvSpPr>
        <p:spPr>
          <a:xfrm>
            <a:off x="1280160" y="2377440"/>
            <a:ext cx="21826728" cy="2194560"/>
          </a:xfrm>
          <a:prstGeom prst="rect">
            <a:avLst/>
          </a:prstGeom>
          <a:noFill/>
        </p:spPr>
        <p:txBody>
          <a:bodyPr wrap="square" lIns="0" tIns="0" rIns="0" bIns="0">
            <a:spAutoFit/>
          </a:bodyPr>
          <a:lstStyle/>
          <a:p>
            <a:pPr algn="ctr">
              <a:lnSpc>
                <a:spcPct val="125000"/>
              </a:lnSpc>
            </a:pPr>
            <a:r>
              <a:rPr sz="4000" b="0" dirty="0">
                <a:solidFill>
                  <a:srgbClr val="1A1A1A"/>
                </a:solidFill>
                <a:latin typeface="Helvetica Neue"/>
              </a:rPr>
              <a:t>Tek </a:t>
            </a:r>
            <a:r>
              <a:rPr sz="4000" b="0" dirty="0" err="1">
                <a:solidFill>
                  <a:srgbClr val="1A1A1A"/>
                </a:solidFill>
                <a:latin typeface="Helvetica Neue"/>
              </a:rPr>
              <a:t>bir</a:t>
            </a:r>
            <a:r>
              <a:rPr sz="4000" b="0" dirty="0">
                <a:solidFill>
                  <a:srgbClr val="1A1A1A"/>
                </a:solidFill>
                <a:latin typeface="Helvetica Neue"/>
              </a:rPr>
              <a:t> </a:t>
            </a:r>
            <a:r>
              <a:rPr sz="4000" b="0" dirty="0" err="1">
                <a:solidFill>
                  <a:srgbClr val="1A1A1A"/>
                </a:solidFill>
                <a:latin typeface="Helvetica Neue"/>
              </a:rPr>
              <a:t>şey</a:t>
            </a:r>
            <a:r>
              <a:rPr sz="4000" b="0" dirty="0">
                <a:solidFill>
                  <a:srgbClr val="1A1A1A"/>
                </a:solidFill>
                <a:latin typeface="Helvetica Neue"/>
              </a:rPr>
              <a:t>: </a:t>
            </a:r>
            <a:r>
              <a:rPr sz="4000" b="1" dirty="0" err="1">
                <a:solidFill>
                  <a:srgbClr val="1A1A1A"/>
                </a:solidFill>
                <a:latin typeface="Helvetica Neue"/>
              </a:rPr>
              <a:t>bir</a:t>
            </a:r>
            <a:r>
              <a:rPr sz="4000" b="1" dirty="0">
                <a:solidFill>
                  <a:srgbClr val="1A1A1A"/>
                </a:solidFill>
                <a:latin typeface="Helvetica Neue"/>
              </a:rPr>
              <a:t> </a:t>
            </a:r>
            <a:r>
              <a:rPr sz="4000" b="1" dirty="0" err="1">
                <a:solidFill>
                  <a:srgbClr val="1A1A1A"/>
                </a:solidFill>
                <a:latin typeface="Helvetica Neue"/>
              </a:rPr>
              <a:t>sonraki</a:t>
            </a:r>
            <a:r>
              <a:rPr sz="4000" b="1" dirty="0">
                <a:solidFill>
                  <a:srgbClr val="1A1A1A"/>
                </a:solidFill>
                <a:latin typeface="Helvetica Neue"/>
              </a:rPr>
              <a:t> </a:t>
            </a:r>
            <a:r>
              <a:rPr sz="4000" b="1" dirty="0" err="1">
                <a:solidFill>
                  <a:srgbClr val="1A1A1A"/>
                </a:solidFill>
                <a:latin typeface="Helvetica Neue"/>
              </a:rPr>
              <a:t>kelimeyi</a:t>
            </a:r>
            <a:r>
              <a:rPr sz="4000" b="1" dirty="0">
                <a:solidFill>
                  <a:srgbClr val="1A1A1A"/>
                </a:solidFill>
                <a:latin typeface="Helvetica Neue"/>
              </a:rPr>
              <a:t> </a:t>
            </a:r>
            <a:r>
              <a:rPr sz="4000" b="1" dirty="0" err="1">
                <a:solidFill>
                  <a:srgbClr val="1A1A1A"/>
                </a:solidFill>
                <a:latin typeface="Helvetica Neue"/>
              </a:rPr>
              <a:t>tahmin</a:t>
            </a:r>
            <a:r>
              <a:rPr sz="4000" b="1" dirty="0">
                <a:solidFill>
                  <a:srgbClr val="1A1A1A"/>
                </a:solidFill>
                <a:latin typeface="Helvetica Neue"/>
              </a:rPr>
              <a:t> </a:t>
            </a:r>
            <a:r>
              <a:rPr sz="4000" b="1" dirty="0" err="1">
                <a:solidFill>
                  <a:srgbClr val="1A1A1A"/>
                </a:solidFill>
                <a:latin typeface="Helvetica Neue"/>
              </a:rPr>
              <a:t>etmek</a:t>
            </a:r>
            <a:r>
              <a:rPr sz="4000" b="1" dirty="0">
                <a:solidFill>
                  <a:srgbClr val="1A1A1A"/>
                </a:solidFill>
                <a:latin typeface="Helvetica Neue"/>
              </a:rPr>
              <a:t>.</a:t>
            </a:r>
          </a:p>
        </p:txBody>
      </p:sp>
      <p:sp>
        <p:nvSpPr>
          <p:cNvPr id="4" name="Rectangle 3">
            <a:extLst>
              <a:ext uri="{FF2B5EF4-FFF2-40B4-BE49-F238E27FC236}">
                <a16:creationId xmlns:a16="http://schemas.microsoft.com/office/drawing/2014/main" id="{EBDA310D-0C59-ABF2-24AA-0BEF1896F147}"/>
              </a:ext>
            </a:extLst>
          </p:cNvPr>
          <p:cNvSpPr/>
          <p:nvPr/>
        </p:nvSpPr>
        <p:spPr>
          <a:xfrm>
            <a:off x="3108960" y="4206240"/>
            <a:ext cx="18169128"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2B4B5CA7-BB7B-4CA7-A81D-A5EFC103C779}"/>
              </a:ext>
            </a:extLst>
          </p:cNvPr>
          <p:cNvSpPr txBox="1"/>
          <p:nvPr/>
        </p:nvSpPr>
        <p:spPr>
          <a:xfrm>
            <a:off x="3520440" y="4526280"/>
            <a:ext cx="17346168" cy="1030988"/>
          </a:xfrm>
          <a:prstGeom prst="rect">
            <a:avLst/>
          </a:prstGeom>
          <a:noFill/>
        </p:spPr>
        <p:txBody>
          <a:bodyPr wrap="square" lIns="0" tIns="0" rIns="0" bIns="0">
            <a:spAutoFit/>
          </a:bodyPr>
          <a:lstStyle/>
          <a:p>
            <a:pPr algn="l">
              <a:lnSpc>
                <a:spcPct val="135000"/>
              </a:lnSpc>
            </a:pPr>
            <a:r>
              <a:rPr lang="tr-TR" sz="2600" b="0" dirty="0">
                <a:solidFill>
                  <a:srgbClr val="1A1A1A"/>
                </a:solidFill>
                <a:latin typeface="Consolas"/>
              </a:rPr>
              <a:t>1 - </a:t>
            </a:r>
            <a:r>
              <a:rPr sz="2600" b="0" dirty="0">
                <a:solidFill>
                  <a:srgbClr val="1A1A1A"/>
                </a:solidFill>
                <a:latin typeface="Consolas"/>
              </a:rPr>
              <a:t>Bir </a:t>
            </a:r>
            <a:r>
              <a:rPr sz="2600" b="0" dirty="0" err="1">
                <a:solidFill>
                  <a:srgbClr val="1A1A1A"/>
                </a:solidFill>
                <a:latin typeface="Consolas"/>
              </a:rPr>
              <a:t>eli</a:t>
            </a:r>
            <a:r>
              <a:rPr sz="2600" b="0" dirty="0">
                <a:solidFill>
                  <a:srgbClr val="1A1A1A"/>
                </a:solidFill>
                <a:latin typeface="Consolas"/>
              </a:rPr>
              <a:t> </a:t>
            </a:r>
            <a:r>
              <a:rPr sz="2600" b="0" dirty="0" err="1">
                <a:solidFill>
                  <a:srgbClr val="1A1A1A"/>
                </a:solidFill>
                <a:latin typeface="Consolas"/>
              </a:rPr>
              <a:t>yağda</a:t>
            </a:r>
            <a:r>
              <a:rPr sz="2600" b="0" dirty="0">
                <a:solidFill>
                  <a:srgbClr val="1A1A1A"/>
                </a:solidFill>
                <a:latin typeface="Consolas"/>
              </a:rPr>
              <a:t>, </a:t>
            </a:r>
            <a:r>
              <a:rPr sz="2600" b="0" dirty="0" err="1">
                <a:solidFill>
                  <a:srgbClr val="1A1A1A"/>
                </a:solidFill>
                <a:latin typeface="Consolas"/>
              </a:rPr>
              <a:t>bir</a:t>
            </a:r>
            <a:r>
              <a:rPr sz="2600" b="0" dirty="0">
                <a:solidFill>
                  <a:srgbClr val="1A1A1A"/>
                </a:solidFill>
                <a:latin typeface="Consolas"/>
              </a:rPr>
              <a:t> </a:t>
            </a:r>
            <a:r>
              <a:rPr sz="2600" b="0" dirty="0" err="1">
                <a:solidFill>
                  <a:srgbClr val="1A1A1A"/>
                </a:solidFill>
                <a:latin typeface="Consolas"/>
              </a:rPr>
              <a:t>eli</a:t>
            </a:r>
            <a:r>
              <a:rPr sz="2600" b="0" dirty="0">
                <a:solidFill>
                  <a:srgbClr val="1A1A1A"/>
                </a:solidFill>
                <a:latin typeface="Consolas"/>
              </a:rPr>
              <a:t> ________</a:t>
            </a:r>
            <a:br>
              <a:rPr lang="tr-TR" sz="2600" b="0" dirty="0">
                <a:solidFill>
                  <a:srgbClr val="1A1A1A"/>
                </a:solidFill>
                <a:latin typeface="Consolas"/>
              </a:rPr>
            </a:br>
            <a:endParaRPr lang="tr-TR" sz="2600" b="0" dirty="0">
              <a:solidFill>
                <a:srgbClr val="1A1A1A"/>
              </a:solidFill>
              <a:latin typeface="Consolas"/>
            </a:endParaRPr>
          </a:p>
        </p:txBody>
      </p:sp>
      <p:sp>
        <p:nvSpPr>
          <p:cNvPr id="7" name="Rectangle 6">
            <a:extLst>
              <a:ext uri="{FF2B5EF4-FFF2-40B4-BE49-F238E27FC236}">
                <a16:creationId xmlns:a16="http://schemas.microsoft.com/office/drawing/2014/main" id="{DB004E07-DAA9-7B2E-9667-C942BB7B7E68}"/>
              </a:ext>
            </a:extLst>
          </p:cNvPr>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ACA501C5-E7C1-CAA9-F833-16B528354585}"/>
              </a:ext>
            </a:extLst>
          </p:cNvPr>
          <p:cNvSpPr txBox="1"/>
          <p:nvPr/>
        </p:nvSpPr>
        <p:spPr>
          <a:xfrm>
            <a:off x="2011680" y="11960311"/>
            <a:ext cx="20363688" cy="402418"/>
          </a:xfrm>
          <a:prstGeom prst="rect">
            <a:avLst/>
          </a:prstGeom>
          <a:noFill/>
        </p:spPr>
        <p:txBody>
          <a:bodyPr wrap="square" lIns="0" tIns="0" rIns="0" bIns="0" anchor="ctr">
            <a:spAutoFit/>
          </a:bodyPr>
          <a:lstStyle/>
          <a:p>
            <a:pPr algn="ctr">
              <a:lnSpc>
                <a:spcPct val="120000"/>
              </a:lnSpc>
            </a:pPr>
            <a:r>
              <a:rPr sz="2400" b="0" dirty="0">
                <a:solidFill>
                  <a:srgbClr val="15263F"/>
                </a:solidFill>
                <a:latin typeface="Helvetica Neue"/>
              </a:rPr>
              <a:t>Model </a:t>
            </a:r>
            <a:r>
              <a:rPr sz="2400" b="1" dirty="0" err="1">
                <a:solidFill>
                  <a:srgbClr val="15263F"/>
                </a:solidFill>
                <a:latin typeface="Helvetica Neue"/>
              </a:rPr>
              <a:t>durması</a:t>
            </a:r>
            <a:r>
              <a:rPr sz="2400" b="1" dirty="0">
                <a:solidFill>
                  <a:srgbClr val="15263F"/>
                </a:solidFill>
                <a:latin typeface="Helvetica Neue"/>
              </a:rPr>
              <a:t> </a:t>
            </a:r>
            <a:r>
              <a:rPr sz="2400" b="1" dirty="0" err="1">
                <a:solidFill>
                  <a:srgbClr val="15263F"/>
                </a:solidFill>
                <a:latin typeface="Helvetica Neue"/>
              </a:rPr>
              <a:t>gerektiği</a:t>
            </a:r>
            <a:r>
              <a:rPr lang="tr-TR" sz="2400" b="1" dirty="0">
                <a:solidFill>
                  <a:srgbClr val="15263F"/>
                </a:solidFill>
                <a:latin typeface="Helvetica Neue"/>
              </a:rPr>
              <a:t> yeri </a:t>
            </a:r>
            <a:r>
              <a:rPr sz="2400" b="1" dirty="0" err="1">
                <a:solidFill>
                  <a:srgbClr val="15263F"/>
                </a:solidFill>
                <a:latin typeface="Helvetica Neue"/>
              </a:rPr>
              <a:t>bilmiyor</a:t>
            </a:r>
            <a:r>
              <a:rPr sz="2400" b="1" dirty="0">
                <a:solidFill>
                  <a:srgbClr val="15263F"/>
                </a:solidFill>
                <a:latin typeface="Helvetica Neue"/>
              </a:rPr>
              <a:t>.</a:t>
            </a:r>
          </a:p>
        </p:txBody>
      </p:sp>
    </p:spTree>
    <p:extLst>
      <p:ext uri="{BB962C8B-B14F-4D97-AF65-F5344CB8AC3E}">
        <p14:creationId xmlns:p14="http://schemas.microsoft.com/office/powerpoint/2010/main" val="12970983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Model aslında ne yapıyor?</a:t>
            </a:r>
          </a:p>
        </p:txBody>
      </p:sp>
      <p:sp>
        <p:nvSpPr>
          <p:cNvPr id="3" name="TextBox 2"/>
          <p:cNvSpPr txBox="1"/>
          <p:nvPr/>
        </p:nvSpPr>
        <p:spPr>
          <a:xfrm>
            <a:off x="1280160" y="2377440"/>
            <a:ext cx="21826728" cy="2194560"/>
          </a:xfrm>
          <a:prstGeom prst="rect">
            <a:avLst/>
          </a:prstGeom>
          <a:noFill/>
        </p:spPr>
        <p:txBody>
          <a:bodyPr wrap="square" lIns="0" tIns="0" rIns="0" bIns="0">
            <a:spAutoFit/>
          </a:bodyPr>
          <a:lstStyle/>
          <a:p>
            <a:pPr algn="ctr">
              <a:lnSpc>
                <a:spcPct val="125000"/>
              </a:lnSpc>
            </a:pPr>
            <a:r>
              <a:rPr sz="4000" b="0" dirty="0">
                <a:solidFill>
                  <a:srgbClr val="1A1A1A"/>
                </a:solidFill>
                <a:latin typeface="Helvetica Neue"/>
              </a:rPr>
              <a:t>Tek </a:t>
            </a:r>
            <a:r>
              <a:rPr sz="4000" b="0" dirty="0" err="1">
                <a:solidFill>
                  <a:srgbClr val="1A1A1A"/>
                </a:solidFill>
                <a:latin typeface="Helvetica Neue"/>
              </a:rPr>
              <a:t>bir</a:t>
            </a:r>
            <a:r>
              <a:rPr sz="4000" b="0" dirty="0">
                <a:solidFill>
                  <a:srgbClr val="1A1A1A"/>
                </a:solidFill>
                <a:latin typeface="Helvetica Neue"/>
              </a:rPr>
              <a:t> </a:t>
            </a:r>
            <a:r>
              <a:rPr sz="4000" b="0" dirty="0" err="1">
                <a:solidFill>
                  <a:srgbClr val="1A1A1A"/>
                </a:solidFill>
                <a:latin typeface="Helvetica Neue"/>
              </a:rPr>
              <a:t>şey</a:t>
            </a:r>
            <a:r>
              <a:rPr sz="4000" b="0" dirty="0">
                <a:solidFill>
                  <a:srgbClr val="1A1A1A"/>
                </a:solidFill>
                <a:latin typeface="Helvetica Neue"/>
              </a:rPr>
              <a:t>: </a:t>
            </a:r>
            <a:r>
              <a:rPr sz="4000" b="1" dirty="0" err="1">
                <a:solidFill>
                  <a:srgbClr val="1A1A1A"/>
                </a:solidFill>
                <a:latin typeface="Helvetica Neue"/>
              </a:rPr>
              <a:t>bir</a:t>
            </a:r>
            <a:r>
              <a:rPr sz="4000" b="1" dirty="0">
                <a:solidFill>
                  <a:srgbClr val="1A1A1A"/>
                </a:solidFill>
                <a:latin typeface="Helvetica Neue"/>
              </a:rPr>
              <a:t> </a:t>
            </a:r>
            <a:r>
              <a:rPr sz="4000" b="1" dirty="0" err="1">
                <a:solidFill>
                  <a:srgbClr val="1A1A1A"/>
                </a:solidFill>
                <a:latin typeface="Helvetica Neue"/>
              </a:rPr>
              <a:t>sonraki</a:t>
            </a:r>
            <a:r>
              <a:rPr sz="4000" b="1" dirty="0">
                <a:solidFill>
                  <a:srgbClr val="1A1A1A"/>
                </a:solidFill>
                <a:latin typeface="Helvetica Neue"/>
              </a:rPr>
              <a:t> </a:t>
            </a:r>
            <a:r>
              <a:rPr sz="4000" b="1" dirty="0" err="1">
                <a:solidFill>
                  <a:srgbClr val="1A1A1A"/>
                </a:solidFill>
                <a:latin typeface="Helvetica Neue"/>
              </a:rPr>
              <a:t>kelimeyi</a:t>
            </a:r>
            <a:r>
              <a:rPr sz="4000" b="1" dirty="0">
                <a:solidFill>
                  <a:srgbClr val="1A1A1A"/>
                </a:solidFill>
                <a:latin typeface="Helvetica Neue"/>
              </a:rPr>
              <a:t> </a:t>
            </a:r>
            <a:r>
              <a:rPr sz="4000" b="1" dirty="0" err="1">
                <a:solidFill>
                  <a:srgbClr val="1A1A1A"/>
                </a:solidFill>
                <a:latin typeface="Helvetica Neue"/>
              </a:rPr>
              <a:t>tahmin</a:t>
            </a:r>
            <a:r>
              <a:rPr sz="4000" b="1" dirty="0">
                <a:solidFill>
                  <a:srgbClr val="1A1A1A"/>
                </a:solidFill>
                <a:latin typeface="Helvetica Neue"/>
              </a:rPr>
              <a:t> </a:t>
            </a:r>
            <a:r>
              <a:rPr sz="4000" b="1" dirty="0" err="1">
                <a:solidFill>
                  <a:srgbClr val="1A1A1A"/>
                </a:solidFill>
                <a:latin typeface="Helvetica Neue"/>
              </a:rPr>
              <a:t>etmek</a:t>
            </a:r>
            <a:r>
              <a:rPr sz="4000" b="1" dirty="0">
                <a:solidFill>
                  <a:srgbClr val="1A1A1A"/>
                </a:solidFill>
                <a:latin typeface="Helvetica Neue"/>
              </a:rPr>
              <a:t>.</a:t>
            </a:r>
          </a:p>
        </p:txBody>
      </p:sp>
      <p:sp>
        <p:nvSpPr>
          <p:cNvPr id="4" name="Rectangle 3"/>
          <p:cNvSpPr/>
          <p:nvPr/>
        </p:nvSpPr>
        <p:spPr>
          <a:xfrm>
            <a:off x="3108960" y="4206240"/>
            <a:ext cx="18169128"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520440" y="4526280"/>
            <a:ext cx="17346168" cy="2111284"/>
          </a:xfrm>
          <a:prstGeom prst="rect">
            <a:avLst/>
          </a:prstGeom>
          <a:noFill/>
        </p:spPr>
        <p:txBody>
          <a:bodyPr wrap="square" lIns="0" tIns="0" rIns="0" bIns="0">
            <a:spAutoFit/>
          </a:bodyPr>
          <a:lstStyle/>
          <a:p>
            <a:pPr algn="l">
              <a:lnSpc>
                <a:spcPct val="135000"/>
              </a:lnSpc>
            </a:pPr>
            <a:r>
              <a:rPr lang="tr-TR" sz="2600" b="0" dirty="0">
                <a:solidFill>
                  <a:srgbClr val="1A1A1A"/>
                </a:solidFill>
                <a:latin typeface="Consolas"/>
              </a:rPr>
              <a:t>1 - </a:t>
            </a:r>
            <a:r>
              <a:rPr sz="2600" b="0" dirty="0">
                <a:solidFill>
                  <a:srgbClr val="1A1A1A"/>
                </a:solidFill>
                <a:latin typeface="Consolas"/>
              </a:rPr>
              <a:t>Bir </a:t>
            </a:r>
            <a:r>
              <a:rPr sz="2600" b="0" dirty="0" err="1">
                <a:solidFill>
                  <a:srgbClr val="1A1A1A"/>
                </a:solidFill>
                <a:latin typeface="Consolas"/>
              </a:rPr>
              <a:t>eli</a:t>
            </a:r>
            <a:r>
              <a:rPr sz="2600" b="0" dirty="0">
                <a:solidFill>
                  <a:srgbClr val="1A1A1A"/>
                </a:solidFill>
                <a:latin typeface="Consolas"/>
              </a:rPr>
              <a:t> </a:t>
            </a:r>
            <a:r>
              <a:rPr sz="2600" b="0" dirty="0" err="1">
                <a:solidFill>
                  <a:srgbClr val="1A1A1A"/>
                </a:solidFill>
                <a:latin typeface="Consolas"/>
              </a:rPr>
              <a:t>yağda</a:t>
            </a:r>
            <a:r>
              <a:rPr sz="2600" b="0" dirty="0">
                <a:solidFill>
                  <a:srgbClr val="1A1A1A"/>
                </a:solidFill>
                <a:latin typeface="Consolas"/>
              </a:rPr>
              <a:t>, </a:t>
            </a:r>
            <a:r>
              <a:rPr sz="2600" b="0" dirty="0" err="1">
                <a:solidFill>
                  <a:srgbClr val="1A1A1A"/>
                </a:solidFill>
                <a:latin typeface="Consolas"/>
              </a:rPr>
              <a:t>bir</a:t>
            </a:r>
            <a:r>
              <a:rPr sz="2600" b="0" dirty="0">
                <a:solidFill>
                  <a:srgbClr val="1A1A1A"/>
                </a:solidFill>
                <a:latin typeface="Consolas"/>
              </a:rPr>
              <a:t> </a:t>
            </a:r>
            <a:r>
              <a:rPr sz="2600" b="0" dirty="0" err="1">
                <a:solidFill>
                  <a:srgbClr val="1A1A1A"/>
                </a:solidFill>
                <a:latin typeface="Consolas"/>
              </a:rPr>
              <a:t>eli</a:t>
            </a:r>
            <a:r>
              <a:rPr sz="2600" b="0" dirty="0">
                <a:solidFill>
                  <a:srgbClr val="1A1A1A"/>
                </a:solidFill>
                <a:latin typeface="Consolas"/>
              </a:rPr>
              <a:t> ________</a:t>
            </a:r>
            <a:endParaRPr lang="tr-TR" sz="2600" b="0" dirty="0">
              <a:solidFill>
                <a:srgbClr val="1A1A1A"/>
              </a:solidFill>
              <a:latin typeface="Consolas"/>
            </a:endParaRPr>
          </a:p>
          <a:p>
            <a:pPr algn="l">
              <a:lnSpc>
                <a:spcPct val="135000"/>
              </a:lnSpc>
            </a:pPr>
            <a:endParaRPr lang="tr-TR" sz="2600" dirty="0">
              <a:solidFill>
                <a:srgbClr val="1A1A1A"/>
              </a:solidFill>
              <a:latin typeface="Consolas"/>
            </a:endParaRPr>
          </a:p>
          <a:p>
            <a:pPr algn="l">
              <a:lnSpc>
                <a:spcPct val="135000"/>
              </a:lnSpc>
            </a:pPr>
            <a:r>
              <a:rPr lang="tr-TR" sz="2600" dirty="0">
                <a:solidFill>
                  <a:srgbClr val="1A1A1A"/>
                </a:solidFill>
                <a:latin typeface="Consolas"/>
              </a:rPr>
              <a:t>2 - </a:t>
            </a:r>
            <a:r>
              <a:rPr lang="tr-TR" sz="2600" dirty="0" err="1">
                <a:solidFill>
                  <a:srgbClr val="1A1A1A"/>
                </a:solidFill>
                <a:latin typeface="Consolas"/>
              </a:rPr>
              <a:t>Miuul</a:t>
            </a:r>
            <a:r>
              <a:rPr lang="tr-TR" sz="2600" dirty="0">
                <a:solidFill>
                  <a:srgbClr val="1A1A1A"/>
                </a:solidFill>
                <a:latin typeface="Consolas"/>
              </a:rPr>
              <a:t> </a:t>
            </a:r>
            <a:r>
              <a:rPr lang="tr-TR" sz="2600" dirty="0" err="1">
                <a:solidFill>
                  <a:srgbClr val="1A1A1A"/>
                </a:solidFill>
                <a:latin typeface="Consolas"/>
              </a:rPr>
              <a:t>bootcamp'inde</a:t>
            </a:r>
            <a:r>
              <a:rPr lang="tr-TR" sz="2600" dirty="0">
                <a:solidFill>
                  <a:srgbClr val="1A1A1A"/>
                </a:solidFill>
                <a:latin typeface="Consolas"/>
              </a:rPr>
              <a:t> mezun olmak için</a:t>
            </a:r>
          </a:p>
          <a:p>
            <a:pPr algn="l">
              <a:lnSpc>
                <a:spcPct val="135000"/>
              </a:lnSpc>
            </a:pPr>
            <a:r>
              <a:rPr lang="tr-TR" sz="2600" dirty="0">
                <a:solidFill>
                  <a:srgbClr val="1A1A1A"/>
                </a:solidFill>
                <a:latin typeface="Consolas"/>
              </a:rPr>
              <a:t>ödevlerin yüzde ________'i tamamlanmalı</a:t>
            </a:r>
            <a:endParaRPr sz="2600" b="0" dirty="0">
              <a:solidFill>
                <a:srgbClr val="1A1A1A"/>
              </a:solidFill>
              <a:latin typeface="Consolas"/>
            </a:endParaRPr>
          </a:p>
        </p:txBody>
      </p:sp>
      <p:sp>
        <p:nvSpPr>
          <p:cNvPr id="7" name="Rectangle 6"/>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0" y="11960311"/>
            <a:ext cx="20363688" cy="402418"/>
          </a:xfrm>
          <a:prstGeom prst="rect">
            <a:avLst/>
          </a:prstGeom>
          <a:noFill/>
        </p:spPr>
        <p:txBody>
          <a:bodyPr wrap="square" lIns="0" tIns="0" rIns="0" bIns="0" anchor="ctr">
            <a:spAutoFit/>
          </a:bodyPr>
          <a:lstStyle/>
          <a:p>
            <a:pPr algn="ctr">
              <a:lnSpc>
                <a:spcPct val="120000"/>
              </a:lnSpc>
            </a:pPr>
            <a:r>
              <a:rPr sz="2400" b="0" dirty="0">
                <a:solidFill>
                  <a:srgbClr val="15263F"/>
                </a:solidFill>
                <a:latin typeface="Helvetica Neue"/>
              </a:rPr>
              <a:t>Model </a:t>
            </a:r>
            <a:r>
              <a:rPr sz="2400" b="1" dirty="0" err="1">
                <a:solidFill>
                  <a:srgbClr val="15263F"/>
                </a:solidFill>
                <a:latin typeface="Helvetica Neue"/>
              </a:rPr>
              <a:t>durması</a:t>
            </a:r>
            <a:r>
              <a:rPr sz="2400" b="1" dirty="0">
                <a:solidFill>
                  <a:srgbClr val="15263F"/>
                </a:solidFill>
                <a:latin typeface="Helvetica Neue"/>
              </a:rPr>
              <a:t> </a:t>
            </a:r>
            <a:r>
              <a:rPr sz="2400" b="1" dirty="0" err="1">
                <a:solidFill>
                  <a:srgbClr val="15263F"/>
                </a:solidFill>
                <a:latin typeface="Helvetica Neue"/>
              </a:rPr>
              <a:t>gerektiği</a:t>
            </a:r>
            <a:r>
              <a:rPr lang="tr-TR" sz="2400" b="1" dirty="0">
                <a:solidFill>
                  <a:srgbClr val="15263F"/>
                </a:solidFill>
                <a:latin typeface="Helvetica Neue"/>
              </a:rPr>
              <a:t> yeri </a:t>
            </a:r>
            <a:r>
              <a:rPr sz="2400" b="1" dirty="0" err="1">
                <a:solidFill>
                  <a:srgbClr val="15263F"/>
                </a:solidFill>
                <a:latin typeface="Helvetica Neue"/>
              </a:rPr>
              <a:t>bilmiyor</a:t>
            </a:r>
            <a:r>
              <a:rPr sz="2400" b="1" dirty="0">
                <a:solidFill>
                  <a:srgbClr val="15263F"/>
                </a:solidFill>
                <a:latin typeface="Helvetica Neue"/>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A3468-588A-2317-F4AA-FA17ECE2549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E548AB5-1102-E9C0-7776-DC4BF8612746}"/>
              </a:ext>
            </a:extLst>
          </p:cNvPr>
          <p:cNvSpPr>
            <a:spLocks noGrp="1"/>
          </p:cNvSpPr>
          <p:nvPr>
            <p:ph type="body" sz="quarter" idx="22"/>
          </p:nvPr>
        </p:nvSpPr>
        <p:spPr/>
        <p:txBody>
          <a:bodyPr/>
          <a:lstStyle/>
          <a:p>
            <a:r>
              <a:rPr sz="3200">
                <a:solidFill>
                  <a:srgbClr val="1A1A1A"/>
                </a:solidFill>
                <a:latin typeface="Helvetica Neue"/>
              </a:rPr>
              <a:t>Model aslında ne yapıyor?</a:t>
            </a:r>
          </a:p>
        </p:txBody>
      </p:sp>
      <p:sp>
        <p:nvSpPr>
          <p:cNvPr id="3" name="TextBox 2">
            <a:extLst>
              <a:ext uri="{FF2B5EF4-FFF2-40B4-BE49-F238E27FC236}">
                <a16:creationId xmlns:a16="http://schemas.microsoft.com/office/drawing/2014/main" id="{6CC72CC8-411E-C890-298A-2694CA6E364D}"/>
              </a:ext>
            </a:extLst>
          </p:cNvPr>
          <p:cNvSpPr txBox="1"/>
          <p:nvPr/>
        </p:nvSpPr>
        <p:spPr>
          <a:xfrm>
            <a:off x="1280160" y="2377440"/>
            <a:ext cx="21826728" cy="2194560"/>
          </a:xfrm>
          <a:prstGeom prst="rect">
            <a:avLst/>
          </a:prstGeom>
          <a:noFill/>
        </p:spPr>
        <p:txBody>
          <a:bodyPr wrap="square" lIns="0" tIns="0" rIns="0" bIns="0">
            <a:spAutoFit/>
          </a:bodyPr>
          <a:lstStyle/>
          <a:p>
            <a:pPr algn="ctr">
              <a:lnSpc>
                <a:spcPct val="125000"/>
              </a:lnSpc>
            </a:pPr>
            <a:r>
              <a:rPr sz="4000" b="0" dirty="0">
                <a:solidFill>
                  <a:srgbClr val="1A1A1A"/>
                </a:solidFill>
                <a:latin typeface="Helvetica Neue"/>
              </a:rPr>
              <a:t>Tek </a:t>
            </a:r>
            <a:r>
              <a:rPr sz="4000" b="0" dirty="0" err="1">
                <a:solidFill>
                  <a:srgbClr val="1A1A1A"/>
                </a:solidFill>
                <a:latin typeface="Helvetica Neue"/>
              </a:rPr>
              <a:t>bir</a:t>
            </a:r>
            <a:r>
              <a:rPr sz="4000" b="0" dirty="0">
                <a:solidFill>
                  <a:srgbClr val="1A1A1A"/>
                </a:solidFill>
                <a:latin typeface="Helvetica Neue"/>
              </a:rPr>
              <a:t> </a:t>
            </a:r>
            <a:r>
              <a:rPr sz="4000" b="0" dirty="0" err="1">
                <a:solidFill>
                  <a:srgbClr val="1A1A1A"/>
                </a:solidFill>
                <a:latin typeface="Helvetica Neue"/>
              </a:rPr>
              <a:t>şey</a:t>
            </a:r>
            <a:r>
              <a:rPr sz="4000" b="0" dirty="0">
                <a:solidFill>
                  <a:srgbClr val="1A1A1A"/>
                </a:solidFill>
                <a:latin typeface="Helvetica Neue"/>
              </a:rPr>
              <a:t>: </a:t>
            </a:r>
            <a:r>
              <a:rPr sz="4000" b="1" dirty="0" err="1">
                <a:solidFill>
                  <a:srgbClr val="1A1A1A"/>
                </a:solidFill>
                <a:latin typeface="Helvetica Neue"/>
              </a:rPr>
              <a:t>bir</a:t>
            </a:r>
            <a:r>
              <a:rPr sz="4000" b="1" dirty="0">
                <a:solidFill>
                  <a:srgbClr val="1A1A1A"/>
                </a:solidFill>
                <a:latin typeface="Helvetica Neue"/>
              </a:rPr>
              <a:t> </a:t>
            </a:r>
            <a:r>
              <a:rPr sz="4000" b="1" dirty="0" err="1">
                <a:solidFill>
                  <a:srgbClr val="1A1A1A"/>
                </a:solidFill>
                <a:latin typeface="Helvetica Neue"/>
              </a:rPr>
              <a:t>sonraki</a:t>
            </a:r>
            <a:r>
              <a:rPr sz="4000" b="1" dirty="0">
                <a:solidFill>
                  <a:srgbClr val="1A1A1A"/>
                </a:solidFill>
                <a:latin typeface="Helvetica Neue"/>
              </a:rPr>
              <a:t> </a:t>
            </a:r>
            <a:r>
              <a:rPr sz="4000" b="1" dirty="0" err="1">
                <a:solidFill>
                  <a:srgbClr val="1A1A1A"/>
                </a:solidFill>
                <a:latin typeface="Helvetica Neue"/>
              </a:rPr>
              <a:t>kelimeyi</a:t>
            </a:r>
            <a:r>
              <a:rPr sz="4000" b="1" dirty="0">
                <a:solidFill>
                  <a:srgbClr val="1A1A1A"/>
                </a:solidFill>
                <a:latin typeface="Helvetica Neue"/>
              </a:rPr>
              <a:t> </a:t>
            </a:r>
            <a:r>
              <a:rPr sz="4000" b="1" dirty="0" err="1">
                <a:solidFill>
                  <a:srgbClr val="1A1A1A"/>
                </a:solidFill>
                <a:latin typeface="Helvetica Neue"/>
              </a:rPr>
              <a:t>tahmin</a:t>
            </a:r>
            <a:r>
              <a:rPr sz="4000" b="1" dirty="0">
                <a:solidFill>
                  <a:srgbClr val="1A1A1A"/>
                </a:solidFill>
                <a:latin typeface="Helvetica Neue"/>
              </a:rPr>
              <a:t> </a:t>
            </a:r>
            <a:r>
              <a:rPr sz="4000" b="1" dirty="0" err="1">
                <a:solidFill>
                  <a:srgbClr val="1A1A1A"/>
                </a:solidFill>
                <a:latin typeface="Helvetica Neue"/>
              </a:rPr>
              <a:t>etmek</a:t>
            </a:r>
            <a:r>
              <a:rPr sz="4000" b="1" dirty="0">
                <a:solidFill>
                  <a:srgbClr val="1A1A1A"/>
                </a:solidFill>
                <a:latin typeface="Helvetica Neue"/>
              </a:rPr>
              <a:t>.</a:t>
            </a:r>
          </a:p>
        </p:txBody>
      </p:sp>
      <p:sp>
        <p:nvSpPr>
          <p:cNvPr id="4" name="Rectangle 3">
            <a:extLst>
              <a:ext uri="{FF2B5EF4-FFF2-40B4-BE49-F238E27FC236}">
                <a16:creationId xmlns:a16="http://schemas.microsoft.com/office/drawing/2014/main" id="{15548F70-9204-7B19-3F75-1B372B8D5D5E}"/>
              </a:ext>
            </a:extLst>
          </p:cNvPr>
          <p:cNvSpPr/>
          <p:nvPr/>
        </p:nvSpPr>
        <p:spPr>
          <a:xfrm>
            <a:off x="3108960" y="4206240"/>
            <a:ext cx="18169128"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28FFCC49-75ED-9857-10DD-B75ABDB016A9}"/>
              </a:ext>
            </a:extLst>
          </p:cNvPr>
          <p:cNvSpPr txBox="1"/>
          <p:nvPr/>
        </p:nvSpPr>
        <p:spPr>
          <a:xfrm>
            <a:off x="3520440" y="4526280"/>
            <a:ext cx="17346168" cy="3731727"/>
          </a:xfrm>
          <a:prstGeom prst="rect">
            <a:avLst/>
          </a:prstGeom>
          <a:noFill/>
        </p:spPr>
        <p:txBody>
          <a:bodyPr wrap="square" lIns="0" tIns="0" rIns="0" bIns="0">
            <a:spAutoFit/>
          </a:bodyPr>
          <a:lstStyle/>
          <a:p>
            <a:pPr algn="l">
              <a:lnSpc>
                <a:spcPct val="135000"/>
              </a:lnSpc>
            </a:pPr>
            <a:r>
              <a:rPr lang="tr-TR" sz="2600" b="0" dirty="0">
                <a:solidFill>
                  <a:srgbClr val="1A1A1A"/>
                </a:solidFill>
                <a:latin typeface="Consolas"/>
              </a:rPr>
              <a:t>1 - </a:t>
            </a:r>
            <a:r>
              <a:rPr sz="2600" b="0" dirty="0">
                <a:solidFill>
                  <a:srgbClr val="1A1A1A"/>
                </a:solidFill>
                <a:latin typeface="Consolas"/>
              </a:rPr>
              <a:t>Bir </a:t>
            </a:r>
            <a:r>
              <a:rPr sz="2600" b="0" dirty="0" err="1">
                <a:solidFill>
                  <a:srgbClr val="1A1A1A"/>
                </a:solidFill>
                <a:latin typeface="Consolas"/>
              </a:rPr>
              <a:t>eli</a:t>
            </a:r>
            <a:r>
              <a:rPr sz="2600" b="0" dirty="0">
                <a:solidFill>
                  <a:srgbClr val="1A1A1A"/>
                </a:solidFill>
                <a:latin typeface="Consolas"/>
              </a:rPr>
              <a:t> </a:t>
            </a:r>
            <a:r>
              <a:rPr sz="2600" b="0" dirty="0" err="1">
                <a:solidFill>
                  <a:srgbClr val="1A1A1A"/>
                </a:solidFill>
                <a:latin typeface="Consolas"/>
              </a:rPr>
              <a:t>yağda</a:t>
            </a:r>
            <a:r>
              <a:rPr sz="2600" b="0" dirty="0">
                <a:solidFill>
                  <a:srgbClr val="1A1A1A"/>
                </a:solidFill>
                <a:latin typeface="Consolas"/>
              </a:rPr>
              <a:t>, </a:t>
            </a:r>
            <a:r>
              <a:rPr sz="2600" b="0" dirty="0" err="1">
                <a:solidFill>
                  <a:srgbClr val="1A1A1A"/>
                </a:solidFill>
                <a:latin typeface="Consolas"/>
              </a:rPr>
              <a:t>bir</a:t>
            </a:r>
            <a:r>
              <a:rPr sz="2600" b="0" dirty="0">
                <a:solidFill>
                  <a:srgbClr val="1A1A1A"/>
                </a:solidFill>
                <a:latin typeface="Consolas"/>
              </a:rPr>
              <a:t> </a:t>
            </a:r>
            <a:r>
              <a:rPr sz="2600" b="0" dirty="0" err="1">
                <a:solidFill>
                  <a:srgbClr val="1A1A1A"/>
                </a:solidFill>
                <a:latin typeface="Consolas"/>
              </a:rPr>
              <a:t>eli</a:t>
            </a:r>
            <a:r>
              <a:rPr sz="2600" b="0" dirty="0">
                <a:solidFill>
                  <a:srgbClr val="1A1A1A"/>
                </a:solidFill>
                <a:latin typeface="Consolas"/>
              </a:rPr>
              <a:t> ________</a:t>
            </a:r>
            <a:endParaRPr lang="tr-TR" sz="2600" b="0" dirty="0">
              <a:solidFill>
                <a:srgbClr val="1A1A1A"/>
              </a:solidFill>
              <a:latin typeface="Consolas"/>
            </a:endParaRPr>
          </a:p>
          <a:p>
            <a:pPr algn="l">
              <a:lnSpc>
                <a:spcPct val="135000"/>
              </a:lnSpc>
            </a:pPr>
            <a:endParaRPr lang="tr-TR" sz="2600" dirty="0">
              <a:solidFill>
                <a:srgbClr val="1A1A1A"/>
              </a:solidFill>
              <a:latin typeface="Consolas"/>
            </a:endParaRPr>
          </a:p>
          <a:p>
            <a:pPr algn="l">
              <a:lnSpc>
                <a:spcPct val="135000"/>
              </a:lnSpc>
            </a:pPr>
            <a:r>
              <a:rPr lang="tr-TR" sz="2600" dirty="0">
                <a:solidFill>
                  <a:srgbClr val="1A1A1A"/>
                </a:solidFill>
                <a:latin typeface="Consolas"/>
              </a:rPr>
              <a:t>2 - </a:t>
            </a:r>
            <a:r>
              <a:rPr lang="tr-TR" sz="2600" dirty="0" err="1">
                <a:solidFill>
                  <a:srgbClr val="1A1A1A"/>
                </a:solidFill>
                <a:latin typeface="Consolas"/>
              </a:rPr>
              <a:t>Miuul</a:t>
            </a:r>
            <a:r>
              <a:rPr lang="tr-TR" sz="2600" dirty="0">
                <a:solidFill>
                  <a:srgbClr val="1A1A1A"/>
                </a:solidFill>
                <a:latin typeface="Consolas"/>
              </a:rPr>
              <a:t> </a:t>
            </a:r>
            <a:r>
              <a:rPr lang="tr-TR" sz="2600" dirty="0" err="1">
                <a:solidFill>
                  <a:srgbClr val="1A1A1A"/>
                </a:solidFill>
                <a:latin typeface="Consolas"/>
              </a:rPr>
              <a:t>bootcamp'inde</a:t>
            </a:r>
            <a:r>
              <a:rPr lang="tr-TR" sz="2600" dirty="0">
                <a:solidFill>
                  <a:srgbClr val="1A1A1A"/>
                </a:solidFill>
                <a:latin typeface="Consolas"/>
              </a:rPr>
              <a:t> mezun olmak için</a:t>
            </a:r>
          </a:p>
          <a:p>
            <a:pPr algn="l">
              <a:lnSpc>
                <a:spcPct val="135000"/>
              </a:lnSpc>
            </a:pPr>
            <a:r>
              <a:rPr lang="tr-TR" sz="2600" dirty="0">
                <a:solidFill>
                  <a:srgbClr val="1A1A1A"/>
                </a:solidFill>
                <a:latin typeface="Consolas"/>
              </a:rPr>
              <a:t>ödevlerin yüzde ________'i tamamlanmalı</a:t>
            </a:r>
            <a:endParaRPr sz="2600" b="0" dirty="0">
              <a:solidFill>
                <a:srgbClr val="1A1A1A"/>
              </a:solidFill>
              <a:latin typeface="Consolas"/>
            </a:endParaRPr>
          </a:p>
          <a:p>
            <a:pPr algn="l">
              <a:lnSpc>
                <a:spcPct val="135000"/>
              </a:lnSpc>
            </a:pPr>
            <a:endParaRPr sz="2600" b="0" dirty="0">
              <a:solidFill>
                <a:srgbClr val="1A1A1A"/>
              </a:solidFill>
              <a:latin typeface="Consolas"/>
            </a:endParaRPr>
          </a:p>
          <a:p>
            <a:pPr algn="l">
              <a:lnSpc>
                <a:spcPct val="135000"/>
              </a:lnSpc>
            </a:pPr>
            <a:r>
              <a:rPr lang="tr-TR" sz="2600" b="0" dirty="0">
                <a:solidFill>
                  <a:srgbClr val="1A1A1A"/>
                </a:solidFill>
                <a:latin typeface="Consolas"/>
              </a:rPr>
              <a:t>3 - </a:t>
            </a:r>
            <a:r>
              <a:rPr sz="2600" b="0" dirty="0" err="1">
                <a:solidFill>
                  <a:srgbClr val="1A1A1A"/>
                </a:solidFill>
                <a:latin typeface="Consolas"/>
              </a:rPr>
              <a:t>Miuul</a:t>
            </a:r>
            <a:r>
              <a:rPr sz="2600" b="0" dirty="0">
                <a:solidFill>
                  <a:srgbClr val="1A1A1A"/>
                </a:solidFill>
                <a:latin typeface="Consolas"/>
              </a:rPr>
              <a:t> </a:t>
            </a:r>
            <a:r>
              <a:rPr sz="2600" b="0" dirty="0" err="1">
                <a:solidFill>
                  <a:srgbClr val="1A1A1A"/>
                </a:solidFill>
                <a:latin typeface="Consolas"/>
              </a:rPr>
              <a:t>bootcamp'inde</a:t>
            </a:r>
            <a:r>
              <a:rPr sz="2600" b="0" dirty="0">
                <a:solidFill>
                  <a:srgbClr val="1A1A1A"/>
                </a:solidFill>
                <a:latin typeface="Consolas"/>
              </a:rPr>
              <a:t> </a:t>
            </a:r>
            <a:r>
              <a:rPr sz="2600" b="0" dirty="0" err="1">
                <a:solidFill>
                  <a:srgbClr val="1A1A1A"/>
                </a:solidFill>
                <a:latin typeface="Consolas"/>
              </a:rPr>
              <a:t>mezun</a:t>
            </a:r>
            <a:r>
              <a:rPr sz="2600" b="0" dirty="0">
                <a:solidFill>
                  <a:srgbClr val="1A1A1A"/>
                </a:solidFill>
                <a:latin typeface="Consolas"/>
              </a:rPr>
              <a:t> </a:t>
            </a:r>
            <a:r>
              <a:rPr sz="2600" b="0" dirty="0" err="1">
                <a:solidFill>
                  <a:srgbClr val="1A1A1A"/>
                </a:solidFill>
                <a:latin typeface="Consolas"/>
              </a:rPr>
              <a:t>olmak</a:t>
            </a:r>
            <a:r>
              <a:rPr sz="2600" b="0" dirty="0">
                <a:solidFill>
                  <a:srgbClr val="1A1A1A"/>
                </a:solidFill>
                <a:latin typeface="Consolas"/>
              </a:rPr>
              <a:t> </a:t>
            </a:r>
            <a:r>
              <a:rPr sz="2600" b="0" dirty="0" err="1">
                <a:solidFill>
                  <a:srgbClr val="1A1A1A"/>
                </a:solidFill>
                <a:latin typeface="Consolas"/>
              </a:rPr>
              <a:t>için</a:t>
            </a:r>
            <a:endParaRPr sz="2600" b="0" dirty="0">
              <a:solidFill>
                <a:srgbClr val="1A1A1A"/>
              </a:solidFill>
              <a:latin typeface="Consolas"/>
            </a:endParaRPr>
          </a:p>
          <a:p>
            <a:pPr algn="l">
              <a:lnSpc>
                <a:spcPct val="135000"/>
              </a:lnSpc>
            </a:pPr>
            <a:r>
              <a:rPr lang="tr-TR" sz="2600" dirty="0">
                <a:solidFill>
                  <a:srgbClr val="1A1A1A"/>
                </a:solidFill>
                <a:latin typeface="Consolas"/>
              </a:rPr>
              <a:t>Final Projesinden</a:t>
            </a:r>
            <a:r>
              <a:rPr sz="2600" b="0" dirty="0">
                <a:solidFill>
                  <a:srgbClr val="1A1A1A"/>
                </a:solidFill>
                <a:latin typeface="Consolas"/>
              </a:rPr>
              <a:t> </a:t>
            </a:r>
            <a:r>
              <a:rPr lang="tr-TR" sz="2600" b="0" dirty="0">
                <a:solidFill>
                  <a:srgbClr val="1A1A1A"/>
                </a:solidFill>
                <a:latin typeface="Consolas"/>
              </a:rPr>
              <a:t>en az</a:t>
            </a:r>
            <a:r>
              <a:rPr sz="2600" b="0" dirty="0">
                <a:solidFill>
                  <a:srgbClr val="1A1A1A"/>
                </a:solidFill>
                <a:latin typeface="Consolas"/>
              </a:rPr>
              <a:t> ________</a:t>
            </a:r>
            <a:r>
              <a:rPr lang="tr-TR" sz="2600" b="0" dirty="0">
                <a:solidFill>
                  <a:srgbClr val="1A1A1A"/>
                </a:solidFill>
                <a:latin typeface="Consolas"/>
              </a:rPr>
              <a:t> puan alınmalıdır.</a:t>
            </a:r>
            <a:endParaRPr sz="2600" b="0" dirty="0">
              <a:solidFill>
                <a:srgbClr val="1A1A1A"/>
              </a:solidFill>
              <a:latin typeface="Consolas"/>
            </a:endParaRPr>
          </a:p>
        </p:txBody>
      </p:sp>
      <p:sp>
        <p:nvSpPr>
          <p:cNvPr id="7" name="Rectangle 6">
            <a:extLst>
              <a:ext uri="{FF2B5EF4-FFF2-40B4-BE49-F238E27FC236}">
                <a16:creationId xmlns:a16="http://schemas.microsoft.com/office/drawing/2014/main" id="{153CD196-F4D2-5CD4-8A27-069C22FD79EB}"/>
              </a:ext>
            </a:extLst>
          </p:cNvPr>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6CD740A7-A443-AC14-AE40-8FA387176359}"/>
              </a:ext>
            </a:extLst>
          </p:cNvPr>
          <p:cNvSpPr txBox="1"/>
          <p:nvPr/>
        </p:nvSpPr>
        <p:spPr>
          <a:xfrm>
            <a:off x="2011680" y="11960311"/>
            <a:ext cx="20363688" cy="402418"/>
          </a:xfrm>
          <a:prstGeom prst="rect">
            <a:avLst/>
          </a:prstGeom>
          <a:noFill/>
        </p:spPr>
        <p:txBody>
          <a:bodyPr wrap="square" lIns="0" tIns="0" rIns="0" bIns="0" anchor="ctr">
            <a:spAutoFit/>
          </a:bodyPr>
          <a:lstStyle/>
          <a:p>
            <a:pPr algn="ctr">
              <a:lnSpc>
                <a:spcPct val="120000"/>
              </a:lnSpc>
            </a:pPr>
            <a:r>
              <a:rPr sz="2400" b="0" dirty="0">
                <a:solidFill>
                  <a:srgbClr val="15263F"/>
                </a:solidFill>
                <a:latin typeface="Helvetica Neue"/>
              </a:rPr>
              <a:t>Model </a:t>
            </a:r>
            <a:r>
              <a:rPr sz="2400" b="1" dirty="0" err="1">
                <a:solidFill>
                  <a:srgbClr val="15263F"/>
                </a:solidFill>
                <a:latin typeface="Helvetica Neue"/>
              </a:rPr>
              <a:t>durması</a:t>
            </a:r>
            <a:r>
              <a:rPr sz="2400" b="1" dirty="0">
                <a:solidFill>
                  <a:srgbClr val="15263F"/>
                </a:solidFill>
                <a:latin typeface="Helvetica Neue"/>
              </a:rPr>
              <a:t> </a:t>
            </a:r>
            <a:r>
              <a:rPr sz="2400" b="1" dirty="0" err="1">
                <a:solidFill>
                  <a:srgbClr val="15263F"/>
                </a:solidFill>
                <a:latin typeface="Helvetica Neue"/>
              </a:rPr>
              <a:t>gerektiği</a:t>
            </a:r>
            <a:r>
              <a:rPr lang="tr-TR" sz="2400" b="1" dirty="0">
                <a:solidFill>
                  <a:srgbClr val="15263F"/>
                </a:solidFill>
                <a:latin typeface="Helvetica Neue"/>
              </a:rPr>
              <a:t> yeri </a:t>
            </a:r>
            <a:r>
              <a:rPr sz="2400" b="1" dirty="0" err="1">
                <a:solidFill>
                  <a:srgbClr val="15263F"/>
                </a:solidFill>
                <a:latin typeface="Helvetica Neue"/>
              </a:rPr>
              <a:t>bilmiyor</a:t>
            </a:r>
            <a:r>
              <a:rPr sz="2400" b="1" dirty="0">
                <a:solidFill>
                  <a:srgbClr val="15263F"/>
                </a:solidFill>
                <a:latin typeface="Helvetica Neue"/>
              </a:rPr>
              <a:t>.</a:t>
            </a:r>
          </a:p>
        </p:txBody>
      </p:sp>
    </p:spTree>
    <p:extLst>
      <p:ext uri="{BB962C8B-B14F-4D97-AF65-F5344CB8AC3E}">
        <p14:creationId xmlns:p14="http://schemas.microsoft.com/office/powerpoint/2010/main" val="11925080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Kaputun altı: Transformer</a:t>
            </a:r>
          </a:p>
        </p:txBody>
      </p:sp>
      <p:sp>
        <p:nvSpPr>
          <p:cNvPr id="3" name="TextBox 2"/>
          <p:cNvSpPr txBox="1"/>
          <p:nvPr/>
        </p:nvSpPr>
        <p:spPr>
          <a:xfrm>
            <a:off x="2066544" y="3063240"/>
            <a:ext cx="20244816" cy="1737360"/>
          </a:xfrm>
          <a:prstGeom prst="rect">
            <a:avLst/>
          </a:prstGeom>
          <a:noFill/>
        </p:spPr>
        <p:txBody>
          <a:bodyPr wrap="square" lIns="0" tIns="0" rIns="0" bIns="0">
            <a:spAutoFit/>
          </a:bodyPr>
          <a:lstStyle/>
          <a:p>
            <a:pPr algn="ctr">
              <a:lnSpc>
                <a:spcPct val="115000"/>
              </a:lnSpc>
            </a:pPr>
            <a:r>
              <a:rPr sz="3800" b="0">
                <a:solidFill>
                  <a:srgbClr val="1A1A1A"/>
                </a:solidFill>
                <a:latin typeface="Helvetica Neue"/>
              </a:rPr>
              <a:t>2017'de sekiz sayfalık bir makale çıktı. </a:t>
            </a:r>
            <a:r>
              <a:rPr sz="3800" b="1">
                <a:solidFill>
                  <a:srgbClr val="1A1A1A"/>
                </a:solidFill>
                <a:latin typeface="Helvetica Neue"/>
              </a:rPr>
              <a:t>Bugün kullandığınız her modelin atası.</a:t>
            </a:r>
          </a:p>
        </p:txBody>
      </p:sp>
      <p:pic>
        <p:nvPicPr>
          <p:cNvPr id="4" name="Picture 3" descr="makale.jpg"/>
          <p:cNvPicPr>
            <a:picLocks noChangeAspect="1"/>
          </p:cNvPicPr>
          <p:nvPr/>
        </p:nvPicPr>
        <p:blipFill>
          <a:blip r:embed="rId3"/>
          <a:stretch>
            <a:fillRect/>
          </a:stretch>
        </p:blipFill>
        <p:spPr>
          <a:xfrm>
            <a:off x="7476312" y="4709160"/>
            <a:ext cx="9431407" cy="6537960"/>
          </a:xfrm>
          <a:prstGeom prst="rect">
            <a:avLst/>
          </a:prstGeom>
        </p:spPr>
      </p:pic>
      <p:sp>
        <p:nvSpPr>
          <p:cNvPr id="5" name="Rectangle 4"/>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Attention fikri yeni değildi. Yeni olan iddia şuydu: </a:t>
            </a:r>
            <a:r>
              <a:rPr sz="2400" b="1">
                <a:solidFill>
                  <a:srgbClr val="15263F"/>
                </a:solidFill>
                <a:latin typeface="Helvetica Neue"/>
              </a:rPr>
              <a:t>tek başına yetiyor.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Transformer'ı Transformer yapan üç şey</a:t>
            </a:r>
          </a:p>
        </p:txBody>
      </p:sp>
      <p:sp>
        <p:nvSpPr>
          <p:cNvPr id="3" name="Rounded Rectangle 2"/>
          <p:cNvSpPr/>
          <p:nvPr/>
        </p:nvSpPr>
        <p:spPr>
          <a:xfrm>
            <a:off x="1280160" y="2514600"/>
            <a:ext cx="6970471" cy="8092440"/>
          </a:xfrm>
          <a:prstGeom prst="roundRect">
            <a:avLst>
              <a:gd name="adj" fmla="val 6000"/>
            </a:avLst>
          </a:prstGeom>
          <a:solidFill>
            <a:srgbClr val="F8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80160" y="2514600"/>
            <a:ext cx="6970471" cy="164592"/>
          </a:xfrm>
          <a:prstGeom prst="rect">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47088" y="3017520"/>
            <a:ext cx="1463040" cy="822960"/>
          </a:xfrm>
          <a:prstGeom prst="rect">
            <a:avLst/>
          </a:prstGeom>
          <a:noFill/>
        </p:spPr>
        <p:txBody>
          <a:bodyPr wrap="square" lIns="0" tIns="0" rIns="0" bIns="0">
            <a:spAutoFit/>
          </a:bodyPr>
          <a:lstStyle/>
          <a:p>
            <a:pPr algn="l"/>
            <a:r>
              <a:rPr sz="5400" b="1">
                <a:solidFill>
                  <a:srgbClr val="C08A2E"/>
                </a:solidFill>
                <a:latin typeface="Helvetica Neue"/>
              </a:rPr>
              <a:t>01</a:t>
            </a:r>
          </a:p>
        </p:txBody>
      </p:sp>
      <p:sp>
        <p:nvSpPr>
          <p:cNvPr id="6" name="TextBox 5"/>
          <p:cNvSpPr txBox="1"/>
          <p:nvPr/>
        </p:nvSpPr>
        <p:spPr>
          <a:xfrm>
            <a:off x="1847088" y="4023360"/>
            <a:ext cx="5836615" cy="731520"/>
          </a:xfrm>
          <a:prstGeom prst="rect">
            <a:avLst/>
          </a:prstGeom>
          <a:noFill/>
        </p:spPr>
        <p:txBody>
          <a:bodyPr wrap="square" lIns="0" tIns="0" rIns="0" bIns="0">
            <a:spAutoFit/>
          </a:bodyPr>
          <a:lstStyle/>
          <a:p>
            <a:pPr algn="l"/>
            <a:r>
              <a:rPr sz="2800" b="1">
                <a:solidFill>
                  <a:srgbClr val="C08A2E"/>
                </a:solidFill>
                <a:latin typeface="Helvetica Neue"/>
              </a:rPr>
              <a:t>Paralel işleme</a:t>
            </a:r>
          </a:p>
        </p:txBody>
      </p:sp>
      <p:pic>
        <p:nvPicPr>
          <p:cNvPr id="7" name="Picture 6" descr="recurrent.jpg"/>
          <p:cNvPicPr>
            <a:picLocks noChangeAspect="1"/>
          </p:cNvPicPr>
          <p:nvPr/>
        </p:nvPicPr>
        <p:blipFill>
          <a:blip r:embed="rId3"/>
          <a:stretch>
            <a:fillRect/>
          </a:stretch>
        </p:blipFill>
        <p:spPr>
          <a:xfrm>
            <a:off x="1600200" y="6078065"/>
            <a:ext cx="6330391" cy="2977190"/>
          </a:xfrm>
          <a:prstGeom prst="rect">
            <a:avLst/>
          </a:prstGeom>
        </p:spPr>
      </p:pic>
      <p:sp>
        <p:nvSpPr>
          <p:cNvPr id="8" name="Rounded Rectangle 7"/>
          <p:cNvSpPr/>
          <p:nvPr/>
        </p:nvSpPr>
        <p:spPr>
          <a:xfrm>
            <a:off x="8707831" y="2514600"/>
            <a:ext cx="6970471" cy="8092440"/>
          </a:xfrm>
          <a:prstGeom prst="roundRect">
            <a:avLst>
              <a:gd name="adj" fmla="val 6000"/>
            </a:avLst>
          </a:prstGeom>
          <a:solidFill>
            <a:srgbClr val="E7E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707831" y="2514600"/>
            <a:ext cx="6970471" cy="164592"/>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274759" y="3017520"/>
            <a:ext cx="1463040" cy="822960"/>
          </a:xfrm>
          <a:prstGeom prst="rect">
            <a:avLst/>
          </a:prstGeom>
          <a:noFill/>
        </p:spPr>
        <p:txBody>
          <a:bodyPr wrap="square" lIns="0" tIns="0" rIns="0" bIns="0">
            <a:spAutoFit/>
          </a:bodyPr>
          <a:lstStyle/>
          <a:p>
            <a:pPr algn="l"/>
            <a:r>
              <a:rPr sz="5400" b="1">
                <a:solidFill>
                  <a:srgbClr val="15263F"/>
                </a:solidFill>
                <a:latin typeface="Helvetica Neue"/>
              </a:rPr>
              <a:t>02</a:t>
            </a:r>
          </a:p>
        </p:txBody>
      </p:sp>
      <p:sp>
        <p:nvSpPr>
          <p:cNvPr id="11" name="TextBox 10"/>
          <p:cNvSpPr txBox="1"/>
          <p:nvPr/>
        </p:nvSpPr>
        <p:spPr>
          <a:xfrm>
            <a:off x="9274759" y="4023360"/>
            <a:ext cx="5836615" cy="731520"/>
          </a:xfrm>
          <a:prstGeom prst="rect">
            <a:avLst/>
          </a:prstGeom>
          <a:noFill/>
        </p:spPr>
        <p:txBody>
          <a:bodyPr wrap="square" lIns="0" tIns="0" rIns="0" bIns="0">
            <a:spAutoFit/>
          </a:bodyPr>
          <a:lstStyle/>
          <a:p>
            <a:pPr algn="l"/>
            <a:r>
              <a:rPr sz="2800" b="1">
                <a:solidFill>
                  <a:srgbClr val="15263F"/>
                </a:solidFill>
                <a:latin typeface="Helvetica Neue"/>
              </a:rPr>
              <a:t>Self-attention</a:t>
            </a:r>
          </a:p>
        </p:txBody>
      </p:sp>
      <p:pic>
        <p:nvPicPr>
          <p:cNvPr id="12" name="Picture 11" descr="gorsel_selfattention.png"/>
          <p:cNvPicPr>
            <a:picLocks noChangeAspect="1"/>
          </p:cNvPicPr>
          <p:nvPr/>
        </p:nvPicPr>
        <p:blipFill>
          <a:blip r:embed="rId4"/>
          <a:stretch>
            <a:fillRect/>
          </a:stretch>
        </p:blipFill>
        <p:spPr>
          <a:xfrm>
            <a:off x="9027871" y="5588413"/>
            <a:ext cx="6330391" cy="3956494"/>
          </a:xfrm>
          <a:prstGeom prst="rect">
            <a:avLst/>
          </a:prstGeom>
        </p:spPr>
      </p:pic>
      <p:sp>
        <p:nvSpPr>
          <p:cNvPr id="13" name="Rounded Rectangle 12"/>
          <p:cNvSpPr/>
          <p:nvPr/>
        </p:nvSpPr>
        <p:spPr>
          <a:xfrm>
            <a:off x="16135502" y="2514600"/>
            <a:ext cx="6970471" cy="8092440"/>
          </a:xfrm>
          <a:prstGeom prst="roundRect">
            <a:avLst>
              <a:gd name="adj" fmla="val 6000"/>
            </a:avLst>
          </a:prstGeom>
          <a:solidFill>
            <a:srgbClr val="F6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6135502" y="2514600"/>
            <a:ext cx="6970471" cy="164592"/>
          </a:xfrm>
          <a:prstGeom prst="rect">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6702430" y="3017520"/>
            <a:ext cx="1463040" cy="822960"/>
          </a:xfrm>
          <a:prstGeom prst="rect">
            <a:avLst/>
          </a:prstGeom>
          <a:noFill/>
        </p:spPr>
        <p:txBody>
          <a:bodyPr wrap="square" lIns="0" tIns="0" rIns="0" bIns="0">
            <a:spAutoFit/>
          </a:bodyPr>
          <a:lstStyle/>
          <a:p>
            <a:pPr algn="l"/>
            <a:r>
              <a:rPr sz="5400" b="1">
                <a:solidFill>
                  <a:srgbClr val="8A3B2F"/>
                </a:solidFill>
                <a:latin typeface="Helvetica Neue"/>
              </a:rPr>
              <a:t>03</a:t>
            </a:r>
          </a:p>
        </p:txBody>
      </p:sp>
      <p:sp>
        <p:nvSpPr>
          <p:cNvPr id="16" name="TextBox 15"/>
          <p:cNvSpPr txBox="1"/>
          <p:nvPr/>
        </p:nvSpPr>
        <p:spPr>
          <a:xfrm>
            <a:off x="16702430" y="4023360"/>
            <a:ext cx="5836615" cy="731520"/>
          </a:xfrm>
          <a:prstGeom prst="rect">
            <a:avLst/>
          </a:prstGeom>
          <a:noFill/>
        </p:spPr>
        <p:txBody>
          <a:bodyPr wrap="square" lIns="0" tIns="0" rIns="0" bIns="0">
            <a:spAutoFit/>
          </a:bodyPr>
          <a:lstStyle/>
          <a:p>
            <a:pPr algn="l"/>
            <a:r>
              <a:rPr sz="2800" b="1">
                <a:solidFill>
                  <a:srgbClr val="8A3B2F"/>
                </a:solidFill>
                <a:latin typeface="Helvetica Neue"/>
              </a:rPr>
              <a:t>Positional encoding</a:t>
            </a:r>
          </a:p>
        </p:txBody>
      </p:sp>
      <p:pic>
        <p:nvPicPr>
          <p:cNvPr id="17" name="Picture 16" descr="gorsel_posenc.png"/>
          <p:cNvPicPr>
            <a:picLocks noChangeAspect="1"/>
          </p:cNvPicPr>
          <p:nvPr/>
        </p:nvPicPr>
        <p:blipFill>
          <a:blip r:embed="rId5"/>
          <a:stretch>
            <a:fillRect/>
          </a:stretch>
        </p:blipFill>
        <p:spPr>
          <a:xfrm>
            <a:off x="16455542" y="5588413"/>
            <a:ext cx="6330391" cy="3956494"/>
          </a:xfrm>
          <a:prstGeom prst="rect">
            <a:avLst/>
          </a:prstGeom>
        </p:spPr>
      </p:pic>
      <p:sp>
        <p:nvSpPr>
          <p:cNvPr id="18" name="Rectangle 1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Paralel işle, neyin önemli olduğunu kendin bul, </a:t>
            </a:r>
            <a:r>
              <a:rPr sz="2400" b="1">
                <a:solidFill>
                  <a:srgbClr val="15263F"/>
                </a:solidFill>
                <a:latin typeface="Helvetica Neue"/>
              </a:rPr>
              <a:t>sırayı unutma.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rPr>
              <a:t>Transformer'dan Büyük Dil Modeline</a:t>
            </a:r>
          </a:p>
        </p:txBody>
      </p:sp>
      <p:sp>
        <p:nvSpPr>
          <p:cNvPr id="3" name="TextBox 2"/>
          <p:cNvSpPr txBox="1"/>
          <p:nvPr/>
        </p:nvSpPr>
        <p:spPr>
          <a:xfrm>
            <a:off x="2066543" y="1874519"/>
            <a:ext cx="20244816" cy="1737360"/>
          </a:xfrm>
          <a:prstGeom prst="rect">
            <a:avLst/>
          </a:prstGeom>
          <a:noFill/>
        </p:spPr>
        <p:txBody>
          <a:bodyPr wrap="square" lIns="0" tIns="0" rIns="0" bIns="0" anchor="t">
            <a:spAutoFit/>
          </a:bodyPr>
          <a:lstStyle/>
          <a:p>
            <a:pPr algn="ctr">
              <a:lnSpc>
                <a:spcPct val="115000"/>
              </a:lnSpc>
            </a:pPr>
            <a:r>
              <a:rPr sz="3400" b="0">
                <a:solidFill>
                  <a:srgbClr val="1A1A1A"/>
                </a:solidFill>
              </a:rPr>
              <a:t>GPT = </a:t>
            </a:r>
            <a:r>
              <a:rPr sz="3400" b="1">
                <a:solidFill>
                  <a:srgbClr val="1A1A1A"/>
                </a:solidFill>
              </a:rPr>
              <a:t>G</a:t>
            </a:r>
            <a:r>
              <a:rPr sz="3400" b="0">
                <a:solidFill>
                  <a:srgbClr val="1A1A1A"/>
                </a:solidFill>
              </a:rPr>
              <a:t>enerative </a:t>
            </a:r>
            <a:r>
              <a:rPr sz="3400" b="1">
                <a:solidFill>
                  <a:srgbClr val="1A1A1A"/>
                </a:solidFill>
              </a:rPr>
              <a:t>P</a:t>
            </a:r>
            <a:r>
              <a:rPr sz="3400" b="0">
                <a:solidFill>
                  <a:srgbClr val="1A1A1A"/>
                </a:solidFill>
              </a:rPr>
              <a:t>re-trained </a:t>
            </a:r>
            <a:r>
              <a:rPr sz="3400" b="1">
                <a:solidFill>
                  <a:srgbClr val="1A1A1A"/>
                </a:solidFill>
              </a:rPr>
              <a:t>T</a:t>
            </a:r>
            <a:r>
              <a:rPr sz="3400" b="0">
                <a:solidFill>
                  <a:srgbClr val="1A1A1A"/>
                </a:solidFill>
              </a:rPr>
              <a:t>ransformer — aynı mimari, internet ölçeğinde veriyle eğitilince </a:t>
            </a:r>
            <a:r>
              <a:rPr sz="3400" b="1">
                <a:solidFill>
                  <a:srgbClr val="1A1A1A"/>
                </a:solidFill>
              </a:rPr>
              <a:t>büyük dil modeli</a:t>
            </a:r>
            <a:r>
              <a:rPr sz="3400" b="0">
                <a:solidFill>
                  <a:srgbClr val="1A1A1A"/>
                </a:solidFill>
              </a:rPr>
              <a:t> oluyor.</a:t>
            </a:r>
          </a:p>
        </p:txBody>
      </p:sp>
      <p:pic>
        <p:nvPicPr>
          <p:cNvPr id="4" name="Picture 3" descr="llm.png"/>
          <p:cNvPicPr>
            <a:picLocks noChangeAspect="1"/>
          </p:cNvPicPr>
          <p:nvPr/>
        </p:nvPicPr>
        <p:blipFill>
          <a:blip r:embed="rId3"/>
          <a:stretch>
            <a:fillRect/>
          </a:stretch>
        </p:blipFill>
        <p:spPr>
          <a:xfrm>
            <a:off x="3689604" y="4206240"/>
            <a:ext cx="17007840" cy="6903955"/>
          </a:xfrm>
          <a:prstGeom prst="rect">
            <a:avLst/>
          </a:prstGeom>
          <a:ln w="12700">
            <a:solidFill>
              <a:srgbClr val="E2E2E2"/>
            </a:solidFill>
          </a:ln>
        </p:spPr>
      </p:pic>
      <p:sp>
        <p:nvSpPr>
          <p:cNvPr id="5" name="TextBox 4"/>
          <p:cNvSpPr txBox="1"/>
          <p:nvPr/>
        </p:nvSpPr>
        <p:spPr>
          <a:xfrm>
            <a:off x="1280160" y="12710160"/>
            <a:ext cx="12801600" cy="411480"/>
          </a:xfrm>
          <a:prstGeom prst="rect">
            <a:avLst/>
          </a:prstGeom>
          <a:noFill/>
        </p:spPr>
        <p:txBody>
          <a:bodyPr wrap="square" lIns="0" tIns="0" rIns="0" bIns="0" anchor="t">
            <a:spAutoFit/>
          </a:bodyPr>
          <a:lstStyle/>
          <a:p>
            <a:pPr algn="l"/>
            <a:r>
              <a:rPr sz="1500" b="0">
                <a:solidFill>
                  <a:srgbClr val="9A9A9A"/>
                </a:solidFill>
              </a:rPr>
              <a:t>Görsel: 'Klasik vs Üretken Yapay Zekâ' sunumundan</a:t>
            </a:r>
          </a:p>
        </p:txBody>
      </p:sp>
      <p:sp>
        <p:nvSpPr>
          <p:cNvPr id="6" name="Rectangle 5"/>
          <p:cNvSpPr/>
          <p:nvPr/>
        </p:nvSpPr>
        <p:spPr>
          <a:xfrm>
            <a:off x="1280160" y="11384280"/>
            <a:ext cx="21826728" cy="1188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2011680" y="11384280"/>
            <a:ext cx="20363688" cy="1188720"/>
          </a:xfrm>
          <a:prstGeom prst="rect">
            <a:avLst/>
          </a:prstGeom>
          <a:noFill/>
        </p:spPr>
        <p:txBody>
          <a:bodyPr wrap="square" lIns="0" tIns="0" rIns="0" bIns="0" anchor="ctr">
            <a:spAutoFit/>
          </a:bodyPr>
          <a:lstStyle/>
          <a:p>
            <a:pPr algn="ctr">
              <a:lnSpc>
                <a:spcPct val="120000"/>
              </a:lnSpc>
            </a:pPr>
            <a:r>
              <a:rPr sz="2400" b="0">
                <a:solidFill>
                  <a:srgbClr val="15263F"/>
                </a:solidFill>
              </a:rPr>
              <a:t>Ön eğitim dili öğretir, ince ayar işi öğretir, </a:t>
            </a:r>
            <a:r>
              <a:rPr sz="2400" b="1">
                <a:solidFill>
                  <a:srgbClr val="15263F"/>
                </a:solidFill>
              </a:rPr>
              <a:t>RLHF ise nasıl konuşacağını öğretir.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Eğitim verisi neye benziyor?</a:t>
            </a:r>
          </a:p>
        </p:txBody>
      </p:sp>
      <p:sp>
        <p:nvSpPr>
          <p:cNvPr id="3" name="Rounded Rectangle 2"/>
          <p:cNvSpPr/>
          <p:nvPr/>
        </p:nvSpPr>
        <p:spPr>
          <a:xfrm>
            <a:off x="1280160" y="2103120"/>
            <a:ext cx="6903720" cy="91440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783080" y="2560320"/>
            <a:ext cx="4206240" cy="713232"/>
          </a:xfrm>
          <a:prstGeom prst="roundRect">
            <a:avLst>
              <a:gd name="adj" fmla="val 35000"/>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783080" y="2560320"/>
            <a:ext cx="4206240" cy="713232"/>
          </a:xfrm>
          <a:prstGeom prst="rect">
            <a:avLst/>
          </a:prstGeom>
          <a:noFill/>
        </p:spPr>
        <p:txBody>
          <a:bodyPr wrap="square" lIns="0" tIns="0" rIns="0" bIns="0" anchor="ctr">
            <a:spAutoFit/>
          </a:bodyPr>
          <a:lstStyle/>
          <a:p>
            <a:pPr algn="ctr"/>
            <a:r>
              <a:rPr sz="1900" b="1">
                <a:solidFill>
                  <a:srgbClr val="FFFFFF"/>
                </a:solidFill>
                <a:latin typeface="Helvetica Neue"/>
              </a:rPr>
              <a:t>①  ÖN EĞİTİM</a:t>
            </a:r>
          </a:p>
        </p:txBody>
      </p:sp>
      <p:sp>
        <p:nvSpPr>
          <p:cNvPr id="6" name="TextBox 5"/>
          <p:cNvSpPr txBox="1"/>
          <p:nvPr/>
        </p:nvSpPr>
        <p:spPr>
          <a:xfrm>
            <a:off x="1783080" y="3566160"/>
            <a:ext cx="5897880" cy="640080"/>
          </a:xfrm>
          <a:prstGeom prst="rect">
            <a:avLst/>
          </a:prstGeom>
          <a:noFill/>
        </p:spPr>
        <p:txBody>
          <a:bodyPr wrap="square" lIns="0" tIns="0" rIns="0" bIns="0">
            <a:spAutoFit/>
          </a:bodyPr>
          <a:lstStyle/>
          <a:p>
            <a:pPr algn="l"/>
            <a:r>
              <a:rPr sz="2300" b="1">
                <a:solidFill>
                  <a:srgbClr val="15263F"/>
                </a:solidFill>
                <a:latin typeface="Helvetica Neue"/>
              </a:rPr>
              <a:t>Ham metin — etiket yok</a:t>
            </a:r>
          </a:p>
        </p:txBody>
      </p:sp>
      <p:sp>
        <p:nvSpPr>
          <p:cNvPr id="7" name="Rectangle 6"/>
          <p:cNvSpPr/>
          <p:nvPr/>
        </p:nvSpPr>
        <p:spPr>
          <a:xfrm>
            <a:off x="1783080" y="4343400"/>
            <a:ext cx="5897880" cy="3063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0" y="4553712"/>
            <a:ext cx="5440680" cy="2697480"/>
          </a:xfrm>
          <a:prstGeom prst="rect">
            <a:avLst/>
          </a:prstGeom>
          <a:noFill/>
        </p:spPr>
        <p:txBody>
          <a:bodyPr wrap="square" lIns="0" tIns="0" rIns="0" bIns="0">
            <a:spAutoFit/>
          </a:bodyPr>
          <a:lstStyle/>
          <a:p>
            <a:pPr algn="l">
              <a:lnSpc>
                <a:spcPct val="130000"/>
              </a:lnSpc>
              <a:spcAft>
                <a:spcPts val="0"/>
              </a:spcAft>
            </a:pPr>
            <a:r>
              <a:rPr sz="1400" b="0">
                <a:solidFill>
                  <a:srgbClr val="1A1A1A"/>
                </a:solidFill>
                <a:latin typeface="Consolas"/>
              </a:rPr>
              <a:t>"...Ankara, Türkiye'nin başkentidir ve</a:t>
            </a:r>
          </a:p>
          <a:p>
            <a:pPr algn="l">
              <a:lnSpc>
                <a:spcPct val="130000"/>
              </a:lnSpc>
              <a:spcAft>
                <a:spcPts val="0"/>
              </a:spcAft>
            </a:pPr>
            <a:r>
              <a:rPr sz="1400" b="0">
                <a:solidFill>
                  <a:srgbClr val="1A1A1A"/>
                </a:solidFill>
                <a:latin typeface="Consolas"/>
              </a:rPr>
              <a:t> ülkenin ikinci büyük şehridir..."</a:t>
            </a:r>
          </a:p>
          <a:p>
            <a:pPr algn="l">
              <a:lnSpc>
                <a:spcPct val="130000"/>
              </a:lnSpc>
              <a:spcAft>
                <a:spcPts val="0"/>
              </a:spcAft>
            </a:pPr>
            <a:endParaRPr sz="1400" b="0">
              <a:solidFill>
                <a:srgbClr val="1A1A1A"/>
              </a:solidFill>
              <a:latin typeface="Consolas"/>
            </a:endParaRPr>
          </a:p>
          <a:p>
            <a:pPr algn="l">
              <a:lnSpc>
                <a:spcPct val="130000"/>
              </a:lnSpc>
              <a:spcAft>
                <a:spcPts val="0"/>
              </a:spcAft>
            </a:pPr>
            <a:r>
              <a:rPr sz="1400" b="0">
                <a:solidFill>
                  <a:srgbClr val="1A1A1A"/>
                </a:solidFill>
                <a:latin typeface="Consolas"/>
              </a:rPr>
              <a:t>girdi :  Ankara   ,      Türkiye'nin</a:t>
            </a:r>
          </a:p>
          <a:p>
            <a:pPr algn="l">
              <a:lnSpc>
                <a:spcPct val="130000"/>
              </a:lnSpc>
              <a:spcAft>
                <a:spcPts val="0"/>
              </a:spcAft>
            </a:pPr>
            <a:r>
              <a:rPr sz="1400" b="0">
                <a:solidFill>
                  <a:srgbClr val="1A1A1A"/>
                </a:solidFill>
                <a:latin typeface="Consolas"/>
              </a:rPr>
              <a:t>hedef :  ,     Türkiye'nin  başkentidir</a:t>
            </a:r>
          </a:p>
        </p:txBody>
      </p:sp>
      <p:sp>
        <p:nvSpPr>
          <p:cNvPr id="9" name="TextBox 8"/>
          <p:cNvSpPr txBox="1"/>
          <p:nvPr/>
        </p:nvSpPr>
        <p:spPr>
          <a:xfrm>
            <a:off x="1783080" y="7680960"/>
            <a:ext cx="5897880" cy="1554480"/>
          </a:xfrm>
          <a:prstGeom prst="rect">
            <a:avLst/>
          </a:prstGeom>
          <a:noFill/>
        </p:spPr>
        <p:txBody>
          <a:bodyPr wrap="square" lIns="0" tIns="0" rIns="0" bIns="0">
            <a:spAutoFit/>
          </a:bodyPr>
          <a:lstStyle/>
          <a:p>
            <a:pPr algn="l">
              <a:lnSpc>
                <a:spcPct val="135000"/>
              </a:lnSpc>
            </a:pPr>
            <a:r>
              <a:rPr sz="1800" b="0">
                <a:solidFill>
                  <a:srgbClr val="1A1A1A"/>
                </a:solidFill>
                <a:latin typeface="Helvetica Neue"/>
              </a:rPr>
              <a:t>Etiket, metnin kendisi. Hedef = girdinin bir sağa kaymış hâli.</a:t>
            </a:r>
          </a:p>
          <a:p>
            <a:pPr algn="l">
              <a:lnSpc>
                <a:spcPct val="135000"/>
              </a:lnSpc>
            </a:pPr>
            <a:r>
              <a:rPr sz="1800" b="0">
                <a:solidFill>
                  <a:srgbClr val="1A1A1A"/>
                </a:solidFill>
                <a:latin typeface="Helvetica Neue"/>
              </a:rPr>
              <a:t>İnsan etiketçi: sıfır.</a:t>
            </a:r>
          </a:p>
        </p:txBody>
      </p:sp>
      <p:cxnSp>
        <p:nvCxnSpPr>
          <p:cNvPr id="10" name="Connector 9"/>
          <p:cNvCxnSpPr/>
          <p:nvPr/>
        </p:nvCxnSpPr>
        <p:spPr>
          <a:xfrm>
            <a:off x="1783080" y="9464040"/>
            <a:ext cx="5897880" cy="0"/>
          </a:xfrm>
          <a:prstGeom prst="line">
            <a:avLst/>
          </a:prstGeom>
          <a:ln w="12700">
            <a:solidFill>
              <a:srgbClr val="D5D5D5"/>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783080" y="9692640"/>
            <a:ext cx="5897880" cy="411480"/>
          </a:xfrm>
          <a:prstGeom prst="rect">
            <a:avLst/>
          </a:prstGeom>
          <a:noFill/>
        </p:spPr>
        <p:txBody>
          <a:bodyPr wrap="square" lIns="0" tIns="0" rIns="0" bIns="0">
            <a:spAutoFit/>
          </a:bodyPr>
          <a:lstStyle/>
          <a:p>
            <a:pPr algn="l"/>
            <a:r>
              <a:rPr sz="1600" b="1">
                <a:solidFill>
                  <a:srgbClr val="8A8A8A"/>
                </a:solidFill>
                <a:latin typeface="Helvetica Neue"/>
              </a:rPr>
              <a:t>HACİM</a:t>
            </a:r>
          </a:p>
        </p:txBody>
      </p:sp>
      <p:sp>
        <p:nvSpPr>
          <p:cNvPr id="12" name="TextBox 11"/>
          <p:cNvSpPr txBox="1"/>
          <p:nvPr/>
        </p:nvSpPr>
        <p:spPr>
          <a:xfrm>
            <a:off x="1783080" y="10149840"/>
            <a:ext cx="5897880" cy="731520"/>
          </a:xfrm>
          <a:prstGeom prst="rect">
            <a:avLst/>
          </a:prstGeom>
          <a:noFill/>
        </p:spPr>
        <p:txBody>
          <a:bodyPr wrap="square" lIns="0" tIns="0" rIns="0" bIns="0">
            <a:spAutoFit/>
          </a:bodyPr>
          <a:lstStyle/>
          <a:p>
            <a:pPr algn="l"/>
            <a:r>
              <a:rPr sz="2200" b="1">
                <a:solidFill>
                  <a:srgbClr val="8A3B2F"/>
                </a:solidFill>
                <a:latin typeface="Helvetica Neue"/>
              </a:rPr>
              <a:t>trilyonlarca token</a:t>
            </a:r>
          </a:p>
        </p:txBody>
      </p:sp>
      <p:sp>
        <p:nvSpPr>
          <p:cNvPr id="13" name="Rounded Rectangle 12"/>
          <p:cNvSpPr/>
          <p:nvPr/>
        </p:nvSpPr>
        <p:spPr>
          <a:xfrm>
            <a:off x="8741664" y="2103120"/>
            <a:ext cx="6903720" cy="91440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244584" y="2560320"/>
            <a:ext cx="4206240" cy="713232"/>
          </a:xfrm>
          <a:prstGeom prst="roundRect">
            <a:avLst>
              <a:gd name="adj" fmla="val 35000"/>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44584" y="2560320"/>
            <a:ext cx="4206240" cy="713232"/>
          </a:xfrm>
          <a:prstGeom prst="rect">
            <a:avLst/>
          </a:prstGeom>
          <a:noFill/>
        </p:spPr>
        <p:txBody>
          <a:bodyPr wrap="square" lIns="0" tIns="0" rIns="0" bIns="0" anchor="ctr">
            <a:spAutoFit/>
          </a:bodyPr>
          <a:lstStyle/>
          <a:p>
            <a:pPr algn="ctr"/>
            <a:r>
              <a:rPr sz="1900" b="1">
                <a:solidFill>
                  <a:srgbClr val="FFFFFF"/>
                </a:solidFill>
                <a:latin typeface="Helvetica Neue"/>
              </a:rPr>
              <a:t>②  İNCE AYAR  (SFT)</a:t>
            </a:r>
          </a:p>
        </p:txBody>
      </p:sp>
      <p:sp>
        <p:nvSpPr>
          <p:cNvPr id="16" name="TextBox 15"/>
          <p:cNvSpPr txBox="1"/>
          <p:nvPr/>
        </p:nvSpPr>
        <p:spPr>
          <a:xfrm>
            <a:off x="9244584" y="3566160"/>
            <a:ext cx="5897880" cy="640080"/>
          </a:xfrm>
          <a:prstGeom prst="rect">
            <a:avLst/>
          </a:prstGeom>
          <a:noFill/>
        </p:spPr>
        <p:txBody>
          <a:bodyPr wrap="square" lIns="0" tIns="0" rIns="0" bIns="0">
            <a:spAutoFit/>
          </a:bodyPr>
          <a:lstStyle/>
          <a:p>
            <a:pPr algn="l"/>
            <a:r>
              <a:rPr sz="2300" b="1">
                <a:solidFill>
                  <a:srgbClr val="15263F"/>
                </a:solidFill>
                <a:latin typeface="Helvetica Neue"/>
              </a:rPr>
              <a:t>Talimat – cevap çiftleri</a:t>
            </a:r>
          </a:p>
        </p:txBody>
      </p:sp>
      <p:sp>
        <p:nvSpPr>
          <p:cNvPr id="17" name="Rectangle 16"/>
          <p:cNvSpPr/>
          <p:nvPr/>
        </p:nvSpPr>
        <p:spPr>
          <a:xfrm>
            <a:off x="9244584" y="4343400"/>
            <a:ext cx="5897880" cy="3063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473184" y="4553712"/>
            <a:ext cx="5440680" cy="2697480"/>
          </a:xfrm>
          <a:prstGeom prst="rect">
            <a:avLst/>
          </a:prstGeom>
          <a:noFill/>
        </p:spPr>
        <p:txBody>
          <a:bodyPr wrap="square" lIns="0" tIns="0" rIns="0" bIns="0">
            <a:spAutoFit/>
          </a:bodyPr>
          <a:lstStyle/>
          <a:p>
            <a:pPr algn="l">
              <a:lnSpc>
                <a:spcPct val="130000"/>
              </a:lnSpc>
              <a:spcAft>
                <a:spcPts val="0"/>
              </a:spcAft>
            </a:pPr>
            <a:r>
              <a:rPr sz="1400" b="0">
                <a:solidFill>
                  <a:srgbClr val="1A1A1A"/>
                </a:solidFill>
                <a:latin typeface="Consolas"/>
              </a:rPr>
              <a:t>{</a:t>
            </a:r>
          </a:p>
          <a:p>
            <a:pPr algn="l">
              <a:lnSpc>
                <a:spcPct val="130000"/>
              </a:lnSpc>
            </a:pPr>
            <a:r>
              <a:rPr sz="1400" b="0">
                <a:solidFill>
                  <a:srgbClr val="1A1A1A"/>
                </a:solidFill>
                <a:latin typeface="Consolas"/>
              </a:rPr>
              <a:t>  "system"   : "Miuul destek asistanısın.",</a:t>
            </a:r>
          </a:p>
          <a:p>
            <a:pPr algn="l">
              <a:lnSpc>
                <a:spcPct val="130000"/>
              </a:lnSpc>
            </a:pPr>
            <a:r>
              <a:rPr sz="1400" b="0">
                <a:solidFill>
                  <a:srgbClr val="1A1A1A"/>
                </a:solidFill>
                <a:latin typeface="Consolas"/>
              </a:rPr>
              <a:t>  "user"     : "Data Scientist Path kaç saat?",</a:t>
            </a:r>
          </a:p>
          <a:p>
            <a:pPr algn="l">
              <a:lnSpc>
                <a:spcPct val="130000"/>
              </a:lnSpc>
            </a:pPr>
            <a:r>
              <a:rPr sz="1400" b="0">
                <a:solidFill>
                  <a:srgbClr val="1A1A1A"/>
                </a:solidFill>
                <a:latin typeface="Consolas"/>
              </a:rPr>
              <a:t>  "assistant": "68 saat, 9 modül, 300 USD."</a:t>
            </a:r>
          </a:p>
          <a:p>
            <a:pPr algn="l">
              <a:lnSpc>
                <a:spcPct val="130000"/>
              </a:lnSpc>
            </a:pPr>
            <a:r>
              <a:rPr sz="1400" b="0">
                <a:solidFill>
                  <a:srgbClr val="1A1A1A"/>
                </a:solidFill>
                <a:latin typeface="Consolas"/>
              </a:rPr>
              <a:t>}</a:t>
            </a:r>
          </a:p>
        </p:txBody>
      </p:sp>
      <p:sp>
        <p:nvSpPr>
          <p:cNvPr id="19" name="TextBox 18"/>
          <p:cNvSpPr txBox="1"/>
          <p:nvPr/>
        </p:nvSpPr>
        <p:spPr>
          <a:xfrm>
            <a:off x="9244584" y="7680960"/>
            <a:ext cx="5897880" cy="1554480"/>
          </a:xfrm>
          <a:prstGeom prst="rect">
            <a:avLst/>
          </a:prstGeom>
          <a:noFill/>
        </p:spPr>
        <p:txBody>
          <a:bodyPr wrap="square" lIns="0" tIns="0" rIns="0" bIns="0">
            <a:spAutoFit/>
          </a:bodyPr>
          <a:lstStyle/>
          <a:p>
            <a:pPr algn="l">
              <a:lnSpc>
                <a:spcPct val="135000"/>
              </a:lnSpc>
            </a:pPr>
            <a:r>
              <a:rPr sz="1800" b="0">
                <a:solidFill>
                  <a:srgbClr val="1A1A1A"/>
                </a:solidFill>
                <a:latin typeface="Helvetica Neue"/>
              </a:rPr>
              <a:t>Loss sadece assistant satırından hesaplanır — soru maskelenir.</a:t>
            </a:r>
          </a:p>
          <a:p>
            <a:pPr algn="l">
              <a:lnSpc>
                <a:spcPct val="135000"/>
              </a:lnSpc>
            </a:pPr>
            <a:r>
              <a:rPr sz="1800" b="0">
                <a:solidFill>
                  <a:srgbClr val="1A1A1A"/>
                </a:solidFill>
                <a:latin typeface="Helvetica Neue"/>
              </a:rPr>
              <a:t>SFT'nin imzası bu.</a:t>
            </a:r>
          </a:p>
        </p:txBody>
      </p:sp>
      <p:cxnSp>
        <p:nvCxnSpPr>
          <p:cNvPr id="20" name="Connector 19"/>
          <p:cNvCxnSpPr/>
          <p:nvPr/>
        </p:nvCxnSpPr>
        <p:spPr>
          <a:xfrm>
            <a:off x="9244584" y="9464040"/>
            <a:ext cx="5897880" cy="0"/>
          </a:xfrm>
          <a:prstGeom prst="line">
            <a:avLst/>
          </a:prstGeom>
          <a:ln w="12700">
            <a:solidFill>
              <a:srgbClr val="D5D5D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244584" y="9692640"/>
            <a:ext cx="5897880" cy="411480"/>
          </a:xfrm>
          <a:prstGeom prst="rect">
            <a:avLst/>
          </a:prstGeom>
          <a:noFill/>
        </p:spPr>
        <p:txBody>
          <a:bodyPr wrap="square" lIns="0" tIns="0" rIns="0" bIns="0">
            <a:spAutoFit/>
          </a:bodyPr>
          <a:lstStyle/>
          <a:p>
            <a:pPr algn="l"/>
            <a:r>
              <a:rPr sz="1600" b="1">
                <a:solidFill>
                  <a:srgbClr val="8A8A8A"/>
                </a:solidFill>
                <a:latin typeface="Helvetica Neue"/>
              </a:rPr>
              <a:t>HACİM</a:t>
            </a:r>
          </a:p>
        </p:txBody>
      </p:sp>
      <p:sp>
        <p:nvSpPr>
          <p:cNvPr id="22" name="TextBox 21"/>
          <p:cNvSpPr txBox="1"/>
          <p:nvPr/>
        </p:nvSpPr>
        <p:spPr>
          <a:xfrm>
            <a:off x="9244584" y="10149840"/>
            <a:ext cx="5897880" cy="731520"/>
          </a:xfrm>
          <a:prstGeom prst="rect">
            <a:avLst/>
          </a:prstGeom>
          <a:noFill/>
        </p:spPr>
        <p:txBody>
          <a:bodyPr wrap="square" lIns="0" tIns="0" rIns="0" bIns="0">
            <a:spAutoFit/>
          </a:bodyPr>
          <a:lstStyle/>
          <a:p>
            <a:pPr algn="l"/>
            <a:r>
              <a:rPr sz="2200" b="1">
                <a:solidFill>
                  <a:srgbClr val="C08A2E"/>
                </a:solidFill>
                <a:latin typeface="Helvetica Neue"/>
              </a:rPr>
              <a:t>on binler – yüz binler diyalog</a:t>
            </a:r>
          </a:p>
        </p:txBody>
      </p:sp>
      <p:sp>
        <p:nvSpPr>
          <p:cNvPr id="23" name="Rounded Rectangle 22"/>
          <p:cNvSpPr/>
          <p:nvPr/>
        </p:nvSpPr>
        <p:spPr>
          <a:xfrm>
            <a:off x="16203168" y="2103120"/>
            <a:ext cx="6903720" cy="91440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6706088" y="2560320"/>
            <a:ext cx="4206240" cy="713232"/>
          </a:xfrm>
          <a:prstGeom prst="roundRect">
            <a:avLst>
              <a:gd name="adj" fmla="val 35000"/>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6706088" y="2560320"/>
            <a:ext cx="4206240" cy="713232"/>
          </a:xfrm>
          <a:prstGeom prst="rect">
            <a:avLst/>
          </a:prstGeom>
          <a:noFill/>
        </p:spPr>
        <p:txBody>
          <a:bodyPr wrap="square" lIns="0" tIns="0" rIns="0" bIns="0" anchor="ctr">
            <a:spAutoFit/>
          </a:bodyPr>
          <a:lstStyle/>
          <a:p>
            <a:pPr algn="ctr"/>
            <a:r>
              <a:rPr sz="1900" b="1">
                <a:solidFill>
                  <a:srgbClr val="FFFFFF"/>
                </a:solidFill>
                <a:latin typeface="Helvetica Neue"/>
              </a:rPr>
              <a:t>③  RLHF</a:t>
            </a:r>
          </a:p>
        </p:txBody>
      </p:sp>
      <p:sp>
        <p:nvSpPr>
          <p:cNvPr id="26" name="TextBox 25"/>
          <p:cNvSpPr txBox="1"/>
          <p:nvPr/>
        </p:nvSpPr>
        <p:spPr>
          <a:xfrm>
            <a:off x="16706088" y="3566160"/>
            <a:ext cx="5897880" cy="640080"/>
          </a:xfrm>
          <a:prstGeom prst="rect">
            <a:avLst/>
          </a:prstGeom>
          <a:noFill/>
        </p:spPr>
        <p:txBody>
          <a:bodyPr wrap="square" lIns="0" tIns="0" rIns="0" bIns="0">
            <a:spAutoFit/>
          </a:bodyPr>
          <a:lstStyle/>
          <a:p>
            <a:pPr algn="l"/>
            <a:r>
              <a:rPr sz="2300" b="1">
                <a:solidFill>
                  <a:srgbClr val="15263F"/>
                </a:solidFill>
                <a:latin typeface="Helvetica Neue"/>
              </a:rPr>
              <a:t>Tercih verisi</a:t>
            </a:r>
          </a:p>
        </p:txBody>
      </p:sp>
      <p:sp>
        <p:nvSpPr>
          <p:cNvPr id="27" name="Rectangle 26"/>
          <p:cNvSpPr/>
          <p:nvPr/>
        </p:nvSpPr>
        <p:spPr>
          <a:xfrm>
            <a:off x="16706088" y="4343400"/>
            <a:ext cx="5897880" cy="3063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6934688" y="4553712"/>
            <a:ext cx="5440680" cy="2697480"/>
          </a:xfrm>
          <a:prstGeom prst="rect">
            <a:avLst/>
          </a:prstGeom>
          <a:noFill/>
        </p:spPr>
        <p:txBody>
          <a:bodyPr wrap="square" lIns="0" tIns="0" rIns="0" bIns="0">
            <a:spAutoFit/>
          </a:bodyPr>
          <a:lstStyle/>
          <a:p>
            <a:pPr algn="l">
              <a:lnSpc>
                <a:spcPct val="130000"/>
              </a:lnSpc>
              <a:spcAft>
                <a:spcPts val="0"/>
              </a:spcAft>
            </a:pPr>
            <a:r>
              <a:rPr sz="1400" b="0">
                <a:solidFill>
                  <a:srgbClr val="1A1A1A"/>
                </a:solidFill>
                <a:latin typeface="Consolas"/>
              </a:rPr>
              <a:t>{</a:t>
            </a:r>
          </a:p>
          <a:p>
            <a:pPr algn="l">
              <a:lnSpc>
                <a:spcPct val="130000"/>
              </a:lnSpc>
            </a:pPr>
            <a:r>
              <a:rPr sz="1400" b="0">
                <a:solidFill>
                  <a:srgbClr val="1A1A1A"/>
                </a:solidFill>
                <a:latin typeface="Consolas"/>
              </a:rPr>
              <a:t>  "prompt"  : "Data Scientist Path'i özetle",</a:t>
            </a:r>
          </a:p>
          <a:p>
            <a:pPr algn="l">
              <a:lnSpc>
                <a:spcPct val="130000"/>
              </a:lnSpc>
            </a:pPr>
            <a:r>
              <a:rPr sz="1400" b="0">
                <a:solidFill>
                  <a:srgbClr val="1A1A1A"/>
                </a:solidFill>
                <a:latin typeface="Consolas"/>
              </a:rPr>
              <a:t>  "chosen"  : "68 saat, 9 modül, 300 USD.</a:t>
            </a:r>
          </a:p>
          <a:p>
            <a:pPr algn="l">
              <a:lnSpc>
                <a:spcPct val="130000"/>
              </a:lnSpc>
            </a:pPr>
            <a:r>
              <a:rPr sz="1400" b="0">
                <a:solidFill>
                  <a:srgbClr val="1A1A1A"/>
                </a:solidFill>
                <a:latin typeface="Consolas"/>
              </a:rPr>
              <a:t>               Kaynak: katalog, Eğitim 44.",</a:t>
            </a:r>
          </a:p>
          <a:p>
            <a:pPr algn="l">
              <a:lnSpc>
                <a:spcPct val="130000"/>
              </a:lnSpc>
            </a:pPr>
            <a:r>
              <a:rPr sz="1400" b="0">
                <a:solidFill>
                  <a:srgbClr val="1A1A1A"/>
                </a:solidFill>
                <a:latin typeface="Consolas"/>
              </a:rPr>
              <a:t>  "rejected": "Sanırım 40 saat civarı,</a:t>
            </a:r>
          </a:p>
          <a:p>
            <a:pPr algn="l">
              <a:lnSpc>
                <a:spcPct val="130000"/>
              </a:lnSpc>
            </a:pPr>
            <a:r>
              <a:rPr sz="1400" b="0">
                <a:solidFill>
                  <a:srgbClr val="1A1A1A"/>
                </a:solidFill>
                <a:latin typeface="Consolas"/>
              </a:rPr>
              <a:t>               fiyatını tam bilmiyorum."</a:t>
            </a:r>
          </a:p>
          <a:p>
            <a:pPr algn="l">
              <a:lnSpc>
                <a:spcPct val="130000"/>
              </a:lnSpc>
            </a:pPr>
            <a:r>
              <a:rPr sz="1400" b="0">
                <a:solidFill>
                  <a:srgbClr val="1A1A1A"/>
                </a:solidFill>
                <a:latin typeface="Consolas"/>
              </a:rPr>
              <a:t>}</a:t>
            </a:r>
          </a:p>
        </p:txBody>
      </p:sp>
      <p:sp>
        <p:nvSpPr>
          <p:cNvPr id="29" name="TextBox 28"/>
          <p:cNvSpPr txBox="1"/>
          <p:nvPr/>
        </p:nvSpPr>
        <p:spPr>
          <a:xfrm>
            <a:off x="16706088" y="7680960"/>
            <a:ext cx="5897880" cy="1554480"/>
          </a:xfrm>
          <a:prstGeom prst="rect">
            <a:avLst/>
          </a:prstGeom>
          <a:noFill/>
        </p:spPr>
        <p:txBody>
          <a:bodyPr wrap="square" lIns="0" tIns="0" rIns="0" bIns="0">
            <a:spAutoFit/>
          </a:bodyPr>
          <a:lstStyle/>
          <a:p>
            <a:pPr algn="l">
              <a:lnSpc>
                <a:spcPct val="135000"/>
              </a:lnSpc>
            </a:pPr>
            <a:r>
              <a:rPr sz="1800" b="0">
                <a:solidFill>
                  <a:srgbClr val="1A1A1A"/>
                </a:solidFill>
                <a:latin typeface="Helvetica Neue"/>
              </a:rPr>
              <a:t>Doğru / yanlış yok — tercih edilen ve edilmeyen var.</a:t>
            </a:r>
          </a:p>
          <a:p>
            <a:pPr algn="l">
              <a:lnSpc>
                <a:spcPct val="135000"/>
              </a:lnSpc>
            </a:pPr>
            <a:r>
              <a:rPr sz="1800" b="0">
                <a:solidFill>
                  <a:srgbClr val="1A1A1A"/>
                </a:solidFill>
                <a:latin typeface="Helvetica Neue"/>
              </a:rPr>
              <a:t>Seçimi insan yapıyor.</a:t>
            </a:r>
          </a:p>
        </p:txBody>
      </p:sp>
      <p:cxnSp>
        <p:nvCxnSpPr>
          <p:cNvPr id="30" name="Connector 29"/>
          <p:cNvCxnSpPr/>
          <p:nvPr/>
        </p:nvCxnSpPr>
        <p:spPr>
          <a:xfrm>
            <a:off x="16706088" y="9464040"/>
            <a:ext cx="5897880" cy="0"/>
          </a:xfrm>
          <a:prstGeom prst="line">
            <a:avLst/>
          </a:prstGeom>
          <a:ln w="12700">
            <a:solidFill>
              <a:srgbClr val="D5D5D5"/>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6706088" y="9692640"/>
            <a:ext cx="5897880" cy="411480"/>
          </a:xfrm>
          <a:prstGeom prst="rect">
            <a:avLst/>
          </a:prstGeom>
          <a:noFill/>
        </p:spPr>
        <p:txBody>
          <a:bodyPr wrap="square" lIns="0" tIns="0" rIns="0" bIns="0">
            <a:spAutoFit/>
          </a:bodyPr>
          <a:lstStyle/>
          <a:p>
            <a:pPr algn="l"/>
            <a:r>
              <a:rPr sz="1600" b="1">
                <a:solidFill>
                  <a:srgbClr val="8A8A8A"/>
                </a:solidFill>
                <a:latin typeface="Helvetica Neue"/>
              </a:rPr>
              <a:t>HACİM</a:t>
            </a:r>
          </a:p>
        </p:txBody>
      </p:sp>
      <p:sp>
        <p:nvSpPr>
          <p:cNvPr id="32" name="TextBox 31"/>
          <p:cNvSpPr txBox="1"/>
          <p:nvPr/>
        </p:nvSpPr>
        <p:spPr>
          <a:xfrm>
            <a:off x="16706088" y="10149840"/>
            <a:ext cx="5897880" cy="731520"/>
          </a:xfrm>
          <a:prstGeom prst="rect">
            <a:avLst/>
          </a:prstGeom>
          <a:noFill/>
        </p:spPr>
        <p:txBody>
          <a:bodyPr wrap="square" lIns="0" tIns="0" rIns="0" bIns="0">
            <a:spAutoFit/>
          </a:bodyPr>
          <a:lstStyle/>
          <a:p>
            <a:pPr algn="l"/>
            <a:r>
              <a:rPr sz="2200" b="1">
                <a:solidFill>
                  <a:srgbClr val="15263F"/>
                </a:solidFill>
                <a:latin typeface="Helvetica Neue"/>
              </a:rPr>
              <a:t>on binler karşılaştırma</a:t>
            </a:r>
          </a:p>
        </p:txBody>
      </p:sp>
      <p:sp>
        <p:nvSpPr>
          <p:cNvPr id="33" name="Rectangle 32"/>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Modelin bildiği her şeyin neredeyse tamamı </a:t>
            </a:r>
            <a:r>
              <a:rPr sz="2400" b="1">
                <a:solidFill>
                  <a:srgbClr val="15263F"/>
                </a:solidFill>
                <a:latin typeface="Helvetica Neue"/>
              </a:rPr>
              <a:t>ilk sütundan geliyor.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Model harf görmez, kelime görmez — token görür</a:t>
            </a:r>
          </a:p>
        </p:txBody>
      </p:sp>
      <p:sp>
        <p:nvSpPr>
          <p:cNvPr id="3" name="Rounded Rectangle 2"/>
          <p:cNvSpPr/>
          <p:nvPr/>
        </p:nvSpPr>
        <p:spPr>
          <a:xfrm>
            <a:off x="20025360" y="274320"/>
            <a:ext cx="3081528" cy="731520"/>
          </a:xfrm>
          <a:prstGeom prst="roundRect">
            <a:avLst>
              <a:gd name="adj" fmla="val 35000"/>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025360" y="274320"/>
            <a:ext cx="3081528" cy="731520"/>
          </a:xfrm>
          <a:prstGeom prst="rect">
            <a:avLst/>
          </a:prstGeom>
          <a:noFill/>
        </p:spPr>
        <p:txBody>
          <a:bodyPr wrap="square" lIns="0" tIns="0" rIns="0" bIns="0" anchor="ctr">
            <a:spAutoFit/>
          </a:bodyPr>
          <a:lstStyle/>
          <a:p>
            <a:pPr algn="ctr"/>
            <a:r>
              <a:rPr sz="1900" b="1">
                <a:solidFill>
                  <a:srgbClr val="FFFFFF"/>
                </a:solidFill>
                <a:latin typeface="Helvetica Neue"/>
              </a:rPr>
              <a:t>CANLI DEMO</a:t>
            </a:r>
          </a:p>
        </p:txBody>
      </p:sp>
      <p:sp>
        <p:nvSpPr>
          <p:cNvPr id="5" name="Rectangle 4"/>
          <p:cNvSpPr/>
          <p:nvPr/>
        </p:nvSpPr>
        <p:spPr>
          <a:xfrm>
            <a:off x="1280160" y="2377440"/>
            <a:ext cx="21826728" cy="1920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691640" y="2697480"/>
            <a:ext cx="21003768" cy="1280160"/>
          </a:xfrm>
          <a:prstGeom prst="rect">
            <a:avLst/>
          </a:prstGeom>
          <a:noFill/>
        </p:spPr>
        <p:txBody>
          <a:bodyPr wrap="square" lIns="0" tIns="0" rIns="0" bIns="0">
            <a:spAutoFit/>
          </a:bodyPr>
          <a:lstStyle/>
          <a:p>
            <a:pPr algn="l">
              <a:lnSpc>
                <a:spcPct val="135000"/>
              </a:lnSpc>
            </a:pPr>
            <a:r>
              <a:rPr sz="2600" b="0" dirty="0" err="1">
                <a:solidFill>
                  <a:srgbClr val="1A1A1A"/>
                </a:solidFill>
                <a:latin typeface="Consolas"/>
              </a:rPr>
              <a:t>tiktokenizer.vercel.app</a:t>
            </a:r>
            <a:endParaRPr sz="2600" b="0" dirty="0">
              <a:solidFill>
                <a:srgbClr val="1A1A1A"/>
              </a:solidFill>
              <a:latin typeface="Consolas"/>
            </a:endParaRPr>
          </a:p>
        </p:txBody>
      </p:sp>
      <p:sp>
        <p:nvSpPr>
          <p:cNvPr id="19" name="Rectangle 18"/>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Aynı metin Türkçede </a:t>
            </a:r>
            <a:r>
              <a:rPr sz="2400" b="1">
                <a:solidFill>
                  <a:srgbClr val="15263F"/>
                </a:solidFill>
                <a:latin typeface="Helvetica Neue"/>
              </a:rPr>
              <a:t>daha pahalıya geliyor.</a:t>
            </a:r>
          </a:p>
        </p:txBody>
      </p:sp>
      <p:pic>
        <p:nvPicPr>
          <p:cNvPr id="22" name="Resim 21">
            <a:extLst>
              <a:ext uri="{FF2B5EF4-FFF2-40B4-BE49-F238E27FC236}">
                <a16:creationId xmlns:a16="http://schemas.microsoft.com/office/drawing/2014/main" id="{9CE1EDC9-20F4-D446-258B-294E47BD4595}"/>
              </a:ext>
            </a:extLst>
          </p:cNvPr>
          <p:cNvPicPr>
            <a:picLocks noChangeAspect="1"/>
          </p:cNvPicPr>
          <p:nvPr/>
        </p:nvPicPr>
        <p:blipFill>
          <a:blip r:embed="rId3"/>
          <a:stretch>
            <a:fillRect/>
          </a:stretch>
        </p:blipFill>
        <p:spPr>
          <a:xfrm>
            <a:off x="645831" y="3698233"/>
            <a:ext cx="13915195" cy="6101850"/>
          </a:xfrm>
          <a:prstGeom prst="rect">
            <a:avLst/>
          </a:prstGeom>
        </p:spPr>
      </p:pic>
      <p:pic>
        <p:nvPicPr>
          <p:cNvPr id="24" name="Resim 23">
            <a:extLst>
              <a:ext uri="{FF2B5EF4-FFF2-40B4-BE49-F238E27FC236}">
                <a16:creationId xmlns:a16="http://schemas.microsoft.com/office/drawing/2014/main" id="{577CF4D7-490E-E5A6-81B8-A4EA32AF435E}"/>
              </a:ext>
            </a:extLst>
          </p:cNvPr>
          <p:cNvPicPr>
            <a:picLocks noChangeAspect="1"/>
          </p:cNvPicPr>
          <p:nvPr/>
        </p:nvPicPr>
        <p:blipFill>
          <a:blip r:embed="rId4"/>
          <a:stretch>
            <a:fillRect/>
          </a:stretch>
        </p:blipFill>
        <p:spPr>
          <a:xfrm>
            <a:off x="645832" y="7021425"/>
            <a:ext cx="13503714" cy="3080226"/>
          </a:xfrm>
          <a:prstGeom prst="rect">
            <a:avLst/>
          </a:prstGeom>
        </p:spPr>
      </p:pic>
      <p:pic>
        <p:nvPicPr>
          <p:cNvPr id="26" name="Resim 25">
            <a:extLst>
              <a:ext uri="{FF2B5EF4-FFF2-40B4-BE49-F238E27FC236}">
                <a16:creationId xmlns:a16="http://schemas.microsoft.com/office/drawing/2014/main" id="{5EB3BAB8-B975-2EEB-DE82-1DA62ADD300E}"/>
              </a:ext>
            </a:extLst>
          </p:cNvPr>
          <p:cNvPicPr>
            <a:picLocks noChangeAspect="1"/>
          </p:cNvPicPr>
          <p:nvPr/>
        </p:nvPicPr>
        <p:blipFill>
          <a:blip r:embed="rId5"/>
          <a:stretch>
            <a:fillRect/>
          </a:stretch>
        </p:blipFill>
        <p:spPr>
          <a:xfrm>
            <a:off x="14561026" y="3621311"/>
            <a:ext cx="10981938" cy="271678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dirty="0">
                <a:solidFill>
                  <a:srgbClr val="1A1A1A"/>
                </a:solidFill>
                <a:latin typeface="Helvetica Neue"/>
              </a:rPr>
              <a:t>Embeddings  ·  2) Token Embeddings</a:t>
            </a:r>
          </a:p>
        </p:txBody>
      </p:sp>
      <p:pic>
        <p:nvPicPr>
          <p:cNvPr id="3" name="!!adim" descr="emb5.png"/>
          <p:cNvPicPr>
            <a:picLocks noChangeAspect="1"/>
          </p:cNvPicPr>
          <p:nvPr/>
        </p:nvPicPr>
        <p:blipFill>
          <a:blip r:embed="rId3"/>
          <a:stretch>
            <a:fillRect/>
          </a:stretch>
        </p:blipFill>
        <p:spPr>
          <a:xfrm>
            <a:off x="4279392" y="2377440"/>
            <a:ext cx="15851033" cy="8834384"/>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Aynı tablo, eğitimden sonra: </a:t>
            </a:r>
            <a:r>
              <a:rPr sz="2400" b="1">
                <a:solidFill>
                  <a:srgbClr val="15263F"/>
                </a:solidFill>
                <a:latin typeface="Helvetica Neue"/>
              </a:rPr>
              <a:t>rastgele sayılar yerine oturdu.</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Model ne üretiyor?  Kelime değil, olasılık</a:t>
            </a:r>
          </a:p>
        </p:txBody>
      </p:sp>
      <p:sp>
        <p:nvSpPr>
          <p:cNvPr id="3" name="Rounded Rectangle 2"/>
          <p:cNvSpPr/>
          <p:nvPr/>
        </p:nvSpPr>
        <p:spPr>
          <a:xfrm>
            <a:off x="20025360" y="274320"/>
            <a:ext cx="3081528" cy="731520"/>
          </a:xfrm>
          <a:prstGeom prst="roundRect">
            <a:avLst>
              <a:gd name="adj" fmla="val 35000"/>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025360" y="274320"/>
            <a:ext cx="3081528" cy="731520"/>
          </a:xfrm>
          <a:prstGeom prst="rect">
            <a:avLst/>
          </a:prstGeom>
          <a:noFill/>
        </p:spPr>
        <p:txBody>
          <a:bodyPr wrap="square" lIns="0" tIns="0" rIns="0" bIns="0" anchor="ctr">
            <a:spAutoFit/>
          </a:bodyPr>
          <a:lstStyle/>
          <a:p>
            <a:pPr algn="ctr"/>
            <a:r>
              <a:rPr sz="1900" b="1">
                <a:solidFill>
                  <a:srgbClr val="FFFFFF"/>
                </a:solidFill>
                <a:latin typeface="Helvetica Neue"/>
              </a:rPr>
              <a:t>CANLI DEMO</a:t>
            </a:r>
          </a:p>
        </p:txBody>
      </p:sp>
      <p:sp>
        <p:nvSpPr>
          <p:cNvPr id="5" name="Rectangle 4"/>
          <p:cNvSpPr/>
          <p:nvPr/>
        </p:nvSpPr>
        <p:spPr>
          <a:xfrm>
            <a:off x="868680" y="1514495"/>
            <a:ext cx="21826728"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80160" y="1554480"/>
            <a:ext cx="21003768" cy="490840"/>
          </a:xfrm>
          <a:prstGeom prst="rect">
            <a:avLst/>
          </a:prstGeom>
          <a:noFill/>
        </p:spPr>
        <p:txBody>
          <a:bodyPr wrap="square" lIns="0" tIns="0" rIns="0" bIns="0">
            <a:spAutoFit/>
          </a:bodyPr>
          <a:lstStyle/>
          <a:p>
            <a:pPr algn="l">
              <a:lnSpc>
                <a:spcPct val="135000"/>
              </a:lnSpc>
            </a:pPr>
            <a:r>
              <a:rPr sz="2600" b="0" dirty="0">
                <a:solidFill>
                  <a:srgbClr val="1A1A1A"/>
                </a:solidFill>
                <a:latin typeface="Consolas"/>
              </a:rPr>
              <a:t>poloclub.github.io/transformer-explainer</a:t>
            </a:r>
            <a:r>
              <a:rPr lang="tr-TR" sz="2600" dirty="0">
                <a:solidFill>
                  <a:srgbClr val="1A1A1A"/>
                </a:solidFill>
                <a:latin typeface="Consolas"/>
              </a:rPr>
              <a:t>    https://bbycroft.net/llm</a:t>
            </a:r>
            <a:endParaRPr sz="2600" b="0" dirty="0">
              <a:solidFill>
                <a:srgbClr val="1A1A1A"/>
              </a:solidFill>
              <a:latin typeface="Consolas"/>
            </a:endParaRPr>
          </a:p>
        </p:txBody>
      </p:sp>
      <p:sp>
        <p:nvSpPr>
          <p:cNvPr id="19" name="Rectangle 18"/>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Model bir cevap seçmiyor — </a:t>
            </a:r>
            <a:r>
              <a:rPr sz="2400" b="1">
                <a:solidFill>
                  <a:srgbClr val="15263F"/>
                </a:solidFill>
                <a:latin typeface="Helvetica Neue"/>
              </a:rPr>
              <a:t>bir olasılık dağılımı üretiyor.</a:t>
            </a:r>
          </a:p>
        </p:txBody>
      </p:sp>
      <p:pic>
        <p:nvPicPr>
          <p:cNvPr id="22" name="Resim 21">
            <a:extLst>
              <a:ext uri="{FF2B5EF4-FFF2-40B4-BE49-F238E27FC236}">
                <a16:creationId xmlns:a16="http://schemas.microsoft.com/office/drawing/2014/main" id="{B4FDE0FF-BA70-C7D9-D07E-B9780E0BD108}"/>
              </a:ext>
            </a:extLst>
          </p:cNvPr>
          <p:cNvPicPr>
            <a:picLocks noChangeAspect="1"/>
          </p:cNvPicPr>
          <p:nvPr/>
        </p:nvPicPr>
        <p:blipFill>
          <a:blip r:embed="rId3"/>
          <a:stretch>
            <a:fillRect/>
          </a:stretch>
        </p:blipFill>
        <p:spPr>
          <a:xfrm>
            <a:off x="1049411" y="2560320"/>
            <a:ext cx="20361445" cy="819200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Prompt nedir?  System prompt nedir?</a:t>
            </a:r>
          </a:p>
        </p:txBody>
      </p:sp>
      <p:sp>
        <p:nvSpPr>
          <p:cNvPr id="3" name="Rounded Rectangle 2"/>
          <p:cNvSpPr/>
          <p:nvPr/>
        </p:nvSpPr>
        <p:spPr>
          <a:xfrm>
            <a:off x="1280160" y="2057400"/>
            <a:ext cx="21826728" cy="9601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0160" y="2057400"/>
            <a:ext cx="21826728" cy="960120"/>
          </a:xfrm>
          <a:prstGeom prst="rect">
            <a:avLst/>
          </a:prstGeom>
          <a:noFill/>
        </p:spPr>
        <p:txBody>
          <a:bodyPr wrap="square" lIns="0" tIns="0" rIns="0" bIns="0" anchor="ctr">
            <a:spAutoFit/>
          </a:bodyPr>
          <a:lstStyle/>
          <a:p>
            <a:pPr algn="ctr"/>
            <a:r>
              <a:rPr sz="2400" b="0">
                <a:solidFill>
                  <a:srgbClr val="15263F"/>
                </a:solidFill>
                <a:latin typeface="Helvetica Neue"/>
              </a:rPr>
              <a:t>Prompt = modele giden metnin </a:t>
            </a:r>
            <a:r>
              <a:rPr sz="2400" b="1">
                <a:solidFill>
                  <a:srgbClr val="15263F"/>
                </a:solidFill>
                <a:latin typeface="Helvetica Neue"/>
              </a:rPr>
              <a:t>tamamı</a:t>
            </a:r>
            <a:r>
              <a:rPr sz="2400" b="0">
                <a:solidFill>
                  <a:srgbClr val="15263F"/>
                </a:solidFill>
                <a:latin typeface="Helvetica Neue"/>
              </a:rPr>
              <a:t>.  Tek bir cümle değil — parçalardan birleşir.</a:t>
            </a:r>
          </a:p>
        </p:txBody>
      </p:sp>
      <p:sp>
        <p:nvSpPr>
          <p:cNvPr id="5" name="Rounded Rectangle 4"/>
          <p:cNvSpPr/>
          <p:nvPr/>
        </p:nvSpPr>
        <p:spPr>
          <a:xfrm>
            <a:off x="1280160" y="3383280"/>
            <a:ext cx="13898880" cy="6035040"/>
          </a:xfrm>
          <a:prstGeom prst="roundRect">
            <a:avLst>
              <a:gd name="adj" fmla="val 6000"/>
            </a:avLst>
          </a:prstGeom>
          <a:solidFill>
            <a:srgbClr val="F2F4F7"/>
          </a:solidFill>
          <a:ln w="19050">
            <a:solidFill>
              <a:srgbClr val="B8BE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0" y="3703320"/>
            <a:ext cx="12801600" cy="457200"/>
          </a:xfrm>
          <a:prstGeom prst="rect">
            <a:avLst/>
          </a:prstGeom>
          <a:noFill/>
        </p:spPr>
        <p:txBody>
          <a:bodyPr wrap="square" lIns="0" tIns="0" rIns="0" bIns="0">
            <a:spAutoFit/>
          </a:bodyPr>
          <a:lstStyle/>
          <a:p>
            <a:pPr algn="l"/>
            <a:r>
              <a:rPr sz="1700" b="1">
                <a:solidFill>
                  <a:srgbClr val="8A8A8A"/>
                </a:solidFill>
                <a:latin typeface="Helvetica Neue"/>
              </a:rPr>
              <a:t>MODELE GİDEN TEK METİN</a:t>
            </a:r>
          </a:p>
        </p:txBody>
      </p:sp>
      <p:sp>
        <p:nvSpPr>
          <p:cNvPr id="7" name="Rectangle 6"/>
          <p:cNvSpPr/>
          <p:nvPr/>
        </p:nvSpPr>
        <p:spPr>
          <a:xfrm>
            <a:off x="1828800" y="4343400"/>
            <a:ext cx="12801600" cy="2788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828800" y="4343400"/>
            <a:ext cx="128016" cy="2788920"/>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40280" y="4599432"/>
            <a:ext cx="2743200" cy="457200"/>
          </a:xfrm>
          <a:prstGeom prst="rect">
            <a:avLst/>
          </a:prstGeom>
          <a:noFill/>
        </p:spPr>
        <p:txBody>
          <a:bodyPr wrap="square" lIns="0" tIns="0" rIns="0" bIns="0">
            <a:spAutoFit/>
          </a:bodyPr>
          <a:lstStyle/>
          <a:p>
            <a:pPr algn="l"/>
            <a:r>
              <a:rPr sz="1800" b="1">
                <a:solidFill>
                  <a:srgbClr val="15263F"/>
                </a:solidFill>
                <a:latin typeface="Helvetica Neue"/>
              </a:rPr>
              <a:t>SYSTEM</a:t>
            </a:r>
          </a:p>
        </p:txBody>
      </p:sp>
      <p:sp>
        <p:nvSpPr>
          <p:cNvPr id="10" name="TextBox 9"/>
          <p:cNvSpPr txBox="1"/>
          <p:nvPr/>
        </p:nvSpPr>
        <p:spPr>
          <a:xfrm>
            <a:off x="2240280" y="5257800"/>
            <a:ext cx="11795760" cy="1600200"/>
          </a:xfrm>
          <a:prstGeom prst="rect">
            <a:avLst/>
          </a:prstGeom>
          <a:noFill/>
        </p:spPr>
        <p:txBody>
          <a:bodyPr wrap="square" lIns="0" tIns="0" rIns="0" bIns="0">
            <a:spAutoFit/>
          </a:bodyPr>
          <a:lstStyle/>
          <a:p>
            <a:pPr algn="l">
              <a:lnSpc>
                <a:spcPct val="140000"/>
              </a:lnSpc>
            </a:pPr>
            <a:r>
              <a:rPr sz="1900" b="0">
                <a:solidFill>
                  <a:srgbClr val="1A1A1A"/>
                </a:solidFill>
                <a:latin typeface="Consolas"/>
              </a:rPr>
              <a:t>Sen Miuul eğitim platformunun öğrenci</a:t>
            </a:r>
          </a:p>
          <a:p>
            <a:pPr algn="l">
              <a:lnSpc>
                <a:spcPct val="140000"/>
              </a:lnSpc>
            </a:pPr>
            <a:r>
              <a:rPr sz="1900" b="0">
                <a:solidFill>
                  <a:srgbClr val="1A1A1A"/>
                </a:solidFill>
                <a:latin typeface="Consolas"/>
              </a:rPr>
              <a:t>destek asistanısın. Kısa ve net cevap ver.</a:t>
            </a:r>
          </a:p>
          <a:p>
            <a:pPr algn="l">
              <a:lnSpc>
                <a:spcPct val="140000"/>
              </a:lnSpc>
            </a:pPr>
            <a:r>
              <a:rPr sz="1900" b="0">
                <a:solidFill>
                  <a:srgbClr val="1A1A1A"/>
                </a:solidFill>
                <a:latin typeface="Consolas"/>
              </a:rPr>
              <a:t>Bilmediğin bir şeyi uydurma, bilmiyorum de.</a:t>
            </a:r>
          </a:p>
        </p:txBody>
      </p:sp>
      <p:sp>
        <p:nvSpPr>
          <p:cNvPr id="11" name="Rectangle 10"/>
          <p:cNvSpPr/>
          <p:nvPr/>
        </p:nvSpPr>
        <p:spPr>
          <a:xfrm>
            <a:off x="1828800" y="7360920"/>
            <a:ext cx="1280160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828800" y="7360920"/>
            <a:ext cx="128016" cy="1783080"/>
          </a:xfrm>
          <a:prstGeom prst="rect">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80" y="7616952"/>
            <a:ext cx="2743200" cy="457200"/>
          </a:xfrm>
          <a:prstGeom prst="rect">
            <a:avLst/>
          </a:prstGeom>
          <a:noFill/>
        </p:spPr>
        <p:txBody>
          <a:bodyPr wrap="square" lIns="0" tIns="0" rIns="0" bIns="0">
            <a:spAutoFit/>
          </a:bodyPr>
          <a:lstStyle/>
          <a:p>
            <a:pPr algn="l"/>
            <a:r>
              <a:rPr sz="1800" b="1">
                <a:solidFill>
                  <a:srgbClr val="8A3B2F"/>
                </a:solidFill>
                <a:latin typeface="Helvetica Neue"/>
              </a:rPr>
              <a:t>USER</a:t>
            </a:r>
          </a:p>
        </p:txBody>
      </p:sp>
      <p:sp>
        <p:nvSpPr>
          <p:cNvPr id="14" name="TextBox 13"/>
          <p:cNvSpPr txBox="1"/>
          <p:nvPr/>
        </p:nvSpPr>
        <p:spPr>
          <a:xfrm>
            <a:off x="2240280" y="8275320"/>
            <a:ext cx="11795760" cy="594360"/>
          </a:xfrm>
          <a:prstGeom prst="rect">
            <a:avLst/>
          </a:prstGeom>
          <a:noFill/>
        </p:spPr>
        <p:txBody>
          <a:bodyPr wrap="square" lIns="0" tIns="0" rIns="0" bIns="0">
            <a:spAutoFit/>
          </a:bodyPr>
          <a:lstStyle/>
          <a:p>
            <a:pPr algn="l">
              <a:lnSpc>
                <a:spcPct val="140000"/>
              </a:lnSpc>
            </a:pPr>
            <a:r>
              <a:rPr sz="1900" b="0">
                <a:solidFill>
                  <a:srgbClr val="1A1A1A"/>
                </a:solidFill>
                <a:latin typeface="Consolas"/>
              </a:rPr>
              <a:t>Data Scientist Path kaç saat sürüyor?</a:t>
            </a:r>
          </a:p>
        </p:txBody>
      </p:sp>
      <p:sp>
        <p:nvSpPr>
          <p:cNvPr id="15" name="Rounded Rectangle 14"/>
          <p:cNvSpPr/>
          <p:nvPr/>
        </p:nvSpPr>
        <p:spPr>
          <a:xfrm>
            <a:off x="15681960" y="3383280"/>
            <a:ext cx="7424928" cy="18745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5681960" y="3383280"/>
            <a:ext cx="7424928" cy="82296"/>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6184880" y="3703320"/>
            <a:ext cx="6419088" cy="457200"/>
          </a:xfrm>
          <a:prstGeom prst="rect">
            <a:avLst/>
          </a:prstGeom>
          <a:noFill/>
        </p:spPr>
        <p:txBody>
          <a:bodyPr wrap="square" lIns="0" tIns="0" rIns="0" bIns="0">
            <a:spAutoFit/>
          </a:bodyPr>
          <a:lstStyle/>
          <a:p>
            <a:pPr algn="l"/>
            <a:r>
              <a:rPr sz="2000" b="1">
                <a:solidFill>
                  <a:srgbClr val="15263F"/>
                </a:solidFill>
                <a:latin typeface="Helvetica Neue"/>
              </a:rPr>
              <a:t>SYSTEM PROMPT</a:t>
            </a:r>
          </a:p>
        </p:txBody>
      </p:sp>
      <p:sp>
        <p:nvSpPr>
          <p:cNvPr id="18" name="TextBox 17"/>
          <p:cNvSpPr txBox="1"/>
          <p:nvPr/>
        </p:nvSpPr>
        <p:spPr>
          <a:xfrm>
            <a:off x="16184880" y="4251960"/>
            <a:ext cx="6419088" cy="822960"/>
          </a:xfrm>
          <a:prstGeom prst="rect">
            <a:avLst/>
          </a:prstGeom>
          <a:noFill/>
        </p:spPr>
        <p:txBody>
          <a:bodyPr wrap="square" lIns="0" tIns="0" rIns="0" bIns="0">
            <a:spAutoFit/>
          </a:bodyPr>
          <a:lstStyle/>
          <a:p>
            <a:pPr algn="l">
              <a:lnSpc>
                <a:spcPct val="130000"/>
              </a:lnSpc>
            </a:pPr>
            <a:r>
              <a:rPr sz="1700" b="0">
                <a:solidFill>
                  <a:srgbClr val="1A1A1A"/>
                </a:solidFill>
                <a:latin typeface="Helvetica Neue"/>
              </a:rPr>
              <a:t>Modelin kim olduğunu, neyi yapıp neyi yapmayacağını söyler.</a:t>
            </a:r>
          </a:p>
          <a:p>
            <a:pPr algn="l">
              <a:lnSpc>
                <a:spcPct val="130000"/>
              </a:lnSpc>
            </a:pPr>
            <a:r>
              <a:rPr sz="1700" b="0">
                <a:solidFill>
                  <a:srgbClr val="1A1A1A"/>
                </a:solidFill>
                <a:latin typeface="Helvetica Neue"/>
              </a:rPr>
              <a:t>Kullanıcı bunu görmez.</a:t>
            </a:r>
          </a:p>
        </p:txBody>
      </p:sp>
      <p:sp>
        <p:nvSpPr>
          <p:cNvPr id="19" name="Rounded Rectangle 18"/>
          <p:cNvSpPr/>
          <p:nvPr/>
        </p:nvSpPr>
        <p:spPr>
          <a:xfrm>
            <a:off x="15681960" y="5458968"/>
            <a:ext cx="7424928" cy="18745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5681960" y="5458968"/>
            <a:ext cx="7424928" cy="82296"/>
          </a:xfrm>
          <a:prstGeom prst="rect">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6184880" y="5779008"/>
            <a:ext cx="6419088" cy="457200"/>
          </a:xfrm>
          <a:prstGeom prst="rect">
            <a:avLst/>
          </a:prstGeom>
          <a:noFill/>
        </p:spPr>
        <p:txBody>
          <a:bodyPr wrap="square" lIns="0" tIns="0" rIns="0" bIns="0">
            <a:spAutoFit/>
          </a:bodyPr>
          <a:lstStyle/>
          <a:p>
            <a:pPr algn="l"/>
            <a:r>
              <a:rPr sz="2000" b="1">
                <a:solidFill>
                  <a:srgbClr val="8A3B2F"/>
                </a:solidFill>
                <a:latin typeface="Helvetica Neue"/>
              </a:rPr>
              <a:t>USER PROMPT</a:t>
            </a:r>
          </a:p>
        </p:txBody>
      </p:sp>
      <p:sp>
        <p:nvSpPr>
          <p:cNvPr id="22" name="TextBox 21"/>
          <p:cNvSpPr txBox="1"/>
          <p:nvPr/>
        </p:nvSpPr>
        <p:spPr>
          <a:xfrm>
            <a:off x="16184880" y="6327648"/>
            <a:ext cx="6419088" cy="822960"/>
          </a:xfrm>
          <a:prstGeom prst="rect">
            <a:avLst/>
          </a:prstGeom>
          <a:noFill/>
        </p:spPr>
        <p:txBody>
          <a:bodyPr wrap="square" lIns="0" tIns="0" rIns="0" bIns="0">
            <a:spAutoFit/>
          </a:bodyPr>
          <a:lstStyle/>
          <a:p>
            <a:pPr algn="l">
              <a:lnSpc>
                <a:spcPct val="130000"/>
              </a:lnSpc>
            </a:pPr>
            <a:r>
              <a:rPr sz="1700" b="0">
                <a:solidFill>
                  <a:srgbClr val="1A1A1A"/>
                </a:solidFill>
                <a:latin typeface="Helvetica Neue"/>
              </a:rPr>
              <a:t>Kullanıcının o an yazdığı şey.</a:t>
            </a:r>
          </a:p>
          <a:p>
            <a:pPr algn="l">
              <a:lnSpc>
                <a:spcPct val="130000"/>
              </a:lnSpc>
            </a:pPr>
            <a:r>
              <a:rPr sz="1700" b="0">
                <a:solidFill>
                  <a:srgbClr val="1A1A1A"/>
                </a:solidFill>
                <a:latin typeface="Helvetica Neue"/>
              </a:rPr>
              <a:t>Genelde değişen tek parça budur.</a:t>
            </a:r>
          </a:p>
        </p:txBody>
      </p:sp>
      <p:sp>
        <p:nvSpPr>
          <p:cNvPr id="23" name="Rounded Rectangle 22"/>
          <p:cNvSpPr/>
          <p:nvPr/>
        </p:nvSpPr>
        <p:spPr>
          <a:xfrm>
            <a:off x="15681960" y="7534656"/>
            <a:ext cx="7424928" cy="18745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5681960" y="7534656"/>
            <a:ext cx="7424928" cy="82296"/>
          </a:xfrm>
          <a:prstGeom prst="rect">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6184880" y="7854696"/>
            <a:ext cx="6419088" cy="457200"/>
          </a:xfrm>
          <a:prstGeom prst="rect">
            <a:avLst/>
          </a:prstGeom>
          <a:noFill/>
        </p:spPr>
        <p:txBody>
          <a:bodyPr wrap="square" lIns="0" tIns="0" rIns="0" bIns="0">
            <a:spAutoFit/>
          </a:bodyPr>
          <a:lstStyle/>
          <a:p>
            <a:pPr algn="l"/>
            <a:r>
              <a:rPr sz="2000" b="1">
                <a:solidFill>
                  <a:srgbClr val="C08A2E"/>
                </a:solidFill>
                <a:latin typeface="Helvetica Neue"/>
              </a:rPr>
              <a:t>Model ikisini ayrı görmez</a:t>
            </a:r>
          </a:p>
        </p:txBody>
      </p:sp>
      <p:sp>
        <p:nvSpPr>
          <p:cNvPr id="26" name="TextBox 25"/>
          <p:cNvSpPr txBox="1"/>
          <p:nvPr/>
        </p:nvSpPr>
        <p:spPr>
          <a:xfrm>
            <a:off x="16184880" y="8403336"/>
            <a:ext cx="6419088" cy="822960"/>
          </a:xfrm>
          <a:prstGeom prst="rect">
            <a:avLst/>
          </a:prstGeom>
          <a:noFill/>
        </p:spPr>
        <p:txBody>
          <a:bodyPr wrap="square" lIns="0" tIns="0" rIns="0" bIns="0">
            <a:spAutoFit/>
          </a:bodyPr>
          <a:lstStyle/>
          <a:p>
            <a:pPr algn="l">
              <a:lnSpc>
                <a:spcPct val="130000"/>
              </a:lnSpc>
            </a:pPr>
            <a:r>
              <a:rPr sz="1700" b="0">
                <a:solidFill>
                  <a:srgbClr val="1A1A1A"/>
                </a:solidFill>
                <a:latin typeface="Helvetica Neue"/>
              </a:rPr>
              <a:t>İkisi tek metin olarak aynı pencereye girer. System'e öncelik vermeyi</a:t>
            </a:r>
          </a:p>
          <a:p>
            <a:pPr algn="l">
              <a:lnSpc>
                <a:spcPct val="130000"/>
              </a:lnSpc>
            </a:pPr>
            <a:r>
              <a:rPr sz="1700" b="0">
                <a:solidFill>
                  <a:srgbClr val="1A1A1A"/>
                </a:solidFill>
                <a:latin typeface="Helvetica Neue"/>
              </a:rPr>
              <a:t>model eğitimde öğrendi.</a:t>
            </a:r>
          </a:p>
        </p:txBody>
      </p:sp>
      <p:sp>
        <p:nvSpPr>
          <p:cNvPr id="27" name="TextBox 26"/>
          <p:cNvSpPr txBox="1"/>
          <p:nvPr/>
        </p:nvSpPr>
        <p:spPr>
          <a:xfrm>
            <a:off x="1280160" y="9738360"/>
            <a:ext cx="21826728" cy="1005840"/>
          </a:xfrm>
          <a:prstGeom prst="rect">
            <a:avLst/>
          </a:prstGeom>
          <a:noFill/>
        </p:spPr>
        <p:txBody>
          <a:bodyPr wrap="square" lIns="0" tIns="0" rIns="0" bIns="0">
            <a:spAutoFit/>
          </a:bodyPr>
          <a:lstStyle/>
          <a:p>
            <a:pPr algn="ctr"/>
            <a:r>
              <a:rPr sz="2500" b="0">
                <a:solidFill>
                  <a:srgbClr val="1A1A1A"/>
                </a:solidFill>
                <a:latin typeface="Helvetica Neue"/>
              </a:rPr>
              <a:t>Few-shot örnekleri de, RAG'in getirdiği metin de </a:t>
            </a:r>
            <a:r>
              <a:rPr sz="2500" b="1">
                <a:solidFill>
                  <a:srgbClr val="1A1A1A"/>
                </a:solidFill>
                <a:latin typeface="Helvetica Neue"/>
              </a:rPr>
              <a:t>aynı pakete eklenir.</a:t>
            </a:r>
          </a:p>
        </p:txBody>
      </p:sp>
      <p:sp>
        <p:nvSpPr>
          <p:cNvPr id="28" name="Rectangle 2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System prompt'u </a:t>
            </a:r>
            <a:r>
              <a:rPr sz="2400" b="1">
                <a:solidFill>
                  <a:srgbClr val="15263F"/>
                </a:solidFill>
                <a:latin typeface="Helvetica Neue"/>
              </a:rPr>
              <a:t>her istekte yeniden gönderirsiniz</a:t>
            </a:r>
            <a:r>
              <a:rPr sz="2400" b="0">
                <a:solidFill>
                  <a:srgbClr val="15263F"/>
                </a:solidFill>
                <a:latin typeface="Helvetica Neue"/>
              </a:rPr>
              <a:t> — ve her seferinde token ödersiniz.</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Kaç örnek göstereceğiz?</a:t>
            </a:r>
          </a:p>
        </p:txBody>
      </p:sp>
      <p:sp>
        <p:nvSpPr>
          <p:cNvPr id="3" name="Rounded Rectangle 2"/>
          <p:cNvSpPr/>
          <p:nvPr/>
        </p:nvSpPr>
        <p:spPr>
          <a:xfrm>
            <a:off x="1280160" y="2057400"/>
            <a:ext cx="21826728" cy="8686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0160" y="2057400"/>
            <a:ext cx="21826728" cy="868680"/>
          </a:xfrm>
          <a:prstGeom prst="rect">
            <a:avLst/>
          </a:prstGeom>
          <a:noFill/>
        </p:spPr>
        <p:txBody>
          <a:bodyPr wrap="square" lIns="0" tIns="0" rIns="0" bIns="0" anchor="ctr">
            <a:spAutoFit/>
          </a:bodyPr>
          <a:lstStyle/>
          <a:p>
            <a:pPr algn="ctr"/>
            <a:r>
              <a:rPr sz="2300" b="0">
                <a:solidFill>
                  <a:srgbClr val="15263F"/>
                </a:solidFill>
                <a:latin typeface="Helvetica Neue"/>
              </a:rPr>
              <a:t>“shot” = prompt'a koyduğun </a:t>
            </a:r>
            <a:r>
              <a:rPr sz="2300" b="1">
                <a:solidFill>
                  <a:srgbClr val="15263F"/>
                </a:solidFill>
                <a:latin typeface="Helvetica Neue"/>
              </a:rPr>
              <a:t>örnek sayısı</a:t>
            </a:r>
            <a:r>
              <a:rPr sz="2300" b="0">
                <a:solidFill>
                  <a:srgbClr val="15263F"/>
                </a:solidFill>
                <a:latin typeface="Helvetica Neue"/>
              </a:rPr>
              <a:t>.   Model aynı, ağırlıklar aynı — değişen tek şey bu.</a:t>
            </a:r>
          </a:p>
        </p:txBody>
      </p:sp>
      <p:sp>
        <p:nvSpPr>
          <p:cNvPr id="5" name="Rounded Rectangle 4"/>
          <p:cNvSpPr/>
          <p:nvPr/>
        </p:nvSpPr>
        <p:spPr>
          <a:xfrm>
            <a:off x="1280160" y="3154680"/>
            <a:ext cx="5113782" cy="65836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280160" y="3154680"/>
            <a:ext cx="511378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737360" y="3538728"/>
            <a:ext cx="4199382" cy="502920"/>
          </a:xfrm>
          <a:prstGeom prst="rect">
            <a:avLst/>
          </a:prstGeom>
          <a:noFill/>
        </p:spPr>
        <p:txBody>
          <a:bodyPr wrap="square" lIns="0" tIns="0" rIns="0" bIns="0">
            <a:spAutoFit/>
          </a:bodyPr>
          <a:lstStyle/>
          <a:p>
            <a:pPr algn="l"/>
            <a:r>
              <a:rPr sz="2200" b="1">
                <a:solidFill>
                  <a:srgbClr val="8A8A8A"/>
                </a:solidFill>
                <a:latin typeface="Helvetica Neue"/>
              </a:rPr>
              <a:t>ZERO-SHOT</a:t>
            </a:r>
          </a:p>
        </p:txBody>
      </p:sp>
      <p:sp>
        <p:nvSpPr>
          <p:cNvPr id="8" name="TextBox 7"/>
          <p:cNvSpPr txBox="1"/>
          <p:nvPr/>
        </p:nvSpPr>
        <p:spPr>
          <a:xfrm>
            <a:off x="1737360" y="4114800"/>
            <a:ext cx="4199382" cy="457200"/>
          </a:xfrm>
          <a:prstGeom prst="rect">
            <a:avLst/>
          </a:prstGeom>
          <a:noFill/>
        </p:spPr>
        <p:txBody>
          <a:bodyPr wrap="square" lIns="0" tIns="0" rIns="0" bIns="0">
            <a:spAutoFit/>
          </a:bodyPr>
          <a:lstStyle/>
          <a:p>
            <a:pPr algn="l"/>
            <a:r>
              <a:rPr sz="1800" b="0">
                <a:solidFill>
                  <a:srgbClr val="8A8A8A"/>
                </a:solidFill>
                <a:latin typeface="Helvetica Neue"/>
              </a:rPr>
              <a:t>örnek yok</a:t>
            </a:r>
          </a:p>
        </p:txBody>
      </p:sp>
      <p:sp>
        <p:nvSpPr>
          <p:cNvPr id="9" name="Rectangle 8"/>
          <p:cNvSpPr/>
          <p:nvPr/>
        </p:nvSpPr>
        <p:spPr>
          <a:xfrm>
            <a:off x="1737360" y="4754880"/>
            <a:ext cx="4199382"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965960" y="4965192"/>
            <a:ext cx="3742182" cy="2651760"/>
          </a:xfrm>
          <a:prstGeom prst="rect">
            <a:avLst/>
          </a:prstGeom>
          <a:noFill/>
        </p:spPr>
        <p:txBody>
          <a:bodyPr wrap="square" lIns="0" tIns="0" rIns="0" bIns="0">
            <a:spAutoFit/>
          </a:bodyPr>
          <a:lstStyle/>
          <a:p>
            <a:pPr algn="l">
              <a:lnSpc>
                <a:spcPct val="130000"/>
              </a:lnSpc>
            </a:pPr>
            <a:r>
              <a:rPr sz="1400" b="0">
                <a:solidFill>
                  <a:srgbClr val="1A1A1A"/>
                </a:solidFill>
                <a:latin typeface="Consolas"/>
              </a:rPr>
              <a:t>[system] Kısa cevap ver.</a:t>
            </a:r>
          </a:p>
          <a:p>
            <a:pPr algn="l">
              <a:lnSpc>
                <a:spcPct val="130000"/>
              </a:lnSpc>
            </a:pPr>
            <a:endParaRPr sz="1400" b="0">
              <a:solidFill>
                <a:srgbClr val="1A1A1A"/>
              </a:solidFill>
              <a:latin typeface="Consolas"/>
            </a:endParaRPr>
          </a:p>
          <a:p>
            <a:pPr algn="l">
              <a:lnSpc>
                <a:spcPct val="130000"/>
              </a:lnSpc>
            </a:pPr>
            <a:r>
              <a:rPr sz="1400" b="0">
                <a:solidFill>
                  <a:srgbClr val="1A1A1A"/>
                </a:solidFill>
                <a:latin typeface="Consolas"/>
              </a:rPr>
              <a:t>[user] Data Scientist Path</a:t>
            </a:r>
          </a:p>
          <a:p>
            <a:pPr algn="l">
              <a:lnSpc>
                <a:spcPct val="130000"/>
              </a:lnSpc>
            </a:pPr>
            <a:r>
              <a:rPr sz="1400" b="0">
                <a:solidFill>
                  <a:srgbClr val="1A1A1A"/>
                </a:solidFill>
                <a:latin typeface="Consolas"/>
              </a:rPr>
              <a:t>       kaç saat?</a:t>
            </a:r>
          </a:p>
        </p:txBody>
      </p:sp>
      <p:sp>
        <p:nvSpPr>
          <p:cNvPr id="11" name="TextBox 10"/>
          <p:cNvSpPr txBox="1"/>
          <p:nvPr/>
        </p:nvSpPr>
        <p:spPr>
          <a:xfrm>
            <a:off x="1737360" y="8046720"/>
            <a:ext cx="4199382" cy="1463040"/>
          </a:xfrm>
          <a:prstGeom prst="rect">
            <a:avLst/>
          </a:prstGeom>
          <a:noFill/>
        </p:spPr>
        <p:txBody>
          <a:bodyPr wrap="square" lIns="0" tIns="0" rIns="0" bIns="0">
            <a:spAutoFit/>
          </a:bodyPr>
          <a:lstStyle/>
          <a:p>
            <a:pPr algn="l">
              <a:lnSpc>
                <a:spcPct val="135000"/>
              </a:lnSpc>
            </a:pPr>
            <a:r>
              <a:rPr sz="1700" b="0">
                <a:solidFill>
                  <a:srgbClr val="1A1A1A"/>
                </a:solidFill>
                <a:latin typeface="Helvetica Neue"/>
              </a:rPr>
              <a:t>Biçimi model kendi seçer.</a:t>
            </a:r>
          </a:p>
          <a:p>
            <a:pPr algn="l">
              <a:lnSpc>
                <a:spcPct val="135000"/>
              </a:lnSpc>
            </a:pPr>
            <a:r>
              <a:rPr sz="1700" b="0">
                <a:solidFill>
                  <a:srgbClr val="1A1A1A"/>
                </a:solidFill>
                <a:latin typeface="Helvetica Neue"/>
              </a:rPr>
              <a:t>Her seferinde farklı</a:t>
            </a:r>
          </a:p>
          <a:p>
            <a:pPr algn="l">
              <a:lnSpc>
                <a:spcPct val="135000"/>
              </a:lnSpc>
            </a:pPr>
            <a:r>
              <a:rPr sz="1700" b="0">
                <a:solidFill>
                  <a:srgbClr val="1A1A1A"/>
                </a:solidFill>
                <a:latin typeface="Helvetica Neue"/>
              </a:rPr>
              <a:t>gelebilir.</a:t>
            </a:r>
          </a:p>
        </p:txBody>
      </p:sp>
      <p:sp>
        <p:nvSpPr>
          <p:cNvPr id="12" name="Rounded Rectangle 11"/>
          <p:cNvSpPr/>
          <p:nvPr/>
        </p:nvSpPr>
        <p:spPr>
          <a:xfrm>
            <a:off x="6851142" y="3154680"/>
            <a:ext cx="5113782" cy="65836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851142" y="3154680"/>
            <a:ext cx="5113782" cy="91440"/>
          </a:xfrm>
          <a:prstGeom prst="rect">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08342" y="3538728"/>
            <a:ext cx="4199382" cy="502920"/>
          </a:xfrm>
          <a:prstGeom prst="rect">
            <a:avLst/>
          </a:prstGeom>
          <a:noFill/>
        </p:spPr>
        <p:txBody>
          <a:bodyPr wrap="square" lIns="0" tIns="0" rIns="0" bIns="0">
            <a:spAutoFit/>
          </a:bodyPr>
          <a:lstStyle/>
          <a:p>
            <a:pPr algn="l"/>
            <a:r>
              <a:rPr sz="2200" b="1">
                <a:solidFill>
                  <a:srgbClr val="C08A2E"/>
                </a:solidFill>
                <a:latin typeface="Helvetica Neue"/>
              </a:rPr>
              <a:t>ONE-SHOT</a:t>
            </a:r>
          </a:p>
        </p:txBody>
      </p:sp>
      <p:sp>
        <p:nvSpPr>
          <p:cNvPr id="15" name="TextBox 14"/>
          <p:cNvSpPr txBox="1"/>
          <p:nvPr/>
        </p:nvSpPr>
        <p:spPr>
          <a:xfrm>
            <a:off x="7308342" y="4114800"/>
            <a:ext cx="4199382" cy="457200"/>
          </a:xfrm>
          <a:prstGeom prst="rect">
            <a:avLst/>
          </a:prstGeom>
          <a:noFill/>
        </p:spPr>
        <p:txBody>
          <a:bodyPr wrap="square" lIns="0" tIns="0" rIns="0" bIns="0">
            <a:spAutoFit/>
          </a:bodyPr>
          <a:lstStyle/>
          <a:p>
            <a:pPr algn="l"/>
            <a:r>
              <a:rPr sz="1800" b="0">
                <a:solidFill>
                  <a:srgbClr val="8A8A8A"/>
                </a:solidFill>
                <a:latin typeface="Helvetica Neue"/>
              </a:rPr>
              <a:t>1 örnek</a:t>
            </a:r>
          </a:p>
        </p:txBody>
      </p:sp>
      <p:sp>
        <p:nvSpPr>
          <p:cNvPr id="16" name="Rectangle 15"/>
          <p:cNvSpPr/>
          <p:nvPr/>
        </p:nvSpPr>
        <p:spPr>
          <a:xfrm>
            <a:off x="7308342" y="4754880"/>
            <a:ext cx="4199382"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36942" y="4965192"/>
            <a:ext cx="3742182" cy="2651760"/>
          </a:xfrm>
          <a:prstGeom prst="rect">
            <a:avLst/>
          </a:prstGeom>
          <a:noFill/>
        </p:spPr>
        <p:txBody>
          <a:bodyPr wrap="square" lIns="0" tIns="0" rIns="0" bIns="0">
            <a:spAutoFit/>
          </a:bodyPr>
          <a:lstStyle/>
          <a:p>
            <a:pPr algn="l">
              <a:lnSpc>
                <a:spcPct val="130000"/>
              </a:lnSpc>
            </a:pPr>
            <a:r>
              <a:rPr sz="1400" b="0">
                <a:solidFill>
                  <a:srgbClr val="1A1A1A"/>
                </a:solidFill>
                <a:latin typeface="Consolas"/>
              </a:rPr>
              <a:t>[system] Kısa cevap ver.</a:t>
            </a:r>
          </a:p>
          <a:p>
            <a:pPr algn="l">
              <a:lnSpc>
                <a:spcPct val="130000"/>
              </a:lnSpc>
            </a:pPr>
            <a:endParaRPr sz="1400" b="0">
              <a:solidFill>
                <a:srgbClr val="1A1A1A"/>
              </a:solidFill>
              <a:latin typeface="Consolas"/>
            </a:endParaRPr>
          </a:p>
          <a:p>
            <a:pPr algn="l">
              <a:lnSpc>
                <a:spcPct val="130000"/>
              </a:lnSpc>
            </a:pPr>
            <a:r>
              <a:rPr sz="1400" b="0">
                <a:solidFill>
                  <a:srgbClr val="1A1A1A"/>
                </a:solidFill>
                <a:latin typeface="Consolas"/>
              </a:rPr>
              <a:t>S: Zaman Serileri?</a:t>
            </a:r>
          </a:p>
          <a:p>
            <a:pPr algn="l">
              <a:lnSpc>
                <a:spcPct val="130000"/>
              </a:lnSpc>
            </a:pPr>
            <a:r>
              <a:rPr sz="1400" b="0">
                <a:solidFill>
                  <a:srgbClr val="1A1A1A"/>
                </a:solidFill>
                <a:latin typeface="Consolas"/>
              </a:rPr>
              <a:t>C: Kurs · 7 saat · 55 USD</a:t>
            </a:r>
          </a:p>
          <a:p>
            <a:pPr algn="l">
              <a:lnSpc>
                <a:spcPct val="130000"/>
              </a:lnSpc>
            </a:pPr>
            <a:endParaRPr sz="1400" b="0">
              <a:solidFill>
                <a:srgbClr val="1A1A1A"/>
              </a:solidFill>
              <a:latin typeface="Consolas"/>
            </a:endParaRPr>
          </a:p>
          <a:p>
            <a:pPr algn="l">
              <a:lnSpc>
                <a:spcPct val="130000"/>
              </a:lnSpc>
            </a:pPr>
            <a:r>
              <a:rPr sz="1400" b="0">
                <a:solidFill>
                  <a:srgbClr val="1A1A1A"/>
                </a:solidFill>
                <a:latin typeface="Consolas"/>
              </a:rPr>
              <a:t>[user] Data Scientist Path</a:t>
            </a:r>
          </a:p>
          <a:p>
            <a:pPr algn="l">
              <a:lnSpc>
                <a:spcPct val="130000"/>
              </a:lnSpc>
            </a:pPr>
            <a:r>
              <a:rPr sz="1400" b="0">
                <a:solidFill>
                  <a:srgbClr val="1A1A1A"/>
                </a:solidFill>
                <a:latin typeface="Consolas"/>
              </a:rPr>
              <a:t>       kaç saat?</a:t>
            </a:r>
          </a:p>
        </p:txBody>
      </p:sp>
      <p:sp>
        <p:nvSpPr>
          <p:cNvPr id="18" name="TextBox 17"/>
          <p:cNvSpPr txBox="1"/>
          <p:nvPr/>
        </p:nvSpPr>
        <p:spPr>
          <a:xfrm>
            <a:off x="7308342" y="8046720"/>
            <a:ext cx="4199382" cy="1463040"/>
          </a:xfrm>
          <a:prstGeom prst="rect">
            <a:avLst/>
          </a:prstGeom>
          <a:noFill/>
        </p:spPr>
        <p:txBody>
          <a:bodyPr wrap="square" lIns="0" tIns="0" rIns="0" bIns="0">
            <a:spAutoFit/>
          </a:bodyPr>
          <a:lstStyle/>
          <a:p>
            <a:pPr algn="l">
              <a:lnSpc>
                <a:spcPct val="135000"/>
              </a:lnSpc>
            </a:pPr>
            <a:r>
              <a:rPr sz="1700" b="0">
                <a:solidFill>
                  <a:srgbClr val="1A1A1A"/>
                </a:solidFill>
                <a:latin typeface="Helvetica Neue"/>
              </a:rPr>
              <a:t>Model kalıbı yakalar.</a:t>
            </a:r>
          </a:p>
          <a:p>
            <a:pPr algn="l">
              <a:lnSpc>
                <a:spcPct val="135000"/>
              </a:lnSpc>
            </a:pPr>
            <a:r>
              <a:rPr sz="1700" b="0">
                <a:solidFill>
                  <a:srgbClr val="1A1A1A"/>
                </a:solidFill>
                <a:latin typeface="Helvetica Neue"/>
              </a:rPr>
              <a:t>Tek örnek bazen</a:t>
            </a:r>
          </a:p>
          <a:p>
            <a:pPr algn="l">
              <a:lnSpc>
                <a:spcPct val="135000"/>
              </a:lnSpc>
            </a:pPr>
            <a:r>
              <a:rPr sz="1700" b="0">
                <a:solidFill>
                  <a:srgbClr val="1A1A1A"/>
                </a:solidFill>
                <a:latin typeface="Helvetica Neue"/>
              </a:rPr>
              <a:t>yanıltıcı olur.</a:t>
            </a:r>
          </a:p>
        </p:txBody>
      </p:sp>
      <p:sp>
        <p:nvSpPr>
          <p:cNvPr id="19" name="Rounded Rectangle 18"/>
          <p:cNvSpPr/>
          <p:nvPr/>
        </p:nvSpPr>
        <p:spPr>
          <a:xfrm>
            <a:off x="12422124" y="3154680"/>
            <a:ext cx="5113782" cy="65836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2422124" y="3154680"/>
            <a:ext cx="5113782" cy="91440"/>
          </a:xfrm>
          <a:prstGeom prst="rect">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879324" y="3538728"/>
            <a:ext cx="4199382" cy="502920"/>
          </a:xfrm>
          <a:prstGeom prst="rect">
            <a:avLst/>
          </a:prstGeom>
          <a:noFill/>
        </p:spPr>
        <p:txBody>
          <a:bodyPr wrap="square" lIns="0" tIns="0" rIns="0" bIns="0">
            <a:spAutoFit/>
          </a:bodyPr>
          <a:lstStyle/>
          <a:p>
            <a:pPr algn="l"/>
            <a:r>
              <a:rPr sz="2200" b="1">
                <a:solidFill>
                  <a:srgbClr val="8A3B2F"/>
                </a:solidFill>
                <a:latin typeface="Helvetica Neue"/>
              </a:rPr>
              <a:t>FEW-SHOT</a:t>
            </a:r>
          </a:p>
        </p:txBody>
      </p:sp>
      <p:sp>
        <p:nvSpPr>
          <p:cNvPr id="22" name="TextBox 21"/>
          <p:cNvSpPr txBox="1"/>
          <p:nvPr/>
        </p:nvSpPr>
        <p:spPr>
          <a:xfrm>
            <a:off x="12879324" y="4114800"/>
            <a:ext cx="4199382" cy="457200"/>
          </a:xfrm>
          <a:prstGeom prst="rect">
            <a:avLst/>
          </a:prstGeom>
          <a:noFill/>
        </p:spPr>
        <p:txBody>
          <a:bodyPr wrap="square" lIns="0" tIns="0" rIns="0" bIns="0">
            <a:spAutoFit/>
          </a:bodyPr>
          <a:lstStyle/>
          <a:p>
            <a:pPr algn="l"/>
            <a:r>
              <a:rPr sz="1800" b="0">
                <a:solidFill>
                  <a:srgbClr val="8A8A8A"/>
                </a:solidFill>
                <a:latin typeface="Helvetica Neue"/>
              </a:rPr>
              <a:t>3 – 5 örnek</a:t>
            </a:r>
          </a:p>
        </p:txBody>
      </p:sp>
      <p:sp>
        <p:nvSpPr>
          <p:cNvPr id="23" name="Rectangle 22"/>
          <p:cNvSpPr/>
          <p:nvPr/>
        </p:nvSpPr>
        <p:spPr>
          <a:xfrm>
            <a:off x="12879324" y="4754880"/>
            <a:ext cx="4199382"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3107924" y="4965192"/>
            <a:ext cx="3742182" cy="2651760"/>
          </a:xfrm>
          <a:prstGeom prst="rect">
            <a:avLst/>
          </a:prstGeom>
          <a:noFill/>
        </p:spPr>
        <p:txBody>
          <a:bodyPr wrap="square" lIns="0" tIns="0" rIns="0" bIns="0">
            <a:spAutoFit/>
          </a:bodyPr>
          <a:lstStyle/>
          <a:p>
            <a:pPr algn="l">
              <a:lnSpc>
                <a:spcPct val="130000"/>
              </a:lnSpc>
            </a:pPr>
            <a:r>
              <a:rPr sz="1400" b="0">
                <a:solidFill>
                  <a:srgbClr val="1A1A1A"/>
                </a:solidFill>
                <a:latin typeface="Consolas"/>
              </a:rPr>
              <a:t>[system] Kısa cevap ver.</a:t>
            </a:r>
          </a:p>
          <a:p>
            <a:pPr algn="l">
              <a:lnSpc>
                <a:spcPct val="130000"/>
              </a:lnSpc>
            </a:pPr>
            <a:endParaRPr sz="1400" b="0">
              <a:solidFill>
                <a:srgbClr val="1A1A1A"/>
              </a:solidFill>
              <a:latin typeface="Consolas"/>
            </a:endParaRPr>
          </a:p>
          <a:p>
            <a:pPr algn="l">
              <a:lnSpc>
                <a:spcPct val="130000"/>
              </a:lnSpc>
            </a:pPr>
            <a:r>
              <a:rPr sz="1400" b="0">
                <a:solidFill>
                  <a:srgbClr val="1A1A1A"/>
                </a:solidFill>
                <a:latin typeface="Consolas"/>
              </a:rPr>
              <a:t>S: Zaman Serileri?</a:t>
            </a:r>
          </a:p>
          <a:p>
            <a:pPr algn="l">
              <a:lnSpc>
                <a:spcPct val="130000"/>
              </a:lnSpc>
            </a:pPr>
            <a:r>
              <a:rPr sz="1400" b="0">
                <a:solidFill>
                  <a:srgbClr val="1A1A1A"/>
                </a:solidFill>
                <a:latin typeface="Consolas"/>
              </a:rPr>
              <a:t>C: Kurs · 7 saat · 55 USD</a:t>
            </a:r>
          </a:p>
          <a:p>
            <a:pPr algn="l">
              <a:lnSpc>
                <a:spcPct val="130000"/>
              </a:lnSpc>
            </a:pPr>
            <a:r>
              <a:rPr sz="1400" b="0">
                <a:solidFill>
                  <a:srgbClr val="1A1A1A"/>
                </a:solidFill>
                <a:latin typeface="Consolas"/>
              </a:rPr>
              <a:t>S: MS SQL Sorgulama?</a:t>
            </a:r>
          </a:p>
          <a:p>
            <a:pPr algn="l">
              <a:lnSpc>
                <a:spcPct val="130000"/>
              </a:lnSpc>
            </a:pPr>
            <a:r>
              <a:rPr sz="1400" b="0">
                <a:solidFill>
                  <a:srgbClr val="1A1A1A"/>
                </a:solidFill>
                <a:latin typeface="Consolas"/>
              </a:rPr>
              <a:t>C: Kurs · 9 saat · 28 USD</a:t>
            </a:r>
          </a:p>
          <a:p>
            <a:pPr algn="l">
              <a:lnSpc>
                <a:spcPct val="130000"/>
              </a:lnSpc>
            </a:pPr>
            <a:r>
              <a:rPr sz="1400" b="0">
                <a:solidFill>
                  <a:srgbClr val="1A1A1A"/>
                </a:solidFill>
                <a:latin typeface="Consolas"/>
              </a:rPr>
              <a:t>S: CRM Analitiği?</a:t>
            </a:r>
          </a:p>
          <a:p>
            <a:pPr algn="l">
              <a:lnSpc>
                <a:spcPct val="130000"/>
              </a:lnSpc>
            </a:pPr>
            <a:r>
              <a:rPr sz="1400" b="0">
                <a:solidFill>
                  <a:srgbClr val="1A1A1A"/>
                </a:solidFill>
                <a:latin typeface="Consolas"/>
              </a:rPr>
              <a:t>C: Kurs · 6 saat · 28 USD</a:t>
            </a:r>
          </a:p>
          <a:p>
            <a:pPr algn="l">
              <a:lnSpc>
                <a:spcPct val="130000"/>
              </a:lnSpc>
            </a:pPr>
            <a:endParaRPr sz="1400" b="0">
              <a:solidFill>
                <a:srgbClr val="1A1A1A"/>
              </a:solidFill>
              <a:latin typeface="Consolas"/>
            </a:endParaRPr>
          </a:p>
          <a:p>
            <a:pPr algn="l">
              <a:lnSpc>
                <a:spcPct val="130000"/>
              </a:lnSpc>
            </a:pPr>
            <a:r>
              <a:rPr sz="1400" b="0">
                <a:solidFill>
                  <a:srgbClr val="1A1A1A"/>
                </a:solidFill>
                <a:latin typeface="Consolas"/>
              </a:rPr>
              <a:t>[user] ...</a:t>
            </a:r>
          </a:p>
        </p:txBody>
      </p:sp>
      <p:sp>
        <p:nvSpPr>
          <p:cNvPr id="25" name="TextBox 24"/>
          <p:cNvSpPr txBox="1"/>
          <p:nvPr/>
        </p:nvSpPr>
        <p:spPr>
          <a:xfrm>
            <a:off x="12879324" y="8046720"/>
            <a:ext cx="4199382" cy="1463040"/>
          </a:xfrm>
          <a:prstGeom prst="rect">
            <a:avLst/>
          </a:prstGeom>
          <a:noFill/>
        </p:spPr>
        <p:txBody>
          <a:bodyPr wrap="square" lIns="0" tIns="0" rIns="0" bIns="0">
            <a:spAutoFit/>
          </a:bodyPr>
          <a:lstStyle/>
          <a:p>
            <a:pPr algn="l">
              <a:lnSpc>
                <a:spcPct val="135000"/>
              </a:lnSpc>
            </a:pPr>
            <a:r>
              <a:rPr sz="1700" b="0">
                <a:solidFill>
                  <a:srgbClr val="1A1A1A"/>
                </a:solidFill>
                <a:latin typeface="Helvetica Neue"/>
              </a:rPr>
              <a:t>Biçim güvenilir hâle gelir.</a:t>
            </a:r>
          </a:p>
          <a:p>
            <a:pPr algn="l">
              <a:lnSpc>
                <a:spcPct val="135000"/>
              </a:lnSpc>
            </a:pPr>
            <a:r>
              <a:rPr sz="1700" b="0">
                <a:solidFill>
                  <a:srgbClr val="1A1A1A"/>
                </a:solidFill>
                <a:latin typeface="Helvetica Neue"/>
              </a:rPr>
              <a:t>Pratikte en çok</a:t>
            </a:r>
          </a:p>
          <a:p>
            <a:pPr algn="l">
              <a:lnSpc>
                <a:spcPct val="135000"/>
              </a:lnSpc>
            </a:pPr>
            <a:r>
              <a:rPr sz="1700" b="0">
                <a:solidFill>
                  <a:srgbClr val="1A1A1A"/>
                </a:solidFill>
                <a:latin typeface="Helvetica Neue"/>
              </a:rPr>
              <a:t>kullanılan yöntem.</a:t>
            </a:r>
          </a:p>
        </p:txBody>
      </p:sp>
      <p:sp>
        <p:nvSpPr>
          <p:cNvPr id="26" name="Rounded Rectangle 25"/>
          <p:cNvSpPr/>
          <p:nvPr/>
        </p:nvSpPr>
        <p:spPr>
          <a:xfrm>
            <a:off x="17993106" y="3154680"/>
            <a:ext cx="5113782" cy="65836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7993106" y="3154680"/>
            <a:ext cx="5113782" cy="91440"/>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8450306" y="3538728"/>
            <a:ext cx="4199382" cy="502920"/>
          </a:xfrm>
          <a:prstGeom prst="rect">
            <a:avLst/>
          </a:prstGeom>
          <a:noFill/>
        </p:spPr>
        <p:txBody>
          <a:bodyPr wrap="square" lIns="0" tIns="0" rIns="0" bIns="0">
            <a:spAutoFit/>
          </a:bodyPr>
          <a:lstStyle/>
          <a:p>
            <a:pPr algn="l"/>
            <a:r>
              <a:rPr sz="2200" b="1">
                <a:solidFill>
                  <a:srgbClr val="15263F"/>
                </a:solidFill>
                <a:latin typeface="Helvetica Neue"/>
              </a:rPr>
              <a:t>MANY-SHOT</a:t>
            </a:r>
          </a:p>
        </p:txBody>
      </p:sp>
      <p:sp>
        <p:nvSpPr>
          <p:cNvPr id="29" name="TextBox 28"/>
          <p:cNvSpPr txBox="1"/>
          <p:nvPr/>
        </p:nvSpPr>
        <p:spPr>
          <a:xfrm>
            <a:off x="18450306" y="4114800"/>
            <a:ext cx="4199382" cy="457200"/>
          </a:xfrm>
          <a:prstGeom prst="rect">
            <a:avLst/>
          </a:prstGeom>
          <a:noFill/>
        </p:spPr>
        <p:txBody>
          <a:bodyPr wrap="square" lIns="0" tIns="0" rIns="0" bIns="0">
            <a:spAutoFit/>
          </a:bodyPr>
          <a:lstStyle/>
          <a:p>
            <a:pPr algn="l"/>
            <a:r>
              <a:rPr sz="1800" b="0">
                <a:solidFill>
                  <a:srgbClr val="8A8A8A"/>
                </a:solidFill>
                <a:latin typeface="Helvetica Neue"/>
              </a:rPr>
              <a:t>onlarca – yüzlerce</a:t>
            </a:r>
          </a:p>
        </p:txBody>
      </p:sp>
      <p:sp>
        <p:nvSpPr>
          <p:cNvPr id="30" name="Rectangle 29"/>
          <p:cNvSpPr/>
          <p:nvPr/>
        </p:nvSpPr>
        <p:spPr>
          <a:xfrm>
            <a:off x="18450306" y="4754880"/>
            <a:ext cx="4199382"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8678906" y="4965192"/>
            <a:ext cx="3742182" cy="2651760"/>
          </a:xfrm>
          <a:prstGeom prst="rect">
            <a:avLst/>
          </a:prstGeom>
          <a:noFill/>
        </p:spPr>
        <p:txBody>
          <a:bodyPr wrap="square" lIns="0" tIns="0" rIns="0" bIns="0">
            <a:spAutoFit/>
          </a:bodyPr>
          <a:lstStyle/>
          <a:p>
            <a:pPr algn="l">
              <a:lnSpc>
                <a:spcPct val="130000"/>
              </a:lnSpc>
            </a:pPr>
            <a:r>
              <a:rPr sz="1400" b="0">
                <a:solidFill>
                  <a:srgbClr val="1A1A1A"/>
                </a:solidFill>
                <a:latin typeface="Consolas"/>
              </a:rPr>
              <a:t>[system] Kısa cevap ver.</a:t>
            </a:r>
          </a:p>
          <a:p>
            <a:pPr algn="l">
              <a:lnSpc>
                <a:spcPct val="130000"/>
              </a:lnSpc>
            </a:pPr>
            <a:endParaRPr sz="1400" b="0">
              <a:solidFill>
                <a:srgbClr val="1A1A1A"/>
              </a:solidFill>
              <a:latin typeface="Consolas"/>
            </a:endParaRPr>
          </a:p>
          <a:p>
            <a:pPr algn="l">
              <a:lnSpc>
                <a:spcPct val="130000"/>
              </a:lnSpc>
            </a:pPr>
            <a:r>
              <a:rPr sz="1400" b="0">
                <a:solidFill>
                  <a:srgbClr val="1A1A1A"/>
                </a:solidFill>
                <a:latin typeface="Consolas"/>
              </a:rPr>
              <a:t>S: ...   C: ...</a:t>
            </a:r>
          </a:p>
          <a:p>
            <a:pPr algn="l">
              <a:lnSpc>
                <a:spcPct val="130000"/>
              </a:lnSpc>
            </a:pPr>
            <a:r>
              <a:rPr sz="1400" b="0">
                <a:solidFill>
                  <a:srgbClr val="1A1A1A"/>
                </a:solidFill>
                <a:latin typeface="Consolas"/>
              </a:rPr>
              <a:t>S: ...   C: ...</a:t>
            </a:r>
          </a:p>
          <a:p>
            <a:pPr algn="l">
              <a:lnSpc>
                <a:spcPct val="130000"/>
              </a:lnSpc>
            </a:pPr>
            <a:r>
              <a:rPr sz="1400" b="0">
                <a:solidFill>
                  <a:srgbClr val="1A1A1A"/>
                </a:solidFill>
                <a:latin typeface="Consolas"/>
              </a:rPr>
              <a:t>     ⋮   (60 örnek)</a:t>
            </a:r>
          </a:p>
          <a:p>
            <a:pPr algn="l">
              <a:lnSpc>
                <a:spcPct val="130000"/>
              </a:lnSpc>
            </a:pPr>
            <a:r>
              <a:rPr sz="1400" b="0">
                <a:solidFill>
                  <a:srgbClr val="1A1A1A"/>
                </a:solidFill>
                <a:latin typeface="Consolas"/>
              </a:rPr>
              <a:t>S: ...   C: ...</a:t>
            </a:r>
          </a:p>
          <a:p>
            <a:pPr algn="l">
              <a:lnSpc>
                <a:spcPct val="130000"/>
              </a:lnSpc>
            </a:pPr>
            <a:endParaRPr sz="1400" b="0">
              <a:solidFill>
                <a:srgbClr val="1A1A1A"/>
              </a:solidFill>
              <a:latin typeface="Consolas"/>
            </a:endParaRPr>
          </a:p>
          <a:p>
            <a:pPr algn="l">
              <a:lnSpc>
                <a:spcPct val="130000"/>
              </a:lnSpc>
            </a:pPr>
            <a:r>
              <a:rPr sz="1400" b="0">
                <a:solidFill>
                  <a:srgbClr val="1A1A1A"/>
                </a:solidFill>
                <a:latin typeface="Consolas"/>
              </a:rPr>
              <a:t>[user] ...</a:t>
            </a:r>
          </a:p>
        </p:txBody>
      </p:sp>
      <p:sp>
        <p:nvSpPr>
          <p:cNvPr id="32" name="TextBox 31"/>
          <p:cNvSpPr txBox="1"/>
          <p:nvPr/>
        </p:nvSpPr>
        <p:spPr>
          <a:xfrm>
            <a:off x="18450306" y="8046720"/>
            <a:ext cx="4199382" cy="1463040"/>
          </a:xfrm>
          <a:prstGeom prst="rect">
            <a:avLst/>
          </a:prstGeom>
          <a:noFill/>
        </p:spPr>
        <p:txBody>
          <a:bodyPr wrap="square" lIns="0" tIns="0" rIns="0" bIns="0">
            <a:spAutoFit/>
          </a:bodyPr>
          <a:lstStyle/>
          <a:p>
            <a:pPr algn="l">
              <a:lnSpc>
                <a:spcPct val="135000"/>
              </a:lnSpc>
            </a:pPr>
            <a:r>
              <a:rPr sz="1700" b="0">
                <a:solidFill>
                  <a:srgbClr val="1A1A1A"/>
                </a:solidFill>
                <a:latin typeface="Helvetica Neue"/>
              </a:rPr>
              <a:t>Uzun bağlam pencereleriyle</a:t>
            </a:r>
          </a:p>
          <a:p>
            <a:pPr algn="l">
              <a:lnSpc>
                <a:spcPct val="135000"/>
              </a:lnSpc>
            </a:pPr>
            <a:r>
              <a:rPr sz="1700" b="0">
                <a:solidFill>
                  <a:srgbClr val="1A1A1A"/>
                </a:solidFill>
                <a:latin typeface="Helvetica Neue"/>
              </a:rPr>
              <a:t>mümkün oldu. Bazı işlerde</a:t>
            </a:r>
          </a:p>
          <a:p>
            <a:pPr algn="l">
              <a:lnSpc>
                <a:spcPct val="135000"/>
              </a:lnSpc>
            </a:pPr>
            <a:r>
              <a:rPr sz="1700" b="0">
                <a:solidFill>
                  <a:srgbClr val="1A1A1A"/>
                </a:solidFill>
                <a:latin typeface="Helvetica Neue"/>
              </a:rPr>
              <a:t>ince ayara yaklaşır.</a:t>
            </a:r>
          </a:p>
        </p:txBody>
      </p:sp>
      <p:sp>
        <p:nvSpPr>
          <p:cNvPr id="33" name="Right Arrow 32"/>
          <p:cNvSpPr/>
          <p:nvPr/>
        </p:nvSpPr>
        <p:spPr>
          <a:xfrm>
            <a:off x="1280160" y="10104120"/>
            <a:ext cx="21826728" cy="502920"/>
          </a:xfrm>
          <a:prstGeom prst="rightArrow">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011680" y="10131552"/>
            <a:ext cx="7315200" cy="457200"/>
          </a:xfrm>
          <a:prstGeom prst="rect">
            <a:avLst/>
          </a:prstGeom>
          <a:noFill/>
        </p:spPr>
        <p:txBody>
          <a:bodyPr wrap="square" lIns="0" tIns="0" rIns="0" bIns="0">
            <a:spAutoFit/>
          </a:bodyPr>
          <a:lstStyle/>
          <a:p>
            <a:pPr algn="l"/>
            <a:r>
              <a:rPr sz="1800" b="1">
                <a:solidFill>
                  <a:srgbClr val="8A8A8A"/>
                </a:solidFill>
                <a:latin typeface="Helvetica Neue"/>
              </a:rPr>
              <a:t>az token · ucuz</a:t>
            </a:r>
          </a:p>
        </p:txBody>
      </p:sp>
      <p:sp>
        <p:nvSpPr>
          <p:cNvPr id="35" name="TextBox 34"/>
          <p:cNvSpPr txBox="1"/>
          <p:nvPr/>
        </p:nvSpPr>
        <p:spPr>
          <a:xfrm>
            <a:off x="14264640" y="10131552"/>
            <a:ext cx="7863840" cy="457200"/>
          </a:xfrm>
          <a:prstGeom prst="rect">
            <a:avLst/>
          </a:prstGeom>
          <a:noFill/>
        </p:spPr>
        <p:txBody>
          <a:bodyPr wrap="square" lIns="0" tIns="0" rIns="0" bIns="0">
            <a:spAutoFit/>
          </a:bodyPr>
          <a:lstStyle/>
          <a:p>
            <a:pPr algn="r"/>
            <a:r>
              <a:rPr sz="1800" b="1">
                <a:solidFill>
                  <a:srgbClr val="15263F"/>
                </a:solidFill>
                <a:latin typeface="Helvetica Neue"/>
              </a:rPr>
              <a:t>çok token · pahalı</a:t>
            </a:r>
          </a:p>
        </p:txBody>
      </p:sp>
      <p:sp>
        <p:nvSpPr>
          <p:cNvPr id="36" name="Rectangle 35"/>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Hiçbiri modelin </a:t>
            </a:r>
            <a:r>
              <a:rPr sz="2400" b="1">
                <a:solidFill>
                  <a:srgbClr val="15263F"/>
                </a:solidFill>
                <a:latin typeface="Helvetica Neue"/>
              </a:rPr>
              <a:t>bildiğini</a:t>
            </a:r>
            <a:r>
              <a:rPr sz="2400" b="0">
                <a:solidFill>
                  <a:srgbClr val="15263F"/>
                </a:solidFill>
                <a:latin typeface="Helvetica Neue"/>
              </a:rPr>
              <a:t> değiştirmez — sadece </a:t>
            </a:r>
            <a:r>
              <a:rPr sz="2400" b="1">
                <a:solidFill>
                  <a:srgbClr val="15263F"/>
                </a:solidFill>
                <a:latin typeface="Helvetica Neue"/>
              </a:rPr>
              <a:t>nasıl cevap vereceğini</a:t>
            </a:r>
            <a:r>
              <a:rPr sz="2400" b="0">
                <a:solidFill>
                  <a:srgbClr val="15263F"/>
                </a:solidFill>
                <a:latin typeface="Helvetica Neue"/>
              </a:rPr>
              <a:t> gösterir.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RAG nasıl çalışıyor?</a:t>
            </a:r>
          </a:p>
        </p:txBody>
      </p:sp>
      <p:sp>
        <p:nvSpPr>
          <p:cNvPr id="3" name="TextBox 2"/>
          <p:cNvSpPr txBox="1"/>
          <p:nvPr/>
        </p:nvSpPr>
        <p:spPr>
          <a:xfrm>
            <a:off x="1280160" y="1965960"/>
            <a:ext cx="21826728" cy="457200"/>
          </a:xfrm>
          <a:prstGeom prst="rect">
            <a:avLst/>
          </a:prstGeom>
          <a:noFill/>
        </p:spPr>
        <p:txBody>
          <a:bodyPr wrap="square" lIns="0" tIns="0" rIns="0" bIns="0">
            <a:spAutoFit/>
          </a:bodyPr>
          <a:lstStyle/>
          <a:p>
            <a:pPr algn="l"/>
            <a:r>
              <a:rPr sz="1900" b="1">
                <a:solidFill>
                  <a:srgbClr val="8A8A8A"/>
                </a:solidFill>
                <a:latin typeface="Helvetica Neue"/>
              </a:rPr>
              <a:t>①   HAZIRLIK  ·  bir kez yapılır</a:t>
            </a:r>
          </a:p>
        </p:txBody>
      </p:sp>
      <p:sp>
        <p:nvSpPr>
          <p:cNvPr id="4" name="Rounded Rectangle 3"/>
          <p:cNvSpPr/>
          <p:nvPr/>
        </p:nvSpPr>
        <p:spPr>
          <a:xfrm>
            <a:off x="3907231" y="2537460"/>
            <a:ext cx="1146658" cy="1508760"/>
          </a:xfrm>
          <a:prstGeom prst="roundRect">
            <a:avLst>
              <a:gd name="adj" fmla="val 6000"/>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ight Triangle 4"/>
          <p:cNvSpPr/>
          <p:nvPr/>
        </p:nvSpPr>
        <p:spPr>
          <a:xfrm>
            <a:off x="4661611" y="2537460"/>
            <a:ext cx="392278" cy="392278"/>
          </a:xfrm>
          <a:prstGeom prst="r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463040" y="4366260"/>
            <a:ext cx="6035040" cy="548640"/>
          </a:xfrm>
          <a:prstGeom prst="rect">
            <a:avLst/>
          </a:prstGeom>
          <a:noFill/>
        </p:spPr>
        <p:txBody>
          <a:bodyPr wrap="square" lIns="0" tIns="0" rIns="0" bIns="0">
            <a:spAutoFit/>
          </a:bodyPr>
          <a:lstStyle/>
          <a:p>
            <a:pPr algn="ctr"/>
            <a:r>
              <a:rPr sz="2300" b="1">
                <a:solidFill>
                  <a:srgbClr val="8A3B2F"/>
                </a:solidFill>
                <a:latin typeface="Helvetica Neue"/>
              </a:rPr>
              <a:t>Belgeler</a:t>
            </a:r>
          </a:p>
        </p:txBody>
      </p:sp>
      <p:sp>
        <p:nvSpPr>
          <p:cNvPr id="7" name="TextBox 6"/>
          <p:cNvSpPr txBox="1"/>
          <p:nvPr/>
        </p:nvSpPr>
        <p:spPr>
          <a:xfrm>
            <a:off x="1463040" y="5006340"/>
            <a:ext cx="6035040" cy="1097280"/>
          </a:xfrm>
          <a:prstGeom prst="rect">
            <a:avLst/>
          </a:prstGeom>
          <a:noFill/>
        </p:spPr>
        <p:txBody>
          <a:bodyPr wrap="square" lIns="0" tIns="0" rIns="0" bIns="0">
            <a:spAutoFit/>
          </a:bodyPr>
          <a:lstStyle/>
          <a:p>
            <a:pPr algn="ctr">
              <a:lnSpc>
                <a:spcPct val="130000"/>
              </a:lnSpc>
            </a:pPr>
            <a:r>
              <a:rPr sz="1700" b="0">
                <a:solidFill>
                  <a:srgbClr val="1A1A1A"/>
                </a:solidFill>
                <a:latin typeface="Helvetica Neue"/>
              </a:rPr>
              <a:t>Miuul kataloğu</a:t>
            </a:r>
          </a:p>
          <a:p>
            <a:pPr algn="ctr">
              <a:lnSpc>
                <a:spcPct val="130000"/>
              </a:lnSpc>
            </a:pPr>
            <a:r>
              <a:rPr sz="1700" b="0">
                <a:solidFill>
                  <a:srgbClr val="1A1A1A"/>
                </a:solidFill>
                <a:latin typeface="Helvetica Neue"/>
              </a:rPr>
              <a:t>~100 eğitim kaydı</a:t>
            </a:r>
          </a:p>
        </p:txBody>
      </p:sp>
      <p:sp>
        <p:nvSpPr>
          <p:cNvPr id="8" name="Rounded Rectangle 7"/>
          <p:cNvSpPr/>
          <p:nvPr/>
        </p:nvSpPr>
        <p:spPr>
          <a:xfrm>
            <a:off x="10782148" y="2341321"/>
            <a:ext cx="1086307" cy="1297534"/>
          </a:xfrm>
          <a:prstGeom prst="roundRect">
            <a:avLst>
              <a:gd name="adj" fmla="val 6000"/>
            </a:avLst>
          </a:prstGeom>
          <a:solidFill>
            <a:srgbClr val="E6D0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0978286" y="2537460"/>
            <a:ext cx="1086307" cy="1297534"/>
          </a:xfrm>
          <a:prstGeom prst="roundRect">
            <a:avLst>
              <a:gd name="adj" fmla="val 6000"/>
            </a:avLst>
          </a:prstGeom>
          <a:solidFill>
            <a:srgbClr val="E6D0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1174425" y="2733599"/>
            <a:ext cx="1086307" cy="1297534"/>
          </a:xfrm>
          <a:prstGeom prst="roundRect">
            <a:avLst>
              <a:gd name="adj" fmla="val 6000"/>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03920" y="4366260"/>
            <a:ext cx="6035040" cy="548640"/>
          </a:xfrm>
          <a:prstGeom prst="rect">
            <a:avLst/>
          </a:prstGeom>
          <a:noFill/>
        </p:spPr>
        <p:txBody>
          <a:bodyPr wrap="square" lIns="0" tIns="0" rIns="0" bIns="0">
            <a:spAutoFit/>
          </a:bodyPr>
          <a:lstStyle/>
          <a:p>
            <a:pPr algn="ctr"/>
            <a:r>
              <a:rPr sz="2300" b="1">
                <a:solidFill>
                  <a:srgbClr val="C08A2E"/>
                </a:solidFill>
                <a:latin typeface="Helvetica Neue"/>
              </a:rPr>
              <a:t>Parçalar</a:t>
            </a:r>
          </a:p>
        </p:txBody>
      </p:sp>
      <p:sp>
        <p:nvSpPr>
          <p:cNvPr id="12" name="TextBox 11"/>
          <p:cNvSpPr txBox="1"/>
          <p:nvPr/>
        </p:nvSpPr>
        <p:spPr>
          <a:xfrm>
            <a:off x="8503920" y="5006340"/>
            <a:ext cx="6035040" cy="1097280"/>
          </a:xfrm>
          <a:prstGeom prst="rect">
            <a:avLst/>
          </a:prstGeom>
          <a:noFill/>
        </p:spPr>
        <p:txBody>
          <a:bodyPr wrap="square" lIns="0" tIns="0" rIns="0" bIns="0">
            <a:spAutoFit/>
          </a:bodyPr>
          <a:lstStyle/>
          <a:p>
            <a:pPr algn="ctr">
              <a:lnSpc>
                <a:spcPct val="130000"/>
              </a:lnSpc>
            </a:pPr>
            <a:r>
              <a:rPr sz="1700" b="0">
                <a:solidFill>
                  <a:srgbClr val="1A1A1A"/>
                </a:solidFill>
                <a:latin typeface="Helvetica Neue"/>
              </a:rPr>
              <a:t>Her kayıt ayrı bir chunk</a:t>
            </a:r>
          </a:p>
        </p:txBody>
      </p:sp>
      <p:sp>
        <p:nvSpPr>
          <p:cNvPr id="13" name="Rounded Rectangle 12"/>
          <p:cNvSpPr/>
          <p:nvPr/>
        </p:nvSpPr>
        <p:spPr>
          <a:xfrm>
            <a:off x="17770221" y="2537460"/>
            <a:ext cx="1584198" cy="1508760"/>
          </a:xfrm>
          <a:prstGeom prst="roundRect">
            <a:avLst>
              <a:gd name="adj" fmla="val 10000"/>
            </a:avLst>
          </a:prstGeom>
          <a:solidFill>
            <a:srgbClr val="B6BF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7992009" y="2778862"/>
            <a:ext cx="821248" cy="196139"/>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7992009" y="3122104"/>
            <a:ext cx="501874" cy="196139"/>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7992009" y="3465347"/>
            <a:ext cx="980935" cy="196139"/>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7992009" y="3808590"/>
            <a:ext cx="342187" cy="196139"/>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5544800" y="4366260"/>
            <a:ext cx="6035040" cy="548640"/>
          </a:xfrm>
          <a:prstGeom prst="rect">
            <a:avLst/>
          </a:prstGeom>
          <a:noFill/>
        </p:spPr>
        <p:txBody>
          <a:bodyPr wrap="square" lIns="0" tIns="0" rIns="0" bIns="0">
            <a:spAutoFit/>
          </a:bodyPr>
          <a:lstStyle/>
          <a:p>
            <a:pPr algn="ctr"/>
            <a:r>
              <a:rPr sz="2300" b="1">
                <a:solidFill>
                  <a:srgbClr val="15263F"/>
                </a:solidFill>
                <a:latin typeface="Helvetica Neue"/>
              </a:rPr>
              <a:t>Vektörler</a:t>
            </a:r>
          </a:p>
        </p:txBody>
      </p:sp>
      <p:sp>
        <p:nvSpPr>
          <p:cNvPr id="19" name="TextBox 18"/>
          <p:cNvSpPr txBox="1"/>
          <p:nvPr/>
        </p:nvSpPr>
        <p:spPr>
          <a:xfrm>
            <a:off x="15544800" y="5006340"/>
            <a:ext cx="6035040" cy="1097280"/>
          </a:xfrm>
          <a:prstGeom prst="rect">
            <a:avLst/>
          </a:prstGeom>
          <a:noFill/>
        </p:spPr>
        <p:txBody>
          <a:bodyPr wrap="square" lIns="0" tIns="0" rIns="0" bIns="0">
            <a:spAutoFit/>
          </a:bodyPr>
          <a:lstStyle/>
          <a:p>
            <a:pPr algn="ctr">
              <a:lnSpc>
                <a:spcPct val="130000"/>
              </a:lnSpc>
            </a:pPr>
            <a:r>
              <a:rPr sz="1700" b="0">
                <a:solidFill>
                  <a:srgbClr val="1A1A1A"/>
                </a:solidFill>
                <a:latin typeface="Helvetica Neue"/>
              </a:rPr>
              <a:t>Gömme modeli her parçayı</a:t>
            </a:r>
          </a:p>
          <a:p>
            <a:pPr algn="ctr">
              <a:lnSpc>
                <a:spcPct val="130000"/>
              </a:lnSpc>
            </a:pPr>
            <a:r>
              <a:rPr sz="1700" b="0">
                <a:solidFill>
                  <a:srgbClr val="1A1A1A"/>
                </a:solidFill>
                <a:latin typeface="Helvetica Neue"/>
              </a:rPr>
              <a:t>sayı dizisine çevirir</a:t>
            </a:r>
          </a:p>
        </p:txBody>
      </p:sp>
      <p:sp>
        <p:nvSpPr>
          <p:cNvPr id="20" name="Right Arrow 19"/>
          <p:cNvSpPr/>
          <p:nvPr/>
        </p:nvSpPr>
        <p:spPr>
          <a:xfrm>
            <a:off x="7269480" y="3017520"/>
            <a:ext cx="1463040" cy="566928"/>
          </a:xfrm>
          <a:prstGeom prst="rightArrow">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ight Arrow 20"/>
          <p:cNvSpPr/>
          <p:nvPr/>
        </p:nvSpPr>
        <p:spPr>
          <a:xfrm>
            <a:off x="14310360" y="3017520"/>
            <a:ext cx="1463040" cy="566928"/>
          </a:xfrm>
          <a:prstGeom prst="rightArrow">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Down Arrow 21"/>
          <p:cNvSpPr/>
          <p:nvPr/>
        </p:nvSpPr>
        <p:spPr>
          <a:xfrm>
            <a:off x="4160520" y="5806440"/>
            <a:ext cx="640080" cy="685800"/>
          </a:xfrm>
          <a:prstGeom prst="downArrow">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Down Arrow 22"/>
          <p:cNvSpPr/>
          <p:nvPr/>
        </p:nvSpPr>
        <p:spPr>
          <a:xfrm>
            <a:off x="11201400" y="5806440"/>
            <a:ext cx="640080" cy="685800"/>
          </a:xfrm>
          <a:prstGeom prst="downArrow">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wn Arrow 23"/>
          <p:cNvSpPr/>
          <p:nvPr/>
        </p:nvSpPr>
        <p:spPr>
          <a:xfrm>
            <a:off x="18242280" y="5806440"/>
            <a:ext cx="640080" cy="685800"/>
          </a:xfrm>
          <a:prstGeom prst="downArrow">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280160" y="6629400"/>
            <a:ext cx="21826728" cy="1600200"/>
          </a:xfrm>
          <a:prstGeom prst="roundRect">
            <a:avLst>
              <a:gd name="adj" fmla="val 6000"/>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2258568" y="6876288"/>
            <a:ext cx="1152144" cy="32918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258568" y="7132320"/>
            <a:ext cx="1152144" cy="32918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2258568" y="7388352"/>
            <a:ext cx="1152144" cy="32918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2258568" y="7644384"/>
            <a:ext cx="1152144" cy="32918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023360" y="6629400"/>
            <a:ext cx="18288000" cy="1600200"/>
          </a:xfrm>
          <a:prstGeom prst="rect">
            <a:avLst/>
          </a:prstGeom>
          <a:noFill/>
        </p:spPr>
        <p:txBody>
          <a:bodyPr wrap="square" lIns="0" tIns="0" rIns="0" bIns="0" anchor="ctr">
            <a:spAutoFit/>
          </a:bodyPr>
          <a:lstStyle/>
          <a:p>
            <a:pPr algn="l"/>
            <a:r>
              <a:rPr sz="2400" b="1">
                <a:solidFill>
                  <a:srgbClr val="FFFFFF"/>
                </a:solidFill>
                <a:latin typeface="Helvetica Neue"/>
              </a:rPr>
              <a:t>VEKTÖR VERİTABANI</a:t>
            </a:r>
            <a:r>
              <a:rPr sz="2400" b="0">
                <a:solidFill>
                  <a:srgbClr val="FFFFFF"/>
                </a:solidFill>
                <a:latin typeface="Helvetica Neue"/>
              </a:rPr>
              <a:t>      her parça, bir vektör olarak saklanıyor</a:t>
            </a:r>
          </a:p>
        </p:txBody>
      </p:sp>
      <p:sp>
        <p:nvSpPr>
          <p:cNvPr id="31" name="TextBox 30"/>
          <p:cNvSpPr txBox="1"/>
          <p:nvPr/>
        </p:nvSpPr>
        <p:spPr>
          <a:xfrm>
            <a:off x="1280160" y="8458200"/>
            <a:ext cx="21826728" cy="457200"/>
          </a:xfrm>
          <a:prstGeom prst="rect">
            <a:avLst/>
          </a:prstGeom>
          <a:noFill/>
        </p:spPr>
        <p:txBody>
          <a:bodyPr wrap="square" lIns="0" tIns="0" rIns="0" bIns="0">
            <a:spAutoFit/>
          </a:bodyPr>
          <a:lstStyle/>
          <a:p>
            <a:pPr algn="l"/>
            <a:r>
              <a:rPr sz="1900" b="1">
                <a:solidFill>
                  <a:srgbClr val="8A8A8A"/>
                </a:solidFill>
                <a:latin typeface="Helvetica Neue"/>
              </a:rPr>
              <a:t>②   SORU ANI  ·  her istekte tekrarlanır</a:t>
            </a:r>
          </a:p>
        </p:txBody>
      </p:sp>
      <p:sp>
        <p:nvSpPr>
          <p:cNvPr id="32" name="Rounded Rectangle 31"/>
          <p:cNvSpPr/>
          <p:nvPr/>
        </p:nvSpPr>
        <p:spPr>
          <a:xfrm>
            <a:off x="3078099" y="8983980"/>
            <a:ext cx="1524762" cy="1060704"/>
          </a:xfrm>
          <a:prstGeom prst="roundRect">
            <a:avLst>
              <a:gd name="adj" fmla="val 18000"/>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ight Triangle 32"/>
          <p:cNvSpPr/>
          <p:nvPr/>
        </p:nvSpPr>
        <p:spPr>
          <a:xfrm>
            <a:off x="3505032" y="10018166"/>
            <a:ext cx="344729" cy="344729"/>
          </a:xfrm>
          <a:prstGeom prst="rtTriangle">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3475863" y="9434779"/>
            <a:ext cx="119329" cy="11932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3780815" y="9434779"/>
            <a:ext cx="119329" cy="11932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4085768" y="9434779"/>
            <a:ext cx="119329" cy="11932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97280" y="10561320"/>
            <a:ext cx="5486400" cy="502920"/>
          </a:xfrm>
          <a:prstGeom prst="rect">
            <a:avLst/>
          </a:prstGeom>
          <a:noFill/>
        </p:spPr>
        <p:txBody>
          <a:bodyPr wrap="square" lIns="0" tIns="0" rIns="0" bIns="0">
            <a:spAutoFit/>
          </a:bodyPr>
          <a:lstStyle/>
          <a:p>
            <a:pPr algn="ctr"/>
            <a:r>
              <a:rPr sz="2100" b="1">
                <a:solidFill>
                  <a:srgbClr val="8A3B2F"/>
                </a:solidFill>
                <a:latin typeface="Helvetica Neue"/>
              </a:rPr>
              <a:t>Soru</a:t>
            </a:r>
          </a:p>
        </p:txBody>
      </p:sp>
      <p:sp>
        <p:nvSpPr>
          <p:cNvPr id="38" name="TextBox 37"/>
          <p:cNvSpPr txBox="1"/>
          <p:nvPr/>
        </p:nvSpPr>
        <p:spPr>
          <a:xfrm>
            <a:off x="1097280" y="11109960"/>
            <a:ext cx="5486400" cy="457200"/>
          </a:xfrm>
          <a:prstGeom prst="rect">
            <a:avLst/>
          </a:prstGeom>
          <a:noFill/>
        </p:spPr>
        <p:txBody>
          <a:bodyPr wrap="square" lIns="0" tIns="0" rIns="0" bIns="0">
            <a:spAutoFit/>
          </a:bodyPr>
          <a:lstStyle/>
          <a:p>
            <a:pPr algn="ctr"/>
            <a:r>
              <a:rPr sz="1600" b="0">
                <a:solidFill>
                  <a:srgbClr val="8A8A8A"/>
                </a:solidFill>
                <a:latin typeface="Helvetica Neue"/>
              </a:rPr>
              <a:t>kullanıcının sorusu</a:t>
            </a:r>
          </a:p>
        </p:txBody>
      </p:sp>
      <p:sp>
        <p:nvSpPr>
          <p:cNvPr id="39" name="Rounded Rectangle 38"/>
          <p:cNvSpPr/>
          <p:nvPr/>
        </p:nvSpPr>
        <p:spPr>
          <a:xfrm>
            <a:off x="8722233" y="8983980"/>
            <a:ext cx="1392174" cy="1325880"/>
          </a:xfrm>
          <a:prstGeom prst="roundRect">
            <a:avLst>
              <a:gd name="adj" fmla="val 10000"/>
            </a:avLst>
          </a:prstGeom>
          <a:solidFill>
            <a:srgbClr val="E6D0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917137" y="9196121"/>
            <a:ext cx="721703" cy="172364"/>
          </a:xfrm>
          <a:prstGeom prst="rect">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8917137" y="9497758"/>
            <a:ext cx="441041" cy="172364"/>
          </a:xfrm>
          <a:prstGeom prst="rect">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8917137" y="9799396"/>
            <a:ext cx="862034" cy="172364"/>
          </a:xfrm>
          <a:prstGeom prst="rect">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917137" y="10101034"/>
            <a:ext cx="300710" cy="172364"/>
          </a:xfrm>
          <a:prstGeom prst="rect">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675120" y="10561320"/>
            <a:ext cx="5486400" cy="502920"/>
          </a:xfrm>
          <a:prstGeom prst="rect">
            <a:avLst/>
          </a:prstGeom>
          <a:noFill/>
        </p:spPr>
        <p:txBody>
          <a:bodyPr wrap="square" lIns="0" tIns="0" rIns="0" bIns="0">
            <a:spAutoFit/>
          </a:bodyPr>
          <a:lstStyle/>
          <a:p>
            <a:pPr algn="ctr"/>
            <a:r>
              <a:rPr sz="2100" b="1">
                <a:solidFill>
                  <a:srgbClr val="C08A2E"/>
                </a:solidFill>
                <a:latin typeface="Helvetica Neue"/>
              </a:rPr>
              <a:t>Vektör</a:t>
            </a:r>
          </a:p>
        </p:txBody>
      </p:sp>
      <p:sp>
        <p:nvSpPr>
          <p:cNvPr id="45" name="TextBox 44"/>
          <p:cNvSpPr txBox="1"/>
          <p:nvPr/>
        </p:nvSpPr>
        <p:spPr>
          <a:xfrm>
            <a:off x="6675120" y="11109960"/>
            <a:ext cx="5486400" cy="457200"/>
          </a:xfrm>
          <a:prstGeom prst="rect">
            <a:avLst/>
          </a:prstGeom>
          <a:noFill/>
        </p:spPr>
        <p:txBody>
          <a:bodyPr wrap="square" lIns="0" tIns="0" rIns="0" bIns="0">
            <a:spAutoFit/>
          </a:bodyPr>
          <a:lstStyle/>
          <a:p>
            <a:pPr algn="ctr"/>
            <a:r>
              <a:rPr sz="1600" b="0">
                <a:solidFill>
                  <a:srgbClr val="8A8A8A"/>
                </a:solidFill>
                <a:latin typeface="Helvetica Neue"/>
              </a:rPr>
              <a:t>aynı gömme modeli</a:t>
            </a:r>
          </a:p>
        </p:txBody>
      </p:sp>
      <p:sp>
        <p:nvSpPr>
          <p:cNvPr id="46" name="Oval 45"/>
          <p:cNvSpPr/>
          <p:nvPr/>
        </p:nvSpPr>
        <p:spPr>
          <a:xfrm>
            <a:off x="14439290" y="9090050"/>
            <a:ext cx="954634" cy="954634"/>
          </a:xfrm>
          <a:prstGeom prst="ellipse">
            <a:avLst/>
          </a:prstGeom>
          <a:noFill/>
          <a:ln w="63500">
            <a:solidFill>
              <a:srgbClr val="1526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7" name="Connector 46"/>
          <p:cNvCxnSpPr/>
          <p:nvPr/>
        </p:nvCxnSpPr>
        <p:spPr>
          <a:xfrm>
            <a:off x="15263457" y="9914217"/>
            <a:ext cx="324576" cy="324576"/>
          </a:xfrm>
          <a:prstGeom prst="line">
            <a:avLst/>
          </a:prstGeom>
          <a:ln w="76200">
            <a:solidFill>
              <a:srgbClr val="15263F"/>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2252960" y="10561320"/>
            <a:ext cx="5486400" cy="502920"/>
          </a:xfrm>
          <a:prstGeom prst="rect">
            <a:avLst/>
          </a:prstGeom>
          <a:noFill/>
        </p:spPr>
        <p:txBody>
          <a:bodyPr wrap="square" lIns="0" tIns="0" rIns="0" bIns="0">
            <a:spAutoFit/>
          </a:bodyPr>
          <a:lstStyle/>
          <a:p>
            <a:pPr algn="ctr"/>
            <a:r>
              <a:rPr sz="2100" b="1">
                <a:solidFill>
                  <a:srgbClr val="15263F"/>
                </a:solidFill>
                <a:latin typeface="Helvetica Neue"/>
              </a:rPr>
              <a:t>Arama</a:t>
            </a:r>
          </a:p>
        </p:txBody>
      </p:sp>
      <p:sp>
        <p:nvSpPr>
          <p:cNvPr id="49" name="TextBox 48"/>
          <p:cNvSpPr txBox="1"/>
          <p:nvPr/>
        </p:nvSpPr>
        <p:spPr>
          <a:xfrm>
            <a:off x="12252960" y="11109960"/>
            <a:ext cx="5486400" cy="457200"/>
          </a:xfrm>
          <a:prstGeom prst="rect">
            <a:avLst/>
          </a:prstGeom>
          <a:noFill/>
        </p:spPr>
        <p:txBody>
          <a:bodyPr wrap="square" lIns="0" tIns="0" rIns="0" bIns="0">
            <a:spAutoFit/>
          </a:bodyPr>
          <a:lstStyle/>
          <a:p>
            <a:pPr algn="ctr"/>
            <a:r>
              <a:rPr sz="1600" b="0">
                <a:solidFill>
                  <a:srgbClr val="8A8A8A"/>
                </a:solidFill>
                <a:latin typeface="Helvetica Neue"/>
              </a:rPr>
              <a:t>en yakın parçalar</a:t>
            </a:r>
          </a:p>
        </p:txBody>
      </p:sp>
      <p:sp>
        <p:nvSpPr>
          <p:cNvPr id="50" name="Rounded Rectangle 49"/>
          <p:cNvSpPr/>
          <p:nvPr/>
        </p:nvSpPr>
        <p:spPr>
          <a:xfrm>
            <a:off x="19911060" y="8983980"/>
            <a:ext cx="1325880" cy="1325880"/>
          </a:xfrm>
          <a:prstGeom prst="roundRect">
            <a:avLst>
              <a:gd name="adj" fmla="val 14000"/>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20269048" y="9341968"/>
            <a:ext cx="609905" cy="609905"/>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19824878" y="9355226"/>
            <a:ext cx="172364" cy="94800"/>
          </a:xfrm>
          <a:prstGeom prst="rect">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19824878" y="9779508"/>
            <a:ext cx="172364" cy="94800"/>
          </a:xfrm>
          <a:prstGeom prst="rect">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20282306" y="8897798"/>
            <a:ext cx="94800" cy="172364"/>
          </a:xfrm>
          <a:prstGeom prst="rect">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20706588" y="8897798"/>
            <a:ext cx="94800" cy="172364"/>
          </a:xfrm>
          <a:prstGeom prst="rect">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21150758" y="9355226"/>
            <a:ext cx="172364" cy="94800"/>
          </a:xfrm>
          <a:prstGeom prst="rect">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21150758" y="9779508"/>
            <a:ext cx="172364" cy="94800"/>
          </a:xfrm>
          <a:prstGeom prst="rect">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20282306" y="10223678"/>
            <a:ext cx="94800" cy="172364"/>
          </a:xfrm>
          <a:prstGeom prst="rect">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20706588" y="10223678"/>
            <a:ext cx="94800" cy="172364"/>
          </a:xfrm>
          <a:prstGeom prst="rect">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7830800" y="10561320"/>
            <a:ext cx="5486400" cy="502920"/>
          </a:xfrm>
          <a:prstGeom prst="rect">
            <a:avLst/>
          </a:prstGeom>
          <a:noFill/>
        </p:spPr>
        <p:txBody>
          <a:bodyPr wrap="square" lIns="0" tIns="0" rIns="0" bIns="0">
            <a:spAutoFit/>
          </a:bodyPr>
          <a:lstStyle/>
          <a:p>
            <a:pPr algn="ctr"/>
            <a:r>
              <a:rPr sz="2100" b="1">
                <a:solidFill>
                  <a:srgbClr val="8A3B2F"/>
                </a:solidFill>
                <a:latin typeface="Helvetica Neue"/>
              </a:rPr>
              <a:t>Model</a:t>
            </a:r>
          </a:p>
        </p:txBody>
      </p:sp>
      <p:sp>
        <p:nvSpPr>
          <p:cNvPr id="61" name="TextBox 60"/>
          <p:cNvSpPr txBox="1"/>
          <p:nvPr/>
        </p:nvSpPr>
        <p:spPr>
          <a:xfrm>
            <a:off x="17830800" y="11109960"/>
            <a:ext cx="5486400" cy="457200"/>
          </a:xfrm>
          <a:prstGeom prst="rect">
            <a:avLst/>
          </a:prstGeom>
          <a:noFill/>
        </p:spPr>
        <p:txBody>
          <a:bodyPr wrap="square" lIns="0" tIns="0" rIns="0" bIns="0">
            <a:spAutoFit/>
          </a:bodyPr>
          <a:lstStyle/>
          <a:p>
            <a:pPr algn="ctr"/>
            <a:r>
              <a:rPr sz="1600" b="0">
                <a:solidFill>
                  <a:srgbClr val="8A8A8A"/>
                </a:solidFill>
                <a:latin typeface="Helvetica Neue"/>
              </a:rPr>
              <a:t>cevabı üretir</a:t>
            </a:r>
          </a:p>
        </p:txBody>
      </p:sp>
      <p:sp>
        <p:nvSpPr>
          <p:cNvPr id="62" name="Right Arrow 61"/>
          <p:cNvSpPr/>
          <p:nvPr/>
        </p:nvSpPr>
        <p:spPr>
          <a:xfrm>
            <a:off x="6400800" y="9390888"/>
            <a:ext cx="1234440" cy="530352"/>
          </a:xfrm>
          <a:prstGeom prst="rightArrow">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ight Arrow 62"/>
          <p:cNvSpPr/>
          <p:nvPr/>
        </p:nvSpPr>
        <p:spPr>
          <a:xfrm>
            <a:off x="11978640" y="9390888"/>
            <a:ext cx="1234440" cy="530352"/>
          </a:xfrm>
          <a:prstGeom prst="rightArrow">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ight Arrow 63"/>
          <p:cNvSpPr/>
          <p:nvPr/>
        </p:nvSpPr>
        <p:spPr>
          <a:xfrm>
            <a:off x="17556480" y="9390888"/>
            <a:ext cx="1234440" cy="530352"/>
          </a:xfrm>
          <a:prstGeom prst="rightArrow">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Up Arrow 64"/>
          <p:cNvSpPr/>
          <p:nvPr/>
        </p:nvSpPr>
        <p:spPr>
          <a:xfrm>
            <a:off x="14676120" y="8275320"/>
            <a:ext cx="640080" cy="685800"/>
          </a:xfrm>
          <a:prstGeom prst="upArrow">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1280160" y="11750040"/>
            <a:ext cx="21826728" cy="10515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011680" y="11750040"/>
            <a:ext cx="20363688" cy="1051560"/>
          </a:xfrm>
          <a:prstGeom prst="rect">
            <a:avLst/>
          </a:prstGeom>
          <a:noFill/>
        </p:spPr>
        <p:txBody>
          <a:bodyPr wrap="square" lIns="0" tIns="0" rIns="0" bIns="0" anchor="ctr">
            <a:spAutoFit/>
          </a:bodyPr>
          <a:lstStyle/>
          <a:p>
            <a:pPr algn="ctr">
              <a:lnSpc>
                <a:spcPct val="120000"/>
              </a:lnSpc>
            </a:pPr>
            <a:r>
              <a:rPr sz="2400" b="1">
                <a:solidFill>
                  <a:srgbClr val="15263F"/>
                </a:solidFill>
                <a:latin typeface="Helvetica Neue"/>
              </a:rPr>
              <a:t>Model değişmedi. </a:t>
            </a:r>
            <a:r>
              <a:rPr sz="2400" b="0">
                <a:solidFill>
                  <a:srgbClr val="15263F"/>
                </a:solidFill>
                <a:latin typeface="Helvetica Neue"/>
              </a:rPr>
              <a:t>Sadece pencereye doğru metni koyduk.</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Veri, vektör veritabanına nasıl giriyor?</a:t>
            </a:r>
          </a:p>
        </p:txBody>
      </p:sp>
      <p:sp>
        <p:nvSpPr>
          <p:cNvPr id="3" name="Rounded Rectangle 2"/>
          <p:cNvSpPr/>
          <p:nvPr/>
        </p:nvSpPr>
        <p:spPr>
          <a:xfrm>
            <a:off x="1280160" y="2103120"/>
            <a:ext cx="6675120" cy="859536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80160" y="2103120"/>
            <a:ext cx="6675120" cy="91440"/>
          </a:xfrm>
          <a:prstGeom prst="rect">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783080" y="2395728"/>
            <a:ext cx="5669280" cy="548640"/>
          </a:xfrm>
          <a:prstGeom prst="rect">
            <a:avLst/>
          </a:prstGeom>
          <a:noFill/>
        </p:spPr>
        <p:txBody>
          <a:bodyPr wrap="square" lIns="0" tIns="0" rIns="0" bIns="0">
            <a:spAutoFit/>
          </a:bodyPr>
          <a:lstStyle/>
          <a:p>
            <a:pPr algn="l"/>
            <a:r>
              <a:rPr sz="2100" b="1">
                <a:solidFill>
                  <a:srgbClr val="8A3B2F"/>
                </a:solidFill>
                <a:latin typeface="Helvetica Neue"/>
              </a:rPr>
              <a:t>1 · BELGE</a:t>
            </a:r>
          </a:p>
        </p:txBody>
      </p:sp>
      <p:sp>
        <p:nvSpPr>
          <p:cNvPr id="6" name="Rounded Rectangle 5"/>
          <p:cNvSpPr/>
          <p:nvPr/>
        </p:nvSpPr>
        <p:spPr>
          <a:xfrm>
            <a:off x="4166006" y="3200400"/>
            <a:ext cx="903427" cy="1188720"/>
          </a:xfrm>
          <a:prstGeom prst="roundRect">
            <a:avLst>
              <a:gd name="adj" fmla="val 6000"/>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ight Triangle 6"/>
          <p:cNvSpPr/>
          <p:nvPr/>
        </p:nvSpPr>
        <p:spPr>
          <a:xfrm>
            <a:off x="4760366" y="3200400"/>
            <a:ext cx="309067" cy="309067"/>
          </a:xfrm>
          <a:prstGeom prst="r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737360" y="4892040"/>
            <a:ext cx="5760720" cy="5486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965960" y="5120640"/>
            <a:ext cx="5303520" cy="5074920"/>
          </a:xfrm>
          <a:prstGeom prst="rect">
            <a:avLst/>
          </a:prstGeom>
          <a:noFill/>
        </p:spPr>
        <p:txBody>
          <a:bodyPr wrap="square" lIns="0" tIns="0" rIns="0" bIns="0">
            <a:spAutoFit/>
          </a:bodyPr>
          <a:lstStyle/>
          <a:p>
            <a:pPr algn="l">
              <a:lnSpc>
                <a:spcPct val="132000"/>
              </a:lnSpc>
            </a:pPr>
            <a:r>
              <a:rPr sz="1400" b="0">
                <a:solidFill>
                  <a:srgbClr val="1A1A1A"/>
                </a:solidFill>
                <a:latin typeface="Consolas"/>
              </a:rPr>
              <a:t># MIUUL — Eğitim Kataloğu</a:t>
            </a:r>
          </a:p>
          <a:p>
            <a:pPr algn="l">
              <a:lnSpc>
                <a:spcPct val="132000"/>
              </a:lnSpc>
            </a:pPr>
            <a:endParaRPr sz="1400" b="0">
              <a:solidFill>
                <a:srgbClr val="1A1A1A"/>
              </a:solidFill>
              <a:latin typeface="Consolas"/>
            </a:endParaRPr>
          </a:p>
          <a:p>
            <a:pPr algn="l">
              <a:lnSpc>
                <a:spcPct val="132000"/>
              </a:lnSpc>
            </a:pPr>
            <a:r>
              <a:rPr sz="1400" b="0">
                <a:solidFill>
                  <a:srgbClr val="1A1A1A"/>
                </a:solidFill>
                <a:latin typeface="Consolas"/>
              </a:rPr>
              <a:t>Eğitim 44 — Data Scientist Path</a:t>
            </a:r>
          </a:p>
          <a:p>
            <a:pPr algn="l">
              <a:lnSpc>
                <a:spcPct val="132000"/>
              </a:lnSpc>
            </a:pPr>
            <a:r>
              <a:rPr sz="1400" b="0">
                <a:solidFill>
                  <a:srgbClr val="1A1A1A"/>
                </a:solidFill>
                <a:latin typeface="Consolas"/>
              </a:rPr>
              <a:t>Tür: Kariyer Yolculuğu</a:t>
            </a:r>
          </a:p>
          <a:p>
            <a:pPr algn="l">
              <a:lnSpc>
                <a:spcPct val="132000"/>
              </a:lnSpc>
            </a:pPr>
            <a:r>
              <a:rPr sz="1400" b="0">
                <a:solidFill>
                  <a:srgbClr val="1A1A1A"/>
                </a:solidFill>
                <a:latin typeface="Consolas"/>
              </a:rPr>
              <a:t>Süre: 68 saat · Modül: 9</a:t>
            </a:r>
          </a:p>
          <a:p>
            <a:pPr algn="l">
              <a:lnSpc>
                <a:spcPct val="132000"/>
              </a:lnSpc>
            </a:pPr>
            <a:r>
              <a:rPr sz="1400" b="0">
                <a:solidFill>
                  <a:srgbClr val="1A1A1A"/>
                </a:solidFill>
                <a:latin typeface="Consolas"/>
              </a:rPr>
              <a:t>Ücret: 300 USD · Puan: 4.5/5</a:t>
            </a:r>
          </a:p>
          <a:p>
            <a:pPr algn="l">
              <a:lnSpc>
                <a:spcPct val="132000"/>
              </a:lnSpc>
            </a:pPr>
            <a:r>
              <a:rPr sz="1400" b="0">
                <a:solidFill>
                  <a:srgbClr val="1A1A1A"/>
                </a:solidFill>
                <a:latin typeface="Consolas"/>
              </a:rPr>
              <a:t>Data Scientist Path, veriyle</a:t>
            </a:r>
          </a:p>
          <a:p>
            <a:pPr algn="l">
              <a:lnSpc>
                <a:spcPct val="132000"/>
              </a:lnSpc>
            </a:pPr>
            <a:r>
              <a:rPr sz="1400" b="0">
                <a:solidFill>
                  <a:srgbClr val="1A1A1A"/>
                </a:solidFill>
                <a:latin typeface="Consolas"/>
              </a:rPr>
              <a:t>çalışmaya meraklı herkes için...</a:t>
            </a:r>
          </a:p>
          <a:p>
            <a:pPr algn="l">
              <a:lnSpc>
                <a:spcPct val="132000"/>
              </a:lnSpc>
            </a:pPr>
            <a:endParaRPr sz="1400" b="0">
              <a:solidFill>
                <a:srgbClr val="1A1A1A"/>
              </a:solidFill>
              <a:latin typeface="Consolas"/>
            </a:endParaRPr>
          </a:p>
          <a:p>
            <a:pPr algn="l">
              <a:lnSpc>
                <a:spcPct val="132000"/>
              </a:lnSpc>
            </a:pPr>
            <a:r>
              <a:rPr sz="1400" b="0">
                <a:solidFill>
                  <a:srgbClr val="1A1A1A"/>
                </a:solidFill>
                <a:latin typeface="Consolas"/>
              </a:rPr>
              <a:t>Eğitim 45 — Unity Game Developer</a:t>
            </a:r>
          </a:p>
          <a:p>
            <a:pPr algn="l">
              <a:lnSpc>
                <a:spcPct val="132000"/>
              </a:lnSpc>
            </a:pPr>
            <a:r>
              <a:rPr sz="1400" b="0">
                <a:solidFill>
                  <a:srgbClr val="1A1A1A"/>
                </a:solidFill>
                <a:latin typeface="Consolas"/>
              </a:rPr>
              <a:t>Süre: 44 saat · Ücret: 250 USD</a:t>
            </a:r>
          </a:p>
          <a:p>
            <a:pPr algn="l">
              <a:lnSpc>
                <a:spcPct val="132000"/>
              </a:lnSpc>
            </a:pPr>
            <a:endParaRPr sz="1400" b="0">
              <a:solidFill>
                <a:srgbClr val="1A1A1A"/>
              </a:solidFill>
              <a:latin typeface="Consolas"/>
            </a:endParaRPr>
          </a:p>
          <a:p>
            <a:pPr algn="l">
              <a:lnSpc>
                <a:spcPct val="132000"/>
              </a:lnSpc>
            </a:pPr>
            <a:r>
              <a:rPr sz="1400" b="0">
                <a:solidFill>
                  <a:srgbClr val="1A1A1A"/>
                </a:solidFill>
                <a:latin typeface="Consolas"/>
              </a:rPr>
              <a:t>Eğitim 46 — ...</a:t>
            </a:r>
          </a:p>
        </p:txBody>
      </p:sp>
      <p:sp>
        <p:nvSpPr>
          <p:cNvPr id="10" name="Right Arrow 9"/>
          <p:cNvSpPr/>
          <p:nvPr/>
        </p:nvSpPr>
        <p:spPr>
          <a:xfrm>
            <a:off x="8183880" y="5989320"/>
            <a:ext cx="777240" cy="594360"/>
          </a:xfrm>
          <a:prstGeom prst="rightArrow">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189720" y="2103120"/>
            <a:ext cx="6675120" cy="859536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89720" y="2103120"/>
            <a:ext cx="6675120" cy="91440"/>
          </a:xfrm>
          <a:prstGeom prst="rect">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92640" y="2395728"/>
            <a:ext cx="5669280" cy="548640"/>
          </a:xfrm>
          <a:prstGeom prst="rect">
            <a:avLst/>
          </a:prstGeom>
          <a:noFill/>
        </p:spPr>
        <p:txBody>
          <a:bodyPr wrap="square" lIns="0" tIns="0" rIns="0" bIns="0">
            <a:spAutoFit/>
          </a:bodyPr>
          <a:lstStyle/>
          <a:p>
            <a:pPr algn="l"/>
            <a:r>
              <a:rPr sz="2100" b="1">
                <a:solidFill>
                  <a:srgbClr val="C08A2E"/>
                </a:solidFill>
                <a:latin typeface="Helvetica Neue"/>
              </a:rPr>
              <a:t>2 · PARÇALARA BÖL</a:t>
            </a:r>
          </a:p>
        </p:txBody>
      </p:sp>
      <p:sp>
        <p:nvSpPr>
          <p:cNvPr id="14" name="Rounded Rectangle 13"/>
          <p:cNvSpPr/>
          <p:nvPr/>
        </p:nvSpPr>
        <p:spPr>
          <a:xfrm>
            <a:off x="11944807" y="3045866"/>
            <a:ext cx="855878" cy="1022299"/>
          </a:xfrm>
          <a:prstGeom prst="roundRect">
            <a:avLst>
              <a:gd name="adj" fmla="val 6000"/>
            </a:avLst>
          </a:prstGeom>
          <a:solidFill>
            <a:srgbClr val="E6D0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2099341" y="3200400"/>
            <a:ext cx="855878" cy="1022299"/>
          </a:xfrm>
          <a:prstGeom prst="roundRect">
            <a:avLst>
              <a:gd name="adj" fmla="val 6000"/>
            </a:avLst>
          </a:prstGeom>
          <a:solidFill>
            <a:srgbClr val="E6D0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2253874" y="3354934"/>
            <a:ext cx="855878" cy="1022299"/>
          </a:xfrm>
          <a:prstGeom prst="roundRect">
            <a:avLst>
              <a:gd name="adj" fmla="val 6000"/>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646920" y="4892040"/>
            <a:ext cx="5760720" cy="1737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646920" y="4892040"/>
            <a:ext cx="109728" cy="1737360"/>
          </a:xfrm>
          <a:prstGeom prst="rect">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012680" y="5056632"/>
            <a:ext cx="5029200" cy="411480"/>
          </a:xfrm>
          <a:prstGeom prst="rect">
            <a:avLst/>
          </a:prstGeom>
          <a:noFill/>
        </p:spPr>
        <p:txBody>
          <a:bodyPr wrap="square" lIns="0" tIns="0" rIns="0" bIns="0">
            <a:spAutoFit/>
          </a:bodyPr>
          <a:lstStyle/>
          <a:p>
            <a:pPr algn="l"/>
            <a:r>
              <a:rPr sz="1500" b="1">
                <a:solidFill>
                  <a:srgbClr val="C08A2E"/>
                </a:solidFill>
                <a:latin typeface="Helvetica Neue"/>
              </a:rPr>
              <a:t>parça 44</a:t>
            </a:r>
          </a:p>
        </p:txBody>
      </p:sp>
      <p:sp>
        <p:nvSpPr>
          <p:cNvPr id="20" name="TextBox 19"/>
          <p:cNvSpPr txBox="1"/>
          <p:nvPr/>
        </p:nvSpPr>
        <p:spPr>
          <a:xfrm>
            <a:off x="10012680" y="5532120"/>
            <a:ext cx="5120640" cy="914400"/>
          </a:xfrm>
          <a:prstGeom prst="rect">
            <a:avLst/>
          </a:prstGeom>
          <a:noFill/>
        </p:spPr>
        <p:txBody>
          <a:bodyPr wrap="square" lIns="0" tIns="0" rIns="0" bIns="0">
            <a:spAutoFit/>
          </a:bodyPr>
          <a:lstStyle/>
          <a:p>
            <a:pPr algn="l">
              <a:lnSpc>
                <a:spcPct val="132000"/>
              </a:lnSpc>
            </a:pPr>
            <a:r>
              <a:rPr sz="1300" b="0">
                <a:solidFill>
                  <a:srgbClr val="1A1A1A"/>
                </a:solidFill>
                <a:latin typeface="Consolas"/>
              </a:rPr>
              <a:t>Eğitim 44 — Data Scientist Path</a:t>
            </a:r>
          </a:p>
          <a:p>
            <a:pPr algn="l">
              <a:lnSpc>
                <a:spcPct val="132000"/>
              </a:lnSpc>
            </a:pPr>
            <a:r>
              <a:rPr sz="1300" b="0">
                <a:solidFill>
                  <a:srgbClr val="1A1A1A"/>
                </a:solidFill>
                <a:latin typeface="Consolas"/>
              </a:rPr>
              <a:t>Süre: 68 saat · Ücret: 300 USD</a:t>
            </a:r>
          </a:p>
        </p:txBody>
      </p:sp>
      <p:sp>
        <p:nvSpPr>
          <p:cNvPr id="21" name="Rectangle 20"/>
          <p:cNvSpPr/>
          <p:nvPr/>
        </p:nvSpPr>
        <p:spPr>
          <a:xfrm>
            <a:off x="9646920" y="6629400"/>
            <a:ext cx="5760720" cy="365760"/>
          </a:xfrm>
          <a:prstGeom prst="rect">
            <a:avLst/>
          </a:prstGeom>
          <a:solidFill>
            <a:srgbClr val="F7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12680" y="6656832"/>
            <a:ext cx="5120640" cy="320040"/>
          </a:xfrm>
          <a:prstGeom prst="rect">
            <a:avLst/>
          </a:prstGeom>
          <a:noFill/>
        </p:spPr>
        <p:txBody>
          <a:bodyPr wrap="square" lIns="0" tIns="0" rIns="0" bIns="0">
            <a:spAutoFit/>
          </a:bodyPr>
          <a:lstStyle/>
          <a:p>
            <a:pPr algn="l"/>
            <a:r>
              <a:rPr sz="1200" b="0">
                <a:solidFill>
                  <a:srgbClr val="8A3B2F"/>
                </a:solidFill>
                <a:latin typeface="Helvetica Neue"/>
              </a:rPr>
              <a:t>overlap — sınırdaki cümle iki parçada da var</a:t>
            </a:r>
          </a:p>
        </p:txBody>
      </p:sp>
      <p:sp>
        <p:nvSpPr>
          <p:cNvPr id="23" name="Rectangle 22"/>
          <p:cNvSpPr/>
          <p:nvPr/>
        </p:nvSpPr>
        <p:spPr>
          <a:xfrm>
            <a:off x="9646920" y="7406640"/>
            <a:ext cx="5760720" cy="1737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646920" y="7406640"/>
            <a:ext cx="109728" cy="1737360"/>
          </a:xfrm>
          <a:prstGeom prst="rect">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012680" y="7571232"/>
            <a:ext cx="5029200" cy="411480"/>
          </a:xfrm>
          <a:prstGeom prst="rect">
            <a:avLst/>
          </a:prstGeom>
          <a:noFill/>
        </p:spPr>
        <p:txBody>
          <a:bodyPr wrap="square" lIns="0" tIns="0" rIns="0" bIns="0">
            <a:spAutoFit/>
          </a:bodyPr>
          <a:lstStyle/>
          <a:p>
            <a:pPr algn="l"/>
            <a:r>
              <a:rPr sz="1500" b="1">
                <a:solidFill>
                  <a:srgbClr val="C08A2E"/>
                </a:solidFill>
                <a:latin typeface="Helvetica Neue"/>
              </a:rPr>
              <a:t>parça 45</a:t>
            </a:r>
          </a:p>
        </p:txBody>
      </p:sp>
      <p:sp>
        <p:nvSpPr>
          <p:cNvPr id="26" name="TextBox 25"/>
          <p:cNvSpPr txBox="1"/>
          <p:nvPr/>
        </p:nvSpPr>
        <p:spPr>
          <a:xfrm>
            <a:off x="10012680" y="8046720"/>
            <a:ext cx="5120640" cy="914400"/>
          </a:xfrm>
          <a:prstGeom prst="rect">
            <a:avLst/>
          </a:prstGeom>
          <a:noFill/>
        </p:spPr>
        <p:txBody>
          <a:bodyPr wrap="square" lIns="0" tIns="0" rIns="0" bIns="0">
            <a:spAutoFit/>
          </a:bodyPr>
          <a:lstStyle/>
          <a:p>
            <a:pPr algn="l">
              <a:lnSpc>
                <a:spcPct val="132000"/>
              </a:lnSpc>
            </a:pPr>
            <a:r>
              <a:rPr sz="1300" b="0">
                <a:solidFill>
                  <a:srgbClr val="1A1A1A"/>
                </a:solidFill>
                <a:latin typeface="Consolas"/>
              </a:rPr>
              <a:t>Eğitim 45 — Unity Game Developer</a:t>
            </a:r>
          </a:p>
          <a:p>
            <a:pPr algn="l">
              <a:lnSpc>
                <a:spcPct val="132000"/>
              </a:lnSpc>
            </a:pPr>
            <a:r>
              <a:rPr sz="1300" b="0">
                <a:solidFill>
                  <a:srgbClr val="1A1A1A"/>
                </a:solidFill>
                <a:latin typeface="Consolas"/>
              </a:rPr>
              <a:t>Süre: 44 saat · Ücret: 250 USD</a:t>
            </a:r>
          </a:p>
        </p:txBody>
      </p:sp>
      <p:sp>
        <p:nvSpPr>
          <p:cNvPr id="27" name="Rectangle 26"/>
          <p:cNvSpPr/>
          <p:nvPr/>
        </p:nvSpPr>
        <p:spPr>
          <a:xfrm>
            <a:off x="9646920" y="9144000"/>
            <a:ext cx="5760720" cy="365760"/>
          </a:xfrm>
          <a:prstGeom prst="rect">
            <a:avLst/>
          </a:prstGeom>
          <a:solidFill>
            <a:srgbClr val="F7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012680" y="9171432"/>
            <a:ext cx="5120640" cy="320040"/>
          </a:xfrm>
          <a:prstGeom prst="rect">
            <a:avLst/>
          </a:prstGeom>
          <a:noFill/>
        </p:spPr>
        <p:txBody>
          <a:bodyPr wrap="square" lIns="0" tIns="0" rIns="0" bIns="0">
            <a:spAutoFit/>
          </a:bodyPr>
          <a:lstStyle/>
          <a:p>
            <a:pPr algn="l"/>
            <a:r>
              <a:rPr sz="1200" b="0">
                <a:solidFill>
                  <a:srgbClr val="8A3B2F"/>
                </a:solidFill>
                <a:latin typeface="Helvetica Neue"/>
              </a:rPr>
              <a:t>overlap — sınırdaki cümle iki parçada da var</a:t>
            </a:r>
          </a:p>
        </p:txBody>
      </p:sp>
      <p:sp>
        <p:nvSpPr>
          <p:cNvPr id="29" name="TextBox 28"/>
          <p:cNvSpPr txBox="1"/>
          <p:nvPr/>
        </p:nvSpPr>
        <p:spPr>
          <a:xfrm>
            <a:off x="9646920" y="9921240"/>
            <a:ext cx="5760720" cy="548640"/>
          </a:xfrm>
          <a:prstGeom prst="rect">
            <a:avLst/>
          </a:prstGeom>
          <a:noFill/>
        </p:spPr>
        <p:txBody>
          <a:bodyPr wrap="square" lIns="0" tIns="0" rIns="0" bIns="0">
            <a:spAutoFit/>
          </a:bodyPr>
          <a:lstStyle/>
          <a:p>
            <a:pPr algn="l"/>
            <a:r>
              <a:rPr sz="1600" b="1">
                <a:solidFill>
                  <a:srgbClr val="1A1A1A"/>
                </a:solidFill>
                <a:latin typeface="Helvetica Neue"/>
              </a:rPr>
              <a:t>chunk 700 karakter  ·  overlap 100</a:t>
            </a:r>
          </a:p>
        </p:txBody>
      </p:sp>
      <p:sp>
        <p:nvSpPr>
          <p:cNvPr id="30" name="Right Arrow 29"/>
          <p:cNvSpPr/>
          <p:nvPr/>
        </p:nvSpPr>
        <p:spPr>
          <a:xfrm>
            <a:off x="16093440" y="5989320"/>
            <a:ext cx="777240" cy="594360"/>
          </a:xfrm>
          <a:prstGeom prst="rightArrow">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7099280" y="2103120"/>
            <a:ext cx="6007608" cy="859536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7099280" y="2103120"/>
            <a:ext cx="6007608" cy="91440"/>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7602200" y="2395728"/>
            <a:ext cx="5001768" cy="548640"/>
          </a:xfrm>
          <a:prstGeom prst="rect">
            <a:avLst/>
          </a:prstGeom>
          <a:noFill/>
        </p:spPr>
        <p:txBody>
          <a:bodyPr wrap="square" lIns="0" tIns="0" rIns="0" bIns="0">
            <a:spAutoFit/>
          </a:bodyPr>
          <a:lstStyle/>
          <a:p>
            <a:pPr algn="l"/>
            <a:r>
              <a:rPr sz="2100" b="1">
                <a:solidFill>
                  <a:srgbClr val="15263F"/>
                </a:solidFill>
                <a:latin typeface="Helvetica Neue"/>
              </a:rPr>
              <a:t>3 · VEKTÖRE ÇEVİR</a:t>
            </a:r>
          </a:p>
        </p:txBody>
      </p:sp>
      <p:sp>
        <p:nvSpPr>
          <p:cNvPr id="34" name="Oval 33"/>
          <p:cNvSpPr/>
          <p:nvPr/>
        </p:nvSpPr>
        <p:spPr>
          <a:xfrm>
            <a:off x="19474434" y="3200400"/>
            <a:ext cx="1248156" cy="356616"/>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9474434" y="3477768"/>
            <a:ext cx="1248156" cy="356616"/>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9474434" y="3755136"/>
            <a:ext cx="1248156" cy="356616"/>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9474434" y="4032504"/>
            <a:ext cx="1248156" cy="356616"/>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7556480" y="4892040"/>
            <a:ext cx="5093208" cy="640080"/>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7785080" y="4992624"/>
            <a:ext cx="4663440" cy="457200"/>
          </a:xfrm>
          <a:prstGeom prst="rect">
            <a:avLst/>
          </a:prstGeom>
          <a:noFill/>
        </p:spPr>
        <p:txBody>
          <a:bodyPr wrap="square" lIns="0" tIns="0" rIns="0" bIns="0">
            <a:spAutoFit/>
          </a:bodyPr>
          <a:lstStyle/>
          <a:p>
            <a:pPr algn="l"/>
            <a:r>
              <a:rPr sz="1500" b="1">
                <a:solidFill>
                  <a:srgbClr val="FFFFFF"/>
                </a:solidFill>
                <a:latin typeface="Helvetica Neue"/>
              </a:rPr>
              <a:t>id      vektör (384 boyut)</a:t>
            </a:r>
          </a:p>
        </p:txBody>
      </p:sp>
      <p:sp>
        <p:nvSpPr>
          <p:cNvPr id="40" name="Rectangle 39"/>
          <p:cNvSpPr/>
          <p:nvPr/>
        </p:nvSpPr>
        <p:spPr>
          <a:xfrm>
            <a:off x="17556480" y="5532120"/>
            <a:ext cx="5093208" cy="82296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7785080" y="5769864"/>
            <a:ext cx="4663440" cy="457200"/>
          </a:xfrm>
          <a:prstGeom prst="rect">
            <a:avLst/>
          </a:prstGeom>
          <a:noFill/>
        </p:spPr>
        <p:txBody>
          <a:bodyPr wrap="square" lIns="0" tIns="0" rIns="0" bIns="0">
            <a:spAutoFit/>
          </a:bodyPr>
          <a:lstStyle/>
          <a:p>
            <a:pPr algn="l">
              <a:lnSpc>
                <a:spcPct val="132000"/>
              </a:lnSpc>
            </a:pPr>
            <a:r>
              <a:rPr sz="1400" b="0">
                <a:solidFill>
                  <a:srgbClr val="1A1A1A"/>
                </a:solidFill>
                <a:latin typeface="Consolas"/>
              </a:rPr>
              <a:t>44    [ 0.08, −0.31, 0.77, … ]</a:t>
            </a:r>
          </a:p>
        </p:txBody>
      </p:sp>
      <p:sp>
        <p:nvSpPr>
          <p:cNvPr id="42" name="Rectangle 41"/>
          <p:cNvSpPr/>
          <p:nvPr/>
        </p:nvSpPr>
        <p:spPr>
          <a:xfrm>
            <a:off x="17556480" y="6355080"/>
            <a:ext cx="5093208"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7785080" y="6592824"/>
            <a:ext cx="4663440" cy="457200"/>
          </a:xfrm>
          <a:prstGeom prst="rect">
            <a:avLst/>
          </a:prstGeom>
          <a:noFill/>
        </p:spPr>
        <p:txBody>
          <a:bodyPr wrap="square" lIns="0" tIns="0" rIns="0" bIns="0">
            <a:spAutoFit/>
          </a:bodyPr>
          <a:lstStyle/>
          <a:p>
            <a:pPr algn="l">
              <a:lnSpc>
                <a:spcPct val="132000"/>
              </a:lnSpc>
            </a:pPr>
            <a:r>
              <a:rPr sz="1400" b="0">
                <a:solidFill>
                  <a:srgbClr val="1A1A1A"/>
                </a:solidFill>
                <a:latin typeface="Consolas"/>
              </a:rPr>
              <a:t>45    [ −0.42, 0.19, 0.05, … ]</a:t>
            </a:r>
          </a:p>
        </p:txBody>
      </p:sp>
      <p:sp>
        <p:nvSpPr>
          <p:cNvPr id="44" name="Rectangle 43"/>
          <p:cNvSpPr/>
          <p:nvPr/>
        </p:nvSpPr>
        <p:spPr>
          <a:xfrm>
            <a:off x="17556480" y="7178040"/>
            <a:ext cx="5093208" cy="82296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7785080" y="7415784"/>
            <a:ext cx="4663440" cy="457200"/>
          </a:xfrm>
          <a:prstGeom prst="rect">
            <a:avLst/>
          </a:prstGeom>
          <a:noFill/>
        </p:spPr>
        <p:txBody>
          <a:bodyPr wrap="square" lIns="0" tIns="0" rIns="0" bIns="0">
            <a:spAutoFit/>
          </a:bodyPr>
          <a:lstStyle/>
          <a:p>
            <a:pPr algn="l">
              <a:lnSpc>
                <a:spcPct val="132000"/>
              </a:lnSpc>
            </a:pPr>
            <a:r>
              <a:rPr sz="1400" b="0">
                <a:solidFill>
                  <a:srgbClr val="1A1A1A"/>
                </a:solidFill>
                <a:latin typeface="Consolas"/>
              </a:rPr>
              <a:t>46    [ 0.11, 0.63, −0.28, … ]</a:t>
            </a:r>
          </a:p>
        </p:txBody>
      </p:sp>
      <p:sp>
        <p:nvSpPr>
          <p:cNvPr id="46" name="TextBox 45"/>
          <p:cNvSpPr txBox="1"/>
          <p:nvPr/>
        </p:nvSpPr>
        <p:spPr>
          <a:xfrm>
            <a:off x="17785080" y="8321040"/>
            <a:ext cx="4663440" cy="2194560"/>
          </a:xfrm>
          <a:prstGeom prst="rect">
            <a:avLst/>
          </a:prstGeom>
          <a:noFill/>
        </p:spPr>
        <p:txBody>
          <a:bodyPr wrap="square" lIns="0" tIns="0" rIns="0" bIns="0">
            <a:spAutoFit/>
          </a:bodyPr>
          <a:lstStyle/>
          <a:p>
            <a:pPr algn="l">
              <a:lnSpc>
                <a:spcPct val="135000"/>
              </a:lnSpc>
            </a:pPr>
            <a:r>
              <a:rPr sz="1700" b="0">
                <a:solidFill>
                  <a:srgbClr val="1A1A1A"/>
                </a:solidFill>
                <a:latin typeface="Helvetica Neue"/>
              </a:rPr>
              <a:t>Her parça artık uzayda</a:t>
            </a:r>
          </a:p>
          <a:p>
            <a:pPr algn="l">
              <a:lnSpc>
                <a:spcPct val="135000"/>
              </a:lnSpc>
            </a:pPr>
            <a:r>
              <a:rPr sz="1700" b="0">
                <a:solidFill>
                  <a:srgbClr val="1A1A1A"/>
                </a:solidFill>
                <a:latin typeface="Helvetica Neue"/>
              </a:rPr>
              <a:t>bir noktaya karşılık geliyor.</a:t>
            </a:r>
          </a:p>
          <a:p>
            <a:pPr algn="l">
              <a:lnSpc>
                <a:spcPct val="135000"/>
              </a:lnSpc>
            </a:pPr>
            <a:endParaRPr sz="1700" b="0">
              <a:solidFill>
                <a:srgbClr val="1A1A1A"/>
              </a:solidFill>
              <a:latin typeface="Helvetica Neue"/>
            </a:endParaRPr>
          </a:p>
          <a:p>
            <a:pPr algn="l">
              <a:lnSpc>
                <a:spcPct val="135000"/>
              </a:lnSpc>
            </a:pPr>
            <a:r>
              <a:rPr sz="1700" b="0">
                <a:solidFill>
                  <a:srgbClr val="1A1A1A"/>
                </a:solidFill>
                <a:latin typeface="Helvetica Neue"/>
              </a:rPr>
              <a:t>Metnin kendisi de saklanıyor —</a:t>
            </a:r>
          </a:p>
          <a:p>
            <a:pPr algn="l">
              <a:lnSpc>
                <a:spcPct val="135000"/>
              </a:lnSpc>
            </a:pPr>
            <a:r>
              <a:rPr sz="1700" b="0">
                <a:solidFill>
                  <a:srgbClr val="1A1A1A"/>
                </a:solidFill>
                <a:latin typeface="Helvetica Neue"/>
              </a:rPr>
              <a:t>modele onu geri vereceğiz.</a:t>
            </a:r>
          </a:p>
        </p:txBody>
      </p:sp>
      <p:sp>
        <p:nvSpPr>
          <p:cNvPr id="47" name="Rectangle 46"/>
          <p:cNvSpPr/>
          <p:nvPr/>
        </p:nvSpPr>
        <p:spPr>
          <a:xfrm>
            <a:off x="1280160" y="11155680"/>
            <a:ext cx="21826728" cy="1188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011680" y="11155680"/>
            <a:ext cx="20363688" cy="118872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Chunk = </a:t>
            </a:r>
            <a:r>
              <a:rPr sz="2400" b="1">
                <a:solidFill>
                  <a:srgbClr val="15263F"/>
                </a:solidFill>
                <a:latin typeface="Helvetica Neue"/>
              </a:rPr>
              <a:t>aranabilir en küçük birim.</a:t>
            </a:r>
            <a:r>
              <a:rPr sz="2400" b="0">
                <a:solidFill>
                  <a:srgbClr val="15263F"/>
                </a:solidFill>
                <a:latin typeface="Helvetica Neue"/>
              </a:rPr>
              <a:t>  Çok büyükse gürültü gelir, çok küçükse anlam bölünür.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Soru sorulduğunda ne oluyor?</a:t>
            </a:r>
          </a:p>
        </p:txBody>
      </p:sp>
      <p:sp>
        <p:nvSpPr>
          <p:cNvPr id="3" name="Rounded Rectangle 2"/>
          <p:cNvSpPr/>
          <p:nvPr/>
        </p:nvSpPr>
        <p:spPr>
          <a:xfrm>
            <a:off x="1280160" y="2103120"/>
            <a:ext cx="10241280" cy="21031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32229" y="2720340"/>
            <a:ext cx="998982" cy="694944"/>
          </a:xfrm>
          <a:prstGeom prst="roundRect">
            <a:avLst>
              <a:gd name="adj" fmla="val 18000"/>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ight Triangle 4"/>
          <p:cNvSpPr/>
          <p:nvPr/>
        </p:nvSpPr>
        <p:spPr>
          <a:xfrm>
            <a:off x="2111944" y="3397910"/>
            <a:ext cx="225857" cy="225857"/>
          </a:xfrm>
          <a:prstGeom prst="rtTriangle">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092833" y="3015691"/>
            <a:ext cx="78181" cy="7818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292629" y="3015691"/>
            <a:ext cx="78181" cy="7818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2492426" y="3015691"/>
            <a:ext cx="78181" cy="7818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29000" y="2423160"/>
            <a:ext cx="7589520" cy="502920"/>
          </a:xfrm>
          <a:prstGeom prst="rect">
            <a:avLst/>
          </a:prstGeom>
          <a:noFill/>
        </p:spPr>
        <p:txBody>
          <a:bodyPr wrap="square" lIns="0" tIns="0" rIns="0" bIns="0">
            <a:spAutoFit/>
          </a:bodyPr>
          <a:lstStyle/>
          <a:p>
            <a:pPr algn="l"/>
            <a:r>
              <a:rPr sz="2100" b="1">
                <a:solidFill>
                  <a:srgbClr val="8A3B2F"/>
                </a:solidFill>
                <a:latin typeface="Helvetica Neue"/>
              </a:rPr>
              <a:t>Soru geliyor</a:t>
            </a:r>
          </a:p>
        </p:txBody>
      </p:sp>
      <p:sp>
        <p:nvSpPr>
          <p:cNvPr id="10" name="TextBox 9"/>
          <p:cNvSpPr txBox="1"/>
          <p:nvPr/>
        </p:nvSpPr>
        <p:spPr>
          <a:xfrm>
            <a:off x="3429000" y="3017520"/>
            <a:ext cx="7589520" cy="914400"/>
          </a:xfrm>
          <a:prstGeom prst="rect">
            <a:avLst/>
          </a:prstGeom>
          <a:noFill/>
        </p:spPr>
        <p:txBody>
          <a:bodyPr wrap="square" lIns="0" tIns="0" rIns="0" bIns="0">
            <a:spAutoFit/>
          </a:bodyPr>
          <a:lstStyle/>
          <a:p>
            <a:pPr algn="l">
              <a:lnSpc>
                <a:spcPct val="132000"/>
              </a:lnSpc>
            </a:pPr>
            <a:r>
              <a:rPr sz="1500" b="0">
                <a:solidFill>
                  <a:srgbClr val="1A1A1A"/>
                </a:solidFill>
                <a:latin typeface="Consolas"/>
              </a:rPr>
              <a:t>"Data Scientist Path kaç saat</a:t>
            </a:r>
          </a:p>
          <a:p>
            <a:pPr algn="l">
              <a:lnSpc>
                <a:spcPct val="132000"/>
              </a:lnSpc>
            </a:pPr>
            <a:r>
              <a:rPr sz="1500" b="0">
                <a:solidFill>
                  <a:srgbClr val="1A1A1A"/>
                </a:solidFill>
                <a:latin typeface="Consolas"/>
              </a:rPr>
              <a:t> sürüyor ve ücreti ne kadar?"</a:t>
            </a:r>
          </a:p>
        </p:txBody>
      </p:sp>
      <p:sp>
        <p:nvSpPr>
          <p:cNvPr id="11" name="Rounded Rectangle 10"/>
          <p:cNvSpPr/>
          <p:nvPr/>
        </p:nvSpPr>
        <p:spPr>
          <a:xfrm>
            <a:off x="1280160" y="4462272"/>
            <a:ext cx="10241280" cy="21031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875663" y="5079492"/>
            <a:ext cx="912114" cy="868680"/>
          </a:xfrm>
          <a:prstGeom prst="roundRect">
            <a:avLst>
              <a:gd name="adj" fmla="val 10000"/>
            </a:avLst>
          </a:prstGeom>
          <a:solidFill>
            <a:srgbClr val="E6D0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003359" y="5218481"/>
            <a:ext cx="472840" cy="112928"/>
          </a:xfrm>
          <a:prstGeom prst="rect">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003359" y="5416105"/>
            <a:ext cx="288958" cy="112928"/>
          </a:xfrm>
          <a:prstGeom prst="rect">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003359" y="5613730"/>
            <a:ext cx="564781" cy="112928"/>
          </a:xfrm>
          <a:prstGeom prst="rect">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003359" y="5811355"/>
            <a:ext cx="197017" cy="112928"/>
          </a:xfrm>
          <a:prstGeom prst="rect">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29000" y="4782312"/>
            <a:ext cx="7589520" cy="502920"/>
          </a:xfrm>
          <a:prstGeom prst="rect">
            <a:avLst/>
          </a:prstGeom>
          <a:noFill/>
        </p:spPr>
        <p:txBody>
          <a:bodyPr wrap="square" lIns="0" tIns="0" rIns="0" bIns="0">
            <a:spAutoFit/>
          </a:bodyPr>
          <a:lstStyle/>
          <a:p>
            <a:pPr algn="l"/>
            <a:r>
              <a:rPr sz="2100" b="1">
                <a:solidFill>
                  <a:srgbClr val="C08A2E"/>
                </a:solidFill>
                <a:latin typeface="Helvetica Neue"/>
              </a:rPr>
              <a:t>Soru vektöre çevriliyor</a:t>
            </a:r>
          </a:p>
        </p:txBody>
      </p:sp>
      <p:sp>
        <p:nvSpPr>
          <p:cNvPr id="18" name="TextBox 17"/>
          <p:cNvSpPr txBox="1"/>
          <p:nvPr/>
        </p:nvSpPr>
        <p:spPr>
          <a:xfrm>
            <a:off x="3429000" y="5376672"/>
            <a:ext cx="7589520" cy="914400"/>
          </a:xfrm>
          <a:prstGeom prst="rect">
            <a:avLst/>
          </a:prstGeom>
          <a:noFill/>
        </p:spPr>
        <p:txBody>
          <a:bodyPr wrap="square" lIns="0" tIns="0" rIns="0" bIns="0">
            <a:spAutoFit/>
          </a:bodyPr>
          <a:lstStyle/>
          <a:p>
            <a:pPr algn="l">
              <a:lnSpc>
                <a:spcPct val="132000"/>
              </a:lnSpc>
            </a:pPr>
            <a:r>
              <a:rPr sz="1500" b="0">
                <a:solidFill>
                  <a:srgbClr val="1A1A1A"/>
                </a:solidFill>
                <a:latin typeface="Consolas"/>
              </a:rPr>
              <a:t>[ 0.06, −0.29, 0.74, … ]</a:t>
            </a:r>
          </a:p>
          <a:p>
            <a:pPr algn="l">
              <a:lnSpc>
                <a:spcPct val="132000"/>
              </a:lnSpc>
            </a:pPr>
            <a:r>
              <a:rPr sz="1500" b="0">
                <a:solidFill>
                  <a:srgbClr val="1A1A1A"/>
                </a:solidFill>
                <a:latin typeface="Consolas"/>
              </a:rPr>
              <a:t>aynı gömme modeli</a:t>
            </a:r>
          </a:p>
        </p:txBody>
      </p:sp>
      <p:sp>
        <p:nvSpPr>
          <p:cNvPr id="19" name="Rounded Rectangle 18"/>
          <p:cNvSpPr/>
          <p:nvPr/>
        </p:nvSpPr>
        <p:spPr>
          <a:xfrm>
            <a:off x="1280160" y="6821424"/>
            <a:ext cx="10241280" cy="21031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966874" y="7508138"/>
            <a:ext cx="625450" cy="625450"/>
          </a:xfrm>
          <a:prstGeom prst="ellipse">
            <a:avLst/>
          </a:prstGeom>
          <a:noFill/>
          <a:ln w="63500">
            <a:solidFill>
              <a:srgbClr val="1526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a:off x="2506846" y="8048110"/>
            <a:ext cx="212653" cy="212653"/>
          </a:xfrm>
          <a:prstGeom prst="line">
            <a:avLst/>
          </a:prstGeom>
          <a:ln w="76200">
            <a:solidFill>
              <a:srgbClr val="15263F"/>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429000" y="7141464"/>
            <a:ext cx="7589520" cy="502920"/>
          </a:xfrm>
          <a:prstGeom prst="rect">
            <a:avLst/>
          </a:prstGeom>
          <a:noFill/>
        </p:spPr>
        <p:txBody>
          <a:bodyPr wrap="square" lIns="0" tIns="0" rIns="0" bIns="0">
            <a:spAutoFit/>
          </a:bodyPr>
          <a:lstStyle/>
          <a:p>
            <a:pPr algn="l"/>
            <a:r>
              <a:rPr sz="2100" b="1">
                <a:solidFill>
                  <a:srgbClr val="15263F"/>
                </a:solidFill>
                <a:latin typeface="Helvetica Neue"/>
              </a:rPr>
              <a:t>Benzerlik hesaplanıyor</a:t>
            </a:r>
          </a:p>
        </p:txBody>
      </p:sp>
      <p:sp>
        <p:nvSpPr>
          <p:cNvPr id="23" name="TextBox 22"/>
          <p:cNvSpPr txBox="1"/>
          <p:nvPr/>
        </p:nvSpPr>
        <p:spPr>
          <a:xfrm>
            <a:off x="3429000" y="7735824"/>
            <a:ext cx="7589520" cy="914400"/>
          </a:xfrm>
          <a:prstGeom prst="rect">
            <a:avLst/>
          </a:prstGeom>
          <a:noFill/>
        </p:spPr>
        <p:txBody>
          <a:bodyPr wrap="square" lIns="0" tIns="0" rIns="0" bIns="0">
            <a:spAutoFit/>
          </a:bodyPr>
          <a:lstStyle/>
          <a:p>
            <a:pPr algn="l">
              <a:lnSpc>
                <a:spcPct val="132000"/>
              </a:lnSpc>
            </a:pPr>
            <a:r>
              <a:rPr sz="1500" b="0">
                <a:solidFill>
                  <a:srgbClr val="1A1A1A"/>
                </a:solidFill>
                <a:latin typeface="Consolas"/>
              </a:rPr>
              <a:t>parça 44  ·······  0.81</a:t>
            </a:r>
          </a:p>
          <a:p>
            <a:pPr algn="l">
              <a:lnSpc>
                <a:spcPct val="132000"/>
              </a:lnSpc>
            </a:pPr>
            <a:r>
              <a:rPr sz="1500" b="0">
                <a:solidFill>
                  <a:srgbClr val="1A1A1A"/>
                </a:solidFill>
                <a:latin typeface="Consolas"/>
              </a:rPr>
              <a:t>parça 51  ·······  0.54</a:t>
            </a:r>
          </a:p>
          <a:p>
            <a:pPr algn="l">
              <a:lnSpc>
                <a:spcPct val="132000"/>
              </a:lnSpc>
            </a:pPr>
            <a:r>
              <a:rPr sz="1500" b="0">
                <a:solidFill>
                  <a:srgbClr val="1A1A1A"/>
                </a:solidFill>
                <a:latin typeface="Consolas"/>
              </a:rPr>
              <a:t>parça 49  ·······  0.49</a:t>
            </a:r>
          </a:p>
          <a:p>
            <a:pPr algn="l">
              <a:lnSpc>
                <a:spcPct val="132000"/>
              </a:lnSpc>
            </a:pPr>
            <a:r>
              <a:rPr sz="1500" b="0">
                <a:solidFill>
                  <a:srgbClr val="1A1A1A"/>
                </a:solidFill>
                <a:latin typeface="Consolas"/>
              </a:rPr>
              <a:t>(skorlar temsilî)</a:t>
            </a:r>
          </a:p>
        </p:txBody>
      </p:sp>
      <p:sp>
        <p:nvSpPr>
          <p:cNvPr id="24" name="Rounded Rectangle 23"/>
          <p:cNvSpPr/>
          <p:nvPr/>
        </p:nvSpPr>
        <p:spPr>
          <a:xfrm>
            <a:off x="1280160" y="9180576"/>
            <a:ext cx="10241280" cy="21031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06067" y="9684868"/>
            <a:ext cx="625450" cy="747065"/>
          </a:xfrm>
          <a:prstGeom prst="roundRect">
            <a:avLst>
              <a:gd name="adj" fmla="val 6000"/>
            </a:avLst>
          </a:prstGeom>
          <a:solidFill>
            <a:srgbClr val="D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2018995" y="9797796"/>
            <a:ext cx="625450" cy="747065"/>
          </a:xfrm>
          <a:prstGeom prst="roundRect">
            <a:avLst>
              <a:gd name="adj" fmla="val 6000"/>
            </a:avLst>
          </a:prstGeom>
          <a:solidFill>
            <a:srgbClr val="D8B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2131924" y="9910724"/>
            <a:ext cx="625450" cy="747065"/>
          </a:xfrm>
          <a:prstGeom prst="roundRect">
            <a:avLst>
              <a:gd name="adj" fmla="val 6000"/>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429000" y="9500616"/>
            <a:ext cx="7589520" cy="502920"/>
          </a:xfrm>
          <a:prstGeom prst="rect">
            <a:avLst/>
          </a:prstGeom>
          <a:noFill/>
        </p:spPr>
        <p:txBody>
          <a:bodyPr wrap="square" lIns="0" tIns="0" rIns="0" bIns="0">
            <a:spAutoFit/>
          </a:bodyPr>
          <a:lstStyle/>
          <a:p>
            <a:pPr algn="l"/>
            <a:r>
              <a:rPr sz="2100" b="1">
                <a:solidFill>
                  <a:srgbClr val="8A3B2F"/>
                </a:solidFill>
                <a:latin typeface="Helvetica Neue"/>
              </a:rPr>
              <a:t>En yakın 3 parça seçiliyor</a:t>
            </a:r>
          </a:p>
        </p:txBody>
      </p:sp>
      <p:sp>
        <p:nvSpPr>
          <p:cNvPr id="29" name="TextBox 28"/>
          <p:cNvSpPr txBox="1"/>
          <p:nvPr/>
        </p:nvSpPr>
        <p:spPr>
          <a:xfrm>
            <a:off x="3429000" y="10094976"/>
            <a:ext cx="7589520" cy="914400"/>
          </a:xfrm>
          <a:prstGeom prst="rect">
            <a:avLst/>
          </a:prstGeom>
          <a:noFill/>
        </p:spPr>
        <p:txBody>
          <a:bodyPr wrap="square" lIns="0" tIns="0" rIns="0" bIns="0">
            <a:spAutoFit/>
          </a:bodyPr>
          <a:lstStyle/>
          <a:p>
            <a:pPr algn="l">
              <a:lnSpc>
                <a:spcPct val="132000"/>
              </a:lnSpc>
            </a:pPr>
            <a:r>
              <a:rPr sz="1500" b="0">
                <a:solidFill>
                  <a:srgbClr val="1A1A1A"/>
                </a:solidFill>
                <a:latin typeface="Consolas"/>
              </a:rPr>
              <a:t>metinleri prompt'a ekleniyor</a:t>
            </a:r>
          </a:p>
        </p:txBody>
      </p:sp>
      <p:sp>
        <p:nvSpPr>
          <p:cNvPr id="30" name="Rounded Rectangle 29"/>
          <p:cNvSpPr/>
          <p:nvPr/>
        </p:nvSpPr>
        <p:spPr>
          <a:xfrm>
            <a:off x="12161520" y="2103120"/>
            <a:ext cx="10945368" cy="7863840"/>
          </a:xfrm>
          <a:prstGeom prst="roundRect">
            <a:avLst>
              <a:gd name="adj" fmla="val 6000"/>
            </a:avLst>
          </a:prstGeom>
          <a:solidFill>
            <a:srgbClr val="F2F4F7"/>
          </a:solidFill>
          <a:ln w="19050">
            <a:solidFill>
              <a:srgbClr val="B8BE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2664440" y="2395728"/>
            <a:ext cx="9939528" cy="457200"/>
          </a:xfrm>
          <a:prstGeom prst="rect">
            <a:avLst/>
          </a:prstGeom>
          <a:noFill/>
        </p:spPr>
        <p:txBody>
          <a:bodyPr wrap="square" lIns="0" tIns="0" rIns="0" bIns="0">
            <a:spAutoFit/>
          </a:bodyPr>
          <a:lstStyle/>
          <a:p>
            <a:pPr algn="l"/>
            <a:r>
              <a:rPr sz="1700" b="1">
                <a:solidFill>
                  <a:srgbClr val="8A8A8A"/>
                </a:solidFill>
                <a:latin typeface="Helvetica Neue"/>
              </a:rPr>
              <a:t>MODELE GİDEN TEK METİN</a:t>
            </a:r>
          </a:p>
        </p:txBody>
      </p:sp>
      <p:sp>
        <p:nvSpPr>
          <p:cNvPr id="32" name="Rectangle 31"/>
          <p:cNvSpPr/>
          <p:nvPr/>
        </p:nvSpPr>
        <p:spPr>
          <a:xfrm>
            <a:off x="12664440" y="3017520"/>
            <a:ext cx="9939528"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2664440" y="3017520"/>
            <a:ext cx="118872" cy="1508760"/>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3075920" y="3218688"/>
            <a:ext cx="5486400" cy="411480"/>
          </a:xfrm>
          <a:prstGeom prst="rect">
            <a:avLst/>
          </a:prstGeom>
          <a:noFill/>
        </p:spPr>
        <p:txBody>
          <a:bodyPr wrap="square" lIns="0" tIns="0" rIns="0" bIns="0">
            <a:spAutoFit/>
          </a:bodyPr>
          <a:lstStyle/>
          <a:p>
            <a:pPr algn="l"/>
            <a:r>
              <a:rPr sz="1600" b="1">
                <a:solidFill>
                  <a:srgbClr val="15263F"/>
                </a:solidFill>
                <a:latin typeface="Helvetica Neue"/>
              </a:rPr>
              <a:t>SYSTEM</a:t>
            </a:r>
          </a:p>
        </p:txBody>
      </p:sp>
      <p:sp>
        <p:nvSpPr>
          <p:cNvPr id="35" name="TextBox 34"/>
          <p:cNvSpPr txBox="1"/>
          <p:nvPr/>
        </p:nvSpPr>
        <p:spPr>
          <a:xfrm>
            <a:off x="13075920" y="3749040"/>
            <a:ext cx="9025128" cy="548640"/>
          </a:xfrm>
          <a:prstGeom prst="rect">
            <a:avLst/>
          </a:prstGeom>
          <a:noFill/>
        </p:spPr>
        <p:txBody>
          <a:bodyPr wrap="square" lIns="0" tIns="0" rIns="0" bIns="0">
            <a:spAutoFit/>
          </a:bodyPr>
          <a:lstStyle/>
          <a:p>
            <a:pPr algn="l">
              <a:lnSpc>
                <a:spcPct val="132000"/>
              </a:lnSpc>
            </a:pPr>
            <a:r>
              <a:rPr sz="1500" b="0">
                <a:solidFill>
                  <a:srgbClr val="1A1A1A"/>
                </a:solidFill>
                <a:latin typeface="Consolas"/>
              </a:rPr>
              <a:t>Sadece aşağıdaki katalog parçalarına</a:t>
            </a:r>
          </a:p>
          <a:p>
            <a:pPr algn="l">
              <a:lnSpc>
                <a:spcPct val="132000"/>
              </a:lnSpc>
            </a:pPr>
            <a:r>
              <a:rPr sz="1500" b="0">
                <a:solidFill>
                  <a:srgbClr val="1A1A1A"/>
                </a:solidFill>
                <a:latin typeface="Consolas"/>
              </a:rPr>
              <a:t>dayanarak cevapla. Yoksa bilmiyorum de.</a:t>
            </a:r>
          </a:p>
        </p:txBody>
      </p:sp>
      <p:sp>
        <p:nvSpPr>
          <p:cNvPr id="36" name="Rectangle 35"/>
          <p:cNvSpPr/>
          <p:nvPr/>
        </p:nvSpPr>
        <p:spPr>
          <a:xfrm>
            <a:off x="12664440" y="4709160"/>
            <a:ext cx="9939528"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2664440" y="4709160"/>
            <a:ext cx="118872" cy="3017520"/>
          </a:xfrm>
          <a:prstGeom prst="rect">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3075920" y="4910328"/>
            <a:ext cx="5486400" cy="411480"/>
          </a:xfrm>
          <a:prstGeom prst="rect">
            <a:avLst/>
          </a:prstGeom>
          <a:noFill/>
        </p:spPr>
        <p:txBody>
          <a:bodyPr wrap="square" lIns="0" tIns="0" rIns="0" bIns="0">
            <a:spAutoFit/>
          </a:bodyPr>
          <a:lstStyle/>
          <a:p>
            <a:pPr algn="l"/>
            <a:r>
              <a:rPr sz="1600" b="1">
                <a:solidFill>
                  <a:srgbClr val="C08A2E"/>
                </a:solidFill>
                <a:latin typeface="Helvetica Neue"/>
              </a:rPr>
              <a:t>KATALOG  ← RAG'in eklediği</a:t>
            </a:r>
          </a:p>
        </p:txBody>
      </p:sp>
      <p:sp>
        <p:nvSpPr>
          <p:cNvPr id="39" name="TextBox 38"/>
          <p:cNvSpPr txBox="1"/>
          <p:nvPr/>
        </p:nvSpPr>
        <p:spPr>
          <a:xfrm>
            <a:off x="13075920" y="5440680"/>
            <a:ext cx="9025128" cy="2057400"/>
          </a:xfrm>
          <a:prstGeom prst="rect">
            <a:avLst/>
          </a:prstGeom>
          <a:noFill/>
        </p:spPr>
        <p:txBody>
          <a:bodyPr wrap="square" lIns="0" tIns="0" rIns="0" bIns="0">
            <a:spAutoFit/>
          </a:bodyPr>
          <a:lstStyle/>
          <a:p>
            <a:pPr algn="l">
              <a:lnSpc>
                <a:spcPct val="132000"/>
              </a:lnSpc>
            </a:pPr>
            <a:r>
              <a:rPr sz="1500" b="0">
                <a:solidFill>
                  <a:srgbClr val="1A1A1A"/>
                </a:solidFill>
                <a:latin typeface="Consolas"/>
              </a:rPr>
              <a:t>Eğitim 44 — Data Scientist Path</a:t>
            </a:r>
          </a:p>
          <a:p>
            <a:pPr algn="l">
              <a:lnSpc>
                <a:spcPct val="132000"/>
              </a:lnSpc>
            </a:pPr>
            <a:r>
              <a:rPr sz="1500" b="0">
                <a:solidFill>
                  <a:srgbClr val="1A1A1A"/>
                </a:solidFill>
                <a:latin typeface="Consolas"/>
              </a:rPr>
              <a:t>Tür: Kariyer Yolculuğu · Süre: 68 saat</a:t>
            </a:r>
          </a:p>
          <a:p>
            <a:pPr algn="l">
              <a:lnSpc>
                <a:spcPct val="132000"/>
              </a:lnSpc>
            </a:pPr>
            <a:r>
              <a:rPr sz="1500" b="0">
                <a:solidFill>
                  <a:srgbClr val="1A1A1A"/>
                </a:solidFill>
                <a:latin typeface="Consolas"/>
              </a:rPr>
              <a:t>Modül: 9 · Ücret: 300 USD · 4.5/5</a:t>
            </a:r>
          </a:p>
          <a:p>
            <a:pPr algn="l">
              <a:lnSpc>
                <a:spcPct val="132000"/>
              </a:lnSpc>
            </a:pPr>
            <a:endParaRPr sz="1500" b="0">
              <a:solidFill>
                <a:srgbClr val="1A1A1A"/>
              </a:solidFill>
              <a:latin typeface="Consolas"/>
            </a:endParaRPr>
          </a:p>
          <a:p>
            <a:pPr algn="l">
              <a:lnSpc>
                <a:spcPct val="132000"/>
              </a:lnSpc>
            </a:pPr>
            <a:r>
              <a:rPr sz="1500" b="0">
                <a:solidFill>
                  <a:srgbClr val="1A1A1A"/>
                </a:solidFill>
                <a:latin typeface="Consolas"/>
              </a:rPr>
              <a:t>Eğitim 51 — Deep Learning Path ...</a:t>
            </a:r>
          </a:p>
          <a:p>
            <a:pPr algn="l">
              <a:lnSpc>
                <a:spcPct val="132000"/>
              </a:lnSpc>
            </a:pPr>
            <a:r>
              <a:rPr sz="1500" b="0">
                <a:solidFill>
                  <a:srgbClr val="1A1A1A"/>
                </a:solidFill>
                <a:latin typeface="Consolas"/>
              </a:rPr>
              <a:t>Eğitim 49 — Data Analyst Path ...</a:t>
            </a:r>
          </a:p>
        </p:txBody>
      </p:sp>
      <p:sp>
        <p:nvSpPr>
          <p:cNvPr id="40" name="Rectangle 39"/>
          <p:cNvSpPr/>
          <p:nvPr/>
        </p:nvSpPr>
        <p:spPr>
          <a:xfrm>
            <a:off x="12664440" y="7955280"/>
            <a:ext cx="9939528"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2664440" y="7955280"/>
            <a:ext cx="118872" cy="1508760"/>
          </a:xfrm>
          <a:prstGeom prst="rect">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3075920" y="8156448"/>
            <a:ext cx="5486400" cy="411480"/>
          </a:xfrm>
          <a:prstGeom prst="rect">
            <a:avLst/>
          </a:prstGeom>
          <a:noFill/>
        </p:spPr>
        <p:txBody>
          <a:bodyPr wrap="square" lIns="0" tIns="0" rIns="0" bIns="0">
            <a:spAutoFit/>
          </a:bodyPr>
          <a:lstStyle/>
          <a:p>
            <a:pPr algn="l"/>
            <a:r>
              <a:rPr sz="1600" b="1">
                <a:solidFill>
                  <a:srgbClr val="8A3B2F"/>
                </a:solidFill>
                <a:latin typeface="Helvetica Neue"/>
              </a:rPr>
              <a:t>USER</a:t>
            </a:r>
          </a:p>
        </p:txBody>
      </p:sp>
      <p:sp>
        <p:nvSpPr>
          <p:cNvPr id="43" name="TextBox 42"/>
          <p:cNvSpPr txBox="1"/>
          <p:nvPr/>
        </p:nvSpPr>
        <p:spPr>
          <a:xfrm>
            <a:off x="13075920" y="8686800"/>
            <a:ext cx="9025128" cy="548640"/>
          </a:xfrm>
          <a:prstGeom prst="rect">
            <a:avLst/>
          </a:prstGeom>
          <a:noFill/>
        </p:spPr>
        <p:txBody>
          <a:bodyPr wrap="square" lIns="0" tIns="0" rIns="0" bIns="0">
            <a:spAutoFit/>
          </a:bodyPr>
          <a:lstStyle/>
          <a:p>
            <a:pPr algn="l">
              <a:lnSpc>
                <a:spcPct val="132000"/>
              </a:lnSpc>
            </a:pPr>
            <a:r>
              <a:rPr sz="1500" b="0">
                <a:solidFill>
                  <a:srgbClr val="1A1A1A"/>
                </a:solidFill>
                <a:latin typeface="Consolas"/>
              </a:rPr>
              <a:t>Data Scientist Path kaç saat sürüyor</a:t>
            </a:r>
          </a:p>
          <a:p>
            <a:pPr algn="l">
              <a:lnSpc>
                <a:spcPct val="132000"/>
              </a:lnSpc>
            </a:pPr>
            <a:r>
              <a:rPr sz="1500" b="0">
                <a:solidFill>
                  <a:srgbClr val="1A1A1A"/>
                </a:solidFill>
                <a:latin typeface="Consolas"/>
              </a:rPr>
              <a:t>ve ücreti ne kadar?</a:t>
            </a:r>
          </a:p>
        </p:txBody>
      </p:sp>
      <p:sp>
        <p:nvSpPr>
          <p:cNvPr id="44" name="Rounded Rectangle 43"/>
          <p:cNvSpPr/>
          <p:nvPr/>
        </p:nvSpPr>
        <p:spPr>
          <a:xfrm>
            <a:off x="12824460" y="10081260"/>
            <a:ext cx="1051560" cy="1051560"/>
          </a:xfrm>
          <a:prstGeom prst="roundRect">
            <a:avLst>
              <a:gd name="adj" fmla="val 14000"/>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13108381" y="10365181"/>
            <a:ext cx="483718" cy="48371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12756109" y="10375697"/>
            <a:ext cx="136703" cy="75187"/>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12756109" y="10712196"/>
            <a:ext cx="136703" cy="75187"/>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13118897" y="10012909"/>
            <a:ext cx="75187" cy="136703"/>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13455396" y="10012909"/>
            <a:ext cx="75187" cy="136703"/>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13807669" y="10375697"/>
            <a:ext cx="136703" cy="75187"/>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13807669" y="10712196"/>
            <a:ext cx="136703" cy="75187"/>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13118897" y="11064469"/>
            <a:ext cx="75187" cy="136703"/>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13455396" y="11064469"/>
            <a:ext cx="75187" cy="136703"/>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14538960" y="10104120"/>
            <a:ext cx="8567928" cy="1005840"/>
          </a:xfrm>
          <a:prstGeom prst="roundRect">
            <a:avLst>
              <a:gd name="adj" fmla="val 6000"/>
            </a:avLst>
          </a:prstGeom>
          <a:solidFill>
            <a:srgbClr val="F7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4538960" y="10104120"/>
            <a:ext cx="8567928" cy="1005840"/>
          </a:xfrm>
          <a:prstGeom prst="rect">
            <a:avLst/>
          </a:prstGeom>
          <a:noFill/>
        </p:spPr>
        <p:txBody>
          <a:bodyPr wrap="square" lIns="0" tIns="0" rIns="0" bIns="0" anchor="ctr">
            <a:spAutoFit/>
          </a:bodyPr>
          <a:lstStyle/>
          <a:p>
            <a:pPr algn="ctr"/>
            <a:r>
              <a:rPr sz="2200" b="1">
                <a:solidFill>
                  <a:srgbClr val="8A3B2F"/>
                </a:solidFill>
                <a:latin typeface="Helvetica Neue"/>
              </a:rPr>
              <a:t>68 saat · 9 modül · 300 USD   (Eğitim 44)</a:t>
            </a:r>
          </a:p>
        </p:txBody>
      </p:sp>
      <p:sp>
        <p:nvSpPr>
          <p:cNvPr id="56" name="Rectangle 55"/>
          <p:cNvSpPr/>
          <p:nvPr/>
        </p:nvSpPr>
        <p:spPr>
          <a:xfrm>
            <a:off x="1280160" y="11430000"/>
            <a:ext cx="21826728" cy="1188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011680" y="11430000"/>
            <a:ext cx="20363688" cy="118872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Cevap modelin hafızasından değil — </a:t>
            </a:r>
            <a:r>
              <a:rPr sz="2400" b="1">
                <a:solidFill>
                  <a:srgbClr val="15263F"/>
                </a:solidFill>
                <a:latin typeface="Helvetica Neue"/>
              </a:rPr>
              <a:t>pencereye koyduğumuz metinden geldi.</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Yer Tutucusu 1">
            <a:extLst>
              <a:ext uri="{FF2B5EF4-FFF2-40B4-BE49-F238E27FC236}">
                <a16:creationId xmlns:a16="http://schemas.microsoft.com/office/drawing/2014/main" id="{017A0868-D031-F8E5-7CAB-27ACF49E7EC1}"/>
              </a:ext>
            </a:extLst>
          </p:cNvPr>
          <p:cNvSpPr>
            <a:spLocks noGrp="1"/>
          </p:cNvSpPr>
          <p:nvPr>
            <p:ph type="body" sz="quarter" idx="22"/>
          </p:nvPr>
        </p:nvSpPr>
        <p:spPr/>
        <p:txBody>
          <a:bodyPr/>
          <a:lstStyle/>
          <a:p>
            <a:r>
              <a:rPr lang="tr-TR" dirty="0" err="1"/>
              <a:t>Taming</a:t>
            </a:r>
            <a:r>
              <a:rPr lang="tr-TR" dirty="0"/>
              <a:t> </a:t>
            </a:r>
            <a:r>
              <a:rPr lang="tr-TR" dirty="0" err="1"/>
              <a:t>The</a:t>
            </a:r>
            <a:r>
              <a:rPr lang="tr-TR" dirty="0"/>
              <a:t> Monster</a:t>
            </a:r>
          </a:p>
        </p:txBody>
      </p:sp>
      <p:pic>
        <p:nvPicPr>
          <p:cNvPr id="4" name="Resim 3">
            <a:extLst>
              <a:ext uri="{FF2B5EF4-FFF2-40B4-BE49-F238E27FC236}">
                <a16:creationId xmlns:a16="http://schemas.microsoft.com/office/drawing/2014/main" id="{EDB3E636-49EE-8974-BCA5-2AE11ACC3514}"/>
              </a:ext>
            </a:extLst>
          </p:cNvPr>
          <p:cNvPicPr>
            <a:picLocks noChangeAspect="1"/>
          </p:cNvPicPr>
          <p:nvPr/>
        </p:nvPicPr>
        <p:blipFill>
          <a:blip r:embed="rId3"/>
          <a:stretch>
            <a:fillRect/>
          </a:stretch>
        </p:blipFill>
        <p:spPr>
          <a:xfrm>
            <a:off x="1049411" y="1882456"/>
            <a:ext cx="21974712" cy="11752220"/>
          </a:xfrm>
          <a:prstGeom prst="rect">
            <a:avLst/>
          </a:prstGeom>
        </p:spPr>
      </p:pic>
    </p:spTree>
    <p:extLst>
      <p:ext uri="{BB962C8B-B14F-4D97-AF65-F5344CB8AC3E}">
        <p14:creationId xmlns:p14="http://schemas.microsoft.com/office/powerpoint/2010/main" val="4114120570"/>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Atölyede ne yapacağız?</a:t>
            </a:r>
          </a:p>
        </p:txBody>
      </p:sp>
      <p:sp>
        <p:nvSpPr>
          <p:cNvPr id="3" name="Rounded Rectangle 2"/>
          <p:cNvSpPr/>
          <p:nvPr/>
        </p:nvSpPr>
        <p:spPr>
          <a:xfrm>
            <a:off x="1280160" y="2560320"/>
            <a:ext cx="10661904" cy="60350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 name="Connector 3"/>
          <p:cNvCxnSpPr/>
          <p:nvPr/>
        </p:nvCxnSpPr>
        <p:spPr>
          <a:xfrm>
            <a:off x="1280160" y="2560320"/>
            <a:ext cx="10661904" cy="0"/>
          </a:xfrm>
          <a:prstGeom prst="line">
            <a:avLst/>
          </a:prstGeom>
          <a:ln w="76200">
            <a:solidFill>
              <a:srgbClr val="15263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783080" y="3200400"/>
            <a:ext cx="9656064" cy="1005840"/>
          </a:xfrm>
          <a:prstGeom prst="rect">
            <a:avLst/>
          </a:prstGeom>
          <a:noFill/>
        </p:spPr>
        <p:txBody>
          <a:bodyPr wrap="square" lIns="0" tIns="0" rIns="0" bIns="0">
            <a:spAutoFit/>
          </a:bodyPr>
          <a:lstStyle/>
          <a:p>
            <a:pPr algn="l">
              <a:lnSpc>
                <a:spcPct val="120000"/>
              </a:lnSpc>
            </a:pPr>
            <a:r>
              <a:rPr sz="3000" b="1">
                <a:solidFill>
                  <a:srgbClr val="15263F"/>
                </a:solidFill>
                <a:latin typeface="Helvetica Neue"/>
              </a:rPr>
              <a:t>n8n'de</a:t>
            </a:r>
          </a:p>
        </p:txBody>
      </p:sp>
      <p:sp>
        <p:nvSpPr>
          <p:cNvPr id="6" name="TextBox 5"/>
          <p:cNvSpPr txBox="1"/>
          <p:nvPr/>
        </p:nvSpPr>
        <p:spPr>
          <a:xfrm>
            <a:off x="1783080" y="4434840"/>
            <a:ext cx="9656064" cy="3703320"/>
          </a:xfrm>
          <a:prstGeom prst="rect">
            <a:avLst/>
          </a:prstGeom>
          <a:noFill/>
        </p:spPr>
        <p:txBody>
          <a:bodyPr wrap="square" lIns="0" tIns="0" rIns="0" bIns="0">
            <a:spAutoFit/>
          </a:bodyPr>
          <a:lstStyle/>
          <a:p>
            <a:pPr algn="l">
              <a:lnSpc>
                <a:spcPct val="135000"/>
              </a:lnSpc>
            </a:pPr>
            <a:r>
              <a:rPr sz="2300" b="0">
                <a:solidFill>
                  <a:srgbClr val="1A1A1A"/>
                </a:solidFill>
                <a:latin typeface="Helvetica Neue"/>
              </a:rPr>
              <a:t>① Basit bir soru-cevap akışı</a:t>
            </a:r>
          </a:p>
          <a:p>
            <a:pPr algn="l">
              <a:lnSpc>
                <a:spcPct val="135000"/>
              </a:lnSpc>
            </a:pPr>
            <a:r>
              <a:rPr sz="2300" b="0">
                <a:solidFill>
                  <a:srgbClr val="1A1A1A"/>
                </a:solidFill>
                <a:latin typeface="Helvetica Neue"/>
              </a:rPr>
              <a:t>② Halüsinasyonu canlı yakalama</a:t>
            </a:r>
          </a:p>
          <a:p>
            <a:pPr algn="l">
              <a:lnSpc>
                <a:spcPct val="135000"/>
              </a:lnSpc>
            </a:pPr>
            <a:r>
              <a:rPr sz="2300" b="0">
                <a:solidFill>
                  <a:srgbClr val="1A1A1A"/>
                </a:solidFill>
                <a:latin typeface="Helvetica Neue"/>
              </a:rPr>
              <a:t>③ Few-shot ile biçimi düzeltme</a:t>
            </a:r>
          </a:p>
          <a:p>
            <a:pPr algn="l">
              <a:lnSpc>
                <a:spcPct val="135000"/>
              </a:lnSpc>
            </a:pPr>
            <a:r>
              <a:rPr sz="2300" b="0">
                <a:solidFill>
                  <a:srgbClr val="1A1A1A"/>
                </a:solidFill>
                <a:latin typeface="Helvetica Neue"/>
              </a:rPr>
              <a:t>④ Miuul kataloğuyla RAG kurma</a:t>
            </a:r>
          </a:p>
          <a:p>
            <a:pPr algn="l">
              <a:lnSpc>
                <a:spcPct val="135000"/>
              </a:lnSpc>
            </a:pPr>
            <a:r>
              <a:rPr sz="2300" b="0">
                <a:solidFill>
                  <a:srgbClr val="1A1A1A"/>
                </a:solidFill>
                <a:latin typeface="Helvetica Neue"/>
              </a:rPr>
              <a:t>⑤ RAG'in çuvalladığı yeri görme</a:t>
            </a:r>
          </a:p>
        </p:txBody>
      </p:sp>
      <p:sp>
        <p:nvSpPr>
          <p:cNvPr id="7" name="Rounded Rectangle 6"/>
          <p:cNvSpPr/>
          <p:nvPr/>
        </p:nvSpPr>
        <p:spPr>
          <a:xfrm>
            <a:off x="12444984" y="2560320"/>
            <a:ext cx="10661904" cy="60350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Connector 7"/>
          <p:cNvCxnSpPr/>
          <p:nvPr/>
        </p:nvCxnSpPr>
        <p:spPr>
          <a:xfrm>
            <a:off x="12444984" y="2560320"/>
            <a:ext cx="10661904" cy="0"/>
          </a:xfrm>
          <a:prstGeom prst="line">
            <a:avLst/>
          </a:prstGeom>
          <a:ln w="76200">
            <a:solidFill>
              <a:srgbClr val="8A3B2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2947904" y="3200400"/>
            <a:ext cx="9656064" cy="1005840"/>
          </a:xfrm>
          <a:prstGeom prst="rect">
            <a:avLst/>
          </a:prstGeom>
          <a:noFill/>
        </p:spPr>
        <p:txBody>
          <a:bodyPr wrap="square" lIns="0" tIns="0" rIns="0" bIns="0">
            <a:spAutoFit/>
          </a:bodyPr>
          <a:lstStyle/>
          <a:p>
            <a:pPr algn="l">
              <a:lnSpc>
                <a:spcPct val="120000"/>
              </a:lnSpc>
            </a:pPr>
            <a:r>
              <a:rPr sz="3000" b="1">
                <a:solidFill>
                  <a:srgbClr val="8A3B2F"/>
                </a:solidFill>
                <a:latin typeface="Helvetica Neue"/>
              </a:rPr>
              <a:t>Kendi makinemizde</a:t>
            </a:r>
          </a:p>
        </p:txBody>
      </p:sp>
      <p:sp>
        <p:nvSpPr>
          <p:cNvPr id="10" name="TextBox 9"/>
          <p:cNvSpPr txBox="1"/>
          <p:nvPr/>
        </p:nvSpPr>
        <p:spPr>
          <a:xfrm>
            <a:off x="12947904" y="4434840"/>
            <a:ext cx="9656064" cy="3703320"/>
          </a:xfrm>
          <a:prstGeom prst="rect">
            <a:avLst/>
          </a:prstGeom>
          <a:noFill/>
        </p:spPr>
        <p:txBody>
          <a:bodyPr wrap="square" lIns="0" tIns="0" rIns="0" bIns="0">
            <a:spAutoFit/>
          </a:bodyPr>
          <a:lstStyle/>
          <a:p>
            <a:pPr algn="l">
              <a:lnSpc>
                <a:spcPct val="135000"/>
              </a:lnSpc>
            </a:pPr>
            <a:r>
              <a:rPr sz="2300" b="0">
                <a:solidFill>
                  <a:srgbClr val="1A1A1A"/>
                </a:solidFill>
                <a:latin typeface="Helvetica Neue"/>
              </a:rPr>
              <a:t>⑥ Küçük bir modele</a:t>
            </a:r>
          </a:p>
          <a:p>
            <a:pPr algn="l">
              <a:lnSpc>
                <a:spcPct val="135000"/>
              </a:lnSpc>
            </a:pPr>
            <a:r>
              <a:rPr sz="2300" b="0">
                <a:solidFill>
                  <a:srgbClr val="1A1A1A"/>
                </a:solidFill>
                <a:latin typeface="Helvetica Neue"/>
              </a:rPr>
              <a:t>     yönlendirmeyi öğretme</a:t>
            </a:r>
          </a:p>
          <a:p>
            <a:pPr algn="l">
              <a:lnSpc>
                <a:spcPct val="135000"/>
              </a:lnSpc>
            </a:pPr>
            <a:endParaRPr sz="2300" b="0">
              <a:solidFill>
                <a:srgbClr val="1A1A1A"/>
              </a:solidFill>
              <a:latin typeface="Helvetica Neue"/>
            </a:endParaRPr>
          </a:p>
          <a:p>
            <a:pPr algn="l">
              <a:lnSpc>
                <a:spcPct val="135000"/>
              </a:lnSpc>
            </a:pPr>
            <a:r>
              <a:rPr sz="2300" b="0">
                <a:solidFill>
                  <a:srgbClr val="1A1A1A"/>
                </a:solidFill>
                <a:latin typeface="Helvetica Neue"/>
              </a:rPr>
              <a:t>     ÖNCE: paragraf yazıyor</a:t>
            </a:r>
          </a:p>
          <a:p>
            <a:pPr algn="l">
              <a:lnSpc>
                <a:spcPct val="135000"/>
              </a:lnSpc>
            </a:pPr>
            <a:r>
              <a:rPr sz="2300" b="0">
                <a:solidFill>
                  <a:srgbClr val="1A1A1A"/>
                </a:solidFill>
                <a:latin typeface="Helvetica Neue"/>
              </a:rPr>
              <a:t>     SONRA: tek etiket veriyor</a:t>
            </a:r>
          </a:p>
        </p:txBody>
      </p:sp>
      <p:sp>
        <p:nvSpPr>
          <p:cNvPr id="11" name="Rounded Rectangle 10"/>
          <p:cNvSpPr/>
          <p:nvPr/>
        </p:nvSpPr>
        <p:spPr>
          <a:xfrm>
            <a:off x="1280160" y="9052560"/>
            <a:ext cx="21826728" cy="173736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80160" y="9052560"/>
            <a:ext cx="21826728" cy="1737360"/>
          </a:xfrm>
          <a:prstGeom prst="rect">
            <a:avLst/>
          </a:prstGeom>
          <a:noFill/>
        </p:spPr>
        <p:txBody>
          <a:bodyPr wrap="square" lIns="0" tIns="0" rIns="0" bIns="0" anchor="ctr">
            <a:spAutoFit/>
          </a:bodyPr>
          <a:lstStyle/>
          <a:p>
            <a:pPr algn="ctr"/>
            <a:r>
              <a:rPr sz="2700" b="1">
                <a:solidFill>
                  <a:srgbClr val="15263F"/>
                </a:solidFill>
                <a:latin typeface="Helvetica Neue"/>
              </a:rPr>
              <a:t>Senaryo: </a:t>
            </a:r>
            <a:r>
              <a:rPr sz="2700" b="0">
                <a:solidFill>
                  <a:srgbClr val="15263F"/>
                </a:solidFill>
                <a:latin typeface="Helvetica Neue"/>
              </a:rPr>
              <a:t>Miuul öğrenci destek asistanı — gerçek katalog, kurgu öğrenciler.</a:t>
            </a:r>
          </a:p>
        </p:txBody>
      </p:sp>
      <p:sp>
        <p:nvSpPr>
          <p:cNvPr id="13" name="Rectangle 12"/>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Kod ezberlemeyeceğiz — </a:t>
            </a:r>
            <a:r>
              <a:rPr sz="2400" b="1">
                <a:solidFill>
                  <a:srgbClr val="15263F"/>
                </a:solidFill>
                <a:latin typeface="Helvetica Neue"/>
              </a:rPr>
              <a:t>karar vermeyi öğreneceğiz.</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2" sz="quarter"/>
          </p:nvPr>
        </p:nvSpPr>
        <p:spPr/>
        <p:txBody>
          <a:bodyPr/>
          <a:lstStyle/>
          <a:p>
            <a:r>
              <a:rPr sz="3200">
                <a:solidFill>
                  <a:srgbClr val="1A1A1A"/>
                </a:solidFill>
                <a:latin typeface="Helvetica Neue"/>
              </a:rPr>
              <a:t>Fine-tune nedir?  Ne değişiyor?</a:t>
            </a:r>
          </a:p>
        </p:txBody>
      </p:sp>
      <p:sp>
        <p:nvSpPr>
          <p:cNvPr id="3" name="Rounded Rectangle 2"/>
          <p:cNvSpPr/>
          <p:nvPr/>
        </p:nvSpPr>
        <p:spPr>
          <a:xfrm>
            <a:off x="1280160" y="2011680"/>
            <a:ext cx="21826728" cy="8686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011680"/>
            <a:ext cx="21826728" cy="868680"/>
          </a:xfrm>
          <a:prstGeom prst="rect">
            <a:avLst/>
          </a:prstGeom>
          <a:noFill/>
        </p:spPr>
        <p:txBody>
          <a:bodyPr wrap="square" lIns="0" rIns="0" tIns="0" bIns="0" anchor="ctr">
            <a:spAutoFit/>
          </a:bodyPr>
          <a:lstStyle/>
          <a:p>
            <a:pPr algn="ctr"/>
            <a:r>
              <a:rPr sz="2300" b="0">
                <a:solidFill>
                  <a:srgbClr val="15263F"/>
                </a:solidFill>
                <a:latin typeface="Helvetica Neue"/>
              </a:rPr>
              <a:t>Şimdiye kadar modelin kendisine hiç dokunmadık.  Hep </a:t>
            </a:r>
            <a:r>
              <a:rPr sz="2300" b="1">
                <a:solidFill>
                  <a:srgbClr val="15263F"/>
                </a:solidFill>
                <a:latin typeface="Helvetica Neue"/>
              </a:rPr>
              <a:t>girdiyi</a:t>
            </a:r>
            <a:r>
              <a:rPr sz="2300" b="0">
                <a:solidFill>
                  <a:srgbClr val="15263F"/>
                </a:solidFill>
                <a:latin typeface="Helvetica Neue"/>
              </a:rPr>
              <a:t> değiştirdik.</a:t>
            </a:r>
          </a:p>
        </p:txBody>
      </p:sp>
      <p:sp>
        <p:nvSpPr>
          <p:cNvPr id="5" name="Rounded Rectangle 4"/>
          <p:cNvSpPr/>
          <p:nvPr/>
        </p:nvSpPr>
        <p:spPr>
          <a:xfrm>
            <a:off x="1280160" y="3200400"/>
            <a:ext cx="6967728" cy="28346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3200400"/>
            <a:ext cx="6967728" cy="91440"/>
          </a:xfrm>
          <a:prstGeom prst="rect">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3611880"/>
            <a:ext cx="5779008" cy="502920"/>
          </a:xfrm>
          <a:prstGeom prst="rect">
            <a:avLst/>
          </a:prstGeom>
          <a:noFill/>
        </p:spPr>
        <p:txBody>
          <a:bodyPr wrap="square" lIns="0" rIns="0" tIns="0" bIns="0">
            <a:spAutoFit/>
          </a:bodyPr>
          <a:lstStyle/>
          <a:p>
            <a:pPr algn="l"/>
            <a:r>
              <a:rPr sz="2100" b="1">
                <a:solidFill>
                  <a:srgbClr val="8A3B2F"/>
                </a:solidFill>
                <a:latin typeface="Helvetica Neue"/>
              </a:rPr>
              <a:t>PROMPT  ·  FEW-SHOT</a:t>
            </a:r>
          </a:p>
        </p:txBody>
      </p:sp>
      <p:sp>
        <p:nvSpPr>
          <p:cNvPr id="8" name="TextBox 7"/>
          <p:cNvSpPr txBox="1"/>
          <p:nvPr/>
        </p:nvSpPr>
        <p:spPr>
          <a:xfrm>
            <a:off x="1874520" y="4315968"/>
            <a:ext cx="5779008" cy="1188720"/>
          </a:xfrm>
          <a:prstGeom prst="rect">
            <a:avLst/>
          </a:prstGeom>
          <a:noFill/>
        </p:spPr>
        <p:txBody>
          <a:bodyPr wrap="square" lIns="0" rIns="0" tIns="0" bIns="0">
            <a:spAutoFit/>
          </a:bodyPr>
          <a:lstStyle/>
          <a:p>
            <a:pPr algn="l">
              <a:lnSpc>
                <a:spcPct val="130000"/>
              </a:lnSpc>
            </a:pPr>
            <a:r>
              <a:rPr sz="2000" b="0">
                <a:solidFill>
                  <a:srgbClr val="1A1A1A"/>
                </a:solidFill>
                <a:latin typeface="Helvetica Neue"/>
              </a:rPr>
              <a:t>Girdiye talimat ve</a:t>
            </a:r>
          </a:p>
          <a:p>
            <a:pPr algn="l">
              <a:lnSpc>
                <a:spcPct val="130000"/>
              </a:lnSpc>
            </a:pPr>
            <a:r>
              <a:rPr sz="2000" b="0">
                <a:solidFill>
                  <a:srgbClr val="1A1A1A"/>
                </a:solidFill>
                <a:latin typeface="Helvetica Neue"/>
              </a:rPr>
              <a:t>örnek ekledik.</a:t>
            </a:r>
          </a:p>
        </p:txBody>
      </p:sp>
      <p:sp>
        <p:nvSpPr>
          <p:cNvPr id="9" name="Rounded Rectangle 8"/>
          <p:cNvSpPr/>
          <p:nvPr/>
        </p:nvSpPr>
        <p:spPr>
          <a:xfrm>
            <a:off x="1874520" y="5230368"/>
            <a:ext cx="5779008" cy="566928"/>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74520" y="5230368"/>
            <a:ext cx="5779008" cy="566928"/>
          </a:xfrm>
          <a:prstGeom prst="rect">
            <a:avLst/>
          </a:prstGeom>
          <a:noFill/>
        </p:spPr>
        <p:txBody>
          <a:bodyPr wrap="square" lIns="0" rIns="0" tIns="0" bIns="0" anchor="ctr">
            <a:spAutoFit/>
          </a:bodyPr>
          <a:lstStyle/>
          <a:p>
            <a:pPr algn="ctr"/>
            <a:r>
              <a:rPr sz="1500" b="1">
                <a:solidFill>
                  <a:srgbClr val="8A8A8A"/>
                </a:solidFill>
                <a:latin typeface="Helvetica Neue"/>
              </a:rPr>
              <a:t>AĞIRLIKLAR AYNI</a:t>
            </a:r>
          </a:p>
        </p:txBody>
      </p:sp>
      <p:sp>
        <p:nvSpPr>
          <p:cNvPr id="11" name="Rounded Rectangle 10"/>
          <p:cNvSpPr/>
          <p:nvPr/>
        </p:nvSpPr>
        <p:spPr>
          <a:xfrm>
            <a:off x="8705088" y="3200400"/>
            <a:ext cx="6967728" cy="28346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705088" y="3200400"/>
            <a:ext cx="6967728" cy="91440"/>
          </a:xfrm>
          <a:prstGeom prst="rect">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99448" y="3611880"/>
            <a:ext cx="5779008" cy="502920"/>
          </a:xfrm>
          <a:prstGeom prst="rect">
            <a:avLst/>
          </a:prstGeom>
          <a:noFill/>
        </p:spPr>
        <p:txBody>
          <a:bodyPr wrap="square" lIns="0" rIns="0" tIns="0" bIns="0">
            <a:spAutoFit/>
          </a:bodyPr>
          <a:lstStyle/>
          <a:p>
            <a:pPr algn="l"/>
            <a:r>
              <a:rPr sz="2100" b="1">
                <a:solidFill>
                  <a:srgbClr val="C08A2E"/>
                </a:solidFill>
                <a:latin typeface="Helvetica Neue"/>
              </a:rPr>
              <a:t>RAG</a:t>
            </a:r>
          </a:p>
        </p:txBody>
      </p:sp>
      <p:sp>
        <p:nvSpPr>
          <p:cNvPr id="14" name="TextBox 13"/>
          <p:cNvSpPr txBox="1"/>
          <p:nvPr/>
        </p:nvSpPr>
        <p:spPr>
          <a:xfrm>
            <a:off x="9299448" y="4315968"/>
            <a:ext cx="5779008" cy="1188720"/>
          </a:xfrm>
          <a:prstGeom prst="rect">
            <a:avLst/>
          </a:prstGeom>
          <a:noFill/>
        </p:spPr>
        <p:txBody>
          <a:bodyPr wrap="square" lIns="0" rIns="0" tIns="0" bIns="0">
            <a:spAutoFit/>
          </a:bodyPr>
          <a:lstStyle/>
          <a:p>
            <a:pPr algn="l">
              <a:lnSpc>
                <a:spcPct val="130000"/>
              </a:lnSpc>
            </a:pPr>
            <a:r>
              <a:rPr sz="2000" b="0">
                <a:solidFill>
                  <a:srgbClr val="1A1A1A"/>
                </a:solidFill>
                <a:latin typeface="Helvetica Neue"/>
              </a:rPr>
              <a:t>Girdiye doğru belgeyi</a:t>
            </a:r>
          </a:p>
          <a:p>
            <a:pPr algn="l">
              <a:lnSpc>
                <a:spcPct val="130000"/>
              </a:lnSpc>
            </a:pPr>
            <a:r>
              <a:rPr sz="2000" b="0">
                <a:solidFill>
                  <a:srgbClr val="1A1A1A"/>
                </a:solidFill>
                <a:latin typeface="Helvetica Neue"/>
              </a:rPr>
              <a:t>ekledik.</a:t>
            </a:r>
          </a:p>
        </p:txBody>
      </p:sp>
      <p:sp>
        <p:nvSpPr>
          <p:cNvPr id="15" name="Rounded Rectangle 14"/>
          <p:cNvSpPr/>
          <p:nvPr/>
        </p:nvSpPr>
        <p:spPr>
          <a:xfrm>
            <a:off x="9299448" y="5230368"/>
            <a:ext cx="5779008" cy="566928"/>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99448" y="5230368"/>
            <a:ext cx="5779008" cy="566928"/>
          </a:xfrm>
          <a:prstGeom prst="rect">
            <a:avLst/>
          </a:prstGeom>
          <a:noFill/>
        </p:spPr>
        <p:txBody>
          <a:bodyPr wrap="square" lIns="0" rIns="0" tIns="0" bIns="0" anchor="ctr">
            <a:spAutoFit/>
          </a:bodyPr>
          <a:lstStyle/>
          <a:p>
            <a:pPr algn="ctr"/>
            <a:r>
              <a:rPr sz="1500" b="1">
                <a:solidFill>
                  <a:srgbClr val="8A8A8A"/>
                </a:solidFill>
                <a:latin typeface="Helvetica Neue"/>
              </a:rPr>
              <a:t>AĞIRLIKLAR AYNI</a:t>
            </a:r>
          </a:p>
        </p:txBody>
      </p:sp>
      <p:sp>
        <p:nvSpPr>
          <p:cNvPr id="17" name="Rounded Rectangle 16"/>
          <p:cNvSpPr/>
          <p:nvPr/>
        </p:nvSpPr>
        <p:spPr>
          <a:xfrm>
            <a:off x="16130016" y="3200400"/>
            <a:ext cx="6967728" cy="2834640"/>
          </a:xfrm>
          <a:prstGeom prst="roundRect">
            <a:avLst>
              <a:gd name="adj" fmla="val 6000"/>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724376" y="3611880"/>
            <a:ext cx="5779008" cy="502920"/>
          </a:xfrm>
          <a:prstGeom prst="rect">
            <a:avLst/>
          </a:prstGeom>
          <a:noFill/>
        </p:spPr>
        <p:txBody>
          <a:bodyPr wrap="square" lIns="0" rIns="0" tIns="0" bIns="0">
            <a:spAutoFit/>
          </a:bodyPr>
          <a:lstStyle/>
          <a:p>
            <a:pPr algn="l"/>
            <a:r>
              <a:rPr sz="2100" b="1">
                <a:solidFill>
                  <a:srgbClr val="FFFFFF"/>
                </a:solidFill>
                <a:latin typeface="Helvetica Neue"/>
              </a:rPr>
              <a:t>FINE-TUNE</a:t>
            </a:r>
          </a:p>
        </p:txBody>
      </p:sp>
      <p:sp>
        <p:nvSpPr>
          <p:cNvPr id="19" name="TextBox 18"/>
          <p:cNvSpPr txBox="1"/>
          <p:nvPr/>
        </p:nvSpPr>
        <p:spPr>
          <a:xfrm>
            <a:off x="16724376" y="4315968"/>
            <a:ext cx="5779008" cy="1188720"/>
          </a:xfrm>
          <a:prstGeom prst="rect">
            <a:avLst/>
          </a:prstGeom>
          <a:noFill/>
        </p:spPr>
        <p:txBody>
          <a:bodyPr wrap="square" lIns="0" rIns="0" tIns="0" bIns="0">
            <a:spAutoFit/>
          </a:bodyPr>
          <a:lstStyle/>
          <a:p>
            <a:pPr algn="l">
              <a:lnSpc>
                <a:spcPct val="130000"/>
              </a:lnSpc>
            </a:pPr>
            <a:r>
              <a:rPr sz="2000" b="0">
                <a:solidFill>
                  <a:srgbClr val="FFFFFF"/>
                </a:solidFill>
                <a:latin typeface="Helvetica Neue"/>
              </a:rPr>
              <a:t>Modelin kendisini</a:t>
            </a:r>
          </a:p>
          <a:p>
            <a:pPr algn="l">
              <a:lnSpc>
                <a:spcPct val="130000"/>
              </a:lnSpc>
            </a:pPr>
            <a:r>
              <a:rPr sz="2000" b="0">
                <a:solidFill>
                  <a:srgbClr val="FFFFFF"/>
                </a:solidFill>
                <a:latin typeface="Helvetica Neue"/>
              </a:rPr>
              <a:t>değiştiriyoruz.</a:t>
            </a:r>
          </a:p>
        </p:txBody>
      </p:sp>
      <p:sp>
        <p:nvSpPr>
          <p:cNvPr id="20" name="Rounded Rectangle 19"/>
          <p:cNvSpPr/>
          <p:nvPr/>
        </p:nvSpPr>
        <p:spPr>
          <a:xfrm>
            <a:off x="16724376" y="5230368"/>
            <a:ext cx="5779008" cy="566928"/>
          </a:xfrm>
          <a:prstGeom prst="roundRect">
            <a:avLst>
              <a:gd name="adj" fmla="val 30000"/>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724376" y="5230368"/>
            <a:ext cx="5779008" cy="566928"/>
          </a:xfrm>
          <a:prstGeom prst="rect">
            <a:avLst/>
          </a:prstGeom>
          <a:noFill/>
        </p:spPr>
        <p:txBody>
          <a:bodyPr wrap="square" lIns="0" rIns="0" tIns="0" bIns="0" anchor="ctr">
            <a:spAutoFit/>
          </a:bodyPr>
          <a:lstStyle/>
          <a:p>
            <a:pPr algn="ctr"/>
            <a:r>
              <a:rPr sz="1500" b="1">
                <a:solidFill>
                  <a:srgbClr val="15263F"/>
                </a:solidFill>
                <a:latin typeface="Helvetica Neue"/>
              </a:rPr>
              <a:t>AĞIRLIKLAR DEĞİŞİYOR</a:t>
            </a:r>
          </a:p>
        </p:txBody>
      </p:sp>
      <p:sp>
        <p:nvSpPr>
          <p:cNvPr id="22" name="TextBox 21"/>
          <p:cNvSpPr txBox="1"/>
          <p:nvPr/>
        </p:nvSpPr>
        <p:spPr>
          <a:xfrm>
            <a:off x="1280160" y="6400800"/>
            <a:ext cx="21826728" cy="457200"/>
          </a:xfrm>
          <a:prstGeom prst="rect">
            <a:avLst/>
          </a:prstGeom>
          <a:noFill/>
        </p:spPr>
        <p:txBody>
          <a:bodyPr wrap="square" lIns="0" rIns="0" tIns="0" bIns="0">
            <a:spAutoFit/>
          </a:bodyPr>
          <a:lstStyle/>
          <a:p>
            <a:pPr algn="l"/>
            <a:r>
              <a:rPr sz="1900" b="1">
                <a:solidFill>
                  <a:srgbClr val="8A8A8A"/>
                </a:solidFill>
                <a:latin typeface="Helvetica Neue"/>
              </a:rPr>
              <a:t>EĞİTİM DÖNGÜSÜ  ·  her örnek için tekrarlanır</a:t>
            </a:r>
          </a:p>
        </p:txBody>
      </p:sp>
      <p:sp>
        <p:nvSpPr>
          <p:cNvPr id="23" name="Rounded Rectangle 22"/>
          <p:cNvSpPr/>
          <p:nvPr/>
        </p:nvSpPr>
        <p:spPr>
          <a:xfrm>
            <a:off x="1280160" y="6995160"/>
            <a:ext cx="4572000" cy="31546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280160" y="6995160"/>
            <a:ext cx="4572000" cy="91440"/>
          </a:xfrm>
          <a:prstGeom prst="rect">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737360" y="7360920"/>
            <a:ext cx="3657600" cy="502920"/>
          </a:xfrm>
          <a:prstGeom prst="rect">
            <a:avLst/>
          </a:prstGeom>
          <a:noFill/>
        </p:spPr>
        <p:txBody>
          <a:bodyPr wrap="square" lIns="0" rIns="0" tIns="0" bIns="0">
            <a:spAutoFit/>
          </a:bodyPr>
          <a:lstStyle/>
          <a:p>
            <a:pPr algn="l"/>
            <a:r>
              <a:rPr sz="1800" b="1">
                <a:solidFill>
                  <a:srgbClr val="8A3B2F"/>
                </a:solidFill>
                <a:latin typeface="Helvetica Neue"/>
              </a:rPr>
              <a:t>①  ÖRNEK</a:t>
            </a:r>
          </a:p>
        </p:txBody>
      </p:sp>
      <p:sp>
        <p:nvSpPr>
          <p:cNvPr id="26" name="TextBox 25"/>
          <p:cNvSpPr txBox="1"/>
          <p:nvPr/>
        </p:nvSpPr>
        <p:spPr>
          <a:xfrm>
            <a:off x="1737360" y="8046720"/>
            <a:ext cx="3749040" cy="1828800"/>
          </a:xfrm>
          <a:prstGeom prst="rect">
            <a:avLst/>
          </a:prstGeom>
          <a:noFill/>
        </p:spPr>
        <p:txBody>
          <a:bodyPr wrap="square" lIns="0" rIns="0" tIns="0" bIns="0">
            <a:spAutoFit/>
          </a:bodyPr>
          <a:lstStyle/>
          <a:p>
            <a:pPr algn="l">
              <a:lnSpc>
                <a:spcPct val="132000"/>
              </a:lnSpc>
            </a:pPr>
            <a:r>
              <a:rPr sz="1400" b="0">
                <a:solidFill>
                  <a:srgbClr val="1A1A1A"/>
                </a:solidFill>
                <a:latin typeface="Consolas"/>
              </a:rPr>
              <a:t>S:  Kayıt no 482137,</a:t>
            </a:r>
          </a:p>
          <a:p>
            <a:pPr algn="l">
              <a:lnSpc>
                <a:spcPct val="132000"/>
              </a:lnSpc>
            </a:pPr>
            <a:r>
              <a:rPr sz="1400" b="0">
                <a:solidFill>
                  <a:srgbClr val="1A1A1A"/>
                </a:solidFill>
                <a:latin typeface="Consolas"/>
              </a:rPr>
              <a:t>    ne kadar ilerledim?</a:t>
            </a:r>
          </a:p>
          <a:p>
            <a:pPr algn="l">
              <a:lnSpc>
                <a:spcPct val="132000"/>
              </a:lnSpc>
            </a:pPr>
            <a:r>
              <a:rPr sz="1400" b="0">
                <a:solidFill>
                  <a:srgbClr val="1A1A1A"/>
                </a:solidFill>
                <a:latin typeface="Consolas"/>
              </a:rPr>
              <a:t/>
            </a:r>
          </a:p>
          <a:p>
            <a:pPr algn="l">
              <a:lnSpc>
                <a:spcPct val="132000"/>
              </a:lnSpc>
            </a:pPr>
            <a:r>
              <a:rPr sz="1400" b="0">
                <a:solidFill>
                  <a:srgbClr val="1A1A1A"/>
                </a:solidFill>
                <a:latin typeface="Consolas"/>
              </a:rPr>
              <a:t>Doğru cevap:</a:t>
            </a:r>
          </a:p>
          <a:p>
            <a:pPr algn="l">
              <a:lnSpc>
                <a:spcPct val="132000"/>
              </a:lnSpc>
            </a:pPr>
            <a:r>
              <a:rPr sz="1400" b="0">
                <a:solidFill>
                  <a:srgbClr val="1A1A1A"/>
                </a:solidFill>
                <a:latin typeface="Consolas"/>
              </a:rPr>
              <a:t>ilerleme</a:t>
            </a:r>
          </a:p>
        </p:txBody>
      </p:sp>
      <p:sp>
        <p:nvSpPr>
          <p:cNvPr id="27" name="Right Arrow 26"/>
          <p:cNvSpPr/>
          <p:nvPr/>
        </p:nvSpPr>
        <p:spPr>
          <a:xfrm>
            <a:off x="6108192" y="8275320"/>
            <a:ext cx="667512" cy="594360"/>
          </a:xfrm>
          <a:prstGeom prst="rightArrow">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031736" y="6995160"/>
            <a:ext cx="4572000" cy="31546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031736" y="6995160"/>
            <a:ext cx="4572000" cy="91440"/>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88936" y="7360920"/>
            <a:ext cx="3657600" cy="502920"/>
          </a:xfrm>
          <a:prstGeom prst="rect">
            <a:avLst/>
          </a:prstGeom>
          <a:noFill/>
        </p:spPr>
        <p:txBody>
          <a:bodyPr wrap="square" lIns="0" rIns="0" tIns="0" bIns="0">
            <a:spAutoFit/>
          </a:bodyPr>
          <a:lstStyle/>
          <a:p>
            <a:pPr algn="l"/>
            <a:r>
              <a:rPr sz="1800" b="1">
                <a:solidFill>
                  <a:srgbClr val="15263F"/>
                </a:solidFill>
                <a:latin typeface="Helvetica Neue"/>
              </a:rPr>
              <a:t>②  MODEL TAHMİN EDER</a:t>
            </a:r>
          </a:p>
        </p:txBody>
      </p:sp>
      <p:sp>
        <p:nvSpPr>
          <p:cNvPr id="31" name="TextBox 30"/>
          <p:cNvSpPr txBox="1"/>
          <p:nvPr/>
        </p:nvSpPr>
        <p:spPr>
          <a:xfrm>
            <a:off x="7488936" y="8046720"/>
            <a:ext cx="3749040" cy="1828800"/>
          </a:xfrm>
          <a:prstGeom prst="rect">
            <a:avLst/>
          </a:prstGeom>
          <a:noFill/>
        </p:spPr>
        <p:txBody>
          <a:bodyPr wrap="square" lIns="0" rIns="0" tIns="0" bIns="0">
            <a:spAutoFit/>
          </a:bodyPr>
          <a:lstStyle/>
          <a:p>
            <a:pPr algn="l">
              <a:lnSpc>
                <a:spcPct val="132000"/>
              </a:lnSpc>
            </a:pPr>
            <a:r>
              <a:rPr sz="1400" b="0">
                <a:solidFill>
                  <a:srgbClr val="1A1A1A"/>
                </a:solidFill>
                <a:latin typeface="Consolas"/>
              </a:rPr>
              <a:t>"Merhaba! Kayıt</a:t>
            </a:r>
          </a:p>
          <a:p>
            <a:pPr algn="l">
              <a:lnSpc>
                <a:spcPct val="132000"/>
              </a:lnSpc>
            </a:pPr>
            <a:r>
              <a:rPr sz="1400" b="0">
                <a:solidFill>
                  <a:srgbClr val="1A1A1A"/>
                </a:solidFill>
                <a:latin typeface="Consolas"/>
              </a:rPr>
              <a:t> numaranızı kontrol</a:t>
            </a:r>
          </a:p>
          <a:p>
            <a:pPr algn="l">
              <a:lnSpc>
                <a:spcPct val="132000"/>
              </a:lnSpc>
            </a:pPr>
            <a:r>
              <a:rPr sz="1400" b="0">
                <a:solidFill>
                  <a:srgbClr val="1A1A1A"/>
                </a:solidFill>
                <a:latin typeface="Consolas"/>
              </a:rPr>
              <a:t> ediyorum, bir saniye…"</a:t>
            </a:r>
          </a:p>
        </p:txBody>
      </p:sp>
      <p:sp>
        <p:nvSpPr>
          <p:cNvPr id="32" name="TextBox 31"/>
          <p:cNvSpPr txBox="1"/>
          <p:nvPr/>
        </p:nvSpPr>
        <p:spPr>
          <a:xfrm>
            <a:off x="7488936" y="9555480"/>
            <a:ext cx="3749040" cy="411480"/>
          </a:xfrm>
          <a:prstGeom prst="rect">
            <a:avLst/>
          </a:prstGeom>
          <a:noFill/>
        </p:spPr>
        <p:txBody>
          <a:bodyPr wrap="square" lIns="0" rIns="0" tIns="0" bIns="0">
            <a:spAutoFit/>
          </a:bodyPr>
          <a:lstStyle/>
          <a:p>
            <a:pPr algn="l"/>
            <a:r>
              <a:rPr sz="1400" b="1">
                <a:solidFill>
                  <a:srgbClr val="8A3B2F"/>
                </a:solidFill>
                <a:latin typeface="Helvetica Neue"/>
              </a:rPr>
              <a:t>✗  istediğimiz bu değil</a:t>
            </a:r>
          </a:p>
        </p:txBody>
      </p:sp>
      <p:sp>
        <p:nvSpPr>
          <p:cNvPr id="33" name="Right Arrow 32"/>
          <p:cNvSpPr/>
          <p:nvPr/>
        </p:nvSpPr>
        <p:spPr>
          <a:xfrm>
            <a:off x="11859768" y="8275320"/>
            <a:ext cx="667512" cy="594360"/>
          </a:xfrm>
          <a:prstGeom prst="rightArrow">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2783312" y="6995160"/>
            <a:ext cx="4572000" cy="31546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2783312" y="6995160"/>
            <a:ext cx="4572000" cy="91440"/>
          </a:xfrm>
          <a:prstGeom prst="rect">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3240512" y="7360920"/>
            <a:ext cx="3657600" cy="502920"/>
          </a:xfrm>
          <a:prstGeom prst="rect">
            <a:avLst/>
          </a:prstGeom>
          <a:noFill/>
        </p:spPr>
        <p:txBody>
          <a:bodyPr wrap="square" lIns="0" rIns="0" tIns="0" bIns="0">
            <a:spAutoFit/>
          </a:bodyPr>
          <a:lstStyle/>
          <a:p>
            <a:pPr algn="l"/>
            <a:r>
              <a:rPr sz="1800" b="1">
                <a:solidFill>
                  <a:srgbClr val="C08A2E"/>
                </a:solidFill>
                <a:latin typeface="Helvetica Neue"/>
              </a:rPr>
              <a:t>③  HATA ÖLÇÜLÜR</a:t>
            </a:r>
          </a:p>
        </p:txBody>
      </p:sp>
      <p:sp>
        <p:nvSpPr>
          <p:cNvPr id="37" name="TextBox 36"/>
          <p:cNvSpPr txBox="1"/>
          <p:nvPr/>
        </p:nvSpPr>
        <p:spPr>
          <a:xfrm>
            <a:off x="13240512" y="8046720"/>
            <a:ext cx="3749040" cy="1828800"/>
          </a:xfrm>
          <a:prstGeom prst="rect">
            <a:avLst/>
          </a:prstGeom>
          <a:noFill/>
        </p:spPr>
        <p:txBody>
          <a:bodyPr wrap="square" lIns="0" rIns="0" tIns="0" bIns="0">
            <a:spAutoFit/>
          </a:bodyPr>
          <a:lstStyle/>
          <a:p>
            <a:pPr algn="l">
              <a:lnSpc>
                <a:spcPct val="132000"/>
              </a:lnSpc>
            </a:pPr>
            <a:r>
              <a:rPr sz="1700" b="0">
                <a:solidFill>
                  <a:srgbClr val="1A1A1A"/>
                </a:solidFill>
                <a:latin typeface="Helvetica Neue"/>
              </a:rPr>
              <a:t>Tahmin ile doğru cevap</a:t>
            </a:r>
          </a:p>
          <a:p>
            <a:pPr algn="l">
              <a:lnSpc>
                <a:spcPct val="132000"/>
              </a:lnSpc>
            </a:pPr>
            <a:r>
              <a:rPr sz="1700" b="0">
                <a:solidFill>
                  <a:srgbClr val="1A1A1A"/>
                </a:solidFill>
                <a:latin typeface="Helvetica Neue"/>
              </a:rPr>
              <a:t>arasındaki fark tek bir</a:t>
            </a:r>
          </a:p>
          <a:p>
            <a:pPr algn="l">
              <a:lnSpc>
                <a:spcPct val="132000"/>
              </a:lnSpc>
            </a:pPr>
            <a:r>
              <a:rPr sz="1700" b="0">
                <a:solidFill>
                  <a:srgbClr val="1A1A1A"/>
                </a:solidFill>
                <a:latin typeface="Helvetica Neue"/>
              </a:rPr>
              <a:t>sayıya indirilir.</a:t>
            </a:r>
          </a:p>
        </p:txBody>
      </p:sp>
      <p:sp>
        <p:nvSpPr>
          <p:cNvPr id="38" name="Right Arrow 37"/>
          <p:cNvSpPr/>
          <p:nvPr/>
        </p:nvSpPr>
        <p:spPr>
          <a:xfrm>
            <a:off x="17611344" y="8275320"/>
            <a:ext cx="667512" cy="594360"/>
          </a:xfrm>
          <a:prstGeom prst="rightArrow">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8534888" y="6995160"/>
            <a:ext cx="4572000" cy="31546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8534888" y="6995160"/>
            <a:ext cx="4572000" cy="91440"/>
          </a:xfrm>
          <a:prstGeom prst="rect">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8992088" y="7360920"/>
            <a:ext cx="3657600" cy="502920"/>
          </a:xfrm>
          <a:prstGeom prst="rect">
            <a:avLst/>
          </a:prstGeom>
          <a:noFill/>
        </p:spPr>
        <p:txBody>
          <a:bodyPr wrap="square" lIns="0" rIns="0" tIns="0" bIns="0">
            <a:spAutoFit/>
          </a:bodyPr>
          <a:lstStyle/>
          <a:p>
            <a:pPr algn="l"/>
            <a:r>
              <a:rPr sz="1800" b="1">
                <a:solidFill>
                  <a:srgbClr val="8A3B2F"/>
                </a:solidFill>
                <a:latin typeface="Helvetica Neue"/>
              </a:rPr>
              <a:t>④  AĞIRLIKLAR AYARLANIR</a:t>
            </a:r>
          </a:p>
        </p:txBody>
      </p:sp>
      <p:sp>
        <p:nvSpPr>
          <p:cNvPr id="42" name="TextBox 41"/>
          <p:cNvSpPr txBox="1"/>
          <p:nvPr/>
        </p:nvSpPr>
        <p:spPr>
          <a:xfrm>
            <a:off x="18992088" y="8046720"/>
            <a:ext cx="3749040" cy="1828800"/>
          </a:xfrm>
          <a:prstGeom prst="rect">
            <a:avLst/>
          </a:prstGeom>
          <a:noFill/>
        </p:spPr>
        <p:txBody>
          <a:bodyPr wrap="square" lIns="0" rIns="0" tIns="0" bIns="0">
            <a:spAutoFit/>
          </a:bodyPr>
          <a:lstStyle/>
          <a:p>
            <a:pPr algn="l">
              <a:lnSpc>
                <a:spcPct val="132000"/>
              </a:lnSpc>
            </a:pPr>
            <a:r>
              <a:rPr sz="1700" b="0">
                <a:solidFill>
                  <a:srgbClr val="1A1A1A"/>
                </a:solidFill>
                <a:latin typeface="Helvetica Neue"/>
              </a:rPr>
              <a:t>Her ağırlık, hatayı</a:t>
            </a:r>
          </a:p>
          <a:p>
            <a:pPr algn="l">
              <a:lnSpc>
                <a:spcPct val="132000"/>
              </a:lnSpc>
            </a:pPr>
            <a:r>
              <a:rPr sz="1700" b="0">
                <a:solidFill>
                  <a:srgbClr val="1A1A1A"/>
                </a:solidFill>
                <a:latin typeface="Helvetica Neue"/>
              </a:rPr>
              <a:t>küçültecek yönde</a:t>
            </a:r>
          </a:p>
          <a:p>
            <a:pPr algn="l">
              <a:lnSpc>
                <a:spcPct val="132000"/>
              </a:lnSpc>
            </a:pPr>
            <a:r>
              <a:rPr sz="1700" b="0">
                <a:solidFill>
                  <a:srgbClr val="1A1A1A"/>
                </a:solidFill>
                <a:latin typeface="Helvetica Neue"/>
              </a:rPr>
              <a:t>azıcık kımıldar.</a:t>
            </a:r>
          </a:p>
        </p:txBody>
      </p:sp>
      <p:sp>
        <p:nvSpPr>
          <p:cNvPr id="43" name="Rounded Rectangle 42"/>
          <p:cNvSpPr/>
          <p:nvPr/>
        </p:nvSpPr>
        <p:spPr>
          <a:xfrm>
            <a:off x="1280160" y="10332720"/>
            <a:ext cx="21826728" cy="7315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280160" y="10332720"/>
            <a:ext cx="21826728" cy="731520"/>
          </a:xfrm>
          <a:prstGeom prst="rect">
            <a:avLst/>
          </a:prstGeom>
          <a:noFill/>
        </p:spPr>
        <p:txBody>
          <a:bodyPr wrap="square" lIns="0" rIns="0" tIns="0" bIns="0" anchor="ctr">
            <a:spAutoFit/>
          </a:bodyPr>
          <a:lstStyle/>
          <a:p>
            <a:pPr algn="ctr"/>
            <a:r>
              <a:rPr sz="1900" b="0">
                <a:solidFill>
                  <a:srgbClr val="8A8A8A"/>
                </a:solidFill>
                <a:latin typeface="Helvetica Neue"/>
              </a:rPr>
              <a:t>↺   sonraki örnek   —   </a:t>
            </a:r>
            <a:r>
              <a:rPr sz="1900" b="1">
                <a:solidFill>
                  <a:srgbClr val="8A8A8A"/>
                </a:solidFill>
                <a:latin typeface="Helvetica Neue"/>
              </a:rPr>
              <a:t>60 örnek  ×  3 tur</a:t>
            </a:r>
            <a:r>
              <a:rPr sz="1900" b="0">
                <a:solidFill>
                  <a:srgbClr val="8A8A8A"/>
                </a:solidFill>
                <a:latin typeface="Helvetica Neue"/>
              </a:rPr>
              <a:t>   boyunca aynı döngü</a:t>
            </a:r>
          </a:p>
        </p:txBody>
      </p:sp>
      <p:sp>
        <p:nvSpPr>
          <p:cNvPr id="45" name="Rectangle 44"/>
          <p:cNvSpPr/>
          <p:nvPr/>
        </p:nvSpPr>
        <p:spPr>
          <a:xfrm>
            <a:off x="1280160" y="11475720"/>
            <a:ext cx="21826728" cy="1143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011680" y="11475720"/>
            <a:ext cx="20363688" cy="1143000"/>
          </a:xfrm>
          <a:prstGeom prst="rect">
            <a:avLst/>
          </a:prstGeom>
          <a:noFill/>
        </p:spPr>
        <p:txBody>
          <a:bodyPr wrap="square" lIns="0" rIns="0" tIns="0" bIns="0" anchor="ctr">
            <a:spAutoFit/>
          </a:bodyPr>
          <a:lstStyle/>
          <a:p>
            <a:pPr algn="ctr">
              <a:lnSpc>
                <a:spcPct val="120000"/>
              </a:lnSpc>
            </a:pPr>
            <a:r>
              <a:rPr sz="2400" b="0">
                <a:solidFill>
                  <a:srgbClr val="15263F"/>
                </a:solidFill>
                <a:latin typeface="Helvetica Neue"/>
              </a:rPr>
              <a:t>Prompt her istekte yeniden gönderilir.   </a:t>
            </a:r>
            <a:r>
              <a:rPr sz="2400" b="1">
                <a:solidFill>
                  <a:srgbClr val="15263F"/>
                </a:solidFill>
                <a:latin typeface="Helvetica Neue"/>
              </a:rPr>
              <a:t>Fine-tune bir kez yapılır, ağırlıklarda kalır.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2" sz="quarter"/>
          </p:nvPr>
        </p:nvSpPr>
        <p:spPr/>
        <p:txBody>
          <a:bodyPr/>
          <a:lstStyle/>
          <a:p>
            <a:r>
              <a:rPr sz="3200">
                <a:solidFill>
                  <a:srgbClr val="1A1A1A"/>
                </a:solidFill>
                <a:latin typeface="Helvetica Neue"/>
              </a:rPr>
              <a:t>Bütün ağırlıkları mı değiştiriyoruz?   ·   LoRA ve QLoRA</a:t>
            </a:r>
          </a:p>
        </p:txBody>
      </p:sp>
      <p:sp>
        <p:nvSpPr>
          <p:cNvPr id="3" name="Rounded Rectangle 2"/>
          <p:cNvSpPr/>
          <p:nvPr/>
        </p:nvSpPr>
        <p:spPr>
          <a:xfrm>
            <a:off x="1280160" y="2057400"/>
            <a:ext cx="10241280" cy="73609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80160" y="2057400"/>
            <a:ext cx="10241280" cy="91440"/>
          </a:xfrm>
          <a:prstGeom prst="rect">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2377440"/>
            <a:ext cx="9144000" cy="502920"/>
          </a:xfrm>
          <a:prstGeom prst="rect">
            <a:avLst/>
          </a:prstGeom>
          <a:noFill/>
        </p:spPr>
        <p:txBody>
          <a:bodyPr wrap="square" lIns="0" rIns="0" tIns="0" bIns="0">
            <a:spAutoFit/>
          </a:bodyPr>
          <a:lstStyle/>
          <a:p>
            <a:pPr algn="l"/>
            <a:r>
              <a:rPr sz="2300" b="1">
                <a:solidFill>
                  <a:srgbClr val="8A3B2F"/>
                </a:solidFill>
                <a:latin typeface="Helvetica Neue"/>
              </a:rPr>
              <a:t>TAM FINE-TUNE</a:t>
            </a:r>
          </a:p>
        </p:txBody>
      </p:sp>
      <p:sp>
        <p:nvSpPr>
          <p:cNvPr id="6" name="TextBox 5"/>
          <p:cNvSpPr txBox="1"/>
          <p:nvPr/>
        </p:nvSpPr>
        <p:spPr>
          <a:xfrm>
            <a:off x="1828800" y="2971800"/>
            <a:ext cx="9144000" cy="411480"/>
          </a:xfrm>
          <a:prstGeom prst="rect">
            <a:avLst/>
          </a:prstGeom>
          <a:noFill/>
        </p:spPr>
        <p:txBody>
          <a:bodyPr wrap="square" lIns="0" rIns="0" tIns="0" bIns="0">
            <a:spAutoFit/>
          </a:bodyPr>
          <a:lstStyle/>
          <a:p>
            <a:pPr algn="l"/>
            <a:r>
              <a:rPr sz="1700" b="0">
                <a:solidFill>
                  <a:srgbClr val="8A8A8A"/>
                </a:solidFill>
                <a:latin typeface="Helvetica Neue"/>
              </a:rPr>
              <a:t>klasik yöntem</a:t>
            </a:r>
          </a:p>
        </p:txBody>
      </p:sp>
      <p:sp>
        <p:nvSpPr>
          <p:cNvPr id="7" name="Rounded Rectangle 6"/>
          <p:cNvSpPr/>
          <p:nvPr/>
        </p:nvSpPr>
        <p:spPr>
          <a:xfrm>
            <a:off x="1828800" y="3611880"/>
            <a:ext cx="3063240" cy="502920"/>
          </a:xfrm>
          <a:prstGeom prst="roundRect">
            <a:avLst>
              <a:gd name="adj" fmla="val 25000"/>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4297680"/>
            <a:ext cx="3063240" cy="502920"/>
          </a:xfrm>
          <a:prstGeom prst="roundRect">
            <a:avLst>
              <a:gd name="adj" fmla="val 25000"/>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828800" y="4983480"/>
            <a:ext cx="3063240" cy="502920"/>
          </a:xfrm>
          <a:prstGeom prst="roundRect">
            <a:avLst>
              <a:gd name="adj" fmla="val 25000"/>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828800" y="5669280"/>
            <a:ext cx="3063240" cy="502920"/>
          </a:xfrm>
          <a:prstGeom prst="roundRect">
            <a:avLst>
              <a:gd name="adj" fmla="val 25000"/>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828800" y="6355080"/>
            <a:ext cx="3063240" cy="502920"/>
          </a:xfrm>
          <a:prstGeom prst="roundRect">
            <a:avLst>
              <a:gd name="adj" fmla="val 25000"/>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828800" y="7040880"/>
            <a:ext cx="3063240" cy="502920"/>
          </a:xfrm>
          <a:prstGeom prst="roundRect">
            <a:avLst>
              <a:gd name="adj" fmla="val 25000"/>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28800" y="7909560"/>
            <a:ext cx="3063240" cy="411480"/>
          </a:xfrm>
          <a:prstGeom prst="rect">
            <a:avLst/>
          </a:prstGeom>
          <a:noFill/>
        </p:spPr>
        <p:txBody>
          <a:bodyPr wrap="square" lIns="0" rIns="0" tIns="0" bIns="0">
            <a:spAutoFit/>
          </a:bodyPr>
          <a:lstStyle/>
          <a:p>
            <a:pPr algn="ctr"/>
            <a:r>
              <a:rPr sz="1400" b="1">
                <a:solidFill>
                  <a:srgbClr val="8A3B2F"/>
                </a:solidFill>
                <a:latin typeface="Helvetica Neue"/>
              </a:rPr>
              <a:t>HEPSİ GÜNCELLENİYOR</a:t>
            </a:r>
          </a:p>
        </p:txBody>
      </p:sp>
      <p:sp>
        <p:nvSpPr>
          <p:cNvPr id="14" name="TextBox 13"/>
          <p:cNvSpPr txBox="1"/>
          <p:nvPr/>
        </p:nvSpPr>
        <p:spPr>
          <a:xfrm>
            <a:off x="5440680" y="3794760"/>
            <a:ext cx="5440680" cy="4754880"/>
          </a:xfrm>
          <a:prstGeom prst="rect">
            <a:avLst/>
          </a:prstGeom>
          <a:noFill/>
        </p:spPr>
        <p:txBody>
          <a:bodyPr wrap="square" lIns="0" rIns="0" tIns="0" bIns="0">
            <a:spAutoFit/>
          </a:bodyPr>
          <a:lstStyle/>
          <a:p>
            <a:pPr algn="l" marL="274320" indent="-274320">
              <a:lnSpc>
                <a:spcPct val="130000"/>
              </a:lnSpc>
              <a:spcAft>
                <a:spcPts val="2000"/>
              </a:spcAft>
            </a:pPr>
            <a:r>
              <a:rPr sz="1800" b="0">
                <a:solidFill>
                  <a:srgbClr val="1A1A1A"/>
                </a:solidFill>
                <a:latin typeface="Helvetica Neue"/>
              </a:rPr>
              <a:t>•  Modeldeki ağırlıkların hepsi güncellenir.</a:t>
            </a:r>
          </a:p>
          <a:p>
            <a:pPr algn="l" marL="274320" indent="-274320">
              <a:lnSpc>
                <a:spcPct val="130000"/>
              </a:lnSpc>
              <a:spcAft>
                <a:spcPts val="2000"/>
              </a:spcAft>
            </a:pPr>
            <a:r>
              <a:rPr sz="1800" b="0">
                <a:solidFill>
                  <a:srgbClr val="1A1A1A"/>
                </a:solidFill>
                <a:latin typeface="Helvetica Neue"/>
              </a:rPr>
              <a:t>•  Her ağırlık için ek hafıza gerekir → kabaca 4× bellek.</a:t>
            </a:r>
          </a:p>
          <a:p>
            <a:pPr algn="l" marL="274320" indent="-274320">
              <a:lnSpc>
                <a:spcPct val="130000"/>
              </a:lnSpc>
              <a:spcAft>
                <a:spcPts val="2000"/>
              </a:spcAft>
            </a:pPr>
            <a:r>
              <a:rPr sz="1800" b="0">
                <a:solidFill>
                  <a:srgbClr val="1A1A1A"/>
                </a:solidFill>
                <a:latin typeface="Helvetica Neue"/>
              </a:rPr>
              <a:t>•  Büyük GPU, uzun süre.</a:t>
            </a:r>
          </a:p>
          <a:p>
            <a:pPr algn="l" marL="274320" indent="-274320">
              <a:lnSpc>
                <a:spcPct val="130000"/>
              </a:lnSpc>
              <a:spcAft>
                <a:spcPts val="2000"/>
              </a:spcAft>
            </a:pPr>
            <a:r>
              <a:rPr sz="1800" b="0">
                <a:solidFill>
                  <a:srgbClr val="1A1A1A"/>
                </a:solidFill>
                <a:latin typeface="Helvetica Neue"/>
              </a:rPr>
              <a:t>•  Her yeni görev, modelin ayrı bir tam kopyası demek.</a:t>
            </a:r>
          </a:p>
        </p:txBody>
      </p:sp>
      <p:sp>
        <p:nvSpPr>
          <p:cNvPr id="15" name="Rounded Rectangle 14"/>
          <p:cNvSpPr/>
          <p:nvPr/>
        </p:nvSpPr>
        <p:spPr>
          <a:xfrm>
            <a:off x="12161520" y="2057400"/>
            <a:ext cx="10945368" cy="73609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161520" y="2057400"/>
            <a:ext cx="10945368" cy="91440"/>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710160" y="2377440"/>
            <a:ext cx="9848088" cy="502920"/>
          </a:xfrm>
          <a:prstGeom prst="rect">
            <a:avLst/>
          </a:prstGeom>
          <a:noFill/>
        </p:spPr>
        <p:txBody>
          <a:bodyPr wrap="square" lIns="0" rIns="0" tIns="0" bIns="0">
            <a:spAutoFit/>
          </a:bodyPr>
          <a:lstStyle/>
          <a:p>
            <a:pPr algn="l"/>
            <a:r>
              <a:rPr sz="2300" b="1">
                <a:solidFill>
                  <a:srgbClr val="15263F"/>
                </a:solidFill>
                <a:latin typeface="Helvetica Neue"/>
              </a:rPr>
              <a:t>LoRA</a:t>
            </a:r>
          </a:p>
        </p:txBody>
      </p:sp>
      <p:sp>
        <p:nvSpPr>
          <p:cNvPr id="18" name="TextBox 17"/>
          <p:cNvSpPr txBox="1"/>
          <p:nvPr/>
        </p:nvSpPr>
        <p:spPr>
          <a:xfrm>
            <a:off x="12710160" y="2971800"/>
            <a:ext cx="9848088" cy="411480"/>
          </a:xfrm>
          <a:prstGeom prst="rect">
            <a:avLst/>
          </a:prstGeom>
          <a:noFill/>
        </p:spPr>
        <p:txBody>
          <a:bodyPr wrap="square" lIns="0" rIns="0" tIns="0" bIns="0">
            <a:spAutoFit/>
          </a:bodyPr>
          <a:lstStyle/>
          <a:p>
            <a:pPr algn="l"/>
            <a:r>
              <a:rPr sz="1700" b="0">
                <a:solidFill>
                  <a:srgbClr val="8A8A8A"/>
                </a:solidFill>
                <a:latin typeface="Helvetica Neue"/>
              </a:rPr>
              <a:t>Low-Rank Adaptation</a:t>
            </a:r>
          </a:p>
        </p:txBody>
      </p:sp>
      <p:sp>
        <p:nvSpPr>
          <p:cNvPr id="19" name="Rounded Rectangle 18"/>
          <p:cNvSpPr/>
          <p:nvPr/>
        </p:nvSpPr>
        <p:spPr>
          <a:xfrm>
            <a:off x="12710160" y="3611880"/>
            <a:ext cx="3063240" cy="502920"/>
          </a:xfrm>
          <a:prstGeom prst="roundRect">
            <a:avLst>
              <a:gd name="adj" fmla="val 25000"/>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2710160" y="4297680"/>
            <a:ext cx="3063240" cy="502920"/>
          </a:xfrm>
          <a:prstGeom prst="roundRect">
            <a:avLst>
              <a:gd name="adj" fmla="val 25000"/>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2710160" y="4983480"/>
            <a:ext cx="3063240" cy="502920"/>
          </a:xfrm>
          <a:prstGeom prst="roundRect">
            <a:avLst>
              <a:gd name="adj" fmla="val 25000"/>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2710160" y="5669280"/>
            <a:ext cx="3063240" cy="502920"/>
          </a:xfrm>
          <a:prstGeom prst="roundRect">
            <a:avLst>
              <a:gd name="adj" fmla="val 25000"/>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710160" y="6355080"/>
            <a:ext cx="3063240" cy="502920"/>
          </a:xfrm>
          <a:prstGeom prst="roundRect">
            <a:avLst>
              <a:gd name="adj" fmla="val 25000"/>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2710160" y="7040880"/>
            <a:ext cx="3063240" cy="502920"/>
          </a:xfrm>
          <a:prstGeom prst="roundRect">
            <a:avLst>
              <a:gd name="adj" fmla="val 25000"/>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710160" y="7909560"/>
            <a:ext cx="3063240" cy="411480"/>
          </a:xfrm>
          <a:prstGeom prst="rect">
            <a:avLst/>
          </a:prstGeom>
          <a:noFill/>
        </p:spPr>
        <p:txBody>
          <a:bodyPr wrap="square" lIns="0" rIns="0" tIns="0" bIns="0">
            <a:spAutoFit/>
          </a:bodyPr>
          <a:lstStyle/>
          <a:p>
            <a:pPr algn="ctr"/>
            <a:r>
              <a:rPr sz="1400" b="1">
                <a:solidFill>
                  <a:srgbClr val="8A8A8A"/>
                </a:solidFill>
                <a:latin typeface="Helvetica Neue"/>
              </a:rPr>
              <a:t>DONDURULDU</a:t>
            </a:r>
          </a:p>
        </p:txBody>
      </p:sp>
      <p:sp>
        <p:nvSpPr>
          <p:cNvPr id="26" name="Right Arrow 25"/>
          <p:cNvSpPr/>
          <p:nvPr/>
        </p:nvSpPr>
        <p:spPr>
          <a:xfrm>
            <a:off x="15819120" y="4389120"/>
            <a:ext cx="347472" cy="320040"/>
          </a:xfrm>
          <a:prstGeom prst="rightArrow">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6230600" y="4297680"/>
            <a:ext cx="658368" cy="502920"/>
          </a:xfrm>
          <a:prstGeom prst="roundRect">
            <a:avLst>
              <a:gd name="adj" fmla="val 25000"/>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ight Arrow 27"/>
          <p:cNvSpPr/>
          <p:nvPr/>
        </p:nvSpPr>
        <p:spPr>
          <a:xfrm>
            <a:off x="15819120" y="5760720"/>
            <a:ext cx="347472" cy="320040"/>
          </a:xfrm>
          <a:prstGeom prst="rightArrow">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6230600" y="5669280"/>
            <a:ext cx="658368" cy="502920"/>
          </a:xfrm>
          <a:prstGeom prst="roundRect">
            <a:avLst>
              <a:gd name="adj" fmla="val 25000"/>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ight Arrow 29"/>
          <p:cNvSpPr/>
          <p:nvPr/>
        </p:nvSpPr>
        <p:spPr>
          <a:xfrm>
            <a:off x="15819120" y="7132320"/>
            <a:ext cx="347472" cy="320040"/>
          </a:xfrm>
          <a:prstGeom prst="rightArrow">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6230600" y="7040880"/>
            <a:ext cx="658368" cy="502920"/>
          </a:xfrm>
          <a:prstGeom prst="roundRect">
            <a:avLst>
              <a:gd name="adj" fmla="val 25000"/>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5819120" y="7909560"/>
            <a:ext cx="1097280" cy="411480"/>
          </a:xfrm>
          <a:prstGeom prst="rect">
            <a:avLst/>
          </a:prstGeom>
          <a:noFill/>
        </p:spPr>
        <p:txBody>
          <a:bodyPr wrap="square" lIns="0" rIns="0" tIns="0" bIns="0">
            <a:spAutoFit/>
          </a:bodyPr>
          <a:lstStyle/>
          <a:p>
            <a:pPr algn="ctr"/>
            <a:r>
              <a:rPr sz="1400" b="1">
                <a:solidFill>
                  <a:srgbClr val="C08A2E"/>
                </a:solidFill>
                <a:latin typeface="Helvetica Neue"/>
              </a:rPr>
              <a:t>EĞİTİLEN</a:t>
            </a:r>
          </a:p>
        </p:txBody>
      </p:sp>
      <p:sp>
        <p:nvSpPr>
          <p:cNvPr id="33" name="TextBox 32"/>
          <p:cNvSpPr txBox="1"/>
          <p:nvPr/>
        </p:nvSpPr>
        <p:spPr>
          <a:xfrm>
            <a:off x="17236440" y="3794760"/>
            <a:ext cx="5230368" cy="4754880"/>
          </a:xfrm>
          <a:prstGeom prst="rect">
            <a:avLst/>
          </a:prstGeom>
          <a:noFill/>
        </p:spPr>
        <p:txBody>
          <a:bodyPr wrap="square" lIns="0" rIns="0" tIns="0" bIns="0">
            <a:spAutoFit/>
          </a:bodyPr>
          <a:lstStyle/>
          <a:p>
            <a:pPr algn="l" marL="274320" indent="-274320">
              <a:lnSpc>
                <a:spcPct val="130000"/>
              </a:lnSpc>
              <a:spcAft>
                <a:spcPts val="2000"/>
              </a:spcAft>
            </a:pPr>
            <a:r>
              <a:rPr sz="1800" b="0">
                <a:solidFill>
                  <a:srgbClr val="1A1A1A"/>
                </a:solidFill>
                <a:latin typeface="Helvetica Neue"/>
              </a:rPr>
              <a:t>•  Büyük ağırlıklar dondurulur — hiç değişmez.</a:t>
            </a:r>
          </a:p>
          <a:p>
            <a:pPr algn="l" marL="274320" indent="-274320">
              <a:lnSpc>
                <a:spcPct val="130000"/>
              </a:lnSpc>
              <a:spcAft>
                <a:spcPts val="2000"/>
              </a:spcAft>
            </a:pPr>
            <a:r>
              <a:rPr sz="1800" b="0">
                <a:solidFill>
                  <a:srgbClr val="1A1A1A"/>
                </a:solidFill>
                <a:latin typeface="Helvetica Neue"/>
              </a:rPr>
              <a:t>•  Yanlarına küçük bir </a:t>
            </a:r>
            <a:r>
              <a:rPr sz="1800" b="1">
                <a:solidFill>
                  <a:srgbClr val="1A1A1A"/>
                </a:solidFill>
                <a:latin typeface="Helvetica Neue"/>
              </a:rPr>
              <a:t>defter</a:t>
            </a:r>
            <a:r>
              <a:rPr sz="1800" b="0">
                <a:solidFill>
                  <a:srgbClr val="1A1A1A"/>
                </a:solidFill>
                <a:latin typeface="Helvetica Neue"/>
              </a:rPr>
              <a:t> eklenir: iki ince matris.</a:t>
            </a:r>
          </a:p>
          <a:p>
            <a:pPr algn="l" marL="274320" indent="-274320">
              <a:lnSpc>
                <a:spcPct val="130000"/>
              </a:lnSpc>
              <a:spcAft>
                <a:spcPts val="2000"/>
              </a:spcAft>
            </a:pPr>
            <a:r>
              <a:rPr sz="1800" b="0">
                <a:solidFill>
                  <a:srgbClr val="1A1A1A"/>
                </a:solidFill>
                <a:latin typeface="Helvetica Neue"/>
              </a:rPr>
              <a:t>•  Eğitilen tek şey o defter.</a:t>
            </a:r>
          </a:p>
          <a:p>
            <a:pPr algn="l" marL="274320" indent="-274320">
              <a:lnSpc>
                <a:spcPct val="130000"/>
              </a:lnSpc>
              <a:spcAft>
                <a:spcPts val="2000"/>
              </a:spcAft>
            </a:pPr>
            <a:r>
              <a:rPr sz="1800" b="0">
                <a:solidFill>
                  <a:srgbClr val="1A1A1A"/>
                </a:solidFill>
                <a:latin typeface="Helvetica Neue"/>
              </a:rPr>
              <a:t>•  Çıktı birkaç MB. Ana model dosyasına dokunulmaz.</a:t>
            </a:r>
          </a:p>
        </p:txBody>
      </p:sp>
      <p:sp>
        <p:nvSpPr>
          <p:cNvPr id="34" name="TextBox 33"/>
          <p:cNvSpPr txBox="1"/>
          <p:nvPr/>
        </p:nvSpPr>
        <p:spPr>
          <a:xfrm>
            <a:off x="12710160" y="8503920"/>
            <a:ext cx="9848088" cy="777240"/>
          </a:xfrm>
          <a:prstGeom prst="rect">
            <a:avLst/>
          </a:prstGeom>
          <a:noFill/>
        </p:spPr>
        <p:txBody>
          <a:bodyPr wrap="square" lIns="0" rIns="0" tIns="0" bIns="0">
            <a:spAutoFit/>
          </a:bodyPr>
          <a:lstStyle/>
          <a:p>
            <a:pPr algn="l">
              <a:lnSpc>
                <a:spcPct val="125000"/>
              </a:lnSpc>
            </a:pPr>
            <a:r>
              <a:rPr sz="1600" b="0">
                <a:solidFill>
                  <a:srgbClr val="8A8A8A"/>
                </a:solidFill>
                <a:latin typeface="Helvetica Neue"/>
              </a:rPr>
              <a:t>Defterler genelde </a:t>
            </a:r>
            <a:r>
              <a:rPr sz="1600" b="1">
                <a:solidFill>
                  <a:srgbClr val="8A8A8A"/>
                </a:solidFill>
                <a:latin typeface="Helvetica Neue"/>
              </a:rPr>
              <a:t>dikkat katmanlarına</a:t>
            </a:r>
            <a:r>
              <a:rPr sz="1600" b="0">
                <a:solidFill>
                  <a:srgbClr val="8A8A8A"/>
                </a:solidFill>
                <a:latin typeface="Helvetica Neue"/>
              </a:rPr>
              <a:t> takılır — modelin</a:t>
            </a:r>
          </a:p>
          <a:p>
            <a:pPr algn="l">
              <a:lnSpc>
                <a:spcPct val="125000"/>
              </a:lnSpc>
            </a:pPr>
            <a:r>
              <a:rPr sz="1600" b="0">
                <a:solidFill>
                  <a:srgbClr val="8A8A8A"/>
                </a:solidFill>
                <a:latin typeface="Helvetica Neue"/>
              </a:rPr>
              <a:t>neye bakacağına karar veren yer.</a:t>
            </a:r>
          </a:p>
        </p:txBody>
      </p:sp>
      <p:sp>
        <p:nvSpPr>
          <p:cNvPr id="35" name="TextBox 34"/>
          <p:cNvSpPr txBox="1"/>
          <p:nvPr/>
        </p:nvSpPr>
        <p:spPr>
          <a:xfrm>
            <a:off x="1828800" y="8503920"/>
            <a:ext cx="9144000" cy="777240"/>
          </a:xfrm>
          <a:prstGeom prst="rect">
            <a:avLst/>
          </a:prstGeom>
          <a:noFill/>
        </p:spPr>
        <p:txBody>
          <a:bodyPr wrap="square" lIns="0" rIns="0" tIns="0" bIns="0">
            <a:spAutoFit/>
          </a:bodyPr>
          <a:lstStyle/>
          <a:p>
            <a:pPr algn="l">
              <a:lnSpc>
                <a:spcPct val="125000"/>
              </a:lnSpc>
            </a:pPr>
            <a:r>
              <a:rPr sz="1600" b="0">
                <a:solidFill>
                  <a:srgbClr val="8A8A8A"/>
                </a:solidFill>
                <a:latin typeface="Helvetica Neue"/>
              </a:rPr>
              <a:t>Küçük ekipler için pahalı — bu yüzden bugün</a:t>
            </a:r>
          </a:p>
          <a:p>
            <a:pPr algn="l">
              <a:lnSpc>
                <a:spcPct val="125000"/>
              </a:lnSpc>
            </a:pPr>
            <a:r>
              <a:rPr sz="1600" b="0">
                <a:solidFill>
                  <a:srgbClr val="8A8A8A"/>
                </a:solidFill>
                <a:latin typeface="Helvetica Neue"/>
              </a:rPr>
              <a:t>neredeyse herkes sağdaki yöntemi kullanıyor.</a:t>
            </a:r>
          </a:p>
        </p:txBody>
      </p:sp>
      <p:sp>
        <p:nvSpPr>
          <p:cNvPr id="36" name="Rounded Rectangle 35"/>
          <p:cNvSpPr/>
          <p:nvPr/>
        </p:nvSpPr>
        <p:spPr>
          <a:xfrm>
            <a:off x="1280160" y="9692640"/>
            <a:ext cx="21826728" cy="1188720"/>
          </a:xfrm>
          <a:prstGeom prst="roundRect">
            <a:avLst>
              <a:gd name="adj" fmla="val 6000"/>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34640" y="9692640"/>
            <a:ext cx="7315200" cy="1188720"/>
          </a:xfrm>
          <a:prstGeom prst="rect">
            <a:avLst/>
          </a:prstGeom>
          <a:noFill/>
        </p:spPr>
        <p:txBody>
          <a:bodyPr wrap="square" lIns="0" rIns="0" tIns="0" bIns="0" anchor="ctr">
            <a:spAutoFit/>
          </a:bodyPr>
          <a:lstStyle/>
          <a:p>
            <a:pPr algn="l"/>
            <a:r>
              <a:rPr sz="2200" b="1">
                <a:solidFill>
                  <a:srgbClr val="FFFFFF"/>
                </a:solidFill>
                <a:latin typeface="Helvetica Neue"/>
              </a:rPr>
              <a:t>  1.546.000.000   </a:t>
            </a:r>
            <a:r>
              <a:rPr sz="2200" b="0">
                <a:solidFill>
                  <a:srgbClr val="B8BEC8"/>
                </a:solidFill>
                <a:latin typeface="Helvetica Neue"/>
              </a:rPr>
              <a:t>modeldeki toplam ağırlık</a:t>
            </a:r>
          </a:p>
        </p:txBody>
      </p:sp>
      <p:sp>
        <p:nvSpPr>
          <p:cNvPr id="38" name="TextBox 37"/>
          <p:cNvSpPr txBox="1"/>
          <p:nvPr/>
        </p:nvSpPr>
        <p:spPr>
          <a:xfrm>
            <a:off x="11247120" y="9692640"/>
            <a:ext cx="7315200" cy="1188720"/>
          </a:xfrm>
          <a:prstGeom prst="rect">
            <a:avLst/>
          </a:prstGeom>
          <a:noFill/>
        </p:spPr>
        <p:txBody>
          <a:bodyPr wrap="square" lIns="0" rIns="0" tIns="0" bIns="0" anchor="ctr">
            <a:spAutoFit/>
          </a:bodyPr>
          <a:lstStyle/>
          <a:p>
            <a:pPr algn="l"/>
            <a:r>
              <a:rPr sz="2200" b="1">
                <a:solidFill>
                  <a:srgbClr val="E6D0A2"/>
                </a:solidFill>
                <a:latin typeface="Helvetica Neue"/>
              </a:rPr>
              <a:t>  2.180.000   </a:t>
            </a:r>
            <a:r>
              <a:rPr sz="2200" b="0">
                <a:solidFill>
                  <a:srgbClr val="B8BEC8"/>
                </a:solidFill>
                <a:latin typeface="Helvetica Neue"/>
              </a:rPr>
              <a:t>LoRA ile eğitilen</a:t>
            </a:r>
          </a:p>
        </p:txBody>
      </p:sp>
      <p:sp>
        <p:nvSpPr>
          <p:cNvPr id="39" name="TextBox 38"/>
          <p:cNvSpPr txBox="1"/>
          <p:nvPr/>
        </p:nvSpPr>
        <p:spPr>
          <a:xfrm>
            <a:off x="18836640" y="9692640"/>
            <a:ext cx="7315200" cy="1188720"/>
          </a:xfrm>
          <a:prstGeom prst="rect">
            <a:avLst/>
          </a:prstGeom>
          <a:noFill/>
        </p:spPr>
        <p:txBody>
          <a:bodyPr wrap="square" lIns="0" rIns="0" tIns="0" bIns="0" anchor="ctr">
            <a:spAutoFit/>
          </a:bodyPr>
          <a:lstStyle/>
          <a:p>
            <a:pPr algn="l"/>
            <a:r>
              <a:rPr sz="2200" b="1">
                <a:solidFill>
                  <a:srgbClr val="C08A2E"/>
                </a:solidFill>
                <a:latin typeface="Helvetica Neue"/>
              </a:rPr>
              <a:t>  %0,14   </a:t>
            </a:r>
            <a:r>
              <a:rPr sz="2200" b="0">
                <a:solidFill>
                  <a:srgbClr val="B8BEC8"/>
                </a:solidFill>
                <a:latin typeface="Helvetica Neue"/>
              </a:rPr>
              <a:t>oranı</a:t>
            </a:r>
          </a:p>
        </p:txBody>
      </p:sp>
      <p:sp>
        <p:nvSpPr>
          <p:cNvPr id="40" name="TextBox 39"/>
          <p:cNvSpPr txBox="1"/>
          <p:nvPr/>
        </p:nvSpPr>
        <p:spPr>
          <a:xfrm>
            <a:off x="1280160" y="10927080"/>
            <a:ext cx="21826728" cy="365760"/>
          </a:xfrm>
          <a:prstGeom prst="rect">
            <a:avLst/>
          </a:prstGeom>
          <a:noFill/>
        </p:spPr>
        <p:txBody>
          <a:bodyPr wrap="square" lIns="0" rIns="0" tIns="0" bIns="0">
            <a:spAutoFit/>
          </a:bodyPr>
          <a:lstStyle/>
          <a:p>
            <a:pPr algn="ctr"/>
            <a:r>
              <a:rPr sz="1400" b="0">
                <a:solidFill>
                  <a:srgbClr val="8A8A8A"/>
                </a:solidFill>
                <a:latin typeface="Helvetica Neue"/>
              </a:rPr>
              <a:t>Atölyedeki gerçek koşudan — Qwen2.5-1.5B, LoRA r=8</a:t>
            </a:r>
          </a:p>
        </p:txBody>
      </p:sp>
      <p:sp>
        <p:nvSpPr>
          <p:cNvPr id="41" name="Rectangle 40"/>
          <p:cNvSpPr/>
          <p:nvPr/>
        </p:nvSpPr>
        <p:spPr>
          <a:xfrm>
            <a:off x="1280160" y="11475720"/>
            <a:ext cx="21826728" cy="1143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011680" y="11475720"/>
            <a:ext cx="20363688" cy="1143000"/>
          </a:xfrm>
          <a:prstGeom prst="rect">
            <a:avLst/>
          </a:prstGeom>
          <a:noFill/>
        </p:spPr>
        <p:txBody>
          <a:bodyPr wrap="square" lIns="0" rIns="0" tIns="0" bIns="0" anchor="ctr">
            <a:spAutoFit/>
          </a:bodyPr>
          <a:lstStyle/>
          <a:p>
            <a:pPr algn="ctr">
              <a:lnSpc>
                <a:spcPct val="120000"/>
              </a:lnSpc>
            </a:pPr>
            <a:r>
              <a:rPr sz="2400" b="0">
                <a:solidFill>
                  <a:srgbClr val="15263F"/>
                </a:solidFill>
                <a:latin typeface="Helvetica Neue"/>
              </a:rPr>
              <a:t>QLoRA = LoRA + donmuş ağırlıkları 4 bit'e sıkıştırmak.  </a:t>
            </a:r>
            <a:r>
              <a:rPr sz="2400" b="1">
                <a:solidFill>
                  <a:srgbClr val="15263F"/>
                </a:solidFill>
                <a:latin typeface="Helvetica Neue"/>
              </a:rPr>
              <a:t>Aynı iş, dört kat az bellek</a:t>
            </a:r>
            <a:r>
              <a:rPr sz="2400" b="0">
                <a:solidFill>
                  <a:srgbClr val="15263F"/>
                </a:solidFill>
                <a:latin typeface="Helvetica Neue"/>
              </a:rPr>
              <a:t> — dizüstü GPU'da fine-tune bu sayede mümkün.</a:t>
            </a:r>
          </a:p>
        </p:txBody>
      </p:sp>
    </p:spTree>
  </p:cSld>
  <p:clrMapOvr>
    <a:masterClrMapping/>
  </p:clrMapOvr>
</p:sld>
</file>

<file path=ppt/theme/theme1.xml><?xml version="1.0" encoding="utf-8"?>
<a:theme xmlns:a="http://schemas.openxmlformats.org/drawingml/2006/main" name="Eğitim Adı">
  <a:themeElements>
    <a:clrScheme name="Miuul Renk Paleti">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2" id="{888531EB-B80A-DC4E-87AD-AD8478769648}" vid="{6D0E7461-0100-8046-8FFF-5C1D91E67DD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1A34E06-6EF4-0747-BE1A-750CADD77380}">
  <we:reference id="wa200007130" version="1.0.0.1" store="en-GB" storeType="OMEX"/>
  <we:alternateReferences>
    <we:reference id="wa200007130" version="1.0.0.1" store="WA20000713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Eğitim Adı</Template>
  <TotalTime>37039</TotalTime>
  <Words>7920</Words>
  <Application>Microsoft Office PowerPoint</Application>
  <PresentationFormat>Özel</PresentationFormat>
  <Paragraphs>1977</Paragraphs>
  <Slides>41</Slides>
  <Notes>41</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41</vt:i4>
      </vt:variant>
    </vt:vector>
  </HeadingPairs>
  <TitlesOfParts>
    <vt:vector size="47" baseType="lpstr">
      <vt:lpstr>Chromatica</vt:lpstr>
      <vt:lpstr>Chromatica Medium</vt:lpstr>
      <vt:lpstr>Consolas</vt:lpstr>
      <vt:lpstr>Helvetica Neue</vt:lpstr>
      <vt:lpstr>Helvetica Neue Medium</vt:lpstr>
      <vt:lpstr>Eğitim Adı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 Bilimciler için Python Programlama</dc:title>
  <dc:creator>oytun@miuul.com</dc:creator>
  <cp:lastModifiedBy>Veysel GORKEN</cp:lastModifiedBy>
  <cp:revision>923</cp:revision>
  <cp:lastPrinted>2026-07-16T05:32:25Z</cp:lastPrinted>
  <dcterms:created xsi:type="dcterms:W3CDTF">2021-05-22T14:24:12Z</dcterms:created>
  <dcterms:modified xsi:type="dcterms:W3CDTF">2026-08-25T15:28:13Z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aa6781e-fd15-4a75-92c1-1621a66939fe_Enabled">
    <vt:lpwstr>true</vt:lpwstr>
  </property>
  <property fmtid="{D5CDD505-2E9C-101B-9397-08002B2CF9AE}" pid="3" name="MSIP_Label_caa6781e-fd15-4a75-92c1-1621a66939fe_SetDate">
    <vt:lpwstr>2026-08-03T13:20:08Z</vt:lpwstr>
  </property>
  <property fmtid="{D5CDD505-2E9C-101B-9397-08002B2CF9AE}" pid="4" name="MSIP_Label_caa6781e-fd15-4a75-92c1-1621a66939fe_Method">
    <vt:lpwstr>Standard</vt:lpwstr>
  </property>
  <property fmtid="{D5CDD505-2E9C-101B-9397-08002B2CF9AE}" pid="5" name="MSIP_Label_caa6781e-fd15-4a75-92c1-1621a66939fe_Name">
    <vt:lpwstr>Internal</vt:lpwstr>
  </property>
  <property fmtid="{D5CDD505-2E9C-101B-9397-08002B2CF9AE}" pid="6" name="MSIP_Label_caa6781e-fd15-4a75-92c1-1621a66939fe_SiteId">
    <vt:lpwstr>9125c4fe-bdb3-4367-a98f-040efd278531</vt:lpwstr>
  </property>
  <property fmtid="{D5CDD505-2E9C-101B-9397-08002B2CF9AE}" pid="7" name="MSIP_Label_caa6781e-fd15-4a75-92c1-1621a66939fe_ActionId">
    <vt:lpwstr>44a5bbbe-bb31-4696-b358-107658b30da5</vt:lpwstr>
  </property>
  <property fmtid="{D5CDD505-2E9C-101B-9397-08002B2CF9AE}" pid="8" name="MSIP_Label_caa6781e-fd15-4a75-92c1-1621a66939fe_ContentBits">
    <vt:lpwstr>0</vt:lpwstr>
  </property>
  <property fmtid="{D5CDD505-2E9C-101B-9397-08002B2CF9AE}" pid="9" name="MSIP_Label_caa6781e-fd15-4a75-92c1-1621a66939fe_Tag">
    <vt:lpwstr>10, 3, 0, 1</vt:lpwstr>
  </property>
</Properties>
</file>