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343" r:id="rId4"/>
    <p:sldId id="344" r:id="rId5"/>
    <p:sldId id="258" r:id="rId6"/>
    <p:sldId id="355" r:id="rId7"/>
    <p:sldId id="356" r:id="rId8"/>
    <p:sldId id="259" r:id="rId9"/>
    <p:sldId id="353" r:id="rId10"/>
    <p:sldId id="354" r:id="rId11"/>
    <p:sldId id="260" r:id="rId12"/>
    <p:sldId id="351" r:id="rId13"/>
    <p:sldId id="352" r:id="rId14"/>
    <p:sldId id="261" r:id="rId15"/>
    <p:sldId id="349" r:id="rId16"/>
    <p:sldId id="350" r:id="rId17"/>
    <p:sldId id="262" r:id="rId18"/>
    <p:sldId id="347" r:id="rId19"/>
    <p:sldId id="348" r:id="rId20"/>
    <p:sldId id="263" r:id="rId21"/>
    <p:sldId id="346" r:id="rId22"/>
    <p:sldId id="264" r:id="rId23"/>
    <p:sldId id="345" r:id="rId24"/>
    <p:sldId id="265" r:id="rId25"/>
    <p:sldId id="377" r:id="rId26"/>
    <p:sldId id="359" r:id="rId27"/>
    <p:sldId id="376" r:id="rId28"/>
    <p:sldId id="266" r:id="rId29"/>
    <p:sldId id="267" r:id="rId30"/>
    <p:sldId id="341" r:id="rId31"/>
    <p:sldId id="358" r:id="rId32"/>
    <p:sldId id="361" r:id="rId33"/>
    <p:sldId id="282" r:id="rId34"/>
    <p:sldId id="360" r:id="rId35"/>
    <p:sldId id="371" r:id="rId36"/>
    <p:sldId id="372" r:id="rId37"/>
    <p:sldId id="373" r:id="rId38"/>
    <p:sldId id="374" r:id="rId39"/>
    <p:sldId id="375" r:id="rId40"/>
    <p:sldId id="378" r:id="rId48"/>
    <p:sldId id="379" r:id="rId49"/>
    <p:sldId id="342" r:id="rId41"/>
    <p:sldId id="370" r:id="rId4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FFC7"/>
    <a:srgbClr val="03523C"/>
    <a:srgbClr val="BEBF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66344" autoAdjust="0"/>
  </p:normalViewPr>
  <p:slideViewPr>
    <p:cSldViewPr snapToGrid="0" snapToObjects="1">
      <p:cViewPr varScale="1">
        <p:scale>
          <a:sx n="37" d="100"/>
          <a:sy n="37" d="100"/>
        </p:scale>
        <p:origin x="204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çılış Ekranı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Title">
            <a:extLst>
              <a:ext uri="{FF2B5EF4-FFF2-40B4-BE49-F238E27FC236}">
                <a16:creationId xmlns:a16="http://schemas.microsoft.com/office/drawing/2014/main" id="{0623C506-61A1-A34E-B1DD-A0DD7D14187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500" y="5572609"/>
            <a:ext cx="21971000" cy="2570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/>
            </a:lvl1pPr>
          </a:lstStyle>
          <a:p>
            <a:r>
              <a:rPr lang="tr-TR" dirty="0"/>
              <a:t>Eğitim/Bölüm/Ders Adı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60707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rs Anlatım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hor and Date">
            <a:extLst>
              <a:ext uri="{FF2B5EF4-FFF2-40B4-BE49-F238E27FC236}">
                <a16:creationId xmlns:a16="http://schemas.microsoft.com/office/drawing/2014/main" id="{E5E2BDF8-0349-334B-BF6A-D7072B112F49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049411" y="167779"/>
            <a:ext cx="15709901" cy="1169999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 algn="l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 b="0" i="0">
                <a:latin typeface="Chromatica Medium" pitchFamily="2" charset="77"/>
              </a:defRPr>
            </a:lvl1pPr>
          </a:lstStyle>
          <a:p>
            <a:r>
              <a:rPr lang="tr-TR" dirty="0"/>
              <a:t>Dersin adını buraya yazın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B40B19-566E-A743-BF82-7FDFA5614D83}"/>
              </a:ext>
            </a:extLst>
          </p:cNvPr>
          <p:cNvCxnSpPr>
            <a:cxnSpLocks/>
          </p:cNvCxnSpPr>
          <p:nvPr userDrawn="1"/>
        </p:nvCxnSpPr>
        <p:spPr>
          <a:xfrm>
            <a:off x="1104900" y="1481652"/>
            <a:ext cx="22174200" cy="0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01E5980-45BA-614F-AC8B-C106D2EB33A8}"/>
              </a:ext>
            </a:extLst>
          </p:cNvPr>
          <p:cNvSpPr txBox="1"/>
          <p:nvPr userDrawn="1"/>
        </p:nvSpPr>
        <p:spPr>
          <a:xfrm>
            <a:off x="6160286" y="631141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6EF5B0-9520-1A41-8DBD-9F983BCFBB0F}"/>
              </a:ext>
            </a:extLst>
          </p:cNvPr>
          <p:cNvSpPr txBox="1"/>
          <p:nvPr userDrawn="1"/>
        </p:nvSpPr>
        <p:spPr>
          <a:xfrm>
            <a:off x="22320369" y="231769"/>
            <a:ext cx="91210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1800" b="0" i="0" u="none" strike="noStrike" kern="100" cap="none" spc="11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MIUUL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5CF718-ACE3-2946-B725-C3C12C26870E}"/>
              </a:ext>
            </a:extLst>
          </p:cNvPr>
          <p:cNvSpPr txBox="1"/>
          <p:nvPr userDrawn="1"/>
        </p:nvSpPr>
        <p:spPr>
          <a:xfrm>
            <a:off x="23133892" y="279950"/>
            <a:ext cx="197170" cy="1795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5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TM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8CEC82-FA21-5D4B-8318-FE278F38F3F6}"/>
              </a:ext>
            </a:extLst>
          </p:cNvPr>
          <p:cNvSpPr txBox="1"/>
          <p:nvPr userDrawn="1"/>
        </p:nvSpPr>
        <p:spPr>
          <a:xfrm>
            <a:off x="19365581" y="857221"/>
            <a:ext cx="3970924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www.miuul.com</a:t>
            </a:r>
          </a:p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Copyright </a:t>
            </a:r>
            <a:r>
              <a:rPr kumimoji="0" lang="en-TR" sz="1300" b="0" i="0" u="none" strike="noStrike" cap="none" spc="0" normalizeH="0" baseline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© Miuul. </a:t>
            </a: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All Rights Reserved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50CEEE-A67E-6A49-B778-7AAC10C70C22}"/>
              </a:ext>
            </a:extLst>
          </p:cNvPr>
          <p:cNvSpPr txBox="1"/>
          <p:nvPr userDrawn="1"/>
        </p:nvSpPr>
        <p:spPr>
          <a:xfrm>
            <a:off x="22922972" y="-172462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3" name="Author and Date">
            <a:extLst>
              <a:ext uri="{FF2B5EF4-FFF2-40B4-BE49-F238E27FC236}">
                <a16:creationId xmlns:a16="http://schemas.microsoft.com/office/drawing/2014/main" id="{EE642577-6C65-AC44-8B45-E9CBE07C539A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049411" y="2393941"/>
            <a:ext cx="22229689" cy="10350448"/>
          </a:xfrm>
          <a:prstGeom prst="rect">
            <a:avLst/>
          </a:prstGeom>
        </p:spPr>
        <p:txBody>
          <a:bodyPr lIns="45719" tIns="45719" rIns="45719" bIns="45719" anchor="t"/>
          <a:lstStyle>
            <a:lvl1pPr marL="0" indent="0" algn="l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 b="0" i="0">
                <a:latin typeface="Chromatica" pitchFamily="2" charset="77"/>
              </a:defRPr>
            </a:lvl1pPr>
          </a:lstStyle>
          <a:p>
            <a:r>
              <a:rPr lang="tr-TR" dirty="0"/>
              <a:t>Sayfa içine eklenecek yazıları ve görselleri bu çerçeve sınırları içerisinde tutuyoruz. </a:t>
            </a:r>
            <a:br>
              <a:rPr lang="tr-TR" dirty="0"/>
            </a:b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8593886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ygulama/Pro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BA3E2F-7310-664B-8F7C-BCAA61B43015}"/>
              </a:ext>
            </a:extLst>
          </p:cNvPr>
          <p:cNvSpPr txBox="1"/>
          <p:nvPr userDrawn="1"/>
        </p:nvSpPr>
        <p:spPr>
          <a:xfrm>
            <a:off x="1020437" y="445773"/>
            <a:ext cx="3970924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3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Uygulama: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29AF0C-F761-0D48-B6EA-493695665B97}"/>
              </a:ext>
            </a:extLst>
          </p:cNvPr>
          <p:cNvCxnSpPr>
            <a:cxnSpLocks/>
          </p:cNvCxnSpPr>
          <p:nvPr userDrawn="1"/>
        </p:nvCxnSpPr>
        <p:spPr>
          <a:xfrm>
            <a:off x="1104900" y="1481652"/>
            <a:ext cx="22174200" cy="0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843065F-7CF2-7246-8CC0-F1495A4666C3}"/>
              </a:ext>
            </a:extLst>
          </p:cNvPr>
          <p:cNvSpPr txBox="1"/>
          <p:nvPr userDrawn="1"/>
        </p:nvSpPr>
        <p:spPr>
          <a:xfrm>
            <a:off x="22320369" y="231769"/>
            <a:ext cx="91210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1800" b="0" i="0" u="none" strike="noStrike" kern="100" cap="none" spc="11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MIUUL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6F1535-6CBA-3E42-8BE4-22718C21AF32}"/>
              </a:ext>
            </a:extLst>
          </p:cNvPr>
          <p:cNvSpPr txBox="1"/>
          <p:nvPr userDrawn="1"/>
        </p:nvSpPr>
        <p:spPr>
          <a:xfrm>
            <a:off x="23133892" y="275554"/>
            <a:ext cx="197170" cy="1795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5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TM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896031-03CB-FC42-8AC2-462CCE101649}"/>
              </a:ext>
            </a:extLst>
          </p:cNvPr>
          <p:cNvSpPr txBox="1"/>
          <p:nvPr userDrawn="1"/>
        </p:nvSpPr>
        <p:spPr>
          <a:xfrm>
            <a:off x="19365581" y="857221"/>
            <a:ext cx="3970924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www.miuul.com</a:t>
            </a:r>
          </a:p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Copyright </a:t>
            </a:r>
            <a:r>
              <a:rPr kumimoji="0" lang="en-TR" sz="1300" b="0" i="0" u="none" strike="noStrike" cap="none" spc="0" normalizeH="0" baseline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© Miuul. </a:t>
            </a: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All Rights Reserved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928544-B5DB-ED48-90E0-26946CC9B600}"/>
              </a:ext>
            </a:extLst>
          </p:cNvPr>
          <p:cNvSpPr txBox="1"/>
          <p:nvPr userDrawn="1"/>
        </p:nvSpPr>
        <p:spPr>
          <a:xfrm>
            <a:off x="22922972" y="-172462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9" name="Author and Date">
            <a:extLst>
              <a:ext uri="{FF2B5EF4-FFF2-40B4-BE49-F238E27FC236}">
                <a16:creationId xmlns:a16="http://schemas.microsoft.com/office/drawing/2014/main" id="{715D275F-DFDA-D245-9BDB-996B1F6EC6BD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3529146" y="167779"/>
            <a:ext cx="13742854" cy="1169999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 algn="l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 b="0" i="0">
                <a:latin typeface="Chromatica Medium" pitchFamily="2" charset="77"/>
              </a:defRPr>
            </a:lvl1pPr>
          </a:lstStyle>
          <a:p>
            <a:r>
              <a:rPr lang="tr-TR" dirty="0"/>
              <a:t>‘Projenin adını buraya yazın’</a:t>
            </a:r>
          </a:p>
        </p:txBody>
      </p:sp>
      <p:sp>
        <p:nvSpPr>
          <p:cNvPr id="10" name="Author and Date">
            <a:extLst>
              <a:ext uri="{FF2B5EF4-FFF2-40B4-BE49-F238E27FC236}">
                <a16:creationId xmlns:a16="http://schemas.microsoft.com/office/drawing/2014/main" id="{0F3C4248-EB51-CF40-BD7E-040A2460A589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049411" y="2393941"/>
            <a:ext cx="22229689" cy="10350448"/>
          </a:xfrm>
          <a:prstGeom prst="rect">
            <a:avLst/>
          </a:prstGeom>
        </p:spPr>
        <p:txBody>
          <a:bodyPr lIns="45719" tIns="45719" rIns="45719" bIns="45719" anchor="t"/>
          <a:lstStyle>
            <a:lvl1pPr marL="0" indent="0" algn="l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 b="0" i="0">
                <a:latin typeface="Chromatica" pitchFamily="2" charset="77"/>
              </a:defRPr>
            </a:lvl1pPr>
          </a:lstStyle>
          <a:p>
            <a:r>
              <a:rPr lang="tr-TR" dirty="0"/>
              <a:t>Sayfa içine eklenecek yazıları ve görselleri bu çerçeve sınırları içerisinde tutuyoruz</a:t>
            </a:r>
          </a:p>
        </p:txBody>
      </p:sp>
    </p:spTree>
    <p:extLst>
      <p:ext uri="{BB962C8B-B14F-4D97-AF65-F5344CB8AC3E}">
        <p14:creationId xmlns:p14="http://schemas.microsoft.com/office/powerpoint/2010/main" val="302757029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ölüm Öze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A31EE74-3E9F-4D4B-B3CB-FBB357DA2DF9}"/>
              </a:ext>
            </a:extLst>
          </p:cNvPr>
          <p:cNvSpPr/>
          <p:nvPr userDrawn="1"/>
        </p:nvSpPr>
        <p:spPr>
          <a:xfrm>
            <a:off x="1104899" y="2393941"/>
            <a:ext cx="10820397" cy="10350453"/>
          </a:xfrm>
          <a:prstGeom prst="rect">
            <a:avLst/>
          </a:prstGeom>
          <a:solidFill>
            <a:srgbClr val="03523C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539120-26FA-9341-962C-7F435C73C35B}"/>
              </a:ext>
            </a:extLst>
          </p:cNvPr>
          <p:cNvSpPr txBox="1"/>
          <p:nvPr userDrawn="1"/>
        </p:nvSpPr>
        <p:spPr>
          <a:xfrm>
            <a:off x="1020437" y="445773"/>
            <a:ext cx="3970924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3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Bölüm Özeti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C12F33-0B8E-BC43-B871-1EA5470A9927}"/>
              </a:ext>
            </a:extLst>
          </p:cNvPr>
          <p:cNvCxnSpPr>
            <a:cxnSpLocks/>
          </p:cNvCxnSpPr>
          <p:nvPr userDrawn="1"/>
        </p:nvCxnSpPr>
        <p:spPr>
          <a:xfrm>
            <a:off x="1104900" y="1481652"/>
            <a:ext cx="22174200" cy="0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FA109C9-B7D5-DB4E-850C-7A5E9DB5B35C}"/>
              </a:ext>
            </a:extLst>
          </p:cNvPr>
          <p:cNvSpPr txBox="1"/>
          <p:nvPr userDrawn="1"/>
        </p:nvSpPr>
        <p:spPr>
          <a:xfrm>
            <a:off x="22320369" y="231769"/>
            <a:ext cx="91210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1800" b="0" i="0" u="none" strike="noStrike" kern="100" cap="none" spc="11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MIUUL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A04EF-CF2A-4A4F-A9F2-EBBBD1E4DE2B}"/>
              </a:ext>
            </a:extLst>
          </p:cNvPr>
          <p:cNvSpPr txBox="1"/>
          <p:nvPr userDrawn="1"/>
        </p:nvSpPr>
        <p:spPr>
          <a:xfrm>
            <a:off x="23133892" y="275554"/>
            <a:ext cx="197170" cy="1795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5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TM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347171-6DE6-5548-A5D2-656F5E929FC1}"/>
              </a:ext>
            </a:extLst>
          </p:cNvPr>
          <p:cNvSpPr txBox="1"/>
          <p:nvPr userDrawn="1"/>
        </p:nvSpPr>
        <p:spPr>
          <a:xfrm>
            <a:off x="19365581" y="857221"/>
            <a:ext cx="3970924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www.miuul.com</a:t>
            </a:r>
          </a:p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Copyright </a:t>
            </a:r>
            <a:r>
              <a:rPr kumimoji="0" lang="en-TR" sz="1300" b="0" i="0" u="none" strike="noStrike" cap="none" spc="0" normalizeH="0" baseline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© Miuul. </a:t>
            </a: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All Rights Reserved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AD83E3-93BE-A248-92F5-A6089CE21B46}"/>
              </a:ext>
            </a:extLst>
          </p:cNvPr>
          <p:cNvSpPr txBox="1"/>
          <p:nvPr userDrawn="1"/>
        </p:nvSpPr>
        <p:spPr>
          <a:xfrm>
            <a:off x="22922972" y="-172462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0" name="Title 10">
            <a:extLst>
              <a:ext uri="{FF2B5EF4-FFF2-40B4-BE49-F238E27FC236}">
                <a16:creationId xmlns:a16="http://schemas.microsoft.com/office/drawing/2014/main" id="{54354A9F-DFCA-2E49-B4AA-AD78CA9ACE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397" y="6753904"/>
            <a:ext cx="9677400" cy="143316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 sz="3200" b="0" i="0" spc="0">
                <a:solidFill>
                  <a:srgbClr val="C9FFC7"/>
                </a:solidFill>
                <a:latin typeface="Chromatica" pitchFamily="2" charset="77"/>
              </a:defRPr>
            </a:lvl1pPr>
          </a:lstStyle>
          <a:p>
            <a:r>
              <a:rPr lang="en-US" dirty="0" err="1"/>
              <a:t>Bölüm</a:t>
            </a:r>
            <a:r>
              <a:rPr lang="en-US" dirty="0"/>
              <a:t> </a:t>
            </a:r>
            <a:r>
              <a:rPr lang="en-US" dirty="0" err="1"/>
              <a:t>adını</a:t>
            </a:r>
            <a:r>
              <a:rPr lang="en-US" dirty="0"/>
              <a:t> </a:t>
            </a:r>
            <a:r>
              <a:rPr lang="en-US" dirty="0" err="1"/>
              <a:t>buraya</a:t>
            </a:r>
            <a:r>
              <a:rPr lang="en-US" dirty="0"/>
              <a:t> </a:t>
            </a:r>
            <a:r>
              <a:rPr lang="en-US" dirty="0" err="1"/>
              <a:t>yazın</a:t>
            </a:r>
            <a:endParaRPr lang="en-TR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70CC902-E0D0-8F48-8054-775921E13E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458706" y="2393942"/>
            <a:ext cx="10820394" cy="10350452"/>
          </a:xfrm>
          <a:prstGeom prst="rect">
            <a:avLst/>
          </a:prstGeom>
        </p:spPr>
        <p:txBody>
          <a:bodyPr anchor="ctr"/>
          <a:lstStyle>
            <a:lvl1pPr algn="l">
              <a:defRPr sz="3200" b="0" i="0">
                <a:latin typeface="Chromatica" pitchFamily="2" charset="77"/>
              </a:defRPr>
            </a:lvl1pPr>
          </a:lstStyle>
          <a:p>
            <a:pPr lvl="0"/>
            <a:r>
              <a:rPr lang="en-US" dirty="0"/>
              <a:t>’</a:t>
            </a:r>
            <a:r>
              <a:rPr lang="en-US" dirty="0" err="1"/>
              <a:t>Neler</a:t>
            </a:r>
            <a:r>
              <a:rPr lang="en-US" dirty="0"/>
              <a:t> </a:t>
            </a:r>
            <a:r>
              <a:rPr lang="en-US" dirty="0" err="1"/>
              <a:t>Öğrendik</a:t>
            </a:r>
            <a:r>
              <a:rPr lang="en-US" dirty="0"/>
              <a:t>?’ </a:t>
            </a:r>
            <a:r>
              <a:rPr lang="en-US" dirty="0" err="1"/>
              <a:t>kısa</a:t>
            </a:r>
            <a:r>
              <a:rPr lang="en-US" dirty="0"/>
              <a:t> </a:t>
            </a:r>
            <a:r>
              <a:rPr lang="en-US" dirty="0" err="1"/>
              <a:t>maddeler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listeleyelim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25771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rs Anlatım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hor and Date">
            <a:extLst>
              <a:ext uri="{FF2B5EF4-FFF2-40B4-BE49-F238E27FC236}">
                <a16:creationId xmlns:a16="http://schemas.microsoft.com/office/drawing/2014/main" id="{E5E2BDF8-0349-334B-BF6A-D7072B112F49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049411" y="167779"/>
            <a:ext cx="15709901" cy="1169999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 algn="l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 b="0" i="0">
                <a:latin typeface="Chromatica Medium" pitchFamily="2" charset="77"/>
              </a:defRPr>
            </a:lvl1pPr>
          </a:lstStyle>
          <a:p>
            <a:r>
              <a:rPr lang="tr-TR" dirty="0"/>
              <a:t>Dersin adını buraya yazın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B40B19-566E-A743-BF82-7FDFA5614D83}"/>
              </a:ext>
            </a:extLst>
          </p:cNvPr>
          <p:cNvCxnSpPr>
            <a:cxnSpLocks/>
          </p:cNvCxnSpPr>
          <p:nvPr userDrawn="1"/>
        </p:nvCxnSpPr>
        <p:spPr>
          <a:xfrm>
            <a:off x="1104900" y="1481652"/>
            <a:ext cx="22174200" cy="0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01E5980-45BA-614F-AC8B-C106D2EB33A8}"/>
              </a:ext>
            </a:extLst>
          </p:cNvPr>
          <p:cNvSpPr txBox="1"/>
          <p:nvPr userDrawn="1"/>
        </p:nvSpPr>
        <p:spPr>
          <a:xfrm>
            <a:off x="6160286" y="631141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6EF5B0-9520-1A41-8DBD-9F983BCFBB0F}"/>
              </a:ext>
            </a:extLst>
          </p:cNvPr>
          <p:cNvSpPr txBox="1"/>
          <p:nvPr userDrawn="1"/>
        </p:nvSpPr>
        <p:spPr>
          <a:xfrm>
            <a:off x="22320369" y="231769"/>
            <a:ext cx="91210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1800" b="0" i="0" u="none" strike="noStrike" kern="100" cap="none" spc="11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MIUUL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5CF718-ACE3-2946-B725-C3C12C26870E}"/>
              </a:ext>
            </a:extLst>
          </p:cNvPr>
          <p:cNvSpPr txBox="1"/>
          <p:nvPr userDrawn="1"/>
        </p:nvSpPr>
        <p:spPr>
          <a:xfrm>
            <a:off x="23133892" y="279950"/>
            <a:ext cx="197170" cy="1795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5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TM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8CEC82-FA21-5D4B-8318-FE278F38F3F6}"/>
              </a:ext>
            </a:extLst>
          </p:cNvPr>
          <p:cNvSpPr txBox="1"/>
          <p:nvPr userDrawn="1"/>
        </p:nvSpPr>
        <p:spPr>
          <a:xfrm>
            <a:off x="19365581" y="857221"/>
            <a:ext cx="3970924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www.miuul.com</a:t>
            </a:r>
          </a:p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Copyright </a:t>
            </a:r>
            <a:r>
              <a:rPr kumimoji="0" lang="en-TR" sz="1300" b="0" i="0" u="none" strike="noStrike" cap="none" spc="0" normalizeH="0" baseline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© Miuul. </a:t>
            </a: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All Rights Reserved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50CEEE-A67E-6A49-B778-7AAC10C70C22}"/>
              </a:ext>
            </a:extLst>
          </p:cNvPr>
          <p:cNvSpPr txBox="1"/>
          <p:nvPr userDrawn="1"/>
        </p:nvSpPr>
        <p:spPr>
          <a:xfrm>
            <a:off x="22922972" y="-172462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22315224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5572609"/>
            <a:ext cx="21971000" cy="2570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rPr lang="tr-TR" dirty="0"/>
              <a:t>Eğitim/Bölüm/Ders Adı</a:t>
            </a:r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1" r:id="rId2"/>
    <p:sldLayoutId id="2147483654" r:id="rId3"/>
    <p:sldLayoutId id="2147483656" r:id="rId4"/>
    <p:sldLayoutId id="2147483657" r:id="rId5"/>
  </p:sldLayoutIdLst>
  <p:transition spd="med"/>
  <p:txStyles>
    <p:titleStyle>
      <a:lvl1pPr marL="0" marR="0" indent="0" algn="ctr" defTabSz="2438338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ClrTx/>
        <a:buSzTx/>
        <a:buFontTx/>
        <a:buNone/>
        <a:tabLst/>
        <a:defRPr sz="7200" b="0" i="0" u="none" strike="noStrike" cap="none" spc="-170" baseline="0">
          <a:solidFill>
            <a:srgbClr val="000000"/>
          </a:solidFill>
          <a:uFillTx/>
          <a:latin typeface="Chromatica" pitchFamily="2" charset="77"/>
          <a:ea typeface="+mn-ea"/>
          <a:cs typeface="+mn-cs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hyperlink" Target="https://www.youtube.com/@cicekileteknoloji" TargetMode="External"/><Relationship Id="rId6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5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6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2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0.jp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4030" cy="13716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kapak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1417320"/>
            <a:ext cx="18900648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200" b="1">
                <a:solidFill>
                  <a:srgbClr val="C08A2E"/>
                </a:solidFill>
                <a:latin typeface="Helvetica Neue"/>
              </a:rPr>
              <a:t>Large Language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20624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C08A2E"/>
                </a:solidFill>
                <a:latin typeface="Helvetica Neu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4160520"/>
            <a:ext cx="142646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Helvetica Neue"/>
              </a:rPr>
              <a:t>Önümüzdeki 50 yıla hazır mısınız?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25021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C08A2E"/>
                </a:solidFill>
                <a:latin typeface="Helvetica Neue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204490"/>
            <a:ext cx="142646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Helvetica Neue"/>
              </a:rPr>
              <a:t>Kaputun altı: Transformer mimarisi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11978640"/>
            <a:ext cx="1892808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0" y="12252960"/>
            <a:ext cx="1890064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Veysel Murat Görken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2938760"/>
            <a:ext cx="1890064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0">
                <a:solidFill>
                  <a:srgbClr val="C08A2E"/>
                </a:solidFill>
                <a:latin typeface="Helvetica Neue"/>
              </a:rPr>
              <a:t>Data Scientist / AI Engineer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60" y="12344400"/>
            <a:ext cx="11676888" cy="749808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youtu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12536424"/>
            <a:ext cx="548640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018520" y="12508992"/>
            <a:ext cx="10378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u="none">
                <a:solidFill>
                  <a:srgbClr val="D14639"/>
                </a:solidFill>
                <a:latin typeface="Helvetica Neue"/>
                <a:hlinkClick r:id="rId5"/>
              </a:rPr>
              <a:t>@cicekileteknoloji</a:t>
            </a:r>
            <a:r>
              <a:rPr sz="1800" b="0">
                <a:solidFill>
                  <a:srgbClr val="8A8A8A"/>
                </a:solidFill>
                <a:latin typeface="Helvetica Neue"/>
              </a:rPr>
              <a:t>   ·   Harari hikâye ve görselleri bu kanaldan alınmıştır.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127284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12" y="12527280"/>
            <a:ext cx="1984248" cy="12161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Önümüzdeki 50 yıla hazır mısınız?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Yetmiş bin yıl boyunca dil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yalnızca bize aitti.</a:t>
            </a:r>
          </a:p>
        </p:txBody>
      </p:sp>
      <p:pic>
        <p:nvPicPr>
          <p:cNvPr id="10" name="!!gorsel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Önümüzdeki 50 yıla hazır mısınız?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Dil sayesinde binlerce yabancı aynı hikâyeye inanıp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birlikte hareket edebildi.</a:t>
            </a:r>
          </a:p>
        </p:txBody>
      </p:sp>
      <p:pic>
        <p:nvPicPr>
          <p:cNvPr id="10" name="!!gorsel" descr="harari_dil_o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Önümüzdeki 50 yıla hazır mısınız?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Harari'nin sorusu teknik bir soru değil: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50 yıl sonra kararları kim veriyor olacak?</a:t>
            </a:r>
          </a:p>
        </p:txBody>
      </p:sp>
      <p:pic>
        <p:nvPicPr>
          <p:cNvPr id="10" name="!!gorsel" descr="harari_akto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Yapay zekâ bir araç değil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pic>
        <p:nvPicPr>
          <p:cNvPr id="7" name="Picture 6" descr="chrome_aMLJ8pyyt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4555" y="2103120"/>
            <a:ext cx="16617939" cy="914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Matbaa neyi basacağına karar veremez.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Aracın amacı hep dışarıdan verilir.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Yapay zekâ bir araç değil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Harari'nin sözcüğü araç değil: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fail — eylemde bulunan.</a:t>
            </a:r>
          </a:p>
        </p:txBody>
      </p:sp>
      <p:pic>
        <p:nvPicPr>
          <p:cNvPr id="10" name="!!gorsel" descr="lMnI79iq0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Yapay zekâ bir araç değil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Silikon Vadisi: "Bir tanrı yaratacağız ama o bizim kölemiz olacak."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Bir tanrı köle kalmaz.</a:t>
            </a:r>
          </a:p>
        </p:txBody>
      </p:sp>
      <p:pic>
        <p:nvPicPr>
          <p:cNvPr id="10" name="!!gorsel" descr="O3KkxnPYo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Uygarlığın işletim sistemi: dil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pic>
        <p:nvPicPr>
          <p:cNvPr id="7" name="Picture 6" descr="chrome_Ux36R888vx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4018" y="2103120"/>
            <a:ext cx="16339012" cy="914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Anayasa, din, para —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hepsi kelimelerden yapılmış.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Uygarlığın işletim sistemi: dil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Paralı askerler işlerini yaptı.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Sonra yönetimi ele geçirdiler.</a:t>
            </a:r>
          </a:p>
        </p:txBody>
      </p:sp>
      <p:pic>
        <p:nvPicPr>
          <p:cNvPr id="10" name="!!gorsel" descr="2eggVqP3S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Uygarlığın işletim sistemi: dil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İşletim sistemini ele geçiren,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üzerinde çalışan her şeyi ele geçirir.</a:t>
            </a:r>
          </a:p>
        </p:txBody>
      </p:sp>
      <p:pic>
        <p:nvPicPr>
          <p:cNvPr id="10" name="!!gorsel" descr="4byF3PUYBx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Demokrasi sarsılıyor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pic>
        <p:nvPicPr>
          <p:cNvPr id="7" name="Picture 6" descr="chrome_9t6Xr6Esf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8585" y="2103120"/>
            <a:ext cx="16389877" cy="914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Demokrasi bir konuşmadır.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Konuşanın kim olduğu artık belli değil.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Demokrasi sarsılıyor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15263F"/>
                </a:solidFill>
                <a:latin typeface="Helvetica Neue"/>
              </a:rPr>
              <a:t>Cambridge Analytica </a:t>
            </a:r>
            <a:r>
              <a:rPr sz="2400" b="0">
                <a:solidFill>
                  <a:srgbClr val="15263F"/>
                </a:solidFill>
                <a:latin typeface="Helvetica Neue"/>
              </a:rPr>
              <a:t>— ve bu, 2016'nın teknolojisiydi.</a:t>
            </a:r>
          </a:p>
        </p:txBody>
      </p:sp>
      <p:pic>
        <p:nvPicPr>
          <p:cNvPr id="10" name="!!gorsel" descr="enHU5Jwur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Demokrasi sarsılıyor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En büyük zaafımız: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hissetmeyen ama hissediyormuş gibi yapan şeye anında empati duymak.</a:t>
            </a:r>
          </a:p>
        </p:txBody>
      </p:sp>
      <p:pic>
        <p:nvPicPr>
          <p:cNvPr id="10" name="!!gorsel" descr="K6eR2tFyB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Doğuştan bürokrat: tüzel kişilik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pic>
        <p:nvPicPr>
          <p:cNvPr id="7" name="Picture 6" descr="chrome_PqcZk2sTP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6838" y="2103120"/>
            <a:ext cx="16373372" cy="914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Tüzel kişilik demek: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banka hesabı, mülk, dava, sözleşme, lobi.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Doğuştan bürokrat: tüzel kişilik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Arkasında hiçbir insan olmayan bir yapı mahkemeye gidebilir.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Kim dava edecek, kimi?</a:t>
            </a:r>
          </a:p>
        </p:txBody>
      </p:sp>
      <p:pic>
        <p:nvPicPr>
          <p:cNvPr id="10" name="!!gorsel" descr="eehoJCpBy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Doğuştan bürokrat: tüzel kişilik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Tilki kümese girerse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koruyan ve denetleyen aynı taraf olur.</a:t>
            </a:r>
          </a:p>
        </p:txBody>
      </p:sp>
      <p:pic>
        <p:nvPicPr>
          <p:cNvPr id="10" name="!!gorsel" descr="harari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Dijital egemenlik ve kapatma düğmesi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pic>
        <p:nvPicPr>
          <p:cNvPr id="7" name="Picture 6" descr="chrome_ngC3CXLyb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2031" y="2103120"/>
            <a:ext cx="16162986" cy="914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Tüm dünyanın verisi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tek bir merkezde toplanabiliyor.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Dijital egemenlik ve kapatma düğmesi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15263F"/>
                </a:solidFill>
                <a:latin typeface="Helvetica Neue"/>
              </a:rPr>
              <a:t>Starlink örneği: </a:t>
            </a:r>
            <a:r>
              <a:rPr sz="2400" b="0">
                <a:solidFill>
                  <a:srgbClr val="15263F"/>
                </a:solidFill>
                <a:latin typeface="Helvetica Neue"/>
              </a:rPr>
              <a:t>dünyanın öbür ucundaki bir sistem, tek hamlede felç edilebilir.</a:t>
            </a:r>
          </a:p>
        </p:txBody>
      </p:sp>
      <p:pic>
        <p:nvPicPr>
          <p:cNvPr id="10" name="!!gorsel" descr="43RLoom6r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Dijital egemenlik ve kapatma düğmesi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Yurttaş olmaktan çıkıp kullanıcıya dönüşmek: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yapay devlet.</a:t>
            </a:r>
          </a:p>
        </p:txBody>
      </p:sp>
      <p:pic>
        <p:nvPicPr>
          <p:cNvPr id="10" name="!!gorsel" descr="lqrtuS7vl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Gerçek mi, kurgu mu?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pic>
        <p:nvPicPr>
          <p:cNvPr id="7" name="Picture 6" descr="chrome_QOmmvB5aSZ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2844" y="2103120"/>
            <a:ext cx="16521360" cy="914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Gerçek pahalı ve can yakıcı.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Kurgu ucuz, basit ve tam duymak istediğiniz şey.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Gerçek mi, kurgu mu?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Atların önünde para el değiştirir;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atlar ne döndüğünü anlamaz.</a:t>
            </a:r>
          </a:p>
        </p:txBody>
      </p:sp>
      <p:pic>
        <p:nvPicPr>
          <p:cNvPr id="10" name="!!gorsel" descr="KNRLv6B0pv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Asıl ihtiyaç: bilgelik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pic>
        <p:nvPicPr>
          <p:cNvPr id="7" name="Picture 6" descr="chrome_J7RvwAOMu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7778" y="2103120"/>
            <a:ext cx="16191492" cy="914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Zekâ problemi çözer.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Bilgelik hangi problemin çözülmeye değer olduğunu seçer.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Asıl ihtiyaç: bilgelik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Soru "yapay zekâ ne yapabilir?" değil.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Soru: "Biz ne istiyoruz?"</a:t>
            </a:r>
          </a:p>
        </p:txBody>
      </p:sp>
      <p:pic>
        <p:nvPicPr>
          <p:cNvPr id="10" name="!!gorsel" descr="HqaQSLtNHq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Bunlar gelecek zaman değil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66544" y="3063240"/>
            <a:ext cx="2024481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0">
                <a:solidFill>
                  <a:srgbClr val="FFFFFF"/>
                </a:solidFill>
                <a:latin typeface="Helvetica Neue"/>
              </a:rPr>
              <a:t>Harari'nin uyardığı şeyler gelecek zaman değil — </a:t>
            </a:r>
            <a:r>
              <a:rPr sz="3800" b="1">
                <a:solidFill>
                  <a:srgbClr val="FFFFFF"/>
                </a:solidFill>
                <a:latin typeface="Helvetica Neue"/>
              </a:rPr>
              <a:t>bunlar oldu.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4846320"/>
            <a:ext cx="10730484" cy="57607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11096" y="5349240"/>
            <a:ext cx="946861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8A3B2F"/>
                </a:solidFill>
                <a:latin typeface="Helvetica Neue"/>
              </a:rPr>
              <a:t>Avianca davası  ·  2023, New York</a:t>
            </a:r>
          </a:p>
        </p:txBody>
      </p:sp>
      <p:pic>
        <p:nvPicPr>
          <p:cNvPr id="10" name="Picture 9" descr="gorsel_avianc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1096" y="6263640"/>
            <a:ext cx="9468612" cy="392947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2376404" y="4846320"/>
            <a:ext cx="10730484" cy="57607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007340" y="5349240"/>
            <a:ext cx="946861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5263F"/>
                </a:solidFill>
                <a:latin typeface="Helvetica Neue"/>
              </a:rPr>
              <a:t>Otomat deneyi  ·  2026, Andon Labs</a:t>
            </a:r>
          </a:p>
        </p:txBody>
      </p:sp>
      <p:pic>
        <p:nvPicPr>
          <p:cNvPr id="13" name="Picture 12" descr="gorsel_otom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07340" y="6263640"/>
            <a:ext cx="9468612" cy="392947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Biri gerçeği umursamadı, diğeri kendi çıkarını kolladı.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İkisine de kimse söylemedi.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AF611-5F92-1DEC-0C06-2BDC382A8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E6DBFD-6F3F-A216-A9A1-A960843B198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Model aslında ne yapıyor?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6644FB-3499-CAED-5FAE-F470B9ADC1E7}"/>
              </a:ext>
            </a:extLst>
          </p:cNvPr>
          <p:cNvSpPr txBox="1"/>
          <p:nvPr/>
        </p:nvSpPr>
        <p:spPr>
          <a:xfrm>
            <a:off x="1280160" y="2377440"/>
            <a:ext cx="21826728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 dirty="0">
                <a:solidFill>
                  <a:srgbClr val="1A1A1A"/>
                </a:solidFill>
                <a:latin typeface="Helvetica Neue"/>
              </a:rPr>
              <a:t>Tek </a:t>
            </a:r>
            <a:r>
              <a:rPr sz="4000" b="0" dirty="0" err="1">
                <a:solidFill>
                  <a:srgbClr val="1A1A1A"/>
                </a:solidFill>
                <a:latin typeface="Helvetica Neue"/>
              </a:rPr>
              <a:t>bir</a:t>
            </a:r>
            <a:r>
              <a:rPr sz="4000" b="0" dirty="0">
                <a:solidFill>
                  <a:srgbClr val="1A1A1A"/>
                </a:solidFill>
                <a:latin typeface="Helvetica Neue"/>
              </a:rPr>
              <a:t> </a:t>
            </a:r>
            <a:r>
              <a:rPr sz="4000" b="0" dirty="0" err="1">
                <a:solidFill>
                  <a:srgbClr val="1A1A1A"/>
                </a:solidFill>
                <a:latin typeface="Helvetica Neue"/>
              </a:rPr>
              <a:t>şey</a:t>
            </a:r>
            <a:r>
              <a:rPr sz="4000" b="0" dirty="0">
                <a:solidFill>
                  <a:srgbClr val="1A1A1A"/>
                </a:solidFill>
                <a:latin typeface="Helvetica Neue"/>
              </a:rPr>
              <a:t>: </a:t>
            </a:r>
            <a:r>
              <a:rPr sz="4000" b="1" dirty="0" err="1">
                <a:solidFill>
                  <a:srgbClr val="1A1A1A"/>
                </a:solidFill>
                <a:latin typeface="Helvetica Neue"/>
              </a:rPr>
              <a:t>bir</a:t>
            </a:r>
            <a:r>
              <a:rPr sz="4000" b="1" dirty="0">
                <a:solidFill>
                  <a:srgbClr val="1A1A1A"/>
                </a:solidFill>
                <a:latin typeface="Helvetica Neue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Helvetica Neue"/>
              </a:rPr>
              <a:t>sonraki</a:t>
            </a:r>
            <a:r>
              <a:rPr sz="4000" b="1" dirty="0">
                <a:solidFill>
                  <a:srgbClr val="1A1A1A"/>
                </a:solidFill>
                <a:latin typeface="Helvetica Neue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Helvetica Neue"/>
              </a:rPr>
              <a:t>kelimeyi</a:t>
            </a:r>
            <a:r>
              <a:rPr sz="4000" b="1" dirty="0">
                <a:solidFill>
                  <a:srgbClr val="1A1A1A"/>
                </a:solidFill>
                <a:latin typeface="Helvetica Neue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Helvetica Neue"/>
              </a:rPr>
              <a:t>tahmin</a:t>
            </a:r>
            <a:r>
              <a:rPr sz="4000" b="1" dirty="0">
                <a:solidFill>
                  <a:srgbClr val="1A1A1A"/>
                </a:solidFill>
                <a:latin typeface="Helvetica Neue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Helvetica Neue"/>
              </a:rPr>
              <a:t>etmek</a:t>
            </a:r>
            <a:r>
              <a:rPr sz="4000" b="1" dirty="0">
                <a:solidFill>
                  <a:srgbClr val="1A1A1A"/>
                </a:solidFill>
                <a:latin typeface="Helvetica Neue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DA310D-0C59-ABF2-24AA-0BEF1896F147}"/>
              </a:ext>
            </a:extLst>
          </p:cNvPr>
          <p:cNvSpPr/>
          <p:nvPr/>
        </p:nvSpPr>
        <p:spPr>
          <a:xfrm>
            <a:off x="3108960" y="4206240"/>
            <a:ext cx="18169128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4B5CA7-BB7B-4CA7-A81D-A5EFC103C779}"/>
              </a:ext>
            </a:extLst>
          </p:cNvPr>
          <p:cNvSpPr txBox="1"/>
          <p:nvPr/>
        </p:nvSpPr>
        <p:spPr>
          <a:xfrm>
            <a:off x="3520440" y="4526280"/>
            <a:ext cx="17346168" cy="10309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lang="tr-TR" sz="2600" b="0" dirty="0">
                <a:solidFill>
                  <a:srgbClr val="1A1A1A"/>
                </a:solidFill>
                <a:latin typeface="Consolas"/>
              </a:rPr>
              <a:t>1 - </a:t>
            </a:r>
            <a:r>
              <a:rPr sz="2600" b="0" dirty="0">
                <a:solidFill>
                  <a:srgbClr val="1A1A1A"/>
                </a:solidFill>
                <a:latin typeface="Consolas"/>
              </a:rPr>
              <a:t>Bir </a:t>
            </a:r>
            <a:r>
              <a:rPr sz="2600" b="0" dirty="0" err="1">
                <a:solidFill>
                  <a:srgbClr val="1A1A1A"/>
                </a:solidFill>
                <a:latin typeface="Consolas"/>
              </a:rPr>
              <a:t>eli</a:t>
            </a:r>
            <a:r>
              <a:rPr sz="2600" b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2600" b="0" dirty="0" err="1">
                <a:solidFill>
                  <a:srgbClr val="1A1A1A"/>
                </a:solidFill>
                <a:latin typeface="Consolas"/>
              </a:rPr>
              <a:t>yağda</a:t>
            </a:r>
            <a:r>
              <a:rPr sz="2600" b="0" dirty="0">
                <a:solidFill>
                  <a:srgbClr val="1A1A1A"/>
                </a:solidFill>
                <a:latin typeface="Consolas"/>
              </a:rPr>
              <a:t>, </a:t>
            </a:r>
            <a:r>
              <a:rPr sz="2600" b="0" dirty="0" err="1">
                <a:solidFill>
                  <a:srgbClr val="1A1A1A"/>
                </a:solidFill>
                <a:latin typeface="Consolas"/>
              </a:rPr>
              <a:t>bir</a:t>
            </a:r>
            <a:r>
              <a:rPr sz="2600" b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2600" b="0" dirty="0" err="1">
                <a:solidFill>
                  <a:srgbClr val="1A1A1A"/>
                </a:solidFill>
                <a:latin typeface="Consolas"/>
              </a:rPr>
              <a:t>eli</a:t>
            </a:r>
            <a:r>
              <a:rPr sz="2600" b="0" dirty="0">
                <a:solidFill>
                  <a:srgbClr val="1A1A1A"/>
                </a:solidFill>
                <a:latin typeface="Consolas"/>
              </a:rPr>
              <a:t> ________</a:t>
            </a:r>
            <a:br>
              <a:rPr lang="tr-TR" sz="2600" b="0" dirty="0">
                <a:solidFill>
                  <a:srgbClr val="1A1A1A"/>
                </a:solidFill>
                <a:latin typeface="Consolas"/>
              </a:rPr>
            </a:br>
            <a:endParaRPr lang="tr-TR" sz="2600" b="0" dirty="0">
              <a:solidFill>
                <a:srgbClr val="1A1A1A"/>
              </a:solidFill>
              <a:latin typeface="Consola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004E07-DAA9-7B2E-9667-C942BB7B7E68}"/>
              </a:ext>
            </a:extLst>
          </p:cNvPr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A501C5-E7C1-CAA9-F833-16B528354585}"/>
              </a:ext>
            </a:extLst>
          </p:cNvPr>
          <p:cNvSpPr txBox="1"/>
          <p:nvPr/>
        </p:nvSpPr>
        <p:spPr>
          <a:xfrm>
            <a:off x="2011680" y="11960311"/>
            <a:ext cx="20363688" cy="4024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 dirty="0">
                <a:solidFill>
                  <a:srgbClr val="15263F"/>
                </a:solidFill>
                <a:latin typeface="Helvetica Neue"/>
              </a:rPr>
              <a:t>Model </a:t>
            </a:r>
            <a:r>
              <a:rPr sz="2400" b="1" dirty="0" err="1">
                <a:solidFill>
                  <a:srgbClr val="15263F"/>
                </a:solidFill>
                <a:latin typeface="Helvetica Neue"/>
              </a:rPr>
              <a:t>durması</a:t>
            </a:r>
            <a:r>
              <a:rPr sz="2400" b="1" dirty="0">
                <a:solidFill>
                  <a:srgbClr val="15263F"/>
                </a:solidFill>
                <a:latin typeface="Helvetica Neue"/>
              </a:rPr>
              <a:t> </a:t>
            </a:r>
            <a:r>
              <a:rPr sz="2400" b="1" dirty="0" err="1">
                <a:solidFill>
                  <a:srgbClr val="15263F"/>
                </a:solidFill>
                <a:latin typeface="Helvetica Neue"/>
              </a:rPr>
              <a:t>gerektiği</a:t>
            </a:r>
            <a:r>
              <a:rPr lang="tr-TR" sz="2400" b="1" dirty="0">
                <a:solidFill>
                  <a:srgbClr val="15263F"/>
                </a:solidFill>
                <a:latin typeface="Helvetica Neue"/>
              </a:rPr>
              <a:t> yeri </a:t>
            </a:r>
            <a:r>
              <a:rPr sz="2400" b="1" dirty="0" err="1">
                <a:solidFill>
                  <a:srgbClr val="15263F"/>
                </a:solidFill>
                <a:latin typeface="Helvetica Neue"/>
              </a:rPr>
              <a:t>bilmiyor</a:t>
            </a:r>
            <a:r>
              <a:rPr sz="2400" b="1" dirty="0">
                <a:solidFill>
                  <a:srgbClr val="15263F"/>
                </a:solidFill>
                <a:latin typeface="Helvetica Neu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70983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Model aslında ne yapıyor?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2377440"/>
            <a:ext cx="21826728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 dirty="0">
                <a:solidFill>
                  <a:srgbClr val="1A1A1A"/>
                </a:solidFill>
                <a:latin typeface="Helvetica Neue"/>
              </a:rPr>
              <a:t>Tek </a:t>
            </a:r>
            <a:r>
              <a:rPr sz="4000" b="0" dirty="0" err="1">
                <a:solidFill>
                  <a:srgbClr val="1A1A1A"/>
                </a:solidFill>
                <a:latin typeface="Helvetica Neue"/>
              </a:rPr>
              <a:t>bir</a:t>
            </a:r>
            <a:r>
              <a:rPr sz="4000" b="0" dirty="0">
                <a:solidFill>
                  <a:srgbClr val="1A1A1A"/>
                </a:solidFill>
                <a:latin typeface="Helvetica Neue"/>
              </a:rPr>
              <a:t> </a:t>
            </a:r>
            <a:r>
              <a:rPr sz="4000" b="0" dirty="0" err="1">
                <a:solidFill>
                  <a:srgbClr val="1A1A1A"/>
                </a:solidFill>
                <a:latin typeface="Helvetica Neue"/>
              </a:rPr>
              <a:t>şey</a:t>
            </a:r>
            <a:r>
              <a:rPr sz="4000" b="0" dirty="0">
                <a:solidFill>
                  <a:srgbClr val="1A1A1A"/>
                </a:solidFill>
                <a:latin typeface="Helvetica Neue"/>
              </a:rPr>
              <a:t>: </a:t>
            </a:r>
            <a:r>
              <a:rPr sz="4000" b="1" dirty="0" err="1">
                <a:solidFill>
                  <a:srgbClr val="1A1A1A"/>
                </a:solidFill>
                <a:latin typeface="Helvetica Neue"/>
              </a:rPr>
              <a:t>bir</a:t>
            </a:r>
            <a:r>
              <a:rPr sz="4000" b="1" dirty="0">
                <a:solidFill>
                  <a:srgbClr val="1A1A1A"/>
                </a:solidFill>
                <a:latin typeface="Helvetica Neue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Helvetica Neue"/>
              </a:rPr>
              <a:t>sonraki</a:t>
            </a:r>
            <a:r>
              <a:rPr sz="4000" b="1" dirty="0">
                <a:solidFill>
                  <a:srgbClr val="1A1A1A"/>
                </a:solidFill>
                <a:latin typeface="Helvetica Neue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Helvetica Neue"/>
              </a:rPr>
              <a:t>kelimeyi</a:t>
            </a:r>
            <a:r>
              <a:rPr sz="4000" b="1" dirty="0">
                <a:solidFill>
                  <a:srgbClr val="1A1A1A"/>
                </a:solidFill>
                <a:latin typeface="Helvetica Neue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Helvetica Neue"/>
              </a:rPr>
              <a:t>tahmin</a:t>
            </a:r>
            <a:r>
              <a:rPr sz="4000" b="1" dirty="0">
                <a:solidFill>
                  <a:srgbClr val="1A1A1A"/>
                </a:solidFill>
                <a:latin typeface="Helvetica Neue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Helvetica Neue"/>
              </a:rPr>
              <a:t>etmek</a:t>
            </a:r>
            <a:r>
              <a:rPr sz="4000" b="1" dirty="0">
                <a:solidFill>
                  <a:srgbClr val="1A1A1A"/>
                </a:solidFill>
                <a:latin typeface="Helvetica Neue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0" y="4206240"/>
            <a:ext cx="18169128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520440" y="4526280"/>
            <a:ext cx="17346168" cy="21112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lang="tr-TR" sz="2600" b="0" dirty="0">
                <a:solidFill>
                  <a:srgbClr val="1A1A1A"/>
                </a:solidFill>
                <a:latin typeface="Consolas"/>
              </a:rPr>
              <a:t>1 - </a:t>
            </a:r>
            <a:r>
              <a:rPr sz="2600" b="0" dirty="0">
                <a:solidFill>
                  <a:srgbClr val="1A1A1A"/>
                </a:solidFill>
                <a:latin typeface="Consolas"/>
              </a:rPr>
              <a:t>Bir </a:t>
            </a:r>
            <a:r>
              <a:rPr sz="2600" b="0" dirty="0" err="1">
                <a:solidFill>
                  <a:srgbClr val="1A1A1A"/>
                </a:solidFill>
                <a:latin typeface="Consolas"/>
              </a:rPr>
              <a:t>eli</a:t>
            </a:r>
            <a:r>
              <a:rPr sz="2600" b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2600" b="0" dirty="0" err="1">
                <a:solidFill>
                  <a:srgbClr val="1A1A1A"/>
                </a:solidFill>
                <a:latin typeface="Consolas"/>
              </a:rPr>
              <a:t>yağda</a:t>
            </a:r>
            <a:r>
              <a:rPr sz="2600" b="0" dirty="0">
                <a:solidFill>
                  <a:srgbClr val="1A1A1A"/>
                </a:solidFill>
                <a:latin typeface="Consolas"/>
              </a:rPr>
              <a:t>, </a:t>
            </a:r>
            <a:r>
              <a:rPr sz="2600" b="0" dirty="0" err="1">
                <a:solidFill>
                  <a:srgbClr val="1A1A1A"/>
                </a:solidFill>
                <a:latin typeface="Consolas"/>
              </a:rPr>
              <a:t>bir</a:t>
            </a:r>
            <a:r>
              <a:rPr sz="2600" b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2600" b="0" dirty="0" err="1">
                <a:solidFill>
                  <a:srgbClr val="1A1A1A"/>
                </a:solidFill>
                <a:latin typeface="Consolas"/>
              </a:rPr>
              <a:t>eli</a:t>
            </a:r>
            <a:r>
              <a:rPr sz="2600" b="0" dirty="0">
                <a:solidFill>
                  <a:srgbClr val="1A1A1A"/>
                </a:solidFill>
                <a:latin typeface="Consolas"/>
              </a:rPr>
              <a:t> ________</a:t>
            </a:r>
            <a:endParaRPr lang="tr-TR" sz="2600" b="0" dirty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35000"/>
              </a:lnSpc>
            </a:pPr>
            <a:endParaRPr lang="tr-TR" sz="2600" dirty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35000"/>
              </a:lnSpc>
            </a:pPr>
            <a:r>
              <a:rPr lang="tr-TR" sz="2600" dirty="0">
                <a:solidFill>
                  <a:srgbClr val="1A1A1A"/>
                </a:solidFill>
                <a:latin typeface="Consolas"/>
              </a:rPr>
              <a:t>2 - </a:t>
            </a:r>
            <a:r>
              <a:rPr lang="tr-TR" sz="2600" dirty="0" err="1">
                <a:solidFill>
                  <a:srgbClr val="1A1A1A"/>
                </a:solidFill>
                <a:latin typeface="Consolas"/>
              </a:rPr>
              <a:t>Miuul</a:t>
            </a:r>
            <a:r>
              <a:rPr lang="tr-TR" sz="2600" dirty="0">
                <a:solidFill>
                  <a:srgbClr val="1A1A1A"/>
                </a:solidFill>
                <a:latin typeface="Consolas"/>
              </a:rPr>
              <a:t> </a:t>
            </a:r>
            <a:r>
              <a:rPr lang="tr-TR" sz="2600" dirty="0" err="1">
                <a:solidFill>
                  <a:srgbClr val="1A1A1A"/>
                </a:solidFill>
                <a:latin typeface="Consolas"/>
              </a:rPr>
              <a:t>bootcamp'inde</a:t>
            </a:r>
            <a:r>
              <a:rPr lang="tr-TR" sz="2600" dirty="0">
                <a:solidFill>
                  <a:srgbClr val="1A1A1A"/>
                </a:solidFill>
                <a:latin typeface="Consolas"/>
              </a:rPr>
              <a:t> mezun olmak için</a:t>
            </a:r>
          </a:p>
          <a:p>
            <a:pPr algn="l">
              <a:lnSpc>
                <a:spcPct val="135000"/>
              </a:lnSpc>
            </a:pPr>
            <a:r>
              <a:rPr lang="tr-TR" sz="2600" dirty="0">
                <a:solidFill>
                  <a:srgbClr val="1A1A1A"/>
                </a:solidFill>
                <a:latin typeface="Consolas"/>
              </a:rPr>
              <a:t>ödevlerin yüzde ________'i tamamlanmalı</a:t>
            </a:r>
            <a:endParaRPr sz="2600" b="0" dirty="0">
              <a:solidFill>
                <a:srgbClr val="1A1A1A"/>
              </a:solidFill>
              <a:latin typeface="Consola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11960311"/>
            <a:ext cx="20363688" cy="4024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 dirty="0">
                <a:solidFill>
                  <a:srgbClr val="15263F"/>
                </a:solidFill>
                <a:latin typeface="Helvetica Neue"/>
              </a:rPr>
              <a:t>Model </a:t>
            </a:r>
            <a:r>
              <a:rPr sz="2400" b="1" dirty="0" err="1">
                <a:solidFill>
                  <a:srgbClr val="15263F"/>
                </a:solidFill>
                <a:latin typeface="Helvetica Neue"/>
              </a:rPr>
              <a:t>durması</a:t>
            </a:r>
            <a:r>
              <a:rPr sz="2400" b="1" dirty="0">
                <a:solidFill>
                  <a:srgbClr val="15263F"/>
                </a:solidFill>
                <a:latin typeface="Helvetica Neue"/>
              </a:rPr>
              <a:t> </a:t>
            </a:r>
            <a:r>
              <a:rPr sz="2400" b="1" dirty="0" err="1">
                <a:solidFill>
                  <a:srgbClr val="15263F"/>
                </a:solidFill>
                <a:latin typeface="Helvetica Neue"/>
              </a:rPr>
              <a:t>gerektiği</a:t>
            </a:r>
            <a:r>
              <a:rPr lang="tr-TR" sz="2400" b="1" dirty="0">
                <a:solidFill>
                  <a:srgbClr val="15263F"/>
                </a:solidFill>
                <a:latin typeface="Helvetica Neue"/>
              </a:rPr>
              <a:t> yeri </a:t>
            </a:r>
            <a:r>
              <a:rPr sz="2400" b="1" dirty="0" err="1">
                <a:solidFill>
                  <a:srgbClr val="15263F"/>
                </a:solidFill>
                <a:latin typeface="Helvetica Neue"/>
              </a:rPr>
              <a:t>bilmiyor</a:t>
            </a:r>
            <a:r>
              <a:rPr sz="2400" b="1" dirty="0">
                <a:solidFill>
                  <a:srgbClr val="15263F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A3468-588A-2317-F4AA-FA17ECE25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548AB5-1102-E9C0-7776-DC4BF861274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Model aslında ne yapıyor?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72CC8-411E-C890-298A-2694CA6E364D}"/>
              </a:ext>
            </a:extLst>
          </p:cNvPr>
          <p:cNvSpPr txBox="1"/>
          <p:nvPr/>
        </p:nvSpPr>
        <p:spPr>
          <a:xfrm>
            <a:off x="1280160" y="2377440"/>
            <a:ext cx="21826728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 dirty="0">
                <a:solidFill>
                  <a:srgbClr val="1A1A1A"/>
                </a:solidFill>
                <a:latin typeface="Helvetica Neue"/>
              </a:rPr>
              <a:t>Tek </a:t>
            </a:r>
            <a:r>
              <a:rPr sz="4000" b="0" dirty="0" err="1">
                <a:solidFill>
                  <a:srgbClr val="1A1A1A"/>
                </a:solidFill>
                <a:latin typeface="Helvetica Neue"/>
              </a:rPr>
              <a:t>bir</a:t>
            </a:r>
            <a:r>
              <a:rPr sz="4000" b="0" dirty="0">
                <a:solidFill>
                  <a:srgbClr val="1A1A1A"/>
                </a:solidFill>
                <a:latin typeface="Helvetica Neue"/>
              </a:rPr>
              <a:t> </a:t>
            </a:r>
            <a:r>
              <a:rPr sz="4000" b="0" dirty="0" err="1">
                <a:solidFill>
                  <a:srgbClr val="1A1A1A"/>
                </a:solidFill>
                <a:latin typeface="Helvetica Neue"/>
              </a:rPr>
              <a:t>şey</a:t>
            </a:r>
            <a:r>
              <a:rPr sz="4000" b="0" dirty="0">
                <a:solidFill>
                  <a:srgbClr val="1A1A1A"/>
                </a:solidFill>
                <a:latin typeface="Helvetica Neue"/>
              </a:rPr>
              <a:t>: </a:t>
            </a:r>
            <a:r>
              <a:rPr sz="4000" b="1" dirty="0" err="1">
                <a:solidFill>
                  <a:srgbClr val="1A1A1A"/>
                </a:solidFill>
                <a:latin typeface="Helvetica Neue"/>
              </a:rPr>
              <a:t>bir</a:t>
            </a:r>
            <a:r>
              <a:rPr sz="4000" b="1" dirty="0">
                <a:solidFill>
                  <a:srgbClr val="1A1A1A"/>
                </a:solidFill>
                <a:latin typeface="Helvetica Neue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Helvetica Neue"/>
              </a:rPr>
              <a:t>sonraki</a:t>
            </a:r>
            <a:r>
              <a:rPr sz="4000" b="1" dirty="0">
                <a:solidFill>
                  <a:srgbClr val="1A1A1A"/>
                </a:solidFill>
                <a:latin typeface="Helvetica Neue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Helvetica Neue"/>
              </a:rPr>
              <a:t>kelimeyi</a:t>
            </a:r>
            <a:r>
              <a:rPr sz="4000" b="1" dirty="0">
                <a:solidFill>
                  <a:srgbClr val="1A1A1A"/>
                </a:solidFill>
                <a:latin typeface="Helvetica Neue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Helvetica Neue"/>
              </a:rPr>
              <a:t>tahmin</a:t>
            </a:r>
            <a:r>
              <a:rPr sz="4000" b="1" dirty="0">
                <a:solidFill>
                  <a:srgbClr val="1A1A1A"/>
                </a:solidFill>
                <a:latin typeface="Helvetica Neue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Helvetica Neue"/>
              </a:rPr>
              <a:t>etmek</a:t>
            </a:r>
            <a:r>
              <a:rPr sz="4000" b="1" dirty="0">
                <a:solidFill>
                  <a:srgbClr val="1A1A1A"/>
                </a:solidFill>
                <a:latin typeface="Helvetica Neue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548F70-9204-7B19-3F75-1B372B8D5D5E}"/>
              </a:ext>
            </a:extLst>
          </p:cNvPr>
          <p:cNvSpPr/>
          <p:nvPr/>
        </p:nvSpPr>
        <p:spPr>
          <a:xfrm>
            <a:off x="3108960" y="4206240"/>
            <a:ext cx="18169128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FFCC49-75ED-9857-10DD-B75ABDB016A9}"/>
              </a:ext>
            </a:extLst>
          </p:cNvPr>
          <p:cNvSpPr txBox="1"/>
          <p:nvPr/>
        </p:nvSpPr>
        <p:spPr>
          <a:xfrm>
            <a:off x="3520440" y="4526280"/>
            <a:ext cx="17346168" cy="37317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lang="tr-TR" sz="2600" b="0" dirty="0">
                <a:solidFill>
                  <a:srgbClr val="1A1A1A"/>
                </a:solidFill>
                <a:latin typeface="Consolas"/>
              </a:rPr>
              <a:t>1 - </a:t>
            </a:r>
            <a:r>
              <a:rPr sz="2600" b="0" dirty="0">
                <a:solidFill>
                  <a:srgbClr val="1A1A1A"/>
                </a:solidFill>
                <a:latin typeface="Consolas"/>
              </a:rPr>
              <a:t>Bir </a:t>
            </a:r>
            <a:r>
              <a:rPr sz="2600" b="0" dirty="0" err="1">
                <a:solidFill>
                  <a:srgbClr val="1A1A1A"/>
                </a:solidFill>
                <a:latin typeface="Consolas"/>
              </a:rPr>
              <a:t>eli</a:t>
            </a:r>
            <a:r>
              <a:rPr sz="2600" b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2600" b="0" dirty="0" err="1">
                <a:solidFill>
                  <a:srgbClr val="1A1A1A"/>
                </a:solidFill>
                <a:latin typeface="Consolas"/>
              </a:rPr>
              <a:t>yağda</a:t>
            </a:r>
            <a:r>
              <a:rPr sz="2600" b="0" dirty="0">
                <a:solidFill>
                  <a:srgbClr val="1A1A1A"/>
                </a:solidFill>
                <a:latin typeface="Consolas"/>
              </a:rPr>
              <a:t>, </a:t>
            </a:r>
            <a:r>
              <a:rPr sz="2600" b="0" dirty="0" err="1">
                <a:solidFill>
                  <a:srgbClr val="1A1A1A"/>
                </a:solidFill>
                <a:latin typeface="Consolas"/>
              </a:rPr>
              <a:t>bir</a:t>
            </a:r>
            <a:r>
              <a:rPr sz="2600" b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2600" b="0" dirty="0" err="1">
                <a:solidFill>
                  <a:srgbClr val="1A1A1A"/>
                </a:solidFill>
                <a:latin typeface="Consolas"/>
              </a:rPr>
              <a:t>eli</a:t>
            </a:r>
            <a:r>
              <a:rPr sz="2600" b="0" dirty="0">
                <a:solidFill>
                  <a:srgbClr val="1A1A1A"/>
                </a:solidFill>
                <a:latin typeface="Consolas"/>
              </a:rPr>
              <a:t> ________</a:t>
            </a:r>
            <a:endParaRPr lang="tr-TR" sz="2600" b="0" dirty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35000"/>
              </a:lnSpc>
            </a:pPr>
            <a:endParaRPr lang="tr-TR" sz="2600" dirty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35000"/>
              </a:lnSpc>
            </a:pPr>
            <a:r>
              <a:rPr lang="tr-TR" sz="2600" dirty="0">
                <a:solidFill>
                  <a:srgbClr val="1A1A1A"/>
                </a:solidFill>
                <a:latin typeface="Consolas"/>
              </a:rPr>
              <a:t>2 - </a:t>
            </a:r>
            <a:r>
              <a:rPr lang="tr-TR" sz="2600" dirty="0" err="1">
                <a:solidFill>
                  <a:srgbClr val="1A1A1A"/>
                </a:solidFill>
                <a:latin typeface="Consolas"/>
              </a:rPr>
              <a:t>Miuul</a:t>
            </a:r>
            <a:r>
              <a:rPr lang="tr-TR" sz="2600" dirty="0">
                <a:solidFill>
                  <a:srgbClr val="1A1A1A"/>
                </a:solidFill>
                <a:latin typeface="Consolas"/>
              </a:rPr>
              <a:t> </a:t>
            </a:r>
            <a:r>
              <a:rPr lang="tr-TR" sz="2600" dirty="0" err="1">
                <a:solidFill>
                  <a:srgbClr val="1A1A1A"/>
                </a:solidFill>
                <a:latin typeface="Consolas"/>
              </a:rPr>
              <a:t>bootcamp'inde</a:t>
            </a:r>
            <a:r>
              <a:rPr lang="tr-TR" sz="2600" dirty="0">
                <a:solidFill>
                  <a:srgbClr val="1A1A1A"/>
                </a:solidFill>
                <a:latin typeface="Consolas"/>
              </a:rPr>
              <a:t> mezun olmak için</a:t>
            </a:r>
          </a:p>
          <a:p>
            <a:pPr algn="l">
              <a:lnSpc>
                <a:spcPct val="135000"/>
              </a:lnSpc>
            </a:pPr>
            <a:r>
              <a:rPr lang="tr-TR" sz="2600" dirty="0">
                <a:solidFill>
                  <a:srgbClr val="1A1A1A"/>
                </a:solidFill>
                <a:latin typeface="Consolas"/>
              </a:rPr>
              <a:t>ödevlerin yüzde ________'i tamamlanmalı</a:t>
            </a:r>
            <a:endParaRPr sz="2600" b="0" dirty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35000"/>
              </a:lnSpc>
            </a:pPr>
            <a:endParaRPr sz="2600" b="0" dirty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35000"/>
              </a:lnSpc>
            </a:pPr>
            <a:r>
              <a:rPr lang="tr-TR" sz="2600" b="0" dirty="0">
                <a:solidFill>
                  <a:srgbClr val="1A1A1A"/>
                </a:solidFill>
                <a:latin typeface="Consolas"/>
              </a:rPr>
              <a:t>3 - </a:t>
            </a:r>
            <a:r>
              <a:rPr sz="2600" b="0" dirty="0" err="1">
                <a:solidFill>
                  <a:srgbClr val="1A1A1A"/>
                </a:solidFill>
                <a:latin typeface="Consolas"/>
              </a:rPr>
              <a:t>Miuul</a:t>
            </a:r>
            <a:r>
              <a:rPr sz="2600" b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2600" b="0" dirty="0" err="1">
                <a:solidFill>
                  <a:srgbClr val="1A1A1A"/>
                </a:solidFill>
                <a:latin typeface="Consolas"/>
              </a:rPr>
              <a:t>bootcamp'inde</a:t>
            </a:r>
            <a:r>
              <a:rPr sz="2600" b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2600" b="0" dirty="0" err="1">
                <a:solidFill>
                  <a:srgbClr val="1A1A1A"/>
                </a:solidFill>
                <a:latin typeface="Consolas"/>
              </a:rPr>
              <a:t>mezun</a:t>
            </a:r>
            <a:r>
              <a:rPr sz="2600" b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2600" b="0" dirty="0" err="1">
                <a:solidFill>
                  <a:srgbClr val="1A1A1A"/>
                </a:solidFill>
                <a:latin typeface="Consolas"/>
              </a:rPr>
              <a:t>olmak</a:t>
            </a:r>
            <a:r>
              <a:rPr sz="2600" b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2600" b="0" dirty="0" err="1">
                <a:solidFill>
                  <a:srgbClr val="1A1A1A"/>
                </a:solidFill>
                <a:latin typeface="Consolas"/>
              </a:rPr>
              <a:t>için</a:t>
            </a:r>
            <a:endParaRPr sz="2600" b="0" dirty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35000"/>
              </a:lnSpc>
            </a:pPr>
            <a:r>
              <a:rPr lang="tr-TR" sz="2600" dirty="0">
                <a:solidFill>
                  <a:srgbClr val="1A1A1A"/>
                </a:solidFill>
                <a:latin typeface="Consolas"/>
              </a:rPr>
              <a:t>Final Projesinden</a:t>
            </a:r>
            <a:r>
              <a:rPr sz="2600" b="0" dirty="0">
                <a:solidFill>
                  <a:srgbClr val="1A1A1A"/>
                </a:solidFill>
                <a:latin typeface="Consolas"/>
              </a:rPr>
              <a:t> </a:t>
            </a:r>
            <a:r>
              <a:rPr lang="tr-TR" sz="2600" b="0" dirty="0">
                <a:solidFill>
                  <a:srgbClr val="1A1A1A"/>
                </a:solidFill>
                <a:latin typeface="Consolas"/>
              </a:rPr>
              <a:t>en az</a:t>
            </a:r>
            <a:r>
              <a:rPr sz="2600" b="0" dirty="0">
                <a:solidFill>
                  <a:srgbClr val="1A1A1A"/>
                </a:solidFill>
                <a:latin typeface="Consolas"/>
              </a:rPr>
              <a:t> ________</a:t>
            </a:r>
            <a:r>
              <a:rPr lang="tr-TR" sz="2600" b="0" dirty="0">
                <a:solidFill>
                  <a:srgbClr val="1A1A1A"/>
                </a:solidFill>
                <a:latin typeface="Consolas"/>
              </a:rPr>
              <a:t> puan alınmalıdır.</a:t>
            </a:r>
            <a:endParaRPr sz="2600" b="0" dirty="0">
              <a:solidFill>
                <a:srgbClr val="1A1A1A"/>
              </a:solidFill>
              <a:latin typeface="Consola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3CD196-F4D2-5CD4-8A27-069C22FD79EB}"/>
              </a:ext>
            </a:extLst>
          </p:cNvPr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D740A7-A443-AC14-AE40-8FA387176359}"/>
              </a:ext>
            </a:extLst>
          </p:cNvPr>
          <p:cNvSpPr txBox="1"/>
          <p:nvPr/>
        </p:nvSpPr>
        <p:spPr>
          <a:xfrm>
            <a:off x="2011680" y="11960311"/>
            <a:ext cx="20363688" cy="4024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 dirty="0">
                <a:solidFill>
                  <a:srgbClr val="15263F"/>
                </a:solidFill>
                <a:latin typeface="Helvetica Neue"/>
              </a:rPr>
              <a:t>Model </a:t>
            </a:r>
            <a:r>
              <a:rPr sz="2400" b="1" dirty="0" err="1">
                <a:solidFill>
                  <a:srgbClr val="15263F"/>
                </a:solidFill>
                <a:latin typeface="Helvetica Neue"/>
              </a:rPr>
              <a:t>durması</a:t>
            </a:r>
            <a:r>
              <a:rPr sz="2400" b="1" dirty="0">
                <a:solidFill>
                  <a:srgbClr val="15263F"/>
                </a:solidFill>
                <a:latin typeface="Helvetica Neue"/>
              </a:rPr>
              <a:t> </a:t>
            </a:r>
            <a:r>
              <a:rPr sz="2400" b="1" dirty="0" err="1">
                <a:solidFill>
                  <a:srgbClr val="15263F"/>
                </a:solidFill>
                <a:latin typeface="Helvetica Neue"/>
              </a:rPr>
              <a:t>gerektiği</a:t>
            </a:r>
            <a:r>
              <a:rPr lang="tr-TR" sz="2400" b="1" dirty="0">
                <a:solidFill>
                  <a:srgbClr val="15263F"/>
                </a:solidFill>
                <a:latin typeface="Helvetica Neue"/>
              </a:rPr>
              <a:t> yeri </a:t>
            </a:r>
            <a:r>
              <a:rPr sz="2400" b="1" dirty="0" err="1">
                <a:solidFill>
                  <a:srgbClr val="15263F"/>
                </a:solidFill>
                <a:latin typeface="Helvetica Neue"/>
              </a:rPr>
              <a:t>bilmiyor</a:t>
            </a:r>
            <a:r>
              <a:rPr sz="2400" b="1" dirty="0">
                <a:solidFill>
                  <a:srgbClr val="15263F"/>
                </a:solidFill>
                <a:latin typeface="Helvetica Neu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25080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Kaputun altı: Transformer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66544" y="3063240"/>
            <a:ext cx="2024481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0">
                <a:solidFill>
                  <a:srgbClr val="1A1A1A"/>
                </a:solidFill>
                <a:latin typeface="Helvetica Neue"/>
              </a:rPr>
              <a:t>2017'de sekiz sayfalık bir makale çıktı. </a:t>
            </a:r>
            <a:r>
              <a:rPr sz="3800" b="1">
                <a:solidFill>
                  <a:srgbClr val="1A1A1A"/>
                </a:solidFill>
                <a:latin typeface="Helvetica Neue"/>
              </a:rPr>
              <a:t>Bugün kullandığınız her modelin atası.</a:t>
            </a:r>
          </a:p>
        </p:txBody>
      </p:sp>
      <p:pic>
        <p:nvPicPr>
          <p:cNvPr id="4" name="Picture 3" descr="maka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312" y="4709160"/>
            <a:ext cx="9431407" cy="6537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Attention fikri yeni değildi. Yeni olan iddia şuydu: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tek başına yetiyor.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Transformer'ı Transformer yapan üç şey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0160" y="2514600"/>
            <a:ext cx="6970471" cy="8092440"/>
          </a:xfrm>
          <a:prstGeom prst="roundRect">
            <a:avLst>
              <a:gd name="adj" fmla="val 6000"/>
            </a:avLst>
          </a:prstGeom>
          <a:solidFill>
            <a:srgbClr val="F8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280160" y="2514600"/>
            <a:ext cx="6970471" cy="164592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47088" y="3017520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>
                <a:solidFill>
                  <a:srgbClr val="C08A2E"/>
                </a:solidFill>
                <a:latin typeface="Helvetica Neu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4023360"/>
            <a:ext cx="58366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C08A2E"/>
                </a:solidFill>
                <a:latin typeface="Helvetica Neue"/>
              </a:rPr>
              <a:t>Paralel işleme</a:t>
            </a:r>
          </a:p>
        </p:txBody>
      </p:sp>
      <p:pic>
        <p:nvPicPr>
          <p:cNvPr id="7" name="Picture 6" descr="recurr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6078065"/>
            <a:ext cx="6330391" cy="297719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07831" y="2514600"/>
            <a:ext cx="6970471" cy="8092440"/>
          </a:xfrm>
          <a:prstGeom prst="roundRect">
            <a:avLst>
              <a:gd name="adj" fmla="val 6000"/>
            </a:avLst>
          </a:prstGeom>
          <a:solidFill>
            <a:srgbClr val="E7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07831" y="2514600"/>
            <a:ext cx="6970471" cy="164592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74759" y="3017520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>
                <a:solidFill>
                  <a:srgbClr val="15263F"/>
                </a:solidFill>
                <a:latin typeface="Helvetica Neue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74759" y="4023360"/>
            <a:ext cx="58366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5263F"/>
                </a:solidFill>
                <a:latin typeface="Helvetica Neue"/>
              </a:rPr>
              <a:t>Self-attention</a:t>
            </a:r>
          </a:p>
        </p:txBody>
      </p:sp>
      <p:pic>
        <p:nvPicPr>
          <p:cNvPr id="12" name="Picture 11" descr="gorsel_selfatten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7871" y="5588413"/>
            <a:ext cx="6330391" cy="395649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6135502" y="2514600"/>
            <a:ext cx="6970471" cy="8092440"/>
          </a:xfrm>
          <a:prstGeom prst="roundRect">
            <a:avLst>
              <a:gd name="adj" fmla="val 6000"/>
            </a:avLst>
          </a:prstGeom>
          <a:solidFill>
            <a:srgbClr val="F6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135502" y="2514600"/>
            <a:ext cx="6970471" cy="164592"/>
          </a:xfrm>
          <a:prstGeom prst="rect">
            <a:avLst/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702430" y="3017520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>
                <a:solidFill>
                  <a:srgbClr val="8A3B2F"/>
                </a:solidFill>
                <a:latin typeface="Helvetica Neu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02430" y="4023360"/>
            <a:ext cx="58366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8A3B2F"/>
                </a:solidFill>
                <a:latin typeface="Helvetica Neue"/>
              </a:rPr>
              <a:t>Positional encoding</a:t>
            </a:r>
          </a:p>
        </p:txBody>
      </p:sp>
      <p:pic>
        <p:nvPicPr>
          <p:cNvPr id="17" name="Picture 16" descr="gorsel_pose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5542" y="5588413"/>
            <a:ext cx="6330391" cy="395649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Paralel işle, neyin önemli olduğunu kendin bul,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sırayı unutma.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</a:rPr>
              <a:t>Transformer'dan Büyük Dil Modeline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66543" y="1874519"/>
            <a:ext cx="20244816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1A1A1A"/>
                </a:solidFill>
              </a:rPr>
              <a:t>GPT = </a:t>
            </a:r>
            <a:r>
              <a:rPr sz="3400" b="1">
                <a:solidFill>
                  <a:srgbClr val="1A1A1A"/>
                </a:solidFill>
              </a:rPr>
              <a:t>G</a:t>
            </a:r>
            <a:r>
              <a:rPr sz="3400" b="0">
                <a:solidFill>
                  <a:srgbClr val="1A1A1A"/>
                </a:solidFill>
              </a:rPr>
              <a:t>enerative </a:t>
            </a:r>
            <a:r>
              <a:rPr sz="3400" b="1">
                <a:solidFill>
                  <a:srgbClr val="1A1A1A"/>
                </a:solidFill>
              </a:rPr>
              <a:t>P</a:t>
            </a:r>
            <a:r>
              <a:rPr sz="3400" b="0">
                <a:solidFill>
                  <a:srgbClr val="1A1A1A"/>
                </a:solidFill>
              </a:rPr>
              <a:t>re-trained </a:t>
            </a:r>
            <a:r>
              <a:rPr sz="3400" b="1">
                <a:solidFill>
                  <a:srgbClr val="1A1A1A"/>
                </a:solidFill>
              </a:rPr>
              <a:t>T</a:t>
            </a:r>
            <a:r>
              <a:rPr sz="3400" b="0">
                <a:solidFill>
                  <a:srgbClr val="1A1A1A"/>
                </a:solidFill>
              </a:rPr>
              <a:t>ransformer — aynı mimari, internet ölçeğinde veriyle eğitilince </a:t>
            </a:r>
            <a:r>
              <a:rPr sz="3400" b="1">
                <a:solidFill>
                  <a:srgbClr val="1A1A1A"/>
                </a:solidFill>
              </a:rPr>
              <a:t>büyük dil modeli</a:t>
            </a:r>
            <a:r>
              <a:rPr sz="3400" b="0">
                <a:solidFill>
                  <a:srgbClr val="1A1A1A"/>
                </a:solidFill>
              </a:rPr>
              <a:t> oluyor.</a:t>
            </a:r>
          </a:p>
        </p:txBody>
      </p:sp>
      <p:pic>
        <p:nvPicPr>
          <p:cNvPr id="4" name="Picture 3" descr="ll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604" y="4206240"/>
            <a:ext cx="17007840" cy="6903955"/>
          </a:xfrm>
          <a:prstGeom prst="rect">
            <a:avLst/>
          </a:prstGeom>
          <a:ln w="12700">
            <a:solidFill>
              <a:srgbClr val="E2E2E2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280160" y="12710160"/>
            <a:ext cx="1280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9A9A9A"/>
                </a:solidFill>
              </a:rPr>
              <a:t>Görsel: 'Klasik vs Üretken Yapay Zekâ' sunumundan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1384280"/>
            <a:ext cx="21826728" cy="1188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11384280"/>
            <a:ext cx="20363688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</a:rPr>
              <a:t>Ön eğitim dili öğretir, ince ayar işi öğretir, </a:t>
            </a:r>
            <a:r>
              <a:rPr sz="2400" b="1">
                <a:solidFill>
                  <a:srgbClr val="15263F"/>
                </a:solidFill>
              </a:rPr>
              <a:t>RLHF ise nasıl konuşacağını öğretir.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Eğitim verisi neye benziyor?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0160" y="2103120"/>
            <a:ext cx="6903720" cy="9144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783080" y="2560320"/>
            <a:ext cx="4206240" cy="713232"/>
          </a:xfrm>
          <a:prstGeom prst="roundRect">
            <a:avLst>
              <a:gd name="adj" fmla="val 35000"/>
            </a:avLst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2560320"/>
            <a:ext cx="42062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Helvetica Neue"/>
              </a:rPr>
              <a:t>①  ÖN EĞİTİM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3566160"/>
            <a:ext cx="5897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300" b="1">
                <a:solidFill>
                  <a:srgbClr val="15263F"/>
                </a:solidFill>
                <a:latin typeface="Helvetica Neue"/>
              </a:rPr>
              <a:t>Ham metin — etiket yok</a:t>
            </a:r>
          </a:p>
        </p:txBody>
      </p:sp>
      <p:sp>
        <p:nvSpPr>
          <p:cNvPr id="7" name="Rectangle 6"/>
          <p:cNvSpPr/>
          <p:nvPr/>
        </p:nvSpPr>
        <p:spPr>
          <a:xfrm>
            <a:off x="1783080" y="4343400"/>
            <a:ext cx="5897880" cy="3063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4553712"/>
            <a:ext cx="5440680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onsolas"/>
              </a:rPr>
              <a:t>"...Ankara, Türkiye'nin başkentidir ve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onsolas"/>
              </a:rPr>
              <a:t> ülkenin ikinci büyük şehridir..."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onsolas"/>
              </a:rPr>
              <a:t>girdi :  Ankara   ,      Türkiye'nin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onsolas"/>
              </a:rPr>
              <a:t>hedef :  ,     Türkiye'nin  başkentidir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7680960"/>
            <a:ext cx="58978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Helvetica Neue"/>
              </a:rPr>
              <a:t>Etiket, metnin kendisi. Hedef = girdinin bir sağa kaymış hâli.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Helvetica Neue"/>
              </a:rPr>
              <a:t>İnsan etiketçi: sıfır.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83080" y="9464040"/>
            <a:ext cx="5897880" cy="0"/>
          </a:xfrm>
          <a:prstGeom prst="line">
            <a:avLst/>
          </a:prstGeom>
          <a:ln w="127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783080" y="9692640"/>
            <a:ext cx="5897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8A8A8A"/>
                </a:solidFill>
                <a:latin typeface="Helvetica Neue"/>
              </a:rPr>
              <a:t>HACİM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0149840"/>
            <a:ext cx="5897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A3B2F"/>
                </a:solidFill>
                <a:latin typeface="Helvetica Neue"/>
              </a:rPr>
              <a:t>trilyonlarca token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41664" y="2103120"/>
            <a:ext cx="6903720" cy="9144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244584" y="2560320"/>
            <a:ext cx="4206240" cy="713232"/>
          </a:xfrm>
          <a:prstGeom prst="roundRect">
            <a:avLst>
              <a:gd name="adj" fmla="val 35000"/>
            </a:avLst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44584" y="2560320"/>
            <a:ext cx="42062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Helvetica Neue"/>
              </a:rPr>
              <a:t>②  İNCE AYAR  (SFT)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44584" y="3566160"/>
            <a:ext cx="5897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300" b="1">
                <a:solidFill>
                  <a:srgbClr val="15263F"/>
                </a:solidFill>
                <a:latin typeface="Helvetica Neue"/>
              </a:rPr>
              <a:t>Talimat – cevap çiftleri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4584" y="4343400"/>
            <a:ext cx="5897880" cy="3063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73184" y="4553712"/>
            <a:ext cx="5440680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onsolas"/>
              </a:rPr>
              <a:t>{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  "system"   : "Miuul destek asistanısın.",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  "user"     : "Data Scientist Path kaç saat?",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  "assistant": "68 saat, 9 modül, 300 USD."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4584" y="7680960"/>
            <a:ext cx="58978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Helvetica Neue"/>
              </a:rPr>
              <a:t>Loss sadece assistant satırından hesaplanır — soru maskelenir.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Helvetica Neue"/>
              </a:rPr>
              <a:t>SFT'nin imzası bu.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44584" y="9464040"/>
            <a:ext cx="5897880" cy="0"/>
          </a:xfrm>
          <a:prstGeom prst="line">
            <a:avLst/>
          </a:prstGeom>
          <a:ln w="127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244584" y="9692640"/>
            <a:ext cx="5897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8A8A8A"/>
                </a:solidFill>
                <a:latin typeface="Helvetica Neue"/>
              </a:rPr>
              <a:t>HACİM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10149840"/>
            <a:ext cx="5897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C08A2E"/>
                </a:solidFill>
                <a:latin typeface="Helvetica Neue"/>
              </a:rPr>
              <a:t>on binler – yüz binler diyalog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203168" y="2103120"/>
            <a:ext cx="6903720" cy="9144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6706088" y="2560320"/>
            <a:ext cx="4206240" cy="713232"/>
          </a:xfrm>
          <a:prstGeom prst="roundRect">
            <a:avLst>
              <a:gd name="adj" fmla="val 35000"/>
            </a:avLst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706088" y="2560320"/>
            <a:ext cx="42062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Helvetica Neue"/>
              </a:rPr>
              <a:t>③  RLHF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06088" y="3566160"/>
            <a:ext cx="5897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300" b="1">
                <a:solidFill>
                  <a:srgbClr val="15263F"/>
                </a:solidFill>
                <a:latin typeface="Helvetica Neue"/>
              </a:rPr>
              <a:t>Tercih verisi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706088" y="4343400"/>
            <a:ext cx="5897880" cy="3063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6934688" y="4553712"/>
            <a:ext cx="5440680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onsolas"/>
              </a:rPr>
              <a:t>{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  "prompt"  : "Data Scientist Path'i özetle",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  "chosen"  : "68 saat, 9 modül, 300 USD.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               Kaynak: katalog, Eğitim 44.",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  "rejected": "Sanırım 40 saat civarı,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               fiyatını tam bilmiyorum."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706088" y="7680960"/>
            <a:ext cx="58978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Helvetica Neue"/>
              </a:rPr>
              <a:t>Doğru / yanlış yok — tercih edilen ve edilmeyen var.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Helvetica Neue"/>
              </a:rPr>
              <a:t>Seçimi insan yapıyor.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6706088" y="9464040"/>
            <a:ext cx="5897880" cy="0"/>
          </a:xfrm>
          <a:prstGeom prst="line">
            <a:avLst/>
          </a:prstGeom>
          <a:ln w="127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6706088" y="9692640"/>
            <a:ext cx="5897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8A8A8A"/>
                </a:solidFill>
                <a:latin typeface="Helvetica Neue"/>
              </a:rPr>
              <a:t>HACİM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706088" y="10149840"/>
            <a:ext cx="5897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5263F"/>
                </a:solidFill>
                <a:latin typeface="Helvetica Neue"/>
              </a:rPr>
              <a:t>on binler karşılaştırma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Modelin bildiği her şeyin neredeyse tamamı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ilk sütundan geliyor.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Model harf görmez, kelime görmez — token görür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025360" y="274320"/>
            <a:ext cx="3081528" cy="731520"/>
          </a:xfrm>
          <a:prstGeom prst="roundRect">
            <a:avLst>
              <a:gd name="adj" fmla="val 35000"/>
            </a:avLst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025360" y="274320"/>
            <a:ext cx="3081528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Helvetica Neue"/>
              </a:rPr>
              <a:t>CANLI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2377440"/>
            <a:ext cx="21826728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91640" y="2697480"/>
            <a:ext cx="21003768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dirty="0" err="1">
                <a:solidFill>
                  <a:srgbClr val="1A1A1A"/>
                </a:solidFill>
                <a:latin typeface="Consolas"/>
              </a:rPr>
              <a:t>tiktokenizer.vercel.app</a:t>
            </a:r>
            <a:endParaRPr sz="2600" b="0" dirty="0">
              <a:solidFill>
                <a:srgbClr val="1A1A1A"/>
              </a:solidFill>
              <a:latin typeface="Consola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Aynı metin Türkçede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daha pahalıya geliyor.</a:t>
            </a:r>
          </a:p>
        </p:txBody>
      </p:sp>
      <p:pic>
        <p:nvPicPr>
          <p:cNvPr id="22" name="Resim 21">
            <a:extLst>
              <a:ext uri="{FF2B5EF4-FFF2-40B4-BE49-F238E27FC236}">
                <a16:creationId xmlns:a16="http://schemas.microsoft.com/office/drawing/2014/main" id="{9CE1EDC9-20F4-D446-258B-294E47BD4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31" y="3698233"/>
            <a:ext cx="13915195" cy="6101850"/>
          </a:xfrm>
          <a:prstGeom prst="rect">
            <a:avLst/>
          </a:prstGeom>
        </p:spPr>
      </p:pic>
      <p:pic>
        <p:nvPicPr>
          <p:cNvPr id="24" name="Resim 23">
            <a:extLst>
              <a:ext uri="{FF2B5EF4-FFF2-40B4-BE49-F238E27FC236}">
                <a16:creationId xmlns:a16="http://schemas.microsoft.com/office/drawing/2014/main" id="{577CF4D7-490E-E5A6-81B8-A4EA32AF4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32" y="7021425"/>
            <a:ext cx="13503714" cy="3080226"/>
          </a:xfrm>
          <a:prstGeom prst="rect">
            <a:avLst/>
          </a:prstGeom>
        </p:spPr>
      </p:pic>
      <p:pic>
        <p:nvPicPr>
          <p:cNvPr id="26" name="Resim 25">
            <a:extLst>
              <a:ext uri="{FF2B5EF4-FFF2-40B4-BE49-F238E27FC236}">
                <a16:creationId xmlns:a16="http://schemas.microsoft.com/office/drawing/2014/main" id="{5EB3BAB8-B975-2EEB-DE82-1DA62ADD30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61026" y="3621311"/>
            <a:ext cx="10981938" cy="271678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 dirty="0">
                <a:solidFill>
                  <a:srgbClr val="1A1A1A"/>
                </a:solidFill>
                <a:latin typeface="Helvetica Neue"/>
              </a:rPr>
              <a:t>Embeddings  ·  2) Token Embeddings</a:t>
            </a:r>
          </a:p>
        </p:txBody>
      </p:sp>
      <p:pic>
        <p:nvPicPr>
          <p:cNvPr id="3" name="!!adim" descr="em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2377440"/>
            <a:ext cx="15851033" cy="88343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Aynı tablo, eğitimden sonra: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rastgele sayılar yerine oturdu.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Model ne üretiyor?  Kelime değil, olasılık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025360" y="274320"/>
            <a:ext cx="3081528" cy="731520"/>
          </a:xfrm>
          <a:prstGeom prst="roundRect">
            <a:avLst>
              <a:gd name="adj" fmla="val 35000"/>
            </a:avLst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025360" y="274320"/>
            <a:ext cx="3081528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Helvetica Neue"/>
              </a:rPr>
              <a:t>CANLI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514495"/>
            <a:ext cx="21826728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21003768" cy="490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dirty="0">
                <a:solidFill>
                  <a:srgbClr val="1A1A1A"/>
                </a:solidFill>
                <a:latin typeface="Consolas"/>
              </a:rPr>
              <a:t>poloclub.github.io/transformer-explainer</a:t>
            </a:r>
            <a:r>
              <a:rPr lang="tr-TR" sz="2600" dirty="0">
                <a:solidFill>
                  <a:srgbClr val="1A1A1A"/>
                </a:solidFill>
                <a:latin typeface="Consolas"/>
              </a:rPr>
              <a:t>    https://bbycroft.net/llm</a:t>
            </a:r>
            <a:endParaRPr sz="2600" b="0" dirty="0">
              <a:solidFill>
                <a:srgbClr val="1A1A1A"/>
              </a:solidFill>
              <a:latin typeface="Consola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Model bir cevap seçmiyor —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bir olasılık dağılımı üretiyor.</a:t>
            </a:r>
          </a:p>
        </p:txBody>
      </p:sp>
      <p:pic>
        <p:nvPicPr>
          <p:cNvPr id="22" name="Resim 21">
            <a:extLst>
              <a:ext uri="{FF2B5EF4-FFF2-40B4-BE49-F238E27FC236}">
                <a16:creationId xmlns:a16="http://schemas.microsoft.com/office/drawing/2014/main" id="{B4FDE0FF-BA70-C7D9-D07E-B9780E0BD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411" y="2560320"/>
            <a:ext cx="20361445" cy="819200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Prompt nedir?  System prompt nedir?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0160" y="2057400"/>
            <a:ext cx="21826728" cy="9601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057400"/>
            <a:ext cx="21826728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0">
                <a:solidFill>
                  <a:srgbClr val="15263F"/>
                </a:solidFill>
                <a:latin typeface="Helvetica Neue"/>
              </a:rPr>
              <a:t>Prompt = modele giden metnin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tamamı</a:t>
            </a:r>
            <a:r>
              <a:rPr sz="2400" b="0">
                <a:solidFill>
                  <a:srgbClr val="15263F"/>
                </a:solidFill>
                <a:latin typeface="Helvetica Neue"/>
              </a:rPr>
              <a:t>.  Tek bir cümle değil — parçalardan birleşir.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3383280"/>
            <a:ext cx="13898880" cy="60350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19050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3703320"/>
            <a:ext cx="1280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8A8A8A"/>
                </a:solidFill>
                <a:latin typeface="Helvetica Neue"/>
              </a:rPr>
              <a:t>MODELE GİDEN TEK METİN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343400"/>
            <a:ext cx="12801600" cy="2788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0" y="4343400"/>
            <a:ext cx="128016" cy="2788920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40280" y="459943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5263F"/>
                </a:solidFill>
                <a:latin typeface="Helvetica Neue"/>
              </a:rPr>
              <a:t>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5257800"/>
            <a:ext cx="1179576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>
                <a:solidFill>
                  <a:srgbClr val="1A1A1A"/>
                </a:solidFill>
                <a:latin typeface="Consolas"/>
              </a:rPr>
              <a:t>Sen Miuul eğitim platformunun öğrenci</a:t>
            </a:r>
          </a:p>
          <a:p>
            <a:pPr algn="l">
              <a:lnSpc>
                <a:spcPct val="140000"/>
              </a:lnSpc>
            </a:pPr>
            <a:r>
              <a:rPr sz="1900" b="0">
                <a:solidFill>
                  <a:srgbClr val="1A1A1A"/>
                </a:solidFill>
                <a:latin typeface="Consolas"/>
              </a:rPr>
              <a:t>destek asistanısın. Kısa ve net cevap ver.</a:t>
            </a:r>
          </a:p>
          <a:p>
            <a:pPr algn="l">
              <a:lnSpc>
                <a:spcPct val="140000"/>
              </a:lnSpc>
            </a:pPr>
            <a:r>
              <a:rPr sz="1900" b="0">
                <a:solidFill>
                  <a:srgbClr val="1A1A1A"/>
                </a:solidFill>
                <a:latin typeface="Consolas"/>
              </a:rPr>
              <a:t>Bilmediğin bir şeyi uydurma, bilmiyorum 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7360920"/>
            <a:ext cx="1280160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28800" y="7360920"/>
            <a:ext cx="128016" cy="1783080"/>
          </a:xfrm>
          <a:prstGeom prst="rect">
            <a:avLst/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40280" y="761695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8A3B2F"/>
                </a:solidFill>
                <a:latin typeface="Helvetica Neue"/>
              </a:rPr>
              <a:t>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8275320"/>
            <a:ext cx="11795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>
                <a:solidFill>
                  <a:srgbClr val="1A1A1A"/>
                </a:solidFill>
                <a:latin typeface="Consolas"/>
              </a:rPr>
              <a:t>Data Scientist Path kaç saat sürüyor?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681960" y="3383280"/>
            <a:ext cx="7424928" cy="18745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5681960" y="3383280"/>
            <a:ext cx="7424928" cy="82296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184880" y="3703320"/>
            <a:ext cx="641908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5263F"/>
                </a:solidFill>
                <a:latin typeface="Helvetica Neue"/>
              </a:rPr>
              <a:t>SYSTEM 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0" y="4251960"/>
            <a:ext cx="641908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Modelin kim olduğunu, neyi yapıp neyi yapmayacağını söyler.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Kullanıcı bunu görmez.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681960" y="5458968"/>
            <a:ext cx="7424928" cy="18745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5681960" y="5458968"/>
            <a:ext cx="7424928" cy="82296"/>
          </a:xfrm>
          <a:prstGeom prst="rect">
            <a:avLst/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184880" y="5779008"/>
            <a:ext cx="641908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8A3B2F"/>
                </a:solidFill>
                <a:latin typeface="Helvetica Neue"/>
              </a:rPr>
              <a:t>USER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0" y="6327648"/>
            <a:ext cx="641908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Kullanıcının o an yazdığı şey.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Genelde değişen tek parça budur.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681960" y="7534656"/>
            <a:ext cx="7424928" cy="18745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5681960" y="7534656"/>
            <a:ext cx="7424928" cy="82296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184880" y="7854696"/>
            <a:ext cx="641908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C08A2E"/>
                </a:solidFill>
                <a:latin typeface="Helvetica Neue"/>
              </a:rPr>
              <a:t>Model ikisini ayrı görmez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184880" y="8403336"/>
            <a:ext cx="641908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İkisi tek metin olarak aynı pencereye girer. System'e öncelik vermeyi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model eğitimde öğrendi.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9738360"/>
            <a:ext cx="21826728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500" b="0">
                <a:solidFill>
                  <a:srgbClr val="1A1A1A"/>
                </a:solidFill>
                <a:latin typeface="Helvetica Neue"/>
              </a:rPr>
              <a:t>Few-shot örnekleri de, RAG'in getirdiği metin de </a:t>
            </a:r>
            <a:r>
              <a:rPr sz="2500" b="1">
                <a:solidFill>
                  <a:srgbClr val="1A1A1A"/>
                </a:solidFill>
                <a:latin typeface="Helvetica Neue"/>
              </a:rPr>
              <a:t>aynı pakete eklenir.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System prompt'u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her istekte yeniden gönderirsiniz</a:t>
            </a:r>
            <a:r>
              <a:rPr sz="2400" b="0">
                <a:solidFill>
                  <a:srgbClr val="15263F"/>
                </a:solidFill>
                <a:latin typeface="Helvetica Neue"/>
              </a:rPr>
              <a:t> — ve her seferinde token ödersiniz.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Kaç örnek göstereceğiz?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0160" y="2057400"/>
            <a:ext cx="21826728" cy="8686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057400"/>
            <a:ext cx="218267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0">
                <a:solidFill>
                  <a:srgbClr val="15263F"/>
                </a:solidFill>
                <a:latin typeface="Helvetica Neue"/>
              </a:rPr>
              <a:t>“shot” = prompt'a koyduğun </a:t>
            </a:r>
            <a:r>
              <a:rPr sz="2300" b="1">
                <a:solidFill>
                  <a:srgbClr val="15263F"/>
                </a:solidFill>
                <a:latin typeface="Helvetica Neue"/>
              </a:rPr>
              <a:t>örnek sayısı</a:t>
            </a:r>
            <a:r>
              <a:rPr sz="2300" b="0">
                <a:solidFill>
                  <a:srgbClr val="15263F"/>
                </a:solidFill>
                <a:latin typeface="Helvetica Neue"/>
              </a:rPr>
              <a:t>.   Model aynı, ağırlıklar aynı — değişen tek şey bu.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3154680"/>
            <a:ext cx="5113782" cy="65836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80160" y="3154680"/>
            <a:ext cx="5113782" cy="9144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37360" y="3538728"/>
            <a:ext cx="419938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A8A8A"/>
                </a:solidFill>
                <a:latin typeface="Helvetica Neue"/>
              </a:rPr>
              <a:t>ZERO-SHOT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4114800"/>
            <a:ext cx="419938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8A8A8A"/>
                </a:solidFill>
                <a:latin typeface="Helvetica Neue"/>
              </a:rPr>
              <a:t>örnek yok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4754880"/>
            <a:ext cx="419938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65960" y="4965192"/>
            <a:ext cx="3742182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[system] Kısa cevap ver.</a:t>
            </a:r>
          </a:p>
          <a:p>
            <a:pPr algn="l">
              <a:lnSpc>
                <a:spcPct val="130000"/>
              </a:lnSpc>
            </a:pPr>
            <a:endParaRPr sz="1400" b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[user] Data Scientist Path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       kaç saat?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8046720"/>
            <a:ext cx="419938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Biçimi model kendi seçer.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Her seferinde farklı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gelebilir.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1142" y="3154680"/>
            <a:ext cx="5113782" cy="65836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1142" y="3154680"/>
            <a:ext cx="5113782" cy="9144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08342" y="3538728"/>
            <a:ext cx="419938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C08A2E"/>
                </a:solidFill>
                <a:latin typeface="Helvetica Neue"/>
              </a:rPr>
              <a:t>ONE-SHOT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8342" y="4114800"/>
            <a:ext cx="419938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8A8A8A"/>
                </a:solidFill>
                <a:latin typeface="Helvetica Neue"/>
              </a:rPr>
              <a:t>1 örnek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08342" y="4754880"/>
            <a:ext cx="419938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36942" y="4965192"/>
            <a:ext cx="3742182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[system] Kısa cevap ver.</a:t>
            </a:r>
          </a:p>
          <a:p>
            <a:pPr algn="l">
              <a:lnSpc>
                <a:spcPct val="130000"/>
              </a:lnSpc>
            </a:pPr>
            <a:endParaRPr sz="1400" b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S: Zaman Serileri?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C: Kurs · 7 saat · 55 USD</a:t>
            </a:r>
          </a:p>
          <a:p>
            <a:pPr algn="l">
              <a:lnSpc>
                <a:spcPct val="130000"/>
              </a:lnSpc>
            </a:pPr>
            <a:endParaRPr sz="1400" b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[user] Data Scientist Path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       kaç saat?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8342" y="8046720"/>
            <a:ext cx="419938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Model kalıbı yakalar.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Tek örnek bazen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yanıltıcı olur.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422124" y="3154680"/>
            <a:ext cx="5113782" cy="65836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422124" y="3154680"/>
            <a:ext cx="5113782" cy="91440"/>
          </a:xfrm>
          <a:prstGeom prst="rect">
            <a:avLst/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79324" y="3538728"/>
            <a:ext cx="419938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A3B2F"/>
                </a:solidFill>
                <a:latin typeface="Helvetica Neue"/>
              </a:rPr>
              <a:t>FEW-SHOT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79324" y="4114800"/>
            <a:ext cx="419938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8A8A8A"/>
                </a:solidFill>
                <a:latin typeface="Helvetica Neue"/>
              </a:rPr>
              <a:t>3 – 5 örnek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79324" y="4754880"/>
            <a:ext cx="419938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107924" y="4965192"/>
            <a:ext cx="3742182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[system] Kısa cevap ver.</a:t>
            </a:r>
          </a:p>
          <a:p>
            <a:pPr algn="l">
              <a:lnSpc>
                <a:spcPct val="130000"/>
              </a:lnSpc>
            </a:pPr>
            <a:endParaRPr sz="1400" b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S: Zaman Serileri?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C: Kurs · 7 saat · 55 USD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S: MS SQL Sorgulama?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C: Kurs · 9 saat · 28 USD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S: CRM Analitiği?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C: Kurs · 6 saat · 28 USD</a:t>
            </a:r>
          </a:p>
          <a:p>
            <a:pPr algn="l">
              <a:lnSpc>
                <a:spcPct val="130000"/>
              </a:lnSpc>
            </a:pPr>
            <a:endParaRPr sz="1400" b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[user] 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79324" y="8046720"/>
            <a:ext cx="419938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Biçim güvenilir hâle gelir.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Pratikte en çok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kullanılan yöntem.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993106" y="3154680"/>
            <a:ext cx="5113782" cy="65836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7993106" y="3154680"/>
            <a:ext cx="5113782" cy="91440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8450306" y="3538728"/>
            <a:ext cx="419938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5263F"/>
                </a:solidFill>
                <a:latin typeface="Helvetica Neue"/>
              </a:rPr>
              <a:t>MANY-SHOT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450306" y="4114800"/>
            <a:ext cx="419938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8A8A8A"/>
                </a:solidFill>
                <a:latin typeface="Helvetica Neue"/>
              </a:rPr>
              <a:t>onlarca – yüzlerce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450306" y="4754880"/>
            <a:ext cx="419938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8678906" y="4965192"/>
            <a:ext cx="3742182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[system] Kısa cevap ver.</a:t>
            </a:r>
          </a:p>
          <a:p>
            <a:pPr algn="l">
              <a:lnSpc>
                <a:spcPct val="130000"/>
              </a:lnSpc>
            </a:pPr>
            <a:endParaRPr sz="1400" b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S: ...   C: ...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S: ...   C: ...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     ⋮   (60 örnek)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S: ...   C: ...</a:t>
            </a:r>
          </a:p>
          <a:p>
            <a:pPr algn="l">
              <a:lnSpc>
                <a:spcPct val="130000"/>
              </a:lnSpc>
            </a:pPr>
            <a:endParaRPr sz="1400" b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[user] ...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450306" y="8046720"/>
            <a:ext cx="419938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Uzun bağlam pencereleriyle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mümkün oldu. Bazı işlerde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ince ayara yaklaşır.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280160" y="10104120"/>
            <a:ext cx="21826728" cy="502920"/>
          </a:xfrm>
          <a:prstGeom prst="rightArrow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11680" y="10131552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8A8A8A"/>
                </a:solidFill>
                <a:latin typeface="Helvetica Neue"/>
              </a:rPr>
              <a:t>az token · ucuz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264640" y="10131552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800" b="1">
                <a:solidFill>
                  <a:srgbClr val="15263F"/>
                </a:solidFill>
                <a:latin typeface="Helvetica Neue"/>
              </a:rPr>
              <a:t>çok token · pahalı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Hiçbiri modelin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bildiğini</a:t>
            </a:r>
            <a:r>
              <a:rPr sz="2400" b="0">
                <a:solidFill>
                  <a:srgbClr val="15263F"/>
                </a:solidFill>
                <a:latin typeface="Helvetica Neue"/>
              </a:rPr>
              <a:t> değiştirmez — sadece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nasıl cevap vereceğini</a:t>
            </a:r>
            <a:r>
              <a:rPr sz="2400" b="0">
                <a:solidFill>
                  <a:srgbClr val="15263F"/>
                </a:solidFill>
                <a:latin typeface="Helvetica Neue"/>
              </a:rPr>
              <a:t> gösterir.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RAG nasıl çalışıyor?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965960"/>
            <a:ext cx="218267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8A8A8A"/>
                </a:solidFill>
                <a:latin typeface="Helvetica Neue"/>
              </a:rPr>
              <a:t>①   HAZIRLIK  ·  bir kez yapılır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07231" y="2537460"/>
            <a:ext cx="1146658" cy="1508760"/>
          </a:xfrm>
          <a:prstGeom prst="roundRect">
            <a:avLst>
              <a:gd name="adj" fmla="val 6000"/>
            </a:avLst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4661611" y="2537460"/>
            <a:ext cx="392278" cy="392278"/>
          </a:xfrm>
          <a:prstGeom prst="rt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63040" y="436626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300" b="1">
                <a:solidFill>
                  <a:srgbClr val="8A3B2F"/>
                </a:solidFill>
                <a:latin typeface="Helvetica Neue"/>
              </a:rPr>
              <a:t>Belgeler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006340"/>
            <a:ext cx="60350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Miuul kataloğu</a:t>
            </a:r>
          </a:p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~100 eğitim kaydı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2148" y="2341321"/>
            <a:ext cx="1086307" cy="1297534"/>
          </a:xfrm>
          <a:prstGeom prst="roundRect">
            <a:avLst>
              <a:gd name="adj" fmla="val 6000"/>
            </a:avLst>
          </a:prstGeom>
          <a:solidFill>
            <a:srgbClr val="E6D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978286" y="2537460"/>
            <a:ext cx="1086307" cy="1297534"/>
          </a:xfrm>
          <a:prstGeom prst="roundRect">
            <a:avLst>
              <a:gd name="adj" fmla="val 6000"/>
            </a:avLst>
          </a:prstGeom>
          <a:solidFill>
            <a:srgbClr val="E6D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174425" y="2733599"/>
            <a:ext cx="1086307" cy="1297534"/>
          </a:xfrm>
          <a:prstGeom prst="roundRect">
            <a:avLst>
              <a:gd name="adj" fmla="val 6000"/>
            </a:avLst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0" y="436626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300" b="1">
                <a:solidFill>
                  <a:srgbClr val="C08A2E"/>
                </a:solidFill>
                <a:latin typeface="Helvetica Neue"/>
              </a:rPr>
              <a:t>Parçalar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5006340"/>
            <a:ext cx="60350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Her kayıt ayrı bir chunk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770221" y="2537460"/>
            <a:ext cx="1584198" cy="1508760"/>
          </a:xfrm>
          <a:prstGeom prst="roundRect">
            <a:avLst>
              <a:gd name="adj" fmla="val 10000"/>
            </a:avLst>
          </a:prstGeom>
          <a:solidFill>
            <a:srgbClr val="B6B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7992009" y="2778862"/>
            <a:ext cx="821248" cy="196139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992009" y="3122104"/>
            <a:ext cx="501874" cy="196139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992009" y="3465347"/>
            <a:ext cx="980935" cy="196139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7992009" y="3808590"/>
            <a:ext cx="342187" cy="196139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544800" y="436626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300" b="1">
                <a:solidFill>
                  <a:srgbClr val="15263F"/>
                </a:solidFill>
                <a:latin typeface="Helvetica Neue"/>
              </a:rPr>
              <a:t>Vektörler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0" y="5006340"/>
            <a:ext cx="60350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Gömme modeli her parçayı</a:t>
            </a:r>
          </a:p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sayı dizisine çevirir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269480" y="3017520"/>
            <a:ext cx="1463040" cy="566928"/>
          </a:xfrm>
          <a:prstGeom prst="rightArrow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14310360" y="3017520"/>
            <a:ext cx="1463040" cy="566928"/>
          </a:xfrm>
          <a:prstGeom prst="rightArrow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Down Arrow 21"/>
          <p:cNvSpPr/>
          <p:nvPr/>
        </p:nvSpPr>
        <p:spPr>
          <a:xfrm>
            <a:off x="4160520" y="5806440"/>
            <a:ext cx="640080" cy="685800"/>
          </a:xfrm>
          <a:prstGeom prst="downArrow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Down Arrow 22"/>
          <p:cNvSpPr/>
          <p:nvPr/>
        </p:nvSpPr>
        <p:spPr>
          <a:xfrm>
            <a:off x="11201400" y="5806440"/>
            <a:ext cx="640080" cy="685800"/>
          </a:xfrm>
          <a:prstGeom prst="downArrow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wn Arrow 23"/>
          <p:cNvSpPr/>
          <p:nvPr/>
        </p:nvSpPr>
        <p:spPr>
          <a:xfrm>
            <a:off x="18242280" y="5806440"/>
            <a:ext cx="640080" cy="685800"/>
          </a:xfrm>
          <a:prstGeom prst="downArrow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280160" y="6629400"/>
            <a:ext cx="21826728" cy="1600200"/>
          </a:xfrm>
          <a:prstGeom prst="roundRect">
            <a:avLst>
              <a:gd name="adj" fmla="val 6000"/>
            </a:avLst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258568" y="6876288"/>
            <a:ext cx="115214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258568" y="7132320"/>
            <a:ext cx="115214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258568" y="7388352"/>
            <a:ext cx="115214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258568" y="7644384"/>
            <a:ext cx="115214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23360" y="6629400"/>
            <a:ext cx="18288000" cy="1600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VEKTÖR VERİTABANI</a:t>
            </a:r>
            <a:r>
              <a:rPr sz="2400" b="0">
                <a:solidFill>
                  <a:srgbClr val="FFFFFF"/>
                </a:solidFill>
                <a:latin typeface="Helvetica Neue"/>
              </a:rPr>
              <a:t>      her parça, bir vektör olarak saklanıyor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8458200"/>
            <a:ext cx="218267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8A8A8A"/>
                </a:solidFill>
                <a:latin typeface="Helvetica Neue"/>
              </a:rPr>
              <a:t>②   SORU ANI  ·  her istekte tekrarlanır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78099" y="8983980"/>
            <a:ext cx="1524762" cy="1060704"/>
          </a:xfrm>
          <a:prstGeom prst="roundRect">
            <a:avLst>
              <a:gd name="adj" fmla="val 18000"/>
            </a:avLst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ight Triangle 32"/>
          <p:cNvSpPr/>
          <p:nvPr/>
        </p:nvSpPr>
        <p:spPr>
          <a:xfrm>
            <a:off x="3505032" y="10018166"/>
            <a:ext cx="344729" cy="344729"/>
          </a:xfrm>
          <a:prstGeom prst="rtTriangle">
            <a:avLst/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475863" y="9434779"/>
            <a:ext cx="119329" cy="11932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780815" y="9434779"/>
            <a:ext cx="119329" cy="11932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085768" y="9434779"/>
            <a:ext cx="119329" cy="11932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97280" y="1056132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>
                <a:solidFill>
                  <a:srgbClr val="8A3B2F"/>
                </a:solidFill>
                <a:latin typeface="Helvetica Neue"/>
              </a:rPr>
              <a:t>Soru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111099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>
                <a:solidFill>
                  <a:srgbClr val="8A8A8A"/>
                </a:solidFill>
                <a:latin typeface="Helvetica Neue"/>
              </a:rPr>
              <a:t>kullanıcının sorusu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22233" y="8983980"/>
            <a:ext cx="1392174" cy="1325880"/>
          </a:xfrm>
          <a:prstGeom prst="roundRect">
            <a:avLst>
              <a:gd name="adj" fmla="val 10000"/>
            </a:avLst>
          </a:prstGeom>
          <a:solidFill>
            <a:srgbClr val="E6D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917137" y="9196121"/>
            <a:ext cx="721703" cy="172364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917137" y="9497758"/>
            <a:ext cx="441041" cy="172364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917137" y="9799396"/>
            <a:ext cx="862034" cy="172364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917137" y="10101034"/>
            <a:ext cx="300710" cy="172364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75120" y="1056132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>
                <a:solidFill>
                  <a:srgbClr val="C08A2E"/>
                </a:solidFill>
                <a:latin typeface="Helvetica Neue"/>
              </a:rPr>
              <a:t>Vektör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111099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>
                <a:solidFill>
                  <a:srgbClr val="8A8A8A"/>
                </a:solidFill>
                <a:latin typeface="Helvetica Neue"/>
              </a:rPr>
              <a:t>aynı gömme modeli</a:t>
            </a:r>
          </a:p>
        </p:txBody>
      </p:sp>
      <p:sp>
        <p:nvSpPr>
          <p:cNvPr id="46" name="Oval 45"/>
          <p:cNvSpPr/>
          <p:nvPr/>
        </p:nvSpPr>
        <p:spPr>
          <a:xfrm>
            <a:off x="14439290" y="9090050"/>
            <a:ext cx="954634" cy="954634"/>
          </a:xfrm>
          <a:prstGeom prst="ellipse">
            <a:avLst/>
          </a:prstGeom>
          <a:noFill/>
          <a:ln w="63500">
            <a:solidFill>
              <a:srgbClr val="152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" name="Connector 46"/>
          <p:cNvCxnSpPr/>
          <p:nvPr/>
        </p:nvCxnSpPr>
        <p:spPr>
          <a:xfrm>
            <a:off x="15263457" y="9914217"/>
            <a:ext cx="324576" cy="324576"/>
          </a:xfrm>
          <a:prstGeom prst="line">
            <a:avLst/>
          </a:prstGeom>
          <a:ln w="76200">
            <a:solidFill>
              <a:srgbClr val="15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2252960" y="1056132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>
                <a:solidFill>
                  <a:srgbClr val="15263F"/>
                </a:solidFill>
                <a:latin typeface="Helvetica Neue"/>
              </a:rPr>
              <a:t>Arama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252960" y="111099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>
                <a:solidFill>
                  <a:srgbClr val="8A8A8A"/>
                </a:solidFill>
                <a:latin typeface="Helvetica Neue"/>
              </a:rPr>
              <a:t>en yakın parçalar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911060" y="8983980"/>
            <a:ext cx="1325880" cy="1325880"/>
          </a:xfrm>
          <a:prstGeom prst="roundRect">
            <a:avLst>
              <a:gd name="adj" fmla="val 14000"/>
            </a:avLst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20269048" y="9341968"/>
            <a:ext cx="609905" cy="609905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9824878" y="9355226"/>
            <a:ext cx="172364" cy="94800"/>
          </a:xfrm>
          <a:prstGeom prst="rect">
            <a:avLst/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9824878" y="9779508"/>
            <a:ext cx="172364" cy="94800"/>
          </a:xfrm>
          <a:prstGeom prst="rect">
            <a:avLst/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0282306" y="8897798"/>
            <a:ext cx="94800" cy="172364"/>
          </a:xfrm>
          <a:prstGeom prst="rect">
            <a:avLst/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0706588" y="8897798"/>
            <a:ext cx="94800" cy="172364"/>
          </a:xfrm>
          <a:prstGeom prst="rect">
            <a:avLst/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1150758" y="9355226"/>
            <a:ext cx="172364" cy="94800"/>
          </a:xfrm>
          <a:prstGeom prst="rect">
            <a:avLst/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21150758" y="9779508"/>
            <a:ext cx="172364" cy="94800"/>
          </a:xfrm>
          <a:prstGeom prst="rect">
            <a:avLst/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0282306" y="10223678"/>
            <a:ext cx="94800" cy="172364"/>
          </a:xfrm>
          <a:prstGeom prst="rect">
            <a:avLst/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20706588" y="10223678"/>
            <a:ext cx="94800" cy="172364"/>
          </a:xfrm>
          <a:prstGeom prst="rect">
            <a:avLst/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7830800" y="1056132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>
                <a:solidFill>
                  <a:srgbClr val="8A3B2F"/>
                </a:solidFill>
                <a:latin typeface="Helvetica Neue"/>
              </a:rPr>
              <a:t>Model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830800" y="111099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>
                <a:solidFill>
                  <a:srgbClr val="8A8A8A"/>
                </a:solidFill>
                <a:latin typeface="Helvetica Neue"/>
              </a:rPr>
              <a:t>cevabı üretir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6400800" y="9390888"/>
            <a:ext cx="1234440" cy="530352"/>
          </a:xfrm>
          <a:prstGeom prst="rightArrow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ight Arrow 62"/>
          <p:cNvSpPr/>
          <p:nvPr/>
        </p:nvSpPr>
        <p:spPr>
          <a:xfrm>
            <a:off x="11978640" y="9390888"/>
            <a:ext cx="1234440" cy="530352"/>
          </a:xfrm>
          <a:prstGeom prst="rightArrow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ight Arrow 63"/>
          <p:cNvSpPr/>
          <p:nvPr/>
        </p:nvSpPr>
        <p:spPr>
          <a:xfrm>
            <a:off x="17556480" y="9390888"/>
            <a:ext cx="1234440" cy="530352"/>
          </a:xfrm>
          <a:prstGeom prst="rightArrow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Up Arrow 64"/>
          <p:cNvSpPr/>
          <p:nvPr/>
        </p:nvSpPr>
        <p:spPr>
          <a:xfrm>
            <a:off x="14676120" y="8275320"/>
            <a:ext cx="640080" cy="685800"/>
          </a:xfrm>
          <a:prstGeom prst="upArrow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280160" y="11750040"/>
            <a:ext cx="21826728" cy="1051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011680" y="11750040"/>
            <a:ext cx="20363688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15263F"/>
                </a:solidFill>
                <a:latin typeface="Helvetica Neue"/>
              </a:rPr>
              <a:t>Model değişmedi. </a:t>
            </a:r>
            <a:r>
              <a:rPr sz="2400" b="0">
                <a:solidFill>
                  <a:srgbClr val="15263F"/>
                </a:solidFill>
                <a:latin typeface="Helvetica Neue"/>
              </a:rPr>
              <a:t>Sadece pencereye doğru metni koyduk.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Veri, vektör veritabanına nasıl giriyor?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0160" y="2103120"/>
            <a:ext cx="6675120" cy="859536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280160" y="2103120"/>
            <a:ext cx="6675120" cy="91440"/>
          </a:xfrm>
          <a:prstGeom prst="rect">
            <a:avLst/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2395728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>
                <a:solidFill>
                  <a:srgbClr val="8A3B2F"/>
                </a:solidFill>
                <a:latin typeface="Helvetica Neue"/>
              </a:rPr>
              <a:t>1 · BELGE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6006" y="3200400"/>
            <a:ext cx="903427" cy="1188720"/>
          </a:xfrm>
          <a:prstGeom prst="roundRect">
            <a:avLst>
              <a:gd name="adj" fmla="val 6000"/>
            </a:avLst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ight Triangle 6"/>
          <p:cNvSpPr/>
          <p:nvPr/>
        </p:nvSpPr>
        <p:spPr>
          <a:xfrm>
            <a:off x="4760366" y="3200400"/>
            <a:ext cx="309067" cy="309067"/>
          </a:xfrm>
          <a:prstGeom prst="rt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737360" y="4892040"/>
            <a:ext cx="5760720" cy="5486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65960" y="5120640"/>
            <a:ext cx="5303520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# MIUUL — Eğitim Kataloğu</a:t>
            </a:r>
          </a:p>
          <a:p>
            <a:pPr algn="l">
              <a:lnSpc>
                <a:spcPct val="132000"/>
              </a:lnSpc>
            </a:pPr>
            <a:endParaRPr sz="1400" b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Eğitim 44 — Data Scientist Path</a:t>
            </a:r>
          </a:p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Tür: Kariyer Yolculuğu</a:t>
            </a:r>
          </a:p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Süre: 68 saat · Modül: 9</a:t>
            </a:r>
          </a:p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Ücret: 300 USD · Puan: 4.5/5</a:t>
            </a:r>
          </a:p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Data Scientist Path, veriyle</a:t>
            </a:r>
          </a:p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çalışmaya meraklı herkes için...</a:t>
            </a:r>
          </a:p>
          <a:p>
            <a:pPr algn="l">
              <a:lnSpc>
                <a:spcPct val="132000"/>
              </a:lnSpc>
            </a:pPr>
            <a:endParaRPr sz="1400" b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Eğitim 45 — Unity Game Developer</a:t>
            </a:r>
          </a:p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Süre: 44 saat · Ücret: 250 USD</a:t>
            </a:r>
          </a:p>
          <a:p>
            <a:pPr algn="l">
              <a:lnSpc>
                <a:spcPct val="132000"/>
              </a:lnSpc>
            </a:pPr>
            <a:endParaRPr sz="1400" b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Eğitim 46 — ...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183880" y="5989320"/>
            <a:ext cx="777240" cy="594360"/>
          </a:xfrm>
          <a:prstGeom prst="rightArrow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89720" y="2103120"/>
            <a:ext cx="6675120" cy="859536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89720" y="2103120"/>
            <a:ext cx="6675120" cy="9144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0" y="2395728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>
                <a:solidFill>
                  <a:srgbClr val="C08A2E"/>
                </a:solidFill>
                <a:latin typeface="Helvetica Neue"/>
              </a:rPr>
              <a:t>2 · PARÇALARA BÖL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944807" y="3045866"/>
            <a:ext cx="855878" cy="1022299"/>
          </a:xfrm>
          <a:prstGeom prst="roundRect">
            <a:avLst>
              <a:gd name="adj" fmla="val 6000"/>
            </a:avLst>
          </a:prstGeom>
          <a:solidFill>
            <a:srgbClr val="E6D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2099341" y="3200400"/>
            <a:ext cx="855878" cy="1022299"/>
          </a:xfrm>
          <a:prstGeom prst="roundRect">
            <a:avLst>
              <a:gd name="adj" fmla="val 6000"/>
            </a:avLst>
          </a:prstGeom>
          <a:solidFill>
            <a:srgbClr val="E6D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2253874" y="3354934"/>
            <a:ext cx="855878" cy="1022299"/>
          </a:xfrm>
          <a:prstGeom prst="roundRect">
            <a:avLst>
              <a:gd name="adj" fmla="val 6000"/>
            </a:avLst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646920" y="4892040"/>
            <a:ext cx="57607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646920" y="4892040"/>
            <a:ext cx="109728" cy="173736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12680" y="5056632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C08A2E"/>
                </a:solidFill>
                <a:latin typeface="Helvetica Neue"/>
              </a:rPr>
              <a:t>parça 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553212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>
                <a:solidFill>
                  <a:srgbClr val="1A1A1A"/>
                </a:solidFill>
                <a:latin typeface="Consolas"/>
              </a:rPr>
              <a:t>Eğitim 44 — Data Scientist Path</a:t>
            </a:r>
          </a:p>
          <a:p>
            <a:pPr algn="l">
              <a:lnSpc>
                <a:spcPct val="132000"/>
              </a:lnSpc>
            </a:pPr>
            <a:r>
              <a:rPr sz="1300" b="0">
                <a:solidFill>
                  <a:srgbClr val="1A1A1A"/>
                </a:solidFill>
                <a:latin typeface="Consolas"/>
              </a:rPr>
              <a:t>Süre: 68 saat · Ücret: 300 USD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6920" y="6629400"/>
            <a:ext cx="5760720" cy="365760"/>
          </a:xfrm>
          <a:prstGeom prst="rect">
            <a:avLst/>
          </a:prstGeom>
          <a:solidFill>
            <a:srgbClr val="F7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12680" y="6656832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8A3B2F"/>
                </a:solidFill>
                <a:latin typeface="Helvetica Neue"/>
              </a:rPr>
              <a:t>overlap — sınırdaki cümle iki parçada da var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7406640"/>
            <a:ext cx="57607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646920" y="7406640"/>
            <a:ext cx="109728" cy="173736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12680" y="7571232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C08A2E"/>
                </a:solidFill>
                <a:latin typeface="Helvetica Neue"/>
              </a:rPr>
              <a:t>parça 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804672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>
                <a:solidFill>
                  <a:srgbClr val="1A1A1A"/>
                </a:solidFill>
                <a:latin typeface="Consolas"/>
              </a:rPr>
              <a:t>Eğitim 45 — Unity Game Developer</a:t>
            </a:r>
          </a:p>
          <a:p>
            <a:pPr algn="l">
              <a:lnSpc>
                <a:spcPct val="132000"/>
              </a:lnSpc>
            </a:pPr>
            <a:r>
              <a:rPr sz="1300" b="0">
                <a:solidFill>
                  <a:srgbClr val="1A1A1A"/>
                </a:solidFill>
                <a:latin typeface="Consolas"/>
              </a:rPr>
              <a:t>Süre: 44 saat · Ücret: 250 USD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9144000"/>
            <a:ext cx="5760720" cy="365760"/>
          </a:xfrm>
          <a:prstGeom prst="rect">
            <a:avLst/>
          </a:prstGeom>
          <a:solidFill>
            <a:srgbClr val="F7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12680" y="9171432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8A3B2F"/>
                </a:solidFill>
                <a:latin typeface="Helvetica Neue"/>
              </a:rPr>
              <a:t>overlap — sınırdaki cümle iki parçada da var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9921240"/>
            <a:ext cx="5760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elvetica Neue"/>
              </a:rPr>
              <a:t>chunk 700 karakter  ·  overlap 100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6093440" y="5989320"/>
            <a:ext cx="777240" cy="594360"/>
          </a:xfrm>
          <a:prstGeom prst="rightArrow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7099280" y="2103120"/>
            <a:ext cx="6007608" cy="859536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7099280" y="2103120"/>
            <a:ext cx="6007608" cy="91440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7602200" y="2395728"/>
            <a:ext cx="500176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>
                <a:solidFill>
                  <a:srgbClr val="15263F"/>
                </a:solidFill>
                <a:latin typeface="Helvetica Neue"/>
              </a:rPr>
              <a:t>3 · VEKTÖRE ÇEVİR</a:t>
            </a:r>
          </a:p>
        </p:txBody>
      </p:sp>
      <p:sp>
        <p:nvSpPr>
          <p:cNvPr id="34" name="Oval 33"/>
          <p:cNvSpPr/>
          <p:nvPr/>
        </p:nvSpPr>
        <p:spPr>
          <a:xfrm>
            <a:off x="19474434" y="3200400"/>
            <a:ext cx="1248156" cy="356616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9474434" y="3477768"/>
            <a:ext cx="1248156" cy="356616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9474434" y="3755136"/>
            <a:ext cx="1248156" cy="356616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9474434" y="4032504"/>
            <a:ext cx="1248156" cy="356616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7556480" y="4892040"/>
            <a:ext cx="5093208" cy="640080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7785080" y="4992624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Helvetica Neue"/>
              </a:rPr>
              <a:t>id      vektör (384 boyut)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556480" y="5532120"/>
            <a:ext cx="5093208" cy="82296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7785080" y="5769864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44    [ 0.08, −0.31, 0.77, … 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556480" y="6355080"/>
            <a:ext cx="5093208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7785080" y="6592824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45    [ −0.42, 0.19, 0.05, … 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556480" y="7178040"/>
            <a:ext cx="5093208" cy="82296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7785080" y="7415784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46    [ 0.11, 0.63, −0.28, … 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785080" y="8321040"/>
            <a:ext cx="46634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Her parça artık uzayda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bir noktaya karşılık geliyor.</a:t>
            </a:r>
          </a:p>
          <a:p>
            <a:pPr algn="l">
              <a:lnSpc>
                <a:spcPct val="135000"/>
              </a:lnSpc>
            </a:pPr>
            <a:endParaRPr sz="1700" b="0">
              <a:solidFill>
                <a:srgbClr val="1A1A1A"/>
              </a:solidFill>
              <a:latin typeface="Helvetica Neue"/>
            </a:endParaRP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Metnin kendisi de saklanıyor —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modele onu geri vereceğiz.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80160" y="11155680"/>
            <a:ext cx="21826728" cy="1188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011680" y="11155680"/>
            <a:ext cx="20363688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Chunk =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aranabilir en küçük birim.</a:t>
            </a:r>
            <a:r>
              <a:rPr sz="2400" b="0">
                <a:solidFill>
                  <a:srgbClr val="15263F"/>
                </a:solidFill>
                <a:latin typeface="Helvetica Neue"/>
              </a:rPr>
              <a:t>  Çok büyükse gürültü gelir, çok küçükse anlam bölünür.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Soru sorulduğunda ne oluyor?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0160" y="2103120"/>
            <a:ext cx="10241280" cy="21031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832229" y="2720340"/>
            <a:ext cx="998982" cy="694944"/>
          </a:xfrm>
          <a:prstGeom prst="roundRect">
            <a:avLst>
              <a:gd name="adj" fmla="val 18000"/>
            </a:avLst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2111944" y="3397910"/>
            <a:ext cx="225857" cy="225857"/>
          </a:xfrm>
          <a:prstGeom prst="rtTriangle">
            <a:avLst/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092833" y="3015691"/>
            <a:ext cx="78181" cy="7818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292629" y="3015691"/>
            <a:ext cx="78181" cy="7818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492426" y="3015691"/>
            <a:ext cx="78181" cy="7818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29000" y="2423160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>
                <a:solidFill>
                  <a:srgbClr val="8A3B2F"/>
                </a:solidFill>
                <a:latin typeface="Helvetica Neue"/>
              </a:rPr>
              <a:t>Soru geliyor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017520"/>
            <a:ext cx="7589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>
                <a:solidFill>
                  <a:srgbClr val="1A1A1A"/>
                </a:solidFill>
                <a:latin typeface="Consolas"/>
              </a:rPr>
              <a:t>"Data Scientist Path kaç saat</a:t>
            </a:r>
          </a:p>
          <a:p>
            <a:pPr algn="l">
              <a:lnSpc>
                <a:spcPct val="132000"/>
              </a:lnSpc>
            </a:pPr>
            <a:r>
              <a:rPr sz="1500" b="0">
                <a:solidFill>
                  <a:srgbClr val="1A1A1A"/>
                </a:solidFill>
                <a:latin typeface="Consolas"/>
              </a:rPr>
              <a:t> sürüyor ve ücreti ne kadar?"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4462272"/>
            <a:ext cx="10241280" cy="21031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875663" y="5079492"/>
            <a:ext cx="912114" cy="868680"/>
          </a:xfrm>
          <a:prstGeom prst="roundRect">
            <a:avLst>
              <a:gd name="adj" fmla="val 10000"/>
            </a:avLst>
          </a:prstGeom>
          <a:solidFill>
            <a:srgbClr val="E6D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03359" y="5218481"/>
            <a:ext cx="472840" cy="112928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03359" y="5416105"/>
            <a:ext cx="288958" cy="112928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003359" y="5613730"/>
            <a:ext cx="564781" cy="112928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003359" y="5811355"/>
            <a:ext cx="197017" cy="112928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4782312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>
                <a:solidFill>
                  <a:srgbClr val="C08A2E"/>
                </a:solidFill>
                <a:latin typeface="Helvetica Neue"/>
              </a:rPr>
              <a:t>Soru vektöre çevriliyor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5376672"/>
            <a:ext cx="7589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>
                <a:solidFill>
                  <a:srgbClr val="1A1A1A"/>
                </a:solidFill>
                <a:latin typeface="Consolas"/>
              </a:rPr>
              <a:t>[ 0.06, −0.29, 0.74, … ]</a:t>
            </a:r>
          </a:p>
          <a:p>
            <a:pPr algn="l">
              <a:lnSpc>
                <a:spcPct val="132000"/>
              </a:lnSpc>
            </a:pPr>
            <a:r>
              <a:rPr sz="1500" b="0">
                <a:solidFill>
                  <a:srgbClr val="1A1A1A"/>
                </a:solidFill>
                <a:latin typeface="Consolas"/>
              </a:rPr>
              <a:t>aynı gömme modeli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6821424"/>
            <a:ext cx="10241280" cy="21031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966874" y="7508138"/>
            <a:ext cx="625450" cy="625450"/>
          </a:xfrm>
          <a:prstGeom prst="ellipse">
            <a:avLst/>
          </a:prstGeom>
          <a:noFill/>
          <a:ln w="63500">
            <a:solidFill>
              <a:srgbClr val="152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2506846" y="8048110"/>
            <a:ext cx="212653" cy="212653"/>
          </a:xfrm>
          <a:prstGeom prst="line">
            <a:avLst/>
          </a:prstGeom>
          <a:ln w="76200">
            <a:solidFill>
              <a:srgbClr val="15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29000" y="7141464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>
                <a:solidFill>
                  <a:srgbClr val="15263F"/>
                </a:solidFill>
                <a:latin typeface="Helvetica Neue"/>
              </a:rPr>
              <a:t>Benzerlik hesaplanıyor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7735824"/>
            <a:ext cx="7589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>
                <a:solidFill>
                  <a:srgbClr val="1A1A1A"/>
                </a:solidFill>
                <a:latin typeface="Consolas"/>
              </a:rPr>
              <a:t>parça 44  ·······  0.81</a:t>
            </a:r>
          </a:p>
          <a:p>
            <a:pPr algn="l">
              <a:lnSpc>
                <a:spcPct val="132000"/>
              </a:lnSpc>
            </a:pPr>
            <a:r>
              <a:rPr sz="1500" b="0">
                <a:solidFill>
                  <a:srgbClr val="1A1A1A"/>
                </a:solidFill>
                <a:latin typeface="Consolas"/>
              </a:rPr>
              <a:t>parça 51  ·······  0.54</a:t>
            </a:r>
          </a:p>
          <a:p>
            <a:pPr algn="l">
              <a:lnSpc>
                <a:spcPct val="132000"/>
              </a:lnSpc>
            </a:pPr>
            <a:r>
              <a:rPr sz="1500" b="0">
                <a:solidFill>
                  <a:srgbClr val="1A1A1A"/>
                </a:solidFill>
                <a:latin typeface="Consolas"/>
              </a:rPr>
              <a:t>parça 49  ·······  0.49</a:t>
            </a:r>
          </a:p>
          <a:p>
            <a:pPr algn="l">
              <a:lnSpc>
                <a:spcPct val="132000"/>
              </a:lnSpc>
            </a:pPr>
            <a:r>
              <a:rPr sz="1500" b="0">
                <a:solidFill>
                  <a:srgbClr val="1A1A1A"/>
                </a:solidFill>
                <a:latin typeface="Consolas"/>
              </a:rPr>
              <a:t>(skorlar temsilî)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9180576"/>
            <a:ext cx="10241280" cy="21031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06067" y="9684868"/>
            <a:ext cx="625450" cy="747065"/>
          </a:xfrm>
          <a:prstGeom prst="roundRect">
            <a:avLst>
              <a:gd name="adj" fmla="val 6000"/>
            </a:avLst>
          </a:prstGeom>
          <a:solidFill>
            <a:srgbClr val="D8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018995" y="9797796"/>
            <a:ext cx="625450" cy="747065"/>
          </a:xfrm>
          <a:prstGeom prst="roundRect">
            <a:avLst>
              <a:gd name="adj" fmla="val 6000"/>
            </a:avLst>
          </a:prstGeom>
          <a:solidFill>
            <a:srgbClr val="D8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131924" y="9910724"/>
            <a:ext cx="625450" cy="747065"/>
          </a:xfrm>
          <a:prstGeom prst="roundRect">
            <a:avLst>
              <a:gd name="adj" fmla="val 6000"/>
            </a:avLst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29000" y="9500616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>
                <a:solidFill>
                  <a:srgbClr val="8A3B2F"/>
                </a:solidFill>
                <a:latin typeface="Helvetica Neue"/>
              </a:rPr>
              <a:t>En yakın 3 parça seçiliyor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10094976"/>
            <a:ext cx="7589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>
                <a:solidFill>
                  <a:srgbClr val="1A1A1A"/>
                </a:solidFill>
                <a:latin typeface="Consolas"/>
              </a:rPr>
              <a:t>metinleri prompt'a ekleniyor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61520" y="2103120"/>
            <a:ext cx="10945368" cy="78638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19050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664440" y="2395728"/>
            <a:ext cx="99395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8A8A8A"/>
                </a:solidFill>
                <a:latin typeface="Helvetica Neue"/>
              </a:rPr>
              <a:t>MODELE GİDEN TEK METİN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664440" y="3017520"/>
            <a:ext cx="9939528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2664440" y="3017520"/>
            <a:ext cx="118872" cy="1508760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075920" y="3218688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5263F"/>
                </a:solidFill>
                <a:latin typeface="Helvetica Neue"/>
              </a:rPr>
              <a:t>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075920" y="3749040"/>
            <a:ext cx="902512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>
                <a:solidFill>
                  <a:srgbClr val="1A1A1A"/>
                </a:solidFill>
                <a:latin typeface="Consolas"/>
              </a:rPr>
              <a:t>Sadece aşağıdaki katalog parçalarına</a:t>
            </a:r>
          </a:p>
          <a:p>
            <a:pPr algn="l">
              <a:lnSpc>
                <a:spcPct val="132000"/>
              </a:lnSpc>
            </a:pPr>
            <a:r>
              <a:rPr sz="1500" b="0">
                <a:solidFill>
                  <a:srgbClr val="1A1A1A"/>
                </a:solidFill>
                <a:latin typeface="Consolas"/>
              </a:rPr>
              <a:t>dayanarak cevapla. Yoksa bilmiyorum de.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664440" y="4709160"/>
            <a:ext cx="9939528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2664440" y="4709160"/>
            <a:ext cx="118872" cy="301752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3075920" y="4910328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C08A2E"/>
                </a:solidFill>
                <a:latin typeface="Helvetica Neue"/>
              </a:rPr>
              <a:t>KATALOG  ← RAG'in eklediği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075920" y="5440680"/>
            <a:ext cx="9025128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>
                <a:solidFill>
                  <a:srgbClr val="1A1A1A"/>
                </a:solidFill>
                <a:latin typeface="Consolas"/>
              </a:rPr>
              <a:t>Eğitim 44 — Data Scientist Path</a:t>
            </a:r>
          </a:p>
          <a:p>
            <a:pPr algn="l">
              <a:lnSpc>
                <a:spcPct val="132000"/>
              </a:lnSpc>
            </a:pPr>
            <a:r>
              <a:rPr sz="1500" b="0">
                <a:solidFill>
                  <a:srgbClr val="1A1A1A"/>
                </a:solidFill>
                <a:latin typeface="Consolas"/>
              </a:rPr>
              <a:t>Tür: Kariyer Yolculuğu · Süre: 68 saat</a:t>
            </a:r>
          </a:p>
          <a:p>
            <a:pPr algn="l">
              <a:lnSpc>
                <a:spcPct val="132000"/>
              </a:lnSpc>
            </a:pPr>
            <a:r>
              <a:rPr sz="1500" b="0">
                <a:solidFill>
                  <a:srgbClr val="1A1A1A"/>
                </a:solidFill>
                <a:latin typeface="Consolas"/>
              </a:rPr>
              <a:t>Modül: 9 · Ücret: 300 USD · 4.5/5</a:t>
            </a:r>
          </a:p>
          <a:p>
            <a:pPr algn="l">
              <a:lnSpc>
                <a:spcPct val="132000"/>
              </a:lnSpc>
            </a:pPr>
            <a:endParaRPr sz="1500" b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32000"/>
              </a:lnSpc>
            </a:pPr>
            <a:r>
              <a:rPr sz="1500" b="0">
                <a:solidFill>
                  <a:srgbClr val="1A1A1A"/>
                </a:solidFill>
                <a:latin typeface="Consolas"/>
              </a:rPr>
              <a:t>Eğitim 51 — Deep Learning Path ...</a:t>
            </a:r>
          </a:p>
          <a:p>
            <a:pPr algn="l">
              <a:lnSpc>
                <a:spcPct val="132000"/>
              </a:lnSpc>
            </a:pPr>
            <a:r>
              <a:rPr sz="1500" b="0">
                <a:solidFill>
                  <a:srgbClr val="1A1A1A"/>
                </a:solidFill>
                <a:latin typeface="Consolas"/>
              </a:rPr>
              <a:t>Eğitim 49 — Data Analyst Path ...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664440" y="7955280"/>
            <a:ext cx="9939528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2664440" y="7955280"/>
            <a:ext cx="118872" cy="1508760"/>
          </a:xfrm>
          <a:prstGeom prst="rect">
            <a:avLst/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3075920" y="8156448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8A3B2F"/>
                </a:solidFill>
                <a:latin typeface="Helvetica Neue"/>
              </a:rPr>
              <a:t>USER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075920" y="8686800"/>
            <a:ext cx="902512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>
                <a:solidFill>
                  <a:srgbClr val="1A1A1A"/>
                </a:solidFill>
                <a:latin typeface="Consolas"/>
              </a:rPr>
              <a:t>Data Scientist Path kaç saat sürüyor</a:t>
            </a:r>
          </a:p>
          <a:p>
            <a:pPr algn="l">
              <a:lnSpc>
                <a:spcPct val="132000"/>
              </a:lnSpc>
            </a:pPr>
            <a:r>
              <a:rPr sz="1500" b="0">
                <a:solidFill>
                  <a:srgbClr val="1A1A1A"/>
                </a:solidFill>
                <a:latin typeface="Consolas"/>
              </a:rPr>
              <a:t>ve ücreti ne kadar?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824460" y="10081260"/>
            <a:ext cx="1051560" cy="1051560"/>
          </a:xfrm>
          <a:prstGeom prst="roundRect">
            <a:avLst>
              <a:gd name="adj" fmla="val 14000"/>
            </a:avLst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13108381" y="10365181"/>
            <a:ext cx="483718" cy="48371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2756109" y="10375697"/>
            <a:ext cx="136703" cy="75187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2756109" y="10712196"/>
            <a:ext cx="136703" cy="75187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3118897" y="10012909"/>
            <a:ext cx="75187" cy="136703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3455396" y="10012909"/>
            <a:ext cx="75187" cy="136703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3807669" y="10375697"/>
            <a:ext cx="136703" cy="75187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3807669" y="10712196"/>
            <a:ext cx="136703" cy="75187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3118897" y="11064469"/>
            <a:ext cx="75187" cy="136703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3455396" y="11064469"/>
            <a:ext cx="75187" cy="136703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14538960" y="10104120"/>
            <a:ext cx="8567928" cy="1005840"/>
          </a:xfrm>
          <a:prstGeom prst="roundRect">
            <a:avLst>
              <a:gd name="adj" fmla="val 6000"/>
            </a:avLst>
          </a:prstGeom>
          <a:solidFill>
            <a:srgbClr val="F7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4538960" y="10104120"/>
            <a:ext cx="8567928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8A3B2F"/>
                </a:solidFill>
                <a:latin typeface="Helvetica Neue"/>
              </a:rPr>
              <a:t>68 saat · 9 modül · 300 USD   (Eğitim 44)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80160" y="11430000"/>
            <a:ext cx="21826728" cy="1188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011680" y="11430000"/>
            <a:ext cx="20363688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Cevap modelin hafızasından değil —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pencereye koyduğumuz metinden geldi.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Yer Tutucusu 1">
            <a:extLst>
              <a:ext uri="{FF2B5EF4-FFF2-40B4-BE49-F238E27FC236}">
                <a16:creationId xmlns:a16="http://schemas.microsoft.com/office/drawing/2014/main" id="{017A0868-D031-F8E5-7CAB-27ACF49E7E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tr-TR" dirty="0" err="1"/>
              <a:t>Taming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Monster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EDB3E636-49EE-8974-BCA5-2AE11ACC3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411" y="1882456"/>
            <a:ext cx="21974712" cy="1175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120570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Atölyede ne yapacağız?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0160" y="2560320"/>
            <a:ext cx="10661904" cy="60350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1280160" y="2560320"/>
            <a:ext cx="10661904" cy="0"/>
          </a:xfrm>
          <a:prstGeom prst="line">
            <a:avLst/>
          </a:prstGeom>
          <a:ln w="76200">
            <a:solidFill>
              <a:srgbClr val="15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783080" y="3200400"/>
            <a:ext cx="965606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5263F"/>
                </a:solidFill>
                <a:latin typeface="Helvetica Neue"/>
              </a:rPr>
              <a:t>n8n'de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4434840"/>
            <a:ext cx="9656064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0">
                <a:solidFill>
                  <a:srgbClr val="1A1A1A"/>
                </a:solidFill>
                <a:latin typeface="Helvetica Neue"/>
              </a:rPr>
              <a:t>① Basit bir soru-cevap akışı</a:t>
            </a:r>
          </a:p>
          <a:p>
            <a:pPr algn="l">
              <a:lnSpc>
                <a:spcPct val="135000"/>
              </a:lnSpc>
            </a:pPr>
            <a:r>
              <a:rPr sz="2300" b="0">
                <a:solidFill>
                  <a:srgbClr val="1A1A1A"/>
                </a:solidFill>
                <a:latin typeface="Helvetica Neue"/>
              </a:rPr>
              <a:t>② Halüsinasyonu canlı yakalama</a:t>
            </a:r>
          </a:p>
          <a:p>
            <a:pPr algn="l">
              <a:lnSpc>
                <a:spcPct val="135000"/>
              </a:lnSpc>
            </a:pPr>
            <a:r>
              <a:rPr sz="2300" b="0">
                <a:solidFill>
                  <a:srgbClr val="1A1A1A"/>
                </a:solidFill>
                <a:latin typeface="Helvetica Neue"/>
              </a:rPr>
              <a:t>③ Few-shot ile biçimi düzeltme</a:t>
            </a:r>
          </a:p>
          <a:p>
            <a:pPr algn="l">
              <a:lnSpc>
                <a:spcPct val="135000"/>
              </a:lnSpc>
            </a:pPr>
            <a:r>
              <a:rPr sz="2300" b="0">
                <a:solidFill>
                  <a:srgbClr val="1A1A1A"/>
                </a:solidFill>
                <a:latin typeface="Helvetica Neue"/>
              </a:rPr>
              <a:t>④ Miuul kataloğuyla RAG kurma</a:t>
            </a:r>
          </a:p>
          <a:p>
            <a:pPr algn="l">
              <a:lnSpc>
                <a:spcPct val="135000"/>
              </a:lnSpc>
            </a:pPr>
            <a:r>
              <a:rPr sz="2300" b="0">
                <a:solidFill>
                  <a:srgbClr val="1A1A1A"/>
                </a:solidFill>
                <a:latin typeface="Helvetica Neue"/>
              </a:rPr>
              <a:t>⑤ RAG'in çuvalladığı yeri görme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444984" y="2560320"/>
            <a:ext cx="10661904" cy="60350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2444984" y="2560320"/>
            <a:ext cx="10661904" cy="0"/>
          </a:xfrm>
          <a:prstGeom prst="line">
            <a:avLst/>
          </a:prstGeom>
          <a:ln w="76200">
            <a:solidFill>
              <a:srgbClr val="8A3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947904" y="3200400"/>
            <a:ext cx="965606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8A3B2F"/>
                </a:solidFill>
                <a:latin typeface="Helvetica Neue"/>
              </a:rPr>
              <a:t>Kendi makinemizde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47904" y="4434840"/>
            <a:ext cx="9656064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0">
                <a:solidFill>
                  <a:srgbClr val="1A1A1A"/>
                </a:solidFill>
                <a:latin typeface="Helvetica Neue"/>
              </a:rPr>
              <a:t>⑥ Küçük bir modele</a:t>
            </a:r>
          </a:p>
          <a:p>
            <a:pPr algn="l">
              <a:lnSpc>
                <a:spcPct val="135000"/>
              </a:lnSpc>
            </a:pPr>
            <a:r>
              <a:rPr sz="2300" b="0">
                <a:solidFill>
                  <a:srgbClr val="1A1A1A"/>
                </a:solidFill>
                <a:latin typeface="Helvetica Neue"/>
              </a:rPr>
              <a:t>     yönlendirmeyi öğretme</a:t>
            </a:r>
          </a:p>
          <a:p>
            <a:pPr algn="l">
              <a:lnSpc>
                <a:spcPct val="135000"/>
              </a:lnSpc>
            </a:pPr>
            <a:endParaRPr sz="2300" b="0">
              <a:solidFill>
                <a:srgbClr val="1A1A1A"/>
              </a:solidFill>
              <a:latin typeface="Helvetica Neue"/>
            </a:endParaRPr>
          </a:p>
          <a:p>
            <a:pPr algn="l">
              <a:lnSpc>
                <a:spcPct val="135000"/>
              </a:lnSpc>
            </a:pPr>
            <a:r>
              <a:rPr sz="2300" b="0">
                <a:solidFill>
                  <a:srgbClr val="1A1A1A"/>
                </a:solidFill>
                <a:latin typeface="Helvetica Neue"/>
              </a:rPr>
              <a:t>     ÖNCE: paragraf yazıyor</a:t>
            </a:r>
          </a:p>
          <a:p>
            <a:pPr algn="l">
              <a:lnSpc>
                <a:spcPct val="135000"/>
              </a:lnSpc>
            </a:pPr>
            <a:r>
              <a:rPr sz="2300" b="0">
                <a:solidFill>
                  <a:srgbClr val="1A1A1A"/>
                </a:solidFill>
                <a:latin typeface="Helvetica Neue"/>
              </a:rPr>
              <a:t>     SONRA: tek etiket veriyor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9052560"/>
            <a:ext cx="21826728" cy="173736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9052560"/>
            <a:ext cx="21826728" cy="1737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700" b="1">
                <a:solidFill>
                  <a:srgbClr val="15263F"/>
                </a:solidFill>
                <a:latin typeface="Helvetica Neue"/>
              </a:rPr>
              <a:t>Senaryo: </a:t>
            </a:r>
            <a:r>
              <a:rPr sz="2700" b="0">
                <a:solidFill>
                  <a:srgbClr val="15263F"/>
                </a:solidFill>
                <a:latin typeface="Helvetica Neue"/>
              </a:rPr>
              <a:t>Miuul öğrenci destek asistanı — gerçek katalog, kurgu öğrenciler.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Kod ezberlemeyeceğiz —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karar vermeyi öğreneceğiz.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Fine-tune nedir?  Ne değişiyor?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0160" y="2011680"/>
            <a:ext cx="21826728" cy="8686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011680"/>
            <a:ext cx="2182672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00" b="0">
                <a:solidFill>
                  <a:srgbClr val="15263F"/>
                </a:solidFill>
                <a:latin typeface="Helvetica Neue"/>
              </a:rPr>
              <a:t>Şimdiye kadar modelin kendisine hiç dokunmadık.  Hep </a:t>
            </a:r>
            <a:r>
              <a:rPr sz="2300" b="1">
                <a:solidFill>
                  <a:srgbClr val="15263F"/>
                </a:solidFill>
                <a:latin typeface="Helvetica Neue"/>
              </a:rPr>
              <a:t>girdiyi</a:t>
            </a:r>
            <a:r>
              <a:rPr sz="2300" b="0">
                <a:solidFill>
                  <a:srgbClr val="15263F"/>
                </a:solidFill>
                <a:latin typeface="Helvetica Neue"/>
              </a:rPr>
              <a:t> değiştirdik.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3200400"/>
            <a:ext cx="6967728" cy="28346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3200400"/>
            <a:ext cx="6967728" cy="91440"/>
          </a:xfrm>
          <a:prstGeom prst="rect">
            <a:avLst/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20" y="3611880"/>
            <a:ext cx="577900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8A3B2F"/>
                </a:solidFill>
                <a:latin typeface="Helvetica Neue"/>
              </a:rPr>
              <a:t>PROMPT  ·  FEW-SHOT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4315968"/>
            <a:ext cx="577900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</a:rPr>
              <a:t>Girdiye talimat ve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</a:rPr>
              <a:t>örnek ekledik.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20" y="5230368"/>
            <a:ext cx="5779008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20" y="5230368"/>
            <a:ext cx="57790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8A8A8A"/>
                </a:solidFill>
                <a:latin typeface="Helvetica Neue"/>
              </a:rPr>
              <a:t>AĞIRLIKLAR AYNI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05088" y="3200400"/>
            <a:ext cx="6967728" cy="28346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05088" y="3200400"/>
            <a:ext cx="6967728" cy="9144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99448" y="3611880"/>
            <a:ext cx="577900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C08A2E"/>
                </a:solidFill>
                <a:latin typeface="Helvetica Neue"/>
              </a:rPr>
              <a:t>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9448" y="4315968"/>
            <a:ext cx="577900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</a:rPr>
              <a:t>Girdiye doğru belgeyi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</a:rPr>
              <a:t>ekledik.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99448" y="5230368"/>
            <a:ext cx="5779008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8" y="5230368"/>
            <a:ext cx="57790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8A8A8A"/>
                </a:solidFill>
                <a:latin typeface="Helvetica Neue"/>
              </a:rPr>
              <a:t>AĞIRLIKLAR AYNI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130016" y="3200400"/>
            <a:ext cx="6967728" cy="2834640"/>
          </a:xfrm>
          <a:prstGeom prst="roundRect">
            <a:avLst>
              <a:gd name="adj" fmla="val 6000"/>
            </a:avLst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724376" y="3611880"/>
            <a:ext cx="577900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Helvetica Neue"/>
              </a:rPr>
              <a:t>FINE-TUNE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24376" y="4315968"/>
            <a:ext cx="577900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FFFFFF"/>
                </a:solidFill>
                <a:latin typeface="Helvetica Neue"/>
              </a:rPr>
              <a:t>Modelin kendisini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FFFFFF"/>
                </a:solidFill>
                <a:latin typeface="Helvetica Neue"/>
              </a:rPr>
              <a:t>değiştiriyoruz.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724376" y="5230368"/>
            <a:ext cx="5779008" cy="566928"/>
          </a:xfrm>
          <a:prstGeom prst="roundRect">
            <a:avLst>
              <a:gd name="adj" fmla="val 30000"/>
            </a:avLst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724376" y="5230368"/>
            <a:ext cx="57790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5263F"/>
                </a:solidFill>
                <a:latin typeface="Helvetica Neue"/>
              </a:rPr>
              <a:t>AĞIRLIKLAR DEĞİŞİYOR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6400800"/>
            <a:ext cx="21826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8A8A8A"/>
                </a:solidFill>
                <a:latin typeface="Helvetica Neue"/>
              </a:rPr>
              <a:t>EĞİTİM DÖNGÜSÜ  ·  her örnek için tekrarlanır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80160" y="6995160"/>
            <a:ext cx="4572000" cy="31546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80160" y="6995160"/>
            <a:ext cx="4572000" cy="91440"/>
          </a:xfrm>
          <a:prstGeom prst="rect">
            <a:avLst/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0" y="736092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8A3B2F"/>
                </a:solidFill>
                <a:latin typeface="Helvetica Neue"/>
              </a:rPr>
              <a:t>①  ÖRNEK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8046720"/>
            <a:ext cx="3749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S:  Kayıt no 482137,</a:t>
            </a:r>
          </a:p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    ne kadar ilerledim?</a:t>
            </a:r>
          </a:p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Doğru cevap:</a:t>
            </a:r>
          </a:p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ilerleme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108192" y="8275320"/>
            <a:ext cx="667512" cy="594360"/>
          </a:xfrm>
          <a:prstGeom prst="rightArrow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31736" y="6995160"/>
            <a:ext cx="4572000" cy="31546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31736" y="6995160"/>
            <a:ext cx="4572000" cy="91440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8936" y="736092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5263F"/>
                </a:solidFill>
                <a:latin typeface="Helvetica Neue"/>
              </a:rPr>
              <a:t>②  MODEL TAHMİN EDER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88936" y="8046720"/>
            <a:ext cx="3749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"Merhaba! Kayıt</a:t>
            </a:r>
          </a:p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 numaranızı kontrol</a:t>
            </a:r>
          </a:p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 ediyorum, bir saniye…"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9555480"/>
            <a:ext cx="3749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8A3B2F"/>
                </a:solidFill>
                <a:latin typeface="Helvetica Neue"/>
              </a:rPr>
              <a:t>✗  istediğimiz bu değil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1859768" y="8275320"/>
            <a:ext cx="667512" cy="594360"/>
          </a:xfrm>
          <a:prstGeom prst="rightArrow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2783312" y="6995160"/>
            <a:ext cx="4572000" cy="31546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783312" y="6995160"/>
            <a:ext cx="4572000" cy="9144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40512" y="736092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8A2E"/>
                </a:solidFill>
                <a:latin typeface="Helvetica Neue"/>
              </a:rPr>
              <a:t>③  HATA ÖLÇÜLÜR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40512" y="8046720"/>
            <a:ext cx="3749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Tahmin ile doğru cevap</a:t>
            </a:r>
          </a:p>
          <a:p>
            <a:pPr algn="l">
              <a:lnSpc>
                <a:spcPct val="132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arasındaki fark tek bir</a:t>
            </a:r>
          </a:p>
          <a:p>
            <a:pPr algn="l">
              <a:lnSpc>
                <a:spcPct val="132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sayıya indirilir.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17611344" y="8275320"/>
            <a:ext cx="667512" cy="594360"/>
          </a:xfrm>
          <a:prstGeom prst="rightArrow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8534888" y="6995160"/>
            <a:ext cx="4572000" cy="31546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534888" y="6995160"/>
            <a:ext cx="4572000" cy="91440"/>
          </a:xfrm>
          <a:prstGeom prst="rect">
            <a:avLst/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992088" y="736092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8A3B2F"/>
                </a:solidFill>
                <a:latin typeface="Helvetica Neue"/>
              </a:rPr>
              <a:t>④  AĞIRLIKLAR AYARLANIR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992088" y="8046720"/>
            <a:ext cx="3749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Her ağırlık, hatayı</a:t>
            </a:r>
          </a:p>
          <a:p>
            <a:pPr algn="l">
              <a:lnSpc>
                <a:spcPct val="132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küçültecek yönde</a:t>
            </a:r>
          </a:p>
          <a:p>
            <a:pPr algn="l">
              <a:lnSpc>
                <a:spcPct val="132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</a:rPr>
              <a:t>azıcık kımıldar.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80160" y="10332720"/>
            <a:ext cx="21826728" cy="7315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80160" y="10332720"/>
            <a:ext cx="2182672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8A8A8A"/>
                </a:solidFill>
                <a:latin typeface="Helvetica Neue"/>
              </a:rPr>
              <a:t>↺   sonraki örnek   —   </a:t>
            </a:r>
            <a:r>
              <a:rPr sz="1900" b="1">
                <a:solidFill>
                  <a:srgbClr val="8A8A8A"/>
                </a:solidFill>
                <a:latin typeface="Helvetica Neue"/>
              </a:rPr>
              <a:t>60 örnek  ×  3 tur</a:t>
            </a:r>
            <a:r>
              <a:rPr sz="1900" b="0">
                <a:solidFill>
                  <a:srgbClr val="8A8A8A"/>
                </a:solidFill>
                <a:latin typeface="Helvetica Neue"/>
              </a:rPr>
              <a:t>   boyunca aynı döngü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80160" y="11475720"/>
            <a:ext cx="21826728" cy="1143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11680" y="11475720"/>
            <a:ext cx="20363688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Prompt her istekte yeniden gönderilir.  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Fine-tune bir kez yapılır, ağırlıklarda kalır.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Bütün ağırlıkları mı değiştiriyoruz?   ·   LoRA ve QLoRA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0160" y="2057400"/>
            <a:ext cx="10241280" cy="73609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2057400"/>
            <a:ext cx="10241280" cy="91440"/>
          </a:xfrm>
          <a:prstGeom prst="rect">
            <a:avLst/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37744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8A3B2F"/>
                </a:solidFill>
                <a:latin typeface="Helvetica Neue"/>
              </a:rPr>
              <a:t>TAM FINE-TUNE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97180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8A8A8A"/>
                </a:solidFill>
                <a:latin typeface="Helvetica Neue"/>
              </a:rPr>
              <a:t>klasik yöntem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611880"/>
            <a:ext cx="3063240" cy="502920"/>
          </a:xfrm>
          <a:prstGeom prst="roundRect">
            <a:avLst>
              <a:gd name="adj" fmla="val 25000"/>
            </a:avLst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4297680"/>
            <a:ext cx="3063240" cy="502920"/>
          </a:xfrm>
          <a:prstGeom prst="roundRect">
            <a:avLst>
              <a:gd name="adj" fmla="val 25000"/>
            </a:avLst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28800" y="4983480"/>
            <a:ext cx="3063240" cy="502920"/>
          </a:xfrm>
          <a:prstGeom prst="roundRect">
            <a:avLst>
              <a:gd name="adj" fmla="val 25000"/>
            </a:avLst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5669280"/>
            <a:ext cx="3063240" cy="502920"/>
          </a:xfrm>
          <a:prstGeom prst="roundRect">
            <a:avLst>
              <a:gd name="adj" fmla="val 25000"/>
            </a:avLst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6355080"/>
            <a:ext cx="3063240" cy="502920"/>
          </a:xfrm>
          <a:prstGeom prst="roundRect">
            <a:avLst>
              <a:gd name="adj" fmla="val 25000"/>
            </a:avLst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28800" y="7040880"/>
            <a:ext cx="3063240" cy="502920"/>
          </a:xfrm>
          <a:prstGeom prst="roundRect">
            <a:avLst>
              <a:gd name="adj" fmla="val 25000"/>
            </a:avLst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79095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A3B2F"/>
                </a:solidFill>
                <a:latin typeface="Helvetica Neue"/>
              </a:rPr>
              <a:t>HEPSİ GÜNCELLENİYOR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3794760"/>
            <a:ext cx="544068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4320" indent="-274320">
              <a:lnSpc>
                <a:spcPct val="130000"/>
              </a:lnSpc>
              <a:spcAft>
                <a:spcPts val="2000"/>
              </a:spcAft>
            </a:pPr>
            <a:r>
              <a:rPr sz="1800" b="0">
                <a:solidFill>
                  <a:srgbClr val="1A1A1A"/>
                </a:solidFill>
                <a:latin typeface="Helvetica Neue"/>
              </a:rPr>
              <a:t>•  Modeldeki ağırlıkların hepsi güncellenir.</a:t>
            </a:r>
          </a:p>
          <a:p>
            <a:pPr algn="l" marL="274320" indent="-274320">
              <a:lnSpc>
                <a:spcPct val="130000"/>
              </a:lnSpc>
              <a:spcAft>
                <a:spcPts val="2000"/>
              </a:spcAft>
            </a:pPr>
            <a:r>
              <a:rPr sz="1800" b="0">
                <a:solidFill>
                  <a:srgbClr val="1A1A1A"/>
                </a:solidFill>
                <a:latin typeface="Helvetica Neue"/>
              </a:rPr>
              <a:t>•  Her ağırlık için ek hafıza gerekir → kabaca 4× bellek.</a:t>
            </a:r>
          </a:p>
          <a:p>
            <a:pPr algn="l" marL="274320" indent="-274320">
              <a:lnSpc>
                <a:spcPct val="130000"/>
              </a:lnSpc>
              <a:spcAft>
                <a:spcPts val="2000"/>
              </a:spcAft>
            </a:pPr>
            <a:r>
              <a:rPr sz="1800" b="0">
                <a:solidFill>
                  <a:srgbClr val="1A1A1A"/>
                </a:solidFill>
                <a:latin typeface="Helvetica Neue"/>
              </a:rPr>
              <a:t>•  Büyük GPU, uzun süre.</a:t>
            </a:r>
          </a:p>
          <a:p>
            <a:pPr algn="l" marL="274320" indent="-274320">
              <a:lnSpc>
                <a:spcPct val="130000"/>
              </a:lnSpc>
              <a:spcAft>
                <a:spcPts val="2000"/>
              </a:spcAft>
            </a:pPr>
            <a:r>
              <a:rPr sz="1800" b="0">
                <a:solidFill>
                  <a:srgbClr val="1A1A1A"/>
                </a:solidFill>
                <a:latin typeface="Helvetica Neue"/>
              </a:rPr>
              <a:t>•  Her yeni görev, modelin ayrı bir tam kopyası demek.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161520" y="2057400"/>
            <a:ext cx="10945368" cy="73609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161520" y="2057400"/>
            <a:ext cx="10945368" cy="91440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710160" y="2377440"/>
            <a:ext cx="984808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5263F"/>
                </a:solidFill>
                <a:latin typeface="Helvetica Neue"/>
              </a:rPr>
              <a:t>LoRA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10160" y="2971800"/>
            <a:ext cx="98480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8A8A8A"/>
                </a:solidFill>
                <a:latin typeface="Helvetica Neue"/>
              </a:rPr>
              <a:t>Low-Rank Adaptation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710160" y="3611880"/>
            <a:ext cx="3063240" cy="502920"/>
          </a:xfrm>
          <a:prstGeom prst="roundRect">
            <a:avLst>
              <a:gd name="adj" fmla="val 25000"/>
            </a:avLst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710160" y="4297680"/>
            <a:ext cx="3063240" cy="502920"/>
          </a:xfrm>
          <a:prstGeom prst="roundRect">
            <a:avLst>
              <a:gd name="adj" fmla="val 25000"/>
            </a:avLst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2710160" y="4983480"/>
            <a:ext cx="3063240" cy="502920"/>
          </a:xfrm>
          <a:prstGeom prst="roundRect">
            <a:avLst>
              <a:gd name="adj" fmla="val 25000"/>
            </a:avLst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710160" y="5669280"/>
            <a:ext cx="3063240" cy="502920"/>
          </a:xfrm>
          <a:prstGeom prst="roundRect">
            <a:avLst>
              <a:gd name="adj" fmla="val 25000"/>
            </a:avLst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710160" y="6355080"/>
            <a:ext cx="3063240" cy="502920"/>
          </a:xfrm>
          <a:prstGeom prst="roundRect">
            <a:avLst>
              <a:gd name="adj" fmla="val 25000"/>
            </a:avLst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2710160" y="7040880"/>
            <a:ext cx="3063240" cy="502920"/>
          </a:xfrm>
          <a:prstGeom prst="roundRect">
            <a:avLst>
              <a:gd name="adj" fmla="val 25000"/>
            </a:avLst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10160" y="79095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A8A8A"/>
                </a:solidFill>
                <a:latin typeface="Helvetica Neue"/>
              </a:rPr>
              <a:t>DONDURULDU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5819120" y="4389120"/>
            <a:ext cx="347472" cy="320040"/>
          </a:xfrm>
          <a:prstGeom prst="rightArrow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6230600" y="4297680"/>
            <a:ext cx="658368" cy="502920"/>
          </a:xfrm>
          <a:prstGeom prst="roundRect">
            <a:avLst>
              <a:gd name="adj" fmla="val 25000"/>
            </a:avLst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15819120" y="5760720"/>
            <a:ext cx="347472" cy="320040"/>
          </a:xfrm>
          <a:prstGeom prst="rightArrow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6230600" y="5669280"/>
            <a:ext cx="658368" cy="502920"/>
          </a:xfrm>
          <a:prstGeom prst="roundRect">
            <a:avLst>
              <a:gd name="adj" fmla="val 25000"/>
            </a:avLst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15819120" y="7132320"/>
            <a:ext cx="347472" cy="320040"/>
          </a:xfrm>
          <a:prstGeom prst="rightArrow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6230600" y="7040880"/>
            <a:ext cx="658368" cy="502920"/>
          </a:xfrm>
          <a:prstGeom prst="roundRect">
            <a:avLst>
              <a:gd name="adj" fmla="val 25000"/>
            </a:avLst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819120" y="790956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08A2E"/>
                </a:solidFill>
                <a:latin typeface="Helvetica Neue"/>
              </a:rPr>
              <a:t>EĞİTİLEN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236440" y="3794760"/>
            <a:ext cx="5230368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4320" indent="-274320">
              <a:lnSpc>
                <a:spcPct val="130000"/>
              </a:lnSpc>
              <a:spcAft>
                <a:spcPts val="2000"/>
              </a:spcAft>
            </a:pPr>
            <a:r>
              <a:rPr sz="1800" b="0">
                <a:solidFill>
                  <a:srgbClr val="1A1A1A"/>
                </a:solidFill>
                <a:latin typeface="Helvetica Neue"/>
              </a:rPr>
              <a:t>•  Büyük ağırlıklar dondurulur — hiç değişmez.</a:t>
            </a:r>
          </a:p>
          <a:p>
            <a:pPr algn="l" marL="274320" indent="-274320">
              <a:lnSpc>
                <a:spcPct val="130000"/>
              </a:lnSpc>
              <a:spcAft>
                <a:spcPts val="2000"/>
              </a:spcAft>
            </a:pPr>
            <a:r>
              <a:rPr sz="1800" b="0">
                <a:solidFill>
                  <a:srgbClr val="1A1A1A"/>
                </a:solidFill>
                <a:latin typeface="Helvetica Neue"/>
              </a:rPr>
              <a:t>•  Yanlarına küçük bir </a:t>
            </a:r>
            <a:r>
              <a:rPr sz="1800" b="1">
                <a:solidFill>
                  <a:srgbClr val="1A1A1A"/>
                </a:solidFill>
                <a:latin typeface="Helvetica Neue"/>
              </a:rPr>
              <a:t>defter</a:t>
            </a:r>
            <a:r>
              <a:rPr sz="1800" b="0">
                <a:solidFill>
                  <a:srgbClr val="1A1A1A"/>
                </a:solidFill>
                <a:latin typeface="Helvetica Neue"/>
              </a:rPr>
              <a:t> eklenir: iki ince matris.</a:t>
            </a:r>
          </a:p>
          <a:p>
            <a:pPr algn="l" marL="274320" indent="-274320">
              <a:lnSpc>
                <a:spcPct val="130000"/>
              </a:lnSpc>
              <a:spcAft>
                <a:spcPts val="2000"/>
              </a:spcAft>
            </a:pPr>
            <a:r>
              <a:rPr sz="1800" b="0">
                <a:solidFill>
                  <a:srgbClr val="1A1A1A"/>
                </a:solidFill>
                <a:latin typeface="Helvetica Neue"/>
              </a:rPr>
              <a:t>•  Eğitilen tek şey o defter.</a:t>
            </a:r>
          </a:p>
          <a:p>
            <a:pPr algn="l" marL="274320" indent="-274320">
              <a:lnSpc>
                <a:spcPct val="130000"/>
              </a:lnSpc>
              <a:spcAft>
                <a:spcPts val="2000"/>
              </a:spcAft>
            </a:pPr>
            <a:r>
              <a:rPr sz="1800" b="0">
                <a:solidFill>
                  <a:srgbClr val="1A1A1A"/>
                </a:solidFill>
                <a:latin typeface="Helvetica Neue"/>
              </a:rPr>
              <a:t>•  Çıktı birkaç MB. Ana model dosyasına dokunulmaz.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710160" y="8503920"/>
            <a:ext cx="984808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A8A8A"/>
                </a:solidFill>
                <a:latin typeface="Helvetica Neue"/>
              </a:rPr>
              <a:t>Defterler genelde </a:t>
            </a:r>
            <a:r>
              <a:rPr sz="1600" b="1">
                <a:solidFill>
                  <a:srgbClr val="8A8A8A"/>
                </a:solidFill>
                <a:latin typeface="Helvetica Neue"/>
              </a:rPr>
              <a:t>dikkat katmanlarına</a:t>
            </a:r>
            <a:r>
              <a:rPr sz="1600" b="0">
                <a:solidFill>
                  <a:srgbClr val="8A8A8A"/>
                </a:solidFill>
                <a:latin typeface="Helvetica Neue"/>
              </a:rPr>
              <a:t> takılır — modelin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8A8A8A"/>
                </a:solidFill>
                <a:latin typeface="Helvetica Neue"/>
              </a:rPr>
              <a:t>neye bakacağına karar veren yer.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8503920"/>
            <a:ext cx="9144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A8A8A"/>
                </a:solidFill>
                <a:latin typeface="Helvetica Neue"/>
              </a:rPr>
              <a:t>Küçük ekipler için pahalı — bu yüzden bugün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8A8A8A"/>
                </a:solidFill>
                <a:latin typeface="Helvetica Neue"/>
              </a:rPr>
              <a:t>neredeyse herkes sağdaki yöntemi kullanıyor.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80160" y="9692640"/>
            <a:ext cx="21826728" cy="1188720"/>
          </a:xfrm>
          <a:prstGeom prst="roundRect">
            <a:avLst>
              <a:gd name="adj" fmla="val 6000"/>
            </a:avLst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0" y="9692640"/>
            <a:ext cx="73152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  1.546.000.000   </a:t>
            </a:r>
            <a:r>
              <a:rPr sz="2200" b="0">
                <a:solidFill>
                  <a:srgbClr val="B8BEC8"/>
                </a:solidFill>
                <a:latin typeface="Helvetica Neue"/>
              </a:rPr>
              <a:t>modeldeki toplam ağırlık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9692640"/>
            <a:ext cx="73152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E6D0A2"/>
                </a:solidFill>
                <a:latin typeface="Helvetica Neue"/>
              </a:rPr>
              <a:t>  2.180.000   </a:t>
            </a:r>
            <a:r>
              <a:rPr sz="2200" b="0">
                <a:solidFill>
                  <a:srgbClr val="B8BEC8"/>
                </a:solidFill>
                <a:latin typeface="Helvetica Neue"/>
              </a:rPr>
              <a:t>LoRA ile eğitilen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836640" y="9692640"/>
            <a:ext cx="73152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C08A2E"/>
                </a:solidFill>
                <a:latin typeface="Helvetica Neue"/>
              </a:rPr>
              <a:t>  %0,14   </a:t>
            </a:r>
            <a:r>
              <a:rPr sz="2200" b="0">
                <a:solidFill>
                  <a:srgbClr val="B8BEC8"/>
                </a:solidFill>
                <a:latin typeface="Helvetica Neue"/>
              </a:rPr>
              <a:t>oranı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10927080"/>
            <a:ext cx="21826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8A8A8A"/>
                </a:solidFill>
                <a:latin typeface="Helvetica Neue"/>
              </a:rPr>
              <a:t>Atölyedeki gerçek koşudan — Qwen2.5-1.5B, LoRA r=8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80160" y="11475720"/>
            <a:ext cx="21826728" cy="1143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11680" y="11475720"/>
            <a:ext cx="20363688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QLoRA = LoRA + donmuş ağırlıkları 4 bit'e sıkıştırmak. 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Aynı iş, dört kat az bellek</a:t>
            </a:r>
            <a:r>
              <a:rPr sz="2400" b="0">
                <a:solidFill>
                  <a:srgbClr val="15263F"/>
                </a:solidFill>
                <a:latin typeface="Helvetica Neue"/>
              </a:rPr>
              <a:t> — dizüstü GPU'da fine-tune bu sayede mümkün.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ğitim Adı">
  <a:themeElements>
    <a:clrScheme name="Miuul Renk Paleti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2" id="{888531EB-B80A-DC4E-87AD-AD8478769648}" vid="{6D0E7461-0100-8046-8FFF-5C1D91E67DD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1A34E06-6EF4-0747-BE1A-750CADD77380}">
  <we:reference id="wa200007130" version="1.0.0.1" store="en-GB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Eğitim Adı</Template>
  <TotalTime>37039</TotalTime>
  <Words>7920</Words>
  <Application>Microsoft Office PowerPoint</Application>
  <PresentationFormat>Özel</PresentationFormat>
  <Paragraphs>1977</Paragraphs>
  <Slides>41</Slides>
  <Notes>41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41</vt:i4>
      </vt:variant>
    </vt:vector>
  </HeadingPairs>
  <TitlesOfParts>
    <vt:vector size="47" baseType="lpstr">
      <vt:lpstr>Chromatica</vt:lpstr>
      <vt:lpstr>Chromatica Medium</vt:lpstr>
      <vt:lpstr>Consolas</vt:lpstr>
      <vt:lpstr>Helvetica Neue</vt:lpstr>
      <vt:lpstr>Helvetica Neue Medium</vt:lpstr>
      <vt:lpstr>Eğitim Adı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 Bilimciler için Python Programlama</dc:title>
  <dc:creator>oytun@miuul.com</dc:creator>
  <cp:lastModifiedBy>Veysel GORKEN</cp:lastModifiedBy>
  <cp:revision>923</cp:revision>
  <cp:lastPrinted>2026-07-16T05:32:25Z</cp:lastPrinted>
  <dcterms:created xsi:type="dcterms:W3CDTF">2021-05-22T14:24:12Z</dcterms:created>
  <dcterms:modified xsi:type="dcterms:W3CDTF">2026-08-25T15:28:13Z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aa6781e-fd15-4a75-92c1-1621a66939fe_Enabled">
    <vt:lpwstr>true</vt:lpwstr>
  </property>
  <property fmtid="{D5CDD505-2E9C-101B-9397-08002B2CF9AE}" pid="3" name="MSIP_Label_caa6781e-fd15-4a75-92c1-1621a66939fe_SetDate">
    <vt:lpwstr>2026-08-03T13:20:08Z</vt:lpwstr>
  </property>
  <property fmtid="{D5CDD505-2E9C-101B-9397-08002B2CF9AE}" pid="4" name="MSIP_Label_caa6781e-fd15-4a75-92c1-1621a66939fe_Method">
    <vt:lpwstr>Standard</vt:lpwstr>
  </property>
  <property fmtid="{D5CDD505-2E9C-101B-9397-08002B2CF9AE}" pid="5" name="MSIP_Label_caa6781e-fd15-4a75-92c1-1621a66939fe_Name">
    <vt:lpwstr>Internal</vt:lpwstr>
  </property>
  <property fmtid="{D5CDD505-2E9C-101B-9397-08002B2CF9AE}" pid="6" name="MSIP_Label_caa6781e-fd15-4a75-92c1-1621a66939fe_SiteId">
    <vt:lpwstr>9125c4fe-bdb3-4367-a98f-040efd278531</vt:lpwstr>
  </property>
  <property fmtid="{D5CDD505-2E9C-101B-9397-08002B2CF9AE}" pid="7" name="MSIP_Label_caa6781e-fd15-4a75-92c1-1621a66939fe_ActionId">
    <vt:lpwstr>44a5bbbe-bb31-4696-b358-107658b30da5</vt:lpwstr>
  </property>
  <property fmtid="{D5CDD505-2E9C-101B-9397-08002B2CF9AE}" pid="8" name="MSIP_Label_caa6781e-fd15-4a75-92c1-1621a66939fe_ContentBits">
    <vt:lpwstr>0</vt:lpwstr>
  </property>
  <property fmtid="{D5CDD505-2E9C-101B-9397-08002B2CF9AE}" pid="9" name="MSIP_Label_caa6781e-fd15-4a75-92c1-1621a66939fe_Tag">
    <vt:lpwstr>10, 3, 0, 1</vt:lpwstr>
  </property>
</Properties>
</file>