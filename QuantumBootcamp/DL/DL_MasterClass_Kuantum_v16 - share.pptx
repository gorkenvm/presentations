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67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302" r:id="rId41"/>
    <p:sldId id="303" r:id="rId42"/>
    <p:sldId id="299" r:id="rId43"/>
    <p:sldId id="304" r:id="rId44"/>
    <p:sldId id="305" r:id="rId45"/>
    <p:sldId id="301" r:id="rId46"/>
    <p:sldId id="306" r:id="rId47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FFC7"/>
    <a:srgbClr val="03523C"/>
    <a:srgbClr val="BEBF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897"/>
    <p:restoredTop sz="51090" autoAdjust="0"/>
  </p:normalViewPr>
  <p:slideViewPr>
    <p:cSldViewPr snapToGrid="0" snapToObjects="1">
      <p:cViewPr varScale="1">
        <p:scale>
          <a:sx n="28" d="100"/>
          <a:sy n="28" d="100"/>
        </p:scale>
        <p:origin x="3216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9" name="Shape 14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çılış Ekranı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Title">
            <a:extLst>
              <a:ext uri="{FF2B5EF4-FFF2-40B4-BE49-F238E27FC236}">
                <a16:creationId xmlns:a16="http://schemas.microsoft.com/office/drawing/2014/main" id="{0623C506-61A1-A34E-B1DD-A0DD7D14187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500" y="5572609"/>
            <a:ext cx="21971000" cy="2570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/>
            </a:lvl1pPr>
          </a:lstStyle>
          <a:p>
            <a:r>
              <a:rPr lang="tr-TR" dirty="0"/>
              <a:t>Eğitim/Bölüm/Ders Adı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8607076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rs Anlatım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hor and Date">
            <a:extLst>
              <a:ext uri="{FF2B5EF4-FFF2-40B4-BE49-F238E27FC236}">
                <a16:creationId xmlns:a16="http://schemas.microsoft.com/office/drawing/2014/main" id="{E5E2BDF8-0349-334B-BF6A-D7072B112F49}"/>
              </a:ext>
            </a:extLst>
          </p:cNvPr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049411" y="167779"/>
            <a:ext cx="15709901" cy="1169999"/>
          </a:xfrm>
          <a:prstGeom prst="rect">
            <a:avLst/>
          </a:prstGeom>
        </p:spPr>
        <p:txBody>
          <a:bodyPr lIns="45719" tIns="45719" rIns="45719" bIns="45719" anchor="ctr"/>
          <a:lstStyle>
            <a:lvl1pPr marL="0" indent="0" algn="l" defTabSz="825500">
              <a:lnSpc>
                <a:spcPct val="100000"/>
              </a:lnSpc>
              <a:spcBef>
                <a:spcPts val="0"/>
              </a:spcBef>
              <a:buSzTx/>
              <a:buNone/>
              <a:defRPr sz="3200" b="0" i="0">
                <a:latin typeface="Chromatica Medium" pitchFamily="2" charset="77"/>
              </a:defRPr>
            </a:lvl1pPr>
          </a:lstStyle>
          <a:p>
            <a:r>
              <a:rPr lang="tr-TR" dirty="0"/>
              <a:t>Dersin adını buraya yazın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0B40B19-566E-A743-BF82-7FDFA5614D83}"/>
              </a:ext>
            </a:extLst>
          </p:cNvPr>
          <p:cNvCxnSpPr>
            <a:cxnSpLocks/>
          </p:cNvCxnSpPr>
          <p:nvPr userDrawn="1"/>
        </p:nvCxnSpPr>
        <p:spPr>
          <a:xfrm>
            <a:off x="1104900" y="1481652"/>
            <a:ext cx="22174200" cy="0"/>
          </a:xfrm>
          <a:prstGeom prst="line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01E5980-45BA-614F-AC8B-C106D2EB33A8}"/>
              </a:ext>
            </a:extLst>
          </p:cNvPr>
          <p:cNvSpPr txBox="1"/>
          <p:nvPr userDrawn="1"/>
        </p:nvSpPr>
        <p:spPr>
          <a:xfrm>
            <a:off x="6160286" y="631141"/>
            <a:ext cx="10265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TR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6EF5B0-9520-1A41-8DBD-9F983BCFBB0F}"/>
              </a:ext>
            </a:extLst>
          </p:cNvPr>
          <p:cNvSpPr txBox="1"/>
          <p:nvPr userDrawn="1"/>
        </p:nvSpPr>
        <p:spPr>
          <a:xfrm>
            <a:off x="22320369" y="231769"/>
            <a:ext cx="912109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TR" sz="1800" b="0" i="0" u="none" strike="noStrike" kern="100" cap="none" spc="11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 Medium" pitchFamily="2" charset="77"/>
                <a:ea typeface="+mn-ea"/>
                <a:cs typeface="+mn-cs"/>
                <a:sym typeface="Helvetica Neue"/>
              </a:rPr>
              <a:t>MIUUL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5CF718-ACE3-2946-B725-C3C12C26870E}"/>
              </a:ext>
            </a:extLst>
          </p:cNvPr>
          <p:cNvSpPr txBox="1"/>
          <p:nvPr userDrawn="1"/>
        </p:nvSpPr>
        <p:spPr>
          <a:xfrm>
            <a:off x="23133892" y="279950"/>
            <a:ext cx="197170" cy="1795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TR" sz="5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 Medium" pitchFamily="2" charset="77"/>
                <a:ea typeface="+mn-ea"/>
                <a:cs typeface="+mn-cs"/>
                <a:sym typeface="Helvetica Neue"/>
              </a:rPr>
              <a:t>TM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D8CEC82-FA21-5D4B-8318-FE278F38F3F6}"/>
              </a:ext>
            </a:extLst>
          </p:cNvPr>
          <p:cNvSpPr txBox="1"/>
          <p:nvPr userDrawn="1"/>
        </p:nvSpPr>
        <p:spPr>
          <a:xfrm>
            <a:off x="19365581" y="857221"/>
            <a:ext cx="3970924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</a:pPr>
            <a:r>
              <a:rPr kumimoji="0" lang="en-TR" sz="13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" pitchFamily="2" charset="77"/>
                <a:ea typeface="+mn-ea"/>
                <a:cs typeface="+mn-cs"/>
                <a:sym typeface="Helvetica Neue"/>
              </a:rPr>
              <a:t>www.miuul.com</a:t>
            </a:r>
          </a:p>
          <a:p>
            <a:pPr marL="0" marR="0" indent="0" algn="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</a:pPr>
            <a:r>
              <a:rPr kumimoji="0" lang="en-TR" sz="13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" pitchFamily="2" charset="77"/>
                <a:ea typeface="+mn-ea"/>
                <a:cs typeface="+mn-cs"/>
                <a:sym typeface="Helvetica Neue"/>
              </a:rPr>
              <a:t>Copyright </a:t>
            </a:r>
            <a:r>
              <a:rPr kumimoji="0" lang="en-TR" sz="1300" b="0" i="0" u="none" strike="noStrike" cap="none" spc="0" normalizeH="0" baseline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" pitchFamily="2" charset="77"/>
                <a:ea typeface="+mn-ea"/>
                <a:cs typeface="+mn-cs"/>
                <a:sym typeface="Helvetica Neue"/>
              </a:rPr>
              <a:t>© Miuul. </a:t>
            </a:r>
            <a:r>
              <a:rPr kumimoji="0" lang="en-TR" sz="13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" pitchFamily="2" charset="77"/>
                <a:ea typeface="+mn-ea"/>
                <a:cs typeface="+mn-cs"/>
                <a:sym typeface="Helvetica Neue"/>
              </a:rPr>
              <a:t>All Rights Reserved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50CEEE-A67E-6A49-B778-7AAC10C70C22}"/>
              </a:ext>
            </a:extLst>
          </p:cNvPr>
          <p:cNvSpPr txBox="1"/>
          <p:nvPr userDrawn="1"/>
        </p:nvSpPr>
        <p:spPr>
          <a:xfrm>
            <a:off x="22922972" y="-172462"/>
            <a:ext cx="10265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TR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23" name="Author and Date">
            <a:extLst>
              <a:ext uri="{FF2B5EF4-FFF2-40B4-BE49-F238E27FC236}">
                <a16:creationId xmlns:a16="http://schemas.microsoft.com/office/drawing/2014/main" id="{EE642577-6C65-AC44-8B45-E9CBE07C539A}"/>
              </a:ext>
            </a:extLst>
          </p:cNvPr>
          <p:cNvSpPr txBox="1">
            <a:spLocks noGrp="1"/>
          </p:cNvSpPr>
          <p:nvPr>
            <p:ph type="body" sz="quarter" idx="23" hasCustomPrompt="1"/>
          </p:nvPr>
        </p:nvSpPr>
        <p:spPr>
          <a:xfrm>
            <a:off x="1049411" y="2393941"/>
            <a:ext cx="22229689" cy="10350448"/>
          </a:xfrm>
          <a:prstGeom prst="rect">
            <a:avLst/>
          </a:prstGeom>
        </p:spPr>
        <p:txBody>
          <a:bodyPr lIns="45719" tIns="45719" rIns="45719" bIns="45719" anchor="t"/>
          <a:lstStyle>
            <a:lvl1pPr marL="0" indent="0" algn="l" defTabSz="825500">
              <a:lnSpc>
                <a:spcPct val="100000"/>
              </a:lnSpc>
              <a:spcBef>
                <a:spcPts val="0"/>
              </a:spcBef>
              <a:buSzTx/>
              <a:buNone/>
              <a:defRPr sz="3200" b="0" i="0">
                <a:latin typeface="Chromatica" pitchFamily="2" charset="77"/>
              </a:defRPr>
            </a:lvl1pPr>
          </a:lstStyle>
          <a:p>
            <a:r>
              <a:rPr lang="tr-TR" dirty="0"/>
              <a:t>Sayfa içine eklenecek yazıları ve görselleri bu çerçeve sınırları içerisinde tutuyoruz. </a:t>
            </a:r>
            <a:br>
              <a:rPr lang="tr-TR" dirty="0"/>
            </a:b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85938865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ygulama/Pro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BA3E2F-7310-664B-8F7C-BCAA61B43015}"/>
              </a:ext>
            </a:extLst>
          </p:cNvPr>
          <p:cNvSpPr txBox="1"/>
          <p:nvPr userDrawn="1"/>
        </p:nvSpPr>
        <p:spPr>
          <a:xfrm>
            <a:off x="1020437" y="445773"/>
            <a:ext cx="3970924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TR" sz="32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 Medium" pitchFamily="2" charset="77"/>
                <a:ea typeface="+mn-ea"/>
                <a:cs typeface="+mn-cs"/>
                <a:sym typeface="Helvetica Neue"/>
              </a:rPr>
              <a:t>Uygulama: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D29AF0C-F761-0D48-B6EA-493695665B97}"/>
              </a:ext>
            </a:extLst>
          </p:cNvPr>
          <p:cNvCxnSpPr>
            <a:cxnSpLocks/>
          </p:cNvCxnSpPr>
          <p:nvPr userDrawn="1"/>
        </p:nvCxnSpPr>
        <p:spPr>
          <a:xfrm>
            <a:off x="1104900" y="1481652"/>
            <a:ext cx="22174200" cy="0"/>
          </a:xfrm>
          <a:prstGeom prst="line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843065F-7CF2-7246-8CC0-F1495A4666C3}"/>
              </a:ext>
            </a:extLst>
          </p:cNvPr>
          <p:cNvSpPr txBox="1"/>
          <p:nvPr userDrawn="1"/>
        </p:nvSpPr>
        <p:spPr>
          <a:xfrm>
            <a:off x="22320369" y="231769"/>
            <a:ext cx="912109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TR" sz="1800" b="0" i="0" u="none" strike="noStrike" kern="100" cap="none" spc="11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 Medium" pitchFamily="2" charset="77"/>
                <a:ea typeface="+mn-ea"/>
                <a:cs typeface="+mn-cs"/>
                <a:sym typeface="Helvetica Neue"/>
              </a:rPr>
              <a:t>MIUUL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6F1535-6CBA-3E42-8BE4-22718C21AF32}"/>
              </a:ext>
            </a:extLst>
          </p:cNvPr>
          <p:cNvSpPr txBox="1"/>
          <p:nvPr userDrawn="1"/>
        </p:nvSpPr>
        <p:spPr>
          <a:xfrm>
            <a:off x="23133892" y="275554"/>
            <a:ext cx="197170" cy="1795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TR" sz="5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 Medium" pitchFamily="2" charset="77"/>
                <a:ea typeface="+mn-ea"/>
                <a:cs typeface="+mn-cs"/>
                <a:sym typeface="Helvetica Neue"/>
              </a:rPr>
              <a:t>TM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896031-03CB-FC42-8AC2-462CCE101649}"/>
              </a:ext>
            </a:extLst>
          </p:cNvPr>
          <p:cNvSpPr txBox="1"/>
          <p:nvPr userDrawn="1"/>
        </p:nvSpPr>
        <p:spPr>
          <a:xfrm>
            <a:off x="19365581" y="857221"/>
            <a:ext cx="3970924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</a:pPr>
            <a:r>
              <a:rPr kumimoji="0" lang="en-TR" sz="13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" pitchFamily="2" charset="77"/>
                <a:ea typeface="+mn-ea"/>
                <a:cs typeface="+mn-cs"/>
                <a:sym typeface="Helvetica Neue"/>
              </a:rPr>
              <a:t>www.miuul.com</a:t>
            </a:r>
          </a:p>
          <a:p>
            <a:pPr marL="0" marR="0" indent="0" algn="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</a:pPr>
            <a:r>
              <a:rPr kumimoji="0" lang="en-TR" sz="13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" pitchFamily="2" charset="77"/>
                <a:ea typeface="+mn-ea"/>
                <a:cs typeface="+mn-cs"/>
                <a:sym typeface="Helvetica Neue"/>
              </a:rPr>
              <a:t>Copyright </a:t>
            </a:r>
            <a:r>
              <a:rPr kumimoji="0" lang="en-TR" sz="1300" b="0" i="0" u="none" strike="noStrike" cap="none" spc="0" normalizeH="0" baseline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" pitchFamily="2" charset="77"/>
                <a:ea typeface="+mn-ea"/>
                <a:cs typeface="+mn-cs"/>
                <a:sym typeface="Helvetica Neue"/>
              </a:rPr>
              <a:t>© Miuul. </a:t>
            </a:r>
            <a:r>
              <a:rPr kumimoji="0" lang="en-TR" sz="13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" pitchFamily="2" charset="77"/>
                <a:ea typeface="+mn-ea"/>
                <a:cs typeface="+mn-cs"/>
                <a:sym typeface="Helvetica Neue"/>
              </a:rPr>
              <a:t>All Rights Reserved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928544-B5DB-ED48-90E0-26946CC9B600}"/>
              </a:ext>
            </a:extLst>
          </p:cNvPr>
          <p:cNvSpPr txBox="1"/>
          <p:nvPr userDrawn="1"/>
        </p:nvSpPr>
        <p:spPr>
          <a:xfrm>
            <a:off x="22922972" y="-172462"/>
            <a:ext cx="10265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TR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9" name="Author and Date">
            <a:extLst>
              <a:ext uri="{FF2B5EF4-FFF2-40B4-BE49-F238E27FC236}">
                <a16:creationId xmlns:a16="http://schemas.microsoft.com/office/drawing/2014/main" id="{715D275F-DFDA-D245-9BDB-996B1F6EC6BD}"/>
              </a:ext>
            </a:extLst>
          </p:cNvPr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3529146" y="167779"/>
            <a:ext cx="13742854" cy="1169999"/>
          </a:xfrm>
          <a:prstGeom prst="rect">
            <a:avLst/>
          </a:prstGeom>
        </p:spPr>
        <p:txBody>
          <a:bodyPr lIns="45719" tIns="45719" rIns="45719" bIns="45719" anchor="ctr"/>
          <a:lstStyle>
            <a:lvl1pPr marL="0" indent="0" algn="l" defTabSz="825500">
              <a:lnSpc>
                <a:spcPct val="100000"/>
              </a:lnSpc>
              <a:spcBef>
                <a:spcPts val="0"/>
              </a:spcBef>
              <a:buSzTx/>
              <a:buNone/>
              <a:defRPr sz="3200" b="0" i="0">
                <a:latin typeface="Chromatica Medium" pitchFamily="2" charset="77"/>
              </a:defRPr>
            </a:lvl1pPr>
          </a:lstStyle>
          <a:p>
            <a:r>
              <a:rPr lang="tr-TR" dirty="0"/>
              <a:t>‘Projenin adını buraya yazın’</a:t>
            </a:r>
          </a:p>
        </p:txBody>
      </p:sp>
      <p:sp>
        <p:nvSpPr>
          <p:cNvPr id="10" name="Author and Date">
            <a:extLst>
              <a:ext uri="{FF2B5EF4-FFF2-40B4-BE49-F238E27FC236}">
                <a16:creationId xmlns:a16="http://schemas.microsoft.com/office/drawing/2014/main" id="{0F3C4248-EB51-CF40-BD7E-040A2460A589}"/>
              </a:ext>
            </a:extLst>
          </p:cNvPr>
          <p:cNvSpPr txBox="1">
            <a:spLocks noGrp="1"/>
          </p:cNvSpPr>
          <p:nvPr>
            <p:ph type="body" sz="quarter" idx="23" hasCustomPrompt="1"/>
          </p:nvPr>
        </p:nvSpPr>
        <p:spPr>
          <a:xfrm>
            <a:off x="1049411" y="2393941"/>
            <a:ext cx="22229689" cy="10350448"/>
          </a:xfrm>
          <a:prstGeom prst="rect">
            <a:avLst/>
          </a:prstGeom>
        </p:spPr>
        <p:txBody>
          <a:bodyPr lIns="45719" tIns="45719" rIns="45719" bIns="45719" anchor="t"/>
          <a:lstStyle>
            <a:lvl1pPr marL="0" indent="0" algn="l" defTabSz="825500">
              <a:lnSpc>
                <a:spcPct val="100000"/>
              </a:lnSpc>
              <a:spcBef>
                <a:spcPts val="0"/>
              </a:spcBef>
              <a:buSzTx/>
              <a:buNone/>
              <a:defRPr sz="3200" b="0" i="0">
                <a:latin typeface="Chromatica" pitchFamily="2" charset="77"/>
              </a:defRPr>
            </a:lvl1pPr>
          </a:lstStyle>
          <a:p>
            <a:r>
              <a:rPr lang="tr-TR" dirty="0"/>
              <a:t>Sayfa içine eklenecek yazıları ve görselleri bu çerçeve sınırları içerisinde tutuyoruz</a:t>
            </a:r>
          </a:p>
        </p:txBody>
      </p:sp>
    </p:spTree>
    <p:extLst>
      <p:ext uri="{BB962C8B-B14F-4D97-AF65-F5344CB8AC3E}">
        <p14:creationId xmlns:p14="http://schemas.microsoft.com/office/powerpoint/2010/main" val="3027570292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ölüm Öze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A31EE74-3E9F-4D4B-B3CB-FBB357DA2DF9}"/>
              </a:ext>
            </a:extLst>
          </p:cNvPr>
          <p:cNvSpPr/>
          <p:nvPr userDrawn="1"/>
        </p:nvSpPr>
        <p:spPr>
          <a:xfrm>
            <a:off x="1104899" y="2393941"/>
            <a:ext cx="10820397" cy="10350453"/>
          </a:xfrm>
          <a:prstGeom prst="rect">
            <a:avLst/>
          </a:prstGeom>
          <a:solidFill>
            <a:srgbClr val="03523C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TR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539120-26FA-9341-962C-7F435C73C35B}"/>
              </a:ext>
            </a:extLst>
          </p:cNvPr>
          <p:cNvSpPr txBox="1"/>
          <p:nvPr userDrawn="1"/>
        </p:nvSpPr>
        <p:spPr>
          <a:xfrm>
            <a:off x="1020437" y="445773"/>
            <a:ext cx="3970924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TR" sz="32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 Medium" pitchFamily="2" charset="77"/>
                <a:ea typeface="+mn-ea"/>
                <a:cs typeface="+mn-cs"/>
                <a:sym typeface="Helvetica Neue"/>
              </a:rPr>
              <a:t>Bölüm Özeti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8C12F33-0B8E-BC43-B871-1EA5470A9927}"/>
              </a:ext>
            </a:extLst>
          </p:cNvPr>
          <p:cNvCxnSpPr>
            <a:cxnSpLocks/>
          </p:cNvCxnSpPr>
          <p:nvPr userDrawn="1"/>
        </p:nvCxnSpPr>
        <p:spPr>
          <a:xfrm>
            <a:off x="1104900" y="1481652"/>
            <a:ext cx="22174200" cy="0"/>
          </a:xfrm>
          <a:prstGeom prst="line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FA109C9-B7D5-DB4E-850C-7A5E9DB5B35C}"/>
              </a:ext>
            </a:extLst>
          </p:cNvPr>
          <p:cNvSpPr txBox="1"/>
          <p:nvPr userDrawn="1"/>
        </p:nvSpPr>
        <p:spPr>
          <a:xfrm>
            <a:off x="22320369" y="231769"/>
            <a:ext cx="912109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TR" sz="1800" b="0" i="0" u="none" strike="noStrike" kern="100" cap="none" spc="11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 Medium" pitchFamily="2" charset="77"/>
                <a:ea typeface="+mn-ea"/>
                <a:cs typeface="+mn-cs"/>
                <a:sym typeface="Helvetica Neue"/>
              </a:rPr>
              <a:t>MIUUL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8A04EF-CF2A-4A4F-A9F2-EBBBD1E4DE2B}"/>
              </a:ext>
            </a:extLst>
          </p:cNvPr>
          <p:cNvSpPr txBox="1"/>
          <p:nvPr userDrawn="1"/>
        </p:nvSpPr>
        <p:spPr>
          <a:xfrm>
            <a:off x="23133892" y="275554"/>
            <a:ext cx="197170" cy="1795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TR" sz="5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 Medium" pitchFamily="2" charset="77"/>
                <a:ea typeface="+mn-ea"/>
                <a:cs typeface="+mn-cs"/>
                <a:sym typeface="Helvetica Neue"/>
              </a:rPr>
              <a:t>TM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347171-6DE6-5548-A5D2-656F5E929FC1}"/>
              </a:ext>
            </a:extLst>
          </p:cNvPr>
          <p:cNvSpPr txBox="1"/>
          <p:nvPr userDrawn="1"/>
        </p:nvSpPr>
        <p:spPr>
          <a:xfrm>
            <a:off x="19365581" y="857221"/>
            <a:ext cx="3970924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</a:pPr>
            <a:r>
              <a:rPr kumimoji="0" lang="en-TR" sz="13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" pitchFamily="2" charset="77"/>
                <a:ea typeface="+mn-ea"/>
                <a:cs typeface="+mn-cs"/>
                <a:sym typeface="Helvetica Neue"/>
              </a:rPr>
              <a:t>www.miuul.com</a:t>
            </a:r>
          </a:p>
          <a:p>
            <a:pPr marL="0" marR="0" indent="0" algn="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</a:pPr>
            <a:r>
              <a:rPr kumimoji="0" lang="en-TR" sz="13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" pitchFamily="2" charset="77"/>
                <a:ea typeface="+mn-ea"/>
                <a:cs typeface="+mn-cs"/>
                <a:sym typeface="Helvetica Neue"/>
              </a:rPr>
              <a:t>Copyright </a:t>
            </a:r>
            <a:r>
              <a:rPr kumimoji="0" lang="en-TR" sz="1300" b="0" i="0" u="none" strike="noStrike" cap="none" spc="0" normalizeH="0" baseline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" pitchFamily="2" charset="77"/>
                <a:ea typeface="+mn-ea"/>
                <a:cs typeface="+mn-cs"/>
                <a:sym typeface="Helvetica Neue"/>
              </a:rPr>
              <a:t>© Miuul. </a:t>
            </a:r>
            <a:r>
              <a:rPr kumimoji="0" lang="en-TR" sz="13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" pitchFamily="2" charset="77"/>
                <a:ea typeface="+mn-ea"/>
                <a:cs typeface="+mn-cs"/>
                <a:sym typeface="Helvetica Neue"/>
              </a:rPr>
              <a:t>All Rights Reserved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AD83E3-93BE-A248-92F5-A6089CE21B46}"/>
              </a:ext>
            </a:extLst>
          </p:cNvPr>
          <p:cNvSpPr txBox="1"/>
          <p:nvPr userDrawn="1"/>
        </p:nvSpPr>
        <p:spPr>
          <a:xfrm>
            <a:off x="22922972" y="-172462"/>
            <a:ext cx="10265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TR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0" name="Title 10">
            <a:extLst>
              <a:ext uri="{FF2B5EF4-FFF2-40B4-BE49-F238E27FC236}">
                <a16:creationId xmlns:a16="http://schemas.microsoft.com/office/drawing/2014/main" id="{54354A9F-DFCA-2E49-B4AA-AD78CA9ACE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397" y="6753904"/>
            <a:ext cx="9677400" cy="1433163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defRPr sz="3200" b="0" i="0" spc="0">
                <a:solidFill>
                  <a:srgbClr val="C9FFC7"/>
                </a:solidFill>
                <a:latin typeface="Chromatica" pitchFamily="2" charset="77"/>
              </a:defRPr>
            </a:lvl1pPr>
          </a:lstStyle>
          <a:p>
            <a:r>
              <a:rPr lang="en-US" dirty="0" err="1"/>
              <a:t>Bölüm</a:t>
            </a:r>
            <a:r>
              <a:rPr lang="en-US" dirty="0"/>
              <a:t> </a:t>
            </a:r>
            <a:r>
              <a:rPr lang="en-US" dirty="0" err="1"/>
              <a:t>adını</a:t>
            </a:r>
            <a:r>
              <a:rPr lang="en-US" dirty="0"/>
              <a:t> </a:t>
            </a:r>
            <a:r>
              <a:rPr lang="en-US" dirty="0" err="1"/>
              <a:t>buraya</a:t>
            </a:r>
            <a:r>
              <a:rPr lang="en-US" dirty="0"/>
              <a:t> </a:t>
            </a:r>
            <a:r>
              <a:rPr lang="en-US" dirty="0" err="1"/>
              <a:t>yazın</a:t>
            </a:r>
            <a:endParaRPr lang="en-TR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70CC902-E0D0-8F48-8054-775921E13EC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458706" y="2393942"/>
            <a:ext cx="10820394" cy="10350452"/>
          </a:xfrm>
          <a:prstGeom prst="rect">
            <a:avLst/>
          </a:prstGeom>
        </p:spPr>
        <p:txBody>
          <a:bodyPr anchor="ctr"/>
          <a:lstStyle>
            <a:lvl1pPr algn="l">
              <a:defRPr sz="3200" b="0" i="0">
                <a:latin typeface="Chromatica" pitchFamily="2" charset="77"/>
              </a:defRPr>
            </a:lvl1pPr>
          </a:lstStyle>
          <a:p>
            <a:pPr lvl="0"/>
            <a:r>
              <a:rPr lang="en-US" dirty="0"/>
              <a:t>’</a:t>
            </a:r>
            <a:r>
              <a:rPr lang="en-US" dirty="0" err="1"/>
              <a:t>Neler</a:t>
            </a:r>
            <a:r>
              <a:rPr lang="en-US" dirty="0"/>
              <a:t> </a:t>
            </a:r>
            <a:r>
              <a:rPr lang="en-US" dirty="0" err="1"/>
              <a:t>Öğrendik</a:t>
            </a:r>
            <a:r>
              <a:rPr lang="en-US" dirty="0"/>
              <a:t>?’ </a:t>
            </a:r>
            <a:r>
              <a:rPr lang="en-US" dirty="0" err="1"/>
              <a:t>kısa</a:t>
            </a:r>
            <a:r>
              <a:rPr lang="en-US" dirty="0"/>
              <a:t> </a:t>
            </a:r>
            <a:r>
              <a:rPr lang="en-US" dirty="0" err="1"/>
              <a:t>maddeler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listeleyelim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257710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rs Anlatım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hor and Date">
            <a:extLst>
              <a:ext uri="{FF2B5EF4-FFF2-40B4-BE49-F238E27FC236}">
                <a16:creationId xmlns:a16="http://schemas.microsoft.com/office/drawing/2014/main" id="{E5E2BDF8-0349-334B-BF6A-D7072B112F49}"/>
              </a:ext>
            </a:extLst>
          </p:cNvPr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049411" y="167779"/>
            <a:ext cx="15709901" cy="1169999"/>
          </a:xfrm>
          <a:prstGeom prst="rect">
            <a:avLst/>
          </a:prstGeom>
        </p:spPr>
        <p:txBody>
          <a:bodyPr lIns="45719" tIns="45719" rIns="45719" bIns="45719" anchor="ctr"/>
          <a:lstStyle>
            <a:lvl1pPr marL="0" indent="0" algn="l" defTabSz="825500">
              <a:lnSpc>
                <a:spcPct val="100000"/>
              </a:lnSpc>
              <a:spcBef>
                <a:spcPts val="0"/>
              </a:spcBef>
              <a:buSzTx/>
              <a:buNone/>
              <a:defRPr sz="3200" b="0" i="0">
                <a:latin typeface="Chromatica Medium" pitchFamily="2" charset="77"/>
              </a:defRPr>
            </a:lvl1pPr>
          </a:lstStyle>
          <a:p>
            <a:r>
              <a:rPr lang="tr-TR" dirty="0"/>
              <a:t>Dersin adını buraya yazın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0B40B19-566E-A743-BF82-7FDFA5614D83}"/>
              </a:ext>
            </a:extLst>
          </p:cNvPr>
          <p:cNvCxnSpPr>
            <a:cxnSpLocks/>
          </p:cNvCxnSpPr>
          <p:nvPr userDrawn="1"/>
        </p:nvCxnSpPr>
        <p:spPr>
          <a:xfrm>
            <a:off x="1104900" y="1481652"/>
            <a:ext cx="22174200" cy="0"/>
          </a:xfrm>
          <a:prstGeom prst="line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01E5980-45BA-614F-AC8B-C106D2EB33A8}"/>
              </a:ext>
            </a:extLst>
          </p:cNvPr>
          <p:cNvSpPr txBox="1"/>
          <p:nvPr userDrawn="1"/>
        </p:nvSpPr>
        <p:spPr>
          <a:xfrm>
            <a:off x="6160286" y="631141"/>
            <a:ext cx="10265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TR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6EF5B0-9520-1A41-8DBD-9F983BCFBB0F}"/>
              </a:ext>
            </a:extLst>
          </p:cNvPr>
          <p:cNvSpPr txBox="1"/>
          <p:nvPr userDrawn="1"/>
        </p:nvSpPr>
        <p:spPr>
          <a:xfrm>
            <a:off x="22320369" y="231769"/>
            <a:ext cx="912109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TR" sz="1800" b="0" i="0" u="none" strike="noStrike" kern="100" cap="none" spc="11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 Medium" pitchFamily="2" charset="77"/>
                <a:ea typeface="+mn-ea"/>
                <a:cs typeface="+mn-cs"/>
                <a:sym typeface="Helvetica Neue"/>
              </a:rPr>
              <a:t>MIUUL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5CF718-ACE3-2946-B725-C3C12C26870E}"/>
              </a:ext>
            </a:extLst>
          </p:cNvPr>
          <p:cNvSpPr txBox="1"/>
          <p:nvPr userDrawn="1"/>
        </p:nvSpPr>
        <p:spPr>
          <a:xfrm>
            <a:off x="23133892" y="279950"/>
            <a:ext cx="197170" cy="1795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TR" sz="5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 Medium" pitchFamily="2" charset="77"/>
                <a:ea typeface="+mn-ea"/>
                <a:cs typeface="+mn-cs"/>
                <a:sym typeface="Helvetica Neue"/>
              </a:rPr>
              <a:t>TM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D8CEC82-FA21-5D4B-8318-FE278F38F3F6}"/>
              </a:ext>
            </a:extLst>
          </p:cNvPr>
          <p:cNvSpPr txBox="1"/>
          <p:nvPr userDrawn="1"/>
        </p:nvSpPr>
        <p:spPr>
          <a:xfrm>
            <a:off x="19365581" y="857221"/>
            <a:ext cx="3970924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</a:pPr>
            <a:r>
              <a:rPr kumimoji="0" lang="en-TR" sz="13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" pitchFamily="2" charset="77"/>
                <a:ea typeface="+mn-ea"/>
                <a:cs typeface="+mn-cs"/>
                <a:sym typeface="Helvetica Neue"/>
              </a:rPr>
              <a:t>www.miuul.com</a:t>
            </a:r>
          </a:p>
          <a:p>
            <a:pPr marL="0" marR="0" indent="0" algn="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</a:pPr>
            <a:r>
              <a:rPr kumimoji="0" lang="en-TR" sz="13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" pitchFamily="2" charset="77"/>
                <a:ea typeface="+mn-ea"/>
                <a:cs typeface="+mn-cs"/>
                <a:sym typeface="Helvetica Neue"/>
              </a:rPr>
              <a:t>Copyright </a:t>
            </a:r>
            <a:r>
              <a:rPr kumimoji="0" lang="en-TR" sz="1300" b="0" i="0" u="none" strike="noStrike" cap="none" spc="0" normalizeH="0" baseline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" pitchFamily="2" charset="77"/>
                <a:ea typeface="+mn-ea"/>
                <a:cs typeface="+mn-cs"/>
                <a:sym typeface="Helvetica Neue"/>
              </a:rPr>
              <a:t>© Miuul. </a:t>
            </a:r>
            <a:r>
              <a:rPr kumimoji="0" lang="en-TR" sz="13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" pitchFamily="2" charset="77"/>
                <a:ea typeface="+mn-ea"/>
                <a:cs typeface="+mn-cs"/>
                <a:sym typeface="Helvetica Neue"/>
              </a:rPr>
              <a:t>All Rights Reserved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50CEEE-A67E-6A49-B778-7AAC10C70C22}"/>
              </a:ext>
            </a:extLst>
          </p:cNvPr>
          <p:cNvSpPr txBox="1"/>
          <p:nvPr userDrawn="1"/>
        </p:nvSpPr>
        <p:spPr>
          <a:xfrm>
            <a:off x="22922972" y="-172462"/>
            <a:ext cx="10265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TR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022315224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5572609"/>
            <a:ext cx="21971000" cy="2570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rPr lang="tr-TR" dirty="0"/>
              <a:t>Eğitim/Bölüm/Ders Adı</a:t>
            </a:r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1" r:id="rId2"/>
    <p:sldLayoutId id="2147483654" r:id="rId3"/>
    <p:sldLayoutId id="2147483656" r:id="rId4"/>
    <p:sldLayoutId id="2147483657" r:id="rId5"/>
  </p:sldLayoutIdLst>
  <p:transition spd="med"/>
  <p:txStyles>
    <p:titleStyle>
      <a:lvl1pPr marL="0" marR="0" indent="0" algn="ctr" defTabSz="2438338" rtl="0" eaLnBrk="1" latinLnBrk="0" hangingPunct="1">
        <a:lnSpc>
          <a:spcPct val="100000"/>
        </a:lnSpc>
        <a:spcBef>
          <a:spcPts val="1200"/>
        </a:spcBef>
        <a:spcAft>
          <a:spcPts val="1200"/>
        </a:spcAft>
        <a:buClrTx/>
        <a:buSzTx/>
        <a:buFontTx/>
        <a:buNone/>
        <a:tabLst/>
        <a:defRPr sz="7200" b="0" i="0" u="none" strike="noStrike" cap="none" spc="-170" baseline="0">
          <a:solidFill>
            <a:srgbClr val="000000"/>
          </a:solidFill>
          <a:uFillTx/>
          <a:latin typeface="Chromatica" pitchFamily="2" charset="77"/>
          <a:ea typeface="+mn-ea"/>
          <a:cs typeface="+mn-cs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ann_image18.png"/><Relationship Id="rId4" Type="http://schemas.openxmlformats.org/officeDocument/2006/relationships/image" Target="../media/ann_image19.png"/><Relationship Id="rId5" Type="http://schemas.openxmlformats.org/officeDocument/2006/relationships/image" Target="../media/ann_image2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ann_image21.png"/><Relationship Id="rId4" Type="http://schemas.openxmlformats.org/officeDocument/2006/relationships/image" Target="../media/ann_image19.png"/><Relationship Id="rId5" Type="http://schemas.openxmlformats.org/officeDocument/2006/relationships/image" Target="../media/ann_image2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ann_image22.png"/><Relationship Id="rId4" Type="http://schemas.openxmlformats.org/officeDocument/2006/relationships/image" Target="../media/ann_image19.png"/><Relationship Id="rId5" Type="http://schemas.openxmlformats.org/officeDocument/2006/relationships/image" Target="../media/ann_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ann_image23.png"/><Relationship Id="rId3" Type="http://schemas.openxmlformats.org/officeDocument/2006/relationships/image" Target="../media/ann_image19.png"/><Relationship Id="rId4" Type="http://schemas.openxmlformats.org/officeDocument/2006/relationships/image" Target="../media/ann_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ann_image23.png"/><Relationship Id="rId4" Type="http://schemas.openxmlformats.org/officeDocument/2006/relationships/image" Target="../media/ann_image19.png"/><Relationship Id="rId5" Type="http://schemas.openxmlformats.org/officeDocument/2006/relationships/image" Target="../media/ann_image20.png"/><Relationship Id="rId6" Type="http://schemas.openxmlformats.org/officeDocument/2006/relationships/image" Target="../media/ann_image2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ann_image23.png"/><Relationship Id="rId3" Type="http://schemas.openxmlformats.org/officeDocument/2006/relationships/image" Target="../media/ann_image19.png"/><Relationship Id="rId4" Type="http://schemas.openxmlformats.org/officeDocument/2006/relationships/image" Target="../media/ann_image20.png"/><Relationship Id="rId5" Type="http://schemas.openxmlformats.org/officeDocument/2006/relationships/image" Target="../media/ann_image2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ann_image23.png"/><Relationship Id="rId3" Type="http://schemas.openxmlformats.org/officeDocument/2006/relationships/image" Target="../media/ann_image19.png"/><Relationship Id="rId4" Type="http://schemas.openxmlformats.org/officeDocument/2006/relationships/image" Target="../media/ann_image20.png"/><Relationship Id="rId5" Type="http://schemas.openxmlformats.org/officeDocument/2006/relationships/image" Target="../media/ann_image2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ann_image23.png"/><Relationship Id="rId4" Type="http://schemas.openxmlformats.org/officeDocument/2006/relationships/image" Target="../media/ann_image19.png"/><Relationship Id="rId5" Type="http://schemas.openxmlformats.org/officeDocument/2006/relationships/image" Target="../media/ann_image20.png"/><Relationship Id="rId6" Type="http://schemas.openxmlformats.org/officeDocument/2006/relationships/image" Target="../media/ann_image2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ann_image28.png"/><Relationship Id="rId4" Type="http://schemas.openxmlformats.org/officeDocument/2006/relationships/image" Target="../media/ann_image29.png"/><Relationship Id="rId5" Type="http://schemas.openxmlformats.org/officeDocument/2006/relationships/image" Target="../media/ann_image30.png"/><Relationship Id="rId6" Type="http://schemas.openxmlformats.org/officeDocument/2006/relationships/image" Target="../media/ann_image31.png"/><Relationship Id="rId7" Type="http://schemas.openxmlformats.org/officeDocument/2006/relationships/image" Target="../media/ann_image3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ann_image28.png"/><Relationship Id="rId4" Type="http://schemas.openxmlformats.org/officeDocument/2006/relationships/image" Target="../media/ann_image29.png"/><Relationship Id="rId5" Type="http://schemas.openxmlformats.org/officeDocument/2006/relationships/image" Target="../media/ann_image33.png"/><Relationship Id="rId6" Type="http://schemas.openxmlformats.org/officeDocument/2006/relationships/image" Target="../media/ann_image31.png"/><Relationship Id="rId7" Type="http://schemas.openxmlformats.org/officeDocument/2006/relationships/image" Target="../media/ann_image3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1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1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1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1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16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17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18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87048" cy="13716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0" y="1417320"/>
            <a:ext cx="18900648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200" b="1">
                <a:solidFill>
                  <a:srgbClr val="FFFFFF"/>
                </a:solidFill>
              </a:rPr>
              <a:t>Deep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4206240"/>
            <a:ext cx="1188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C08A2E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4160520"/>
            <a:ext cx="142646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Derin Öğrenmenin Hikâyesi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5248655"/>
            <a:ext cx="1188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C08A2E"/>
                </a:solidFill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5202936"/>
            <a:ext cx="142646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Neden Deep Learning?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6291072"/>
            <a:ext cx="1188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C08A2E"/>
                </a:solidFill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245352"/>
            <a:ext cx="142646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Nasıl Öğreniyor? Nöron, Loss, Gradient Descent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7287768"/>
            <a:ext cx="142646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0">
                <a:solidFill>
                  <a:srgbClr val="8A8A8A"/>
                </a:solidFill>
              </a:rPr>
              <a:t>Ara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470880" y="7342631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600" b="1">
                <a:solidFill>
                  <a:srgbClr val="8A8A8A"/>
                </a:solidFill>
              </a:rPr>
              <a:t>10 dk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8375904"/>
            <a:ext cx="1188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C08A2E"/>
                </a:solidFill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8330183"/>
            <a:ext cx="142646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dirty="0">
                <a:solidFill>
                  <a:srgbClr val="FFFFFF"/>
                </a:solidFill>
              </a:rPr>
              <a:t>Hangi </a:t>
            </a:r>
            <a:r>
              <a:rPr sz="3400" b="1" dirty="0" err="1">
                <a:solidFill>
                  <a:srgbClr val="FFFFFF"/>
                </a:solidFill>
              </a:rPr>
              <a:t>Mimariler</a:t>
            </a:r>
            <a:r>
              <a:rPr sz="3400" b="1" dirty="0">
                <a:solidFill>
                  <a:srgbClr val="FFFFFF"/>
                </a:solidFill>
              </a:rPr>
              <a:t> Var? ANN, CNN, RNN / LSTM, Transformer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9418320"/>
            <a:ext cx="1188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C08A2E"/>
                </a:solidFill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9372600"/>
            <a:ext cx="142646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Colab Uygulaması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10460736"/>
            <a:ext cx="1188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C08A2E"/>
                </a:solidFill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10415016"/>
            <a:ext cx="142646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Özet &amp; Ödev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743200" y="11978640"/>
            <a:ext cx="18928080" cy="0"/>
          </a:xfrm>
          <a:prstGeom prst="line">
            <a:avLst/>
          </a:prstGeom>
          <a:ln w="1905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743200" y="12252960"/>
            <a:ext cx="1890064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Veysel Murat Görken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12938760"/>
            <a:ext cx="189006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>
                <a:solidFill>
                  <a:srgbClr val="C08A2E"/>
                </a:solidFill>
              </a:rPr>
              <a:t>Data Scientist / AI Engineer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" y="12728448"/>
            <a:ext cx="222199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29" name="Picture 28" descr="logo_miu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" y="12527280"/>
            <a:ext cx="1984248" cy="12161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</a:rPr>
              <a:t>Derin Öğrenmenin Hikâyesi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66543" y="1874519"/>
            <a:ext cx="20244816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0">
                <a:solidFill>
                  <a:srgbClr val="1A1A1A"/>
                </a:solidFill>
              </a:rPr>
              <a:t>Fikir 1986'da hazırdı. Patlama için </a:t>
            </a:r>
            <a:r>
              <a:rPr sz="4000" b="1">
                <a:solidFill>
                  <a:srgbClr val="1A1A1A"/>
                </a:solidFill>
              </a:rPr>
              <a:t>veri, hesaplama gücü ve pes etmeyen birkaç kişinin</a:t>
            </a:r>
            <a:r>
              <a:rPr sz="4000" b="0">
                <a:solidFill>
                  <a:srgbClr val="1A1A1A"/>
                </a:solidFill>
              </a:rPr>
              <a:t> aynı anda olgunlaşması gerekti.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280160" y="4069080"/>
            <a:ext cx="21826728" cy="0"/>
          </a:xfrm>
          <a:prstGeom prst="line">
            <a:avLst/>
          </a:prstGeom>
          <a:ln w="31750">
            <a:solidFill>
              <a:srgbClr val="D5D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2926080" y="3931920"/>
            <a:ext cx="274320" cy="274320"/>
          </a:xfrm>
          <a:prstGeom prst="ellipse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3063240" y="4206240"/>
            <a:ext cx="0" cy="246888"/>
          </a:xfrm>
          <a:prstGeom prst="line">
            <a:avLst/>
          </a:prstGeom>
          <a:ln w="25400">
            <a:solidFill>
              <a:srgbClr val="D5D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80160" y="4507992"/>
            <a:ext cx="356616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15263F"/>
                </a:solidFill>
              </a:rPr>
              <a:t>1950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5111496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>
                <a:solidFill>
                  <a:srgbClr val="1A1A1A"/>
                </a:solidFill>
              </a:rPr>
              <a:t>Turing'in sorusu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76272" y="5788152"/>
            <a:ext cx="1773936" cy="384048"/>
          </a:xfrm>
          <a:prstGeom prst="roundRect">
            <a:avLst>
              <a:gd name="adj" fmla="val 42000"/>
            </a:avLst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Turing Testi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6291072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6E6E6E"/>
                </a:solidFill>
              </a:rPr>
              <a:t>Turing zekâyı tanımlamak yerine ölçmeyi önerdi: taklit oyunu.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79" y="3931920"/>
            <a:ext cx="274320" cy="274320"/>
          </a:xfrm>
          <a:prstGeom prst="ellipse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6720840" y="4206240"/>
            <a:ext cx="0" cy="246888"/>
          </a:xfrm>
          <a:prstGeom prst="line">
            <a:avLst/>
          </a:prstGeom>
          <a:ln w="25400">
            <a:solidFill>
              <a:srgbClr val="D5D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937759" y="4507992"/>
            <a:ext cx="356616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15263F"/>
                </a:solidFill>
              </a:rPr>
              <a:t>1956–1959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59" y="5111496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>
                <a:solidFill>
                  <a:srgbClr val="1A1A1A"/>
                </a:solidFill>
              </a:rPr>
              <a:t>İki terim doğuyor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79" y="5788152"/>
            <a:ext cx="2103120" cy="384048"/>
          </a:xfrm>
          <a:prstGeom prst="roundRect">
            <a:avLst>
              <a:gd name="adj" fmla="val 42000"/>
            </a:avLst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Perceptron 1957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59" y="6291072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6E6E6E"/>
                </a:solidFill>
              </a:rPr>
              <a:t>Dartmouth'ta "artificial intelligence", 1959'da Arthur Samuel'in dama programıyla "machine learning".</a:t>
            </a:r>
          </a:p>
        </p:txBody>
      </p:sp>
      <p:sp>
        <p:nvSpPr>
          <p:cNvPr id="17" name="Oval 16"/>
          <p:cNvSpPr/>
          <p:nvPr/>
        </p:nvSpPr>
        <p:spPr>
          <a:xfrm>
            <a:off x="10241280" y="3931920"/>
            <a:ext cx="274320" cy="274320"/>
          </a:xfrm>
          <a:prstGeom prst="ellipse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18" name="Connector 17"/>
          <p:cNvCxnSpPr/>
          <p:nvPr/>
        </p:nvCxnSpPr>
        <p:spPr>
          <a:xfrm>
            <a:off x="10378440" y="4206240"/>
            <a:ext cx="0" cy="246888"/>
          </a:xfrm>
          <a:prstGeom prst="line">
            <a:avLst/>
          </a:prstGeom>
          <a:ln w="25400">
            <a:solidFill>
              <a:srgbClr val="D5D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595360" y="4507992"/>
            <a:ext cx="356616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15263F"/>
                </a:solidFill>
              </a:rPr>
              <a:t>1986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5111496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>
                <a:solidFill>
                  <a:srgbClr val="1A1A1A"/>
                </a:solidFill>
              </a:rPr>
              <a:t>Backpropagation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6291072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6E6E6E"/>
                </a:solidFill>
              </a:rPr>
              <a:t>Rumelhart, Hinton &amp; Williams. Ağı eğitmenin yolu bulundu, ama alan yine gözden düştü.</a:t>
            </a:r>
          </a:p>
        </p:txBody>
      </p:sp>
      <p:sp>
        <p:nvSpPr>
          <p:cNvPr id="22" name="Oval 21"/>
          <p:cNvSpPr/>
          <p:nvPr/>
        </p:nvSpPr>
        <p:spPr>
          <a:xfrm>
            <a:off x="13898880" y="3931920"/>
            <a:ext cx="274320" cy="274320"/>
          </a:xfrm>
          <a:prstGeom prst="ellipse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23" name="Connector 22"/>
          <p:cNvCxnSpPr/>
          <p:nvPr/>
        </p:nvCxnSpPr>
        <p:spPr>
          <a:xfrm>
            <a:off x="14036040" y="4206240"/>
            <a:ext cx="0" cy="246888"/>
          </a:xfrm>
          <a:prstGeom prst="line">
            <a:avLst/>
          </a:prstGeom>
          <a:ln w="25400">
            <a:solidFill>
              <a:srgbClr val="D5D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2252960" y="4507992"/>
            <a:ext cx="356616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15263F"/>
                </a:solidFill>
              </a:rPr>
              <a:t>1991–1999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52960" y="5111496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>
                <a:solidFill>
                  <a:srgbClr val="1A1A1A"/>
                </a:solidFill>
              </a:rPr>
              <a:t>Herkes web'e koşuyor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642848" y="5788152"/>
            <a:ext cx="786384" cy="384048"/>
          </a:xfrm>
          <a:prstGeom prst="roundRect">
            <a:avLst>
              <a:gd name="adj" fmla="val 42000"/>
            </a:avLst>
          </a:prstGeom>
          <a:solidFill>
            <a:srgbClr val="2B5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WWW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52960" y="6291072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6E6E6E"/>
                </a:solidFill>
              </a:rPr>
              <a:t>WWW halka açıldı, dot-com çılgınlığı başladı. Zekâ da para da web'e aktı.</a:t>
            </a:r>
          </a:p>
        </p:txBody>
      </p:sp>
      <p:sp>
        <p:nvSpPr>
          <p:cNvPr id="28" name="Oval 27"/>
          <p:cNvSpPr/>
          <p:nvPr/>
        </p:nvSpPr>
        <p:spPr>
          <a:xfrm>
            <a:off x="17556480" y="3931920"/>
            <a:ext cx="274320" cy="274320"/>
          </a:xfrm>
          <a:prstGeom prst="ellipse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29" name="Connector 28"/>
          <p:cNvCxnSpPr/>
          <p:nvPr/>
        </p:nvCxnSpPr>
        <p:spPr>
          <a:xfrm>
            <a:off x="17693640" y="4206240"/>
            <a:ext cx="0" cy="246888"/>
          </a:xfrm>
          <a:prstGeom prst="line">
            <a:avLst/>
          </a:prstGeom>
          <a:ln w="25400">
            <a:solidFill>
              <a:srgbClr val="D5D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5910560" y="4507992"/>
            <a:ext cx="356616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15263F"/>
                </a:solidFill>
              </a:rPr>
              <a:t>2000'ler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910560" y="5111496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>
                <a:solidFill>
                  <a:srgbClr val="1A1A1A"/>
                </a:solidFill>
              </a:rPr>
              <a:t>Ilya, Hinton'ın kapısında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910560" y="6291072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6E6E6E"/>
                </a:solidFill>
              </a:rPr>
              <a:t>Toronto'da bir öğrenci, yaz tatilinde bedava çalışmak için "ölü" denen alanı seçti.</a:t>
            </a:r>
          </a:p>
        </p:txBody>
      </p:sp>
      <p:sp>
        <p:nvSpPr>
          <p:cNvPr id="33" name="Oval 32"/>
          <p:cNvSpPr/>
          <p:nvPr/>
        </p:nvSpPr>
        <p:spPr>
          <a:xfrm>
            <a:off x="21214080" y="3931920"/>
            <a:ext cx="274320" cy="274320"/>
          </a:xfrm>
          <a:prstGeom prst="ellipse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34" name="Connector 33"/>
          <p:cNvCxnSpPr/>
          <p:nvPr/>
        </p:nvCxnSpPr>
        <p:spPr>
          <a:xfrm>
            <a:off x="21351240" y="4206240"/>
            <a:ext cx="0" cy="246888"/>
          </a:xfrm>
          <a:prstGeom prst="line">
            <a:avLst/>
          </a:prstGeom>
          <a:ln w="25400">
            <a:solidFill>
              <a:srgbClr val="D5D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9568160" y="4507992"/>
            <a:ext cx="356616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15263F"/>
                </a:solidFill>
              </a:rPr>
              <a:t>2007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568160" y="5111496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>
                <a:solidFill>
                  <a:srgbClr val="1A1A1A"/>
                </a:solidFill>
              </a:rPr>
              <a:t>Hesaplama gücü geldi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0519136" y="5788152"/>
            <a:ext cx="1664207" cy="384048"/>
          </a:xfrm>
          <a:prstGeom prst="roundRect">
            <a:avLst>
              <a:gd name="adj" fmla="val 4200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NVIDIA CUDA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568160" y="6291072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6E6E6E"/>
                </a:solidFill>
              </a:rPr>
              <a:t>CUDA ile oyun ekran kartı bilim aletine dönüştü; eğitim haftalardan günlere indi.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280160" y="8275320"/>
            <a:ext cx="21826728" cy="0"/>
          </a:xfrm>
          <a:prstGeom prst="line">
            <a:avLst/>
          </a:prstGeom>
          <a:ln w="31750">
            <a:solidFill>
              <a:srgbClr val="D5D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2926080" y="8138160"/>
            <a:ext cx="274320" cy="274320"/>
          </a:xfrm>
          <a:prstGeom prst="ellipse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41" name="Connector 40"/>
          <p:cNvCxnSpPr/>
          <p:nvPr/>
        </p:nvCxnSpPr>
        <p:spPr>
          <a:xfrm>
            <a:off x="3063240" y="8412480"/>
            <a:ext cx="0" cy="246888"/>
          </a:xfrm>
          <a:prstGeom prst="line">
            <a:avLst/>
          </a:prstGeom>
          <a:ln w="25400">
            <a:solidFill>
              <a:srgbClr val="D5D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280160" y="8714232"/>
            <a:ext cx="356616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15263F"/>
                </a:solidFill>
              </a:rPr>
              <a:t>2009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80160" y="9317736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>
                <a:solidFill>
                  <a:srgbClr val="1A1A1A"/>
                </a:solidFill>
              </a:rPr>
              <a:t>Veri geldi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389888" y="9994392"/>
            <a:ext cx="1773936" cy="384048"/>
          </a:xfrm>
          <a:prstGeom prst="roundRect">
            <a:avLst>
              <a:gd name="adj" fmla="val 42000"/>
            </a:avLst>
          </a:prstGeom>
          <a:solidFill>
            <a:srgbClr val="187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Sosyal medya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91840" y="9994392"/>
            <a:ext cx="1444752" cy="384048"/>
          </a:xfrm>
          <a:prstGeom prst="roundRect">
            <a:avLst>
              <a:gd name="adj" fmla="val 42000"/>
            </a:avLst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Wikipedia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80160" y="10497312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6E6E6E"/>
                </a:solidFill>
              </a:rPr>
              <a:t>Web 2.0 kullanıcıyı üretici yaptı. ImageNet: milyonlarca etiketli görsel, tek yerde.</a:t>
            </a:r>
          </a:p>
        </p:txBody>
      </p:sp>
      <p:sp>
        <p:nvSpPr>
          <p:cNvPr id="47" name="Oval 46"/>
          <p:cNvSpPr/>
          <p:nvPr/>
        </p:nvSpPr>
        <p:spPr>
          <a:xfrm>
            <a:off x="6510527" y="8065008"/>
            <a:ext cx="420624" cy="420624"/>
          </a:xfrm>
          <a:prstGeom prst="ellipse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48" name="Connector 47"/>
          <p:cNvCxnSpPr/>
          <p:nvPr/>
        </p:nvCxnSpPr>
        <p:spPr>
          <a:xfrm>
            <a:off x="6720840" y="8485632"/>
            <a:ext cx="0" cy="173736"/>
          </a:xfrm>
          <a:prstGeom prst="line">
            <a:avLst/>
          </a:prstGeom>
          <a:ln w="25400">
            <a:solidFill>
              <a:srgbClr val="D5D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937759" y="8714232"/>
            <a:ext cx="356616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C08A2E"/>
                </a:solidFill>
              </a:rPr>
              <a:t>17 Ekim 2012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37759" y="9317736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>
                <a:solidFill>
                  <a:srgbClr val="1A1A1A"/>
                </a:solidFill>
              </a:rPr>
              <a:t>AlexNet — kırılma anı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08192" y="9994392"/>
            <a:ext cx="1225295" cy="384048"/>
          </a:xfrm>
          <a:prstGeom prst="roundRect">
            <a:avLst>
              <a:gd name="adj" fmla="val 4200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 × GPU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37759" y="10497312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6E6E6E"/>
                </a:solidFill>
              </a:rPr>
              <a:t>Krizhevsky, Sutskever &amp; Hinton. Top-5 hatası %26'dan %15'e düştü; herkes önce hile sandı.</a:t>
            </a:r>
          </a:p>
        </p:txBody>
      </p:sp>
      <p:sp>
        <p:nvSpPr>
          <p:cNvPr id="53" name="Oval 52"/>
          <p:cNvSpPr/>
          <p:nvPr/>
        </p:nvSpPr>
        <p:spPr>
          <a:xfrm>
            <a:off x="10241280" y="8138160"/>
            <a:ext cx="274320" cy="274320"/>
          </a:xfrm>
          <a:prstGeom prst="ellipse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54" name="Connector 53"/>
          <p:cNvCxnSpPr/>
          <p:nvPr/>
        </p:nvCxnSpPr>
        <p:spPr>
          <a:xfrm>
            <a:off x="10378440" y="8412480"/>
            <a:ext cx="0" cy="246888"/>
          </a:xfrm>
          <a:prstGeom prst="line">
            <a:avLst/>
          </a:prstGeom>
          <a:ln w="25400">
            <a:solidFill>
              <a:srgbClr val="D5D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8595360" y="8714232"/>
            <a:ext cx="356616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15263F"/>
                </a:solidFill>
              </a:rPr>
              <a:t>2013–2015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95360" y="9317736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>
                <a:solidFill>
                  <a:srgbClr val="1A1A1A"/>
                </a:solidFill>
              </a:rPr>
              <a:t>Önce Google, sonra OpenAI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95360" y="10497312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6E6E6E"/>
                </a:solidFill>
              </a:rPr>
              <a:t>Google Ilya'yı aldı. 2015'te Musk, Altman, Brockman ve Ilya OpenAI'ı kurdu.</a:t>
            </a:r>
          </a:p>
        </p:txBody>
      </p:sp>
      <p:sp>
        <p:nvSpPr>
          <p:cNvPr id="58" name="Oval 57"/>
          <p:cNvSpPr/>
          <p:nvPr/>
        </p:nvSpPr>
        <p:spPr>
          <a:xfrm>
            <a:off x="13898880" y="8138160"/>
            <a:ext cx="274320" cy="274320"/>
          </a:xfrm>
          <a:prstGeom prst="ellipse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59" name="Connector 58"/>
          <p:cNvCxnSpPr/>
          <p:nvPr/>
        </p:nvCxnSpPr>
        <p:spPr>
          <a:xfrm>
            <a:off x="14036040" y="8412480"/>
            <a:ext cx="0" cy="246888"/>
          </a:xfrm>
          <a:prstGeom prst="line">
            <a:avLst/>
          </a:prstGeom>
          <a:ln w="25400">
            <a:solidFill>
              <a:srgbClr val="D5D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12252960" y="8714232"/>
            <a:ext cx="356616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15263F"/>
                </a:solidFill>
              </a:rPr>
              <a:t>2017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252960" y="9317736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>
                <a:solidFill>
                  <a:srgbClr val="1A1A1A"/>
                </a:solidFill>
              </a:rPr>
              <a:t>Transformer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252960" y="10497312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6E6E6E"/>
                </a:solidFill>
              </a:rPr>
              <a:t>"Attention Is All You Need". Ölçeklenebilir mimari, tüm alanların ortak dili oldu.</a:t>
            </a:r>
          </a:p>
        </p:txBody>
      </p:sp>
      <p:sp>
        <p:nvSpPr>
          <p:cNvPr id="63" name="Oval 62"/>
          <p:cNvSpPr/>
          <p:nvPr/>
        </p:nvSpPr>
        <p:spPr>
          <a:xfrm>
            <a:off x="17556480" y="8138160"/>
            <a:ext cx="274320" cy="274320"/>
          </a:xfrm>
          <a:prstGeom prst="ellipse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64" name="Connector 63"/>
          <p:cNvCxnSpPr/>
          <p:nvPr/>
        </p:nvCxnSpPr>
        <p:spPr>
          <a:xfrm>
            <a:off x="17693640" y="8412480"/>
            <a:ext cx="0" cy="246888"/>
          </a:xfrm>
          <a:prstGeom prst="line">
            <a:avLst/>
          </a:prstGeom>
          <a:ln w="25400">
            <a:solidFill>
              <a:srgbClr val="D5D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15910560" y="8714232"/>
            <a:ext cx="356616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15263F"/>
                </a:solidFill>
              </a:rPr>
              <a:t>2022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5910560" y="9317736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>
                <a:solidFill>
                  <a:srgbClr val="1A1A1A"/>
                </a:solidFill>
              </a:rPr>
              <a:t>ChatGPT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5910560" y="10497312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6E6E6E"/>
                </a:solidFill>
              </a:rPr>
              <a:t>Ilya'nın tezi: ölçekle, gerisine karışma. Model büyüdükçe beklenmedik yetenekler belirdi.</a:t>
            </a:r>
          </a:p>
        </p:txBody>
      </p:sp>
      <p:sp>
        <p:nvSpPr>
          <p:cNvPr id="68" name="Oval 67"/>
          <p:cNvSpPr/>
          <p:nvPr/>
        </p:nvSpPr>
        <p:spPr>
          <a:xfrm>
            <a:off x="21214080" y="8138160"/>
            <a:ext cx="274320" cy="274320"/>
          </a:xfrm>
          <a:prstGeom prst="ellipse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69" name="Connector 68"/>
          <p:cNvCxnSpPr/>
          <p:nvPr/>
        </p:nvCxnSpPr>
        <p:spPr>
          <a:xfrm>
            <a:off x="21351240" y="8412480"/>
            <a:ext cx="0" cy="246888"/>
          </a:xfrm>
          <a:prstGeom prst="line">
            <a:avLst/>
          </a:prstGeom>
          <a:ln w="25400">
            <a:solidFill>
              <a:srgbClr val="D5D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19568160" y="8714232"/>
            <a:ext cx="356616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15263F"/>
                </a:solidFill>
              </a:rPr>
              <a:t>2024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9568160" y="9317736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>
                <a:solidFill>
                  <a:srgbClr val="1A1A1A"/>
                </a:solidFill>
              </a:rPr>
              <a:t>Nobel Ödülleri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9568160" y="10497312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6E6E6E"/>
                </a:solidFill>
              </a:rPr>
              <a:t>Hinton'a Fizik (Hopfield ile), Hassabis &amp; Jumper'a Kimya (AlphaFold).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280160" y="12070080"/>
            <a:ext cx="21826728" cy="10058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920240" y="12344400"/>
            <a:ext cx="2054656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0">
                <a:solidFill>
                  <a:srgbClr val="15263F"/>
                </a:solidFill>
              </a:rPr>
              <a:t>Veri sosyal medyadan, hesaplama gücü oyun kartlarından geldi. </a:t>
            </a:r>
            <a:r>
              <a:rPr sz="2200" b="1">
                <a:solidFill>
                  <a:srgbClr val="15263F"/>
                </a:solidFill>
              </a:rPr>
              <a:t>Herkes web'e koşarken Ilya, kimsenin bakmadığı yere gitti.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</a:rPr>
              <a:t>Derin Öğrenmenin Hikâyesi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280160" y="2148840"/>
            <a:ext cx="21826728" cy="0"/>
          </a:xfrm>
          <a:prstGeom prst="line">
            <a:avLst/>
          </a:prstGeom>
          <a:ln w="25400">
            <a:solidFill>
              <a:srgbClr val="D5D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920240" y="2057400"/>
            <a:ext cx="182880" cy="182880"/>
          </a:xfrm>
          <a:prstGeom prst="ellipse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9A9A9A"/>
                </a:solidFill>
              </a:rPr>
              <a:t>1950</a:t>
            </a:r>
          </a:p>
        </p:txBody>
      </p:sp>
      <p:sp>
        <p:nvSpPr>
          <p:cNvPr id="6" name="Oval 5"/>
          <p:cNvSpPr/>
          <p:nvPr/>
        </p:nvSpPr>
        <p:spPr>
          <a:xfrm>
            <a:off x="3771484" y="2057400"/>
            <a:ext cx="182880" cy="182880"/>
          </a:xfrm>
          <a:prstGeom prst="ellipse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857084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9A9A9A"/>
                </a:solidFill>
              </a:rPr>
              <a:t>1956</a:t>
            </a:r>
          </a:p>
        </p:txBody>
      </p:sp>
      <p:sp>
        <p:nvSpPr>
          <p:cNvPr id="8" name="Oval 7"/>
          <p:cNvSpPr/>
          <p:nvPr/>
        </p:nvSpPr>
        <p:spPr>
          <a:xfrm>
            <a:off x="5622728" y="2057400"/>
            <a:ext cx="182880" cy="182880"/>
          </a:xfrm>
          <a:prstGeom prst="ellipse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08328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9A9A9A"/>
                </a:solidFill>
              </a:rPr>
              <a:t>1986</a:t>
            </a:r>
          </a:p>
        </p:txBody>
      </p:sp>
      <p:sp>
        <p:nvSpPr>
          <p:cNvPr id="10" name="Oval 9"/>
          <p:cNvSpPr/>
          <p:nvPr/>
        </p:nvSpPr>
        <p:spPr>
          <a:xfrm>
            <a:off x="7473973" y="2057400"/>
            <a:ext cx="182880" cy="182880"/>
          </a:xfrm>
          <a:prstGeom prst="ellipse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59573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9A9A9A"/>
                </a:solidFill>
              </a:rPr>
              <a:t>1991</a:t>
            </a:r>
          </a:p>
        </p:txBody>
      </p:sp>
      <p:sp>
        <p:nvSpPr>
          <p:cNvPr id="12" name="Oval 11"/>
          <p:cNvSpPr/>
          <p:nvPr/>
        </p:nvSpPr>
        <p:spPr>
          <a:xfrm>
            <a:off x="9325217" y="2057400"/>
            <a:ext cx="182880" cy="182880"/>
          </a:xfrm>
          <a:prstGeom prst="ellipse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0817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9A9A9A"/>
                </a:solidFill>
              </a:rPr>
              <a:t>2000'ler</a:t>
            </a:r>
          </a:p>
        </p:txBody>
      </p:sp>
      <p:sp>
        <p:nvSpPr>
          <p:cNvPr id="14" name="Oval 13"/>
          <p:cNvSpPr/>
          <p:nvPr/>
        </p:nvSpPr>
        <p:spPr>
          <a:xfrm>
            <a:off x="11176461" y="2057400"/>
            <a:ext cx="182880" cy="182880"/>
          </a:xfrm>
          <a:prstGeom prst="ellipse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262061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9A9A9A"/>
                </a:solidFill>
              </a:rPr>
              <a:t>2007</a:t>
            </a:r>
          </a:p>
        </p:txBody>
      </p:sp>
      <p:sp>
        <p:nvSpPr>
          <p:cNvPr id="16" name="Oval 15"/>
          <p:cNvSpPr/>
          <p:nvPr/>
        </p:nvSpPr>
        <p:spPr>
          <a:xfrm>
            <a:off x="13027706" y="2057400"/>
            <a:ext cx="182880" cy="182880"/>
          </a:xfrm>
          <a:prstGeom prst="ellipse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113306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9A9A9A"/>
                </a:solidFill>
              </a:rPr>
              <a:t>2009</a:t>
            </a:r>
          </a:p>
        </p:txBody>
      </p:sp>
      <p:sp>
        <p:nvSpPr>
          <p:cNvPr id="18" name="Oval 17"/>
          <p:cNvSpPr/>
          <p:nvPr/>
        </p:nvSpPr>
        <p:spPr>
          <a:xfrm>
            <a:off x="14878950" y="2057400"/>
            <a:ext cx="182880" cy="182880"/>
          </a:xfrm>
          <a:prstGeom prst="ellipse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964550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9A9A9A"/>
                </a:solidFill>
              </a:rPr>
              <a:t>2012</a:t>
            </a:r>
          </a:p>
        </p:txBody>
      </p:sp>
      <p:sp>
        <p:nvSpPr>
          <p:cNvPr id="20" name="Oval 19"/>
          <p:cNvSpPr/>
          <p:nvPr/>
        </p:nvSpPr>
        <p:spPr>
          <a:xfrm>
            <a:off x="16730194" y="2057400"/>
            <a:ext cx="182880" cy="182880"/>
          </a:xfrm>
          <a:prstGeom prst="ellipse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5815794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9A9A9A"/>
                </a:solidFill>
              </a:rPr>
              <a:t>2015</a:t>
            </a:r>
          </a:p>
        </p:txBody>
      </p:sp>
      <p:sp>
        <p:nvSpPr>
          <p:cNvPr id="22" name="Oval 21"/>
          <p:cNvSpPr/>
          <p:nvPr/>
        </p:nvSpPr>
        <p:spPr>
          <a:xfrm>
            <a:off x="18581439" y="2057400"/>
            <a:ext cx="182880" cy="182880"/>
          </a:xfrm>
          <a:prstGeom prst="ellipse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7667039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9A9A9A"/>
                </a:solidFill>
              </a:rPr>
              <a:t>2017</a:t>
            </a:r>
          </a:p>
        </p:txBody>
      </p:sp>
      <p:sp>
        <p:nvSpPr>
          <p:cNvPr id="24" name="Oval 23"/>
          <p:cNvSpPr/>
          <p:nvPr/>
        </p:nvSpPr>
        <p:spPr>
          <a:xfrm>
            <a:off x="20432683" y="2057400"/>
            <a:ext cx="182880" cy="182880"/>
          </a:xfrm>
          <a:prstGeom prst="ellipse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9518283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9A9A9A"/>
                </a:solidFill>
              </a:rPr>
              <a:t>2022</a:t>
            </a:r>
          </a:p>
        </p:txBody>
      </p:sp>
      <p:sp>
        <p:nvSpPr>
          <p:cNvPr id="26" name="Oval 25"/>
          <p:cNvSpPr/>
          <p:nvPr/>
        </p:nvSpPr>
        <p:spPr>
          <a:xfrm>
            <a:off x="22283927" y="2057400"/>
            <a:ext cx="182880" cy="182880"/>
          </a:xfrm>
          <a:prstGeom prst="ellipse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1369527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9A9A9A"/>
                </a:solidFill>
              </a:rPr>
              <a:t>2024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66543" y="3063240"/>
            <a:ext cx="20244816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0">
                <a:solidFill>
                  <a:srgbClr val="1A1A1A"/>
                </a:solidFill>
              </a:rPr>
              <a:t>Jobs'ın yanında Wozniak, Frodo'nun yanında Sam vardı. </a:t>
            </a:r>
            <a:r>
              <a:rPr sz="3800" b="1">
                <a:solidFill>
                  <a:srgbClr val="1A1A1A"/>
                </a:solidFill>
              </a:rPr>
              <a:t>Sam Altman'ın yanındaki isim: Ilya Sutskever.</a:t>
            </a:r>
          </a:p>
        </p:txBody>
      </p:sp>
      <p:pic>
        <p:nvPicPr>
          <p:cNvPr id="29" name="Picture 28" descr="stevejob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6042" y="5074920"/>
            <a:ext cx="6478882" cy="4160520"/>
          </a:xfrm>
          <a:prstGeom prst="rect">
            <a:avLst/>
          </a:prstGeom>
          <a:ln w="12700">
            <a:solidFill>
              <a:srgbClr val="DDDDDD"/>
            </a:solidFill>
          </a:ln>
        </p:spPr>
      </p:pic>
      <p:sp>
        <p:nvSpPr>
          <p:cNvPr id="30" name="TextBox 29"/>
          <p:cNvSpPr txBox="1"/>
          <p:nvPr/>
        </p:nvSpPr>
        <p:spPr>
          <a:xfrm>
            <a:off x="1677924" y="9436608"/>
            <a:ext cx="6675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6E6E6E"/>
                </a:solidFill>
              </a:rPr>
              <a:t>Steve Jobs &amp; Steve Wozniak</a:t>
            </a:r>
          </a:p>
        </p:txBody>
      </p:sp>
      <p:pic>
        <p:nvPicPr>
          <p:cNvPr id="31" name="Picture 30" descr="frod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7438" y="5074920"/>
            <a:ext cx="6492170" cy="4160520"/>
          </a:xfrm>
          <a:prstGeom prst="rect">
            <a:avLst/>
          </a:prstGeom>
          <a:ln w="12700">
            <a:solidFill>
              <a:srgbClr val="DDDDDD"/>
            </a:solidFill>
          </a:ln>
        </p:spPr>
      </p:pic>
      <p:sp>
        <p:nvSpPr>
          <p:cNvPr id="32" name="TextBox 31"/>
          <p:cNvSpPr txBox="1"/>
          <p:nvPr/>
        </p:nvSpPr>
        <p:spPr>
          <a:xfrm>
            <a:off x="8855964" y="9436608"/>
            <a:ext cx="6675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6E6E6E"/>
                </a:solidFill>
              </a:rPr>
              <a:t>Frodo &amp; Sam</a:t>
            </a:r>
          </a:p>
        </p:txBody>
      </p:sp>
      <p:pic>
        <p:nvPicPr>
          <p:cNvPr id="33" name="Picture 32" descr="altmanvesustke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11036" y="5074920"/>
            <a:ext cx="6521054" cy="4160520"/>
          </a:xfrm>
          <a:prstGeom prst="rect">
            <a:avLst/>
          </a:prstGeom>
          <a:ln w="12700">
            <a:solidFill>
              <a:srgbClr val="DDDDDD"/>
            </a:solidFill>
          </a:ln>
        </p:spPr>
      </p:pic>
      <p:sp>
        <p:nvSpPr>
          <p:cNvPr id="34" name="TextBox 33"/>
          <p:cNvSpPr txBox="1"/>
          <p:nvPr/>
        </p:nvSpPr>
        <p:spPr>
          <a:xfrm>
            <a:off x="16034004" y="9436608"/>
            <a:ext cx="6675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6E6E6E"/>
                </a:solidFill>
              </a:rPr>
              <a:t>Sam Altman &amp; Ilya Sutskever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80160" y="10561320"/>
            <a:ext cx="21826728" cy="14173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011680" y="10561320"/>
            <a:ext cx="20363688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</a:rPr>
              <a:t>OpenAI'ın arkasındaki asıl beyin. Kurduğu yapıya sonradan cephe alması yüzünden ona </a:t>
            </a:r>
            <a:r>
              <a:rPr sz="2400" b="1">
                <a:solidFill>
                  <a:srgbClr val="15263F"/>
                </a:solidFill>
              </a:rPr>
              <a:t>"yapay zekâ çağının Oppenheimer'ı"</a:t>
            </a:r>
            <a:r>
              <a:rPr sz="2400" b="0">
                <a:solidFill>
                  <a:srgbClr val="15263F"/>
                </a:solidFill>
              </a:rPr>
              <a:t> deniyor — en büyük hataları en büyük zihinler yapar.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</a:rPr>
              <a:t>Ilya Sutskever kimdir?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280160" y="2148840"/>
            <a:ext cx="21826728" cy="0"/>
          </a:xfrm>
          <a:prstGeom prst="line">
            <a:avLst/>
          </a:prstGeom>
          <a:ln w="25400">
            <a:solidFill>
              <a:srgbClr val="D5D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920240" y="2057400"/>
            <a:ext cx="182880" cy="182880"/>
          </a:xfrm>
          <a:prstGeom prst="ellipse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9A9A9A"/>
                </a:solidFill>
              </a:rPr>
              <a:t>1950</a:t>
            </a:r>
          </a:p>
        </p:txBody>
      </p:sp>
      <p:sp>
        <p:nvSpPr>
          <p:cNvPr id="6" name="Oval 5"/>
          <p:cNvSpPr/>
          <p:nvPr/>
        </p:nvSpPr>
        <p:spPr>
          <a:xfrm>
            <a:off x="3771484" y="2057400"/>
            <a:ext cx="182880" cy="182880"/>
          </a:xfrm>
          <a:prstGeom prst="ellipse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857084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9A9A9A"/>
                </a:solidFill>
              </a:rPr>
              <a:t>1956</a:t>
            </a:r>
          </a:p>
        </p:txBody>
      </p:sp>
      <p:sp>
        <p:nvSpPr>
          <p:cNvPr id="8" name="Oval 7"/>
          <p:cNvSpPr/>
          <p:nvPr/>
        </p:nvSpPr>
        <p:spPr>
          <a:xfrm>
            <a:off x="5622728" y="2057400"/>
            <a:ext cx="182880" cy="182880"/>
          </a:xfrm>
          <a:prstGeom prst="ellipse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08328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9A9A9A"/>
                </a:solidFill>
              </a:rPr>
              <a:t>1986</a:t>
            </a:r>
          </a:p>
        </p:txBody>
      </p:sp>
      <p:sp>
        <p:nvSpPr>
          <p:cNvPr id="10" name="Oval 9"/>
          <p:cNvSpPr/>
          <p:nvPr/>
        </p:nvSpPr>
        <p:spPr>
          <a:xfrm>
            <a:off x="7473973" y="2057400"/>
            <a:ext cx="182880" cy="182880"/>
          </a:xfrm>
          <a:prstGeom prst="ellipse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59573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9A9A9A"/>
                </a:solidFill>
              </a:rPr>
              <a:t>1991</a:t>
            </a:r>
          </a:p>
        </p:txBody>
      </p:sp>
      <p:sp>
        <p:nvSpPr>
          <p:cNvPr id="12" name="Oval 11"/>
          <p:cNvSpPr/>
          <p:nvPr/>
        </p:nvSpPr>
        <p:spPr>
          <a:xfrm>
            <a:off x="9261209" y="1993392"/>
            <a:ext cx="310896" cy="310896"/>
          </a:xfrm>
          <a:prstGeom prst="ellipse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0817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C08A2E"/>
                </a:solidFill>
              </a:rPr>
              <a:t>2000'ler</a:t>
            </a:r>
          </a:p>
        </p:txBody>
      </p:sp>
      <p:sp>
        <p:nvSpPr>
          <p:cNvPr id="14" name="Oval 13"/>
          <p:cNvSpPr/>
          <p:nvPr/>
        </p:nvSpPr>
        <p:spPr>
          <a:xfrm>
            <a:off x="11176461" y="2057400"/>
            <a:ext cx="182880" cy="182880"/>
          </a:xfrm>
          <a:prstGeom prst="ellipse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262061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9A9A9A"/>
                </a:solidFill>
              </a:rPr>
              <a:t>2007</a:t>
            </a:r>
          </a:p>
        </p:txBody>
      </p:sp>
      <p:sp>
        <p:nvSpPr>
          <p:cNvPr id="16" name="Oval 15"/>
          <p:cNvSpPr/>
          <p:nvPr/>
        </p:nvSpPr>
        <p:spPr>
          <a:xfrm>
            <a:off x="13027706" y="2057400"/>
            <a:ext cx="182880" cy="182880"/>
          </a:xfrm>
          <a:prstGeom prst="ellipse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113306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9A9A9A"/>
                </a:solidFill>
              </a:rPr>
              <a:t>2009</a:t>
            </a:r>
          </a:p>
        </p:txBody>
      </p:sp>
      <p:sp>
        <p:nvSpPr>
          <p:cNvPr id="18" name="Oval 17"/>
          <p:cNvSpPr/>
          <p:nvPr/>
        </p:nvSpPr>
        <p:spPr>
          <a:xfrm>
            <a:off x="14878950" y="2057400"/>
            <a:ext cx="182880" cy="182880"/>
          </a:xfrm>
          <a:prstGeom prst="ellipse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964550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9A9A9A"/>
                </a:solidFill>
              </a:rPr>
              <a:t>2012</a:t>
            </a:r>
          </a:p>
        </p:txBody>
      </p:sp>
      <p:sp>
        <p:nvSpPr>
          <p:cNvPr id="20" name="Oval 19"/>
          <p:cNvSpPr/>
          <p:nvPr/>
        </p:nvSpPr>
        <p:spPr>
          <a:xfrm>
            <a:off x="16730194" y="2057400"/>
            <a:ext cx="182880" cy="182880"/>
          </a:xfrm>
          <a:prstGeom prst="ellipse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5815794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9A9A9A"/>
                </a:solidFill>
              </a:rPr>
              <a:t>2015</a:t>
            </a:r>
          </a:p>
        </p:txBody>
      </p:sp>
      <p:sp>
        <p:nvSpPr>
          <p:cNvPr id="22" name="Oval 21"/>
          <p:cNvSpPr/>
          <p:nvPr/>
        </p:nvSpPr>
        <p:spPr>
          <a:xfrm>
            <a:off x="18581439" y="2057400"/>
            <a:ext cx="182880" cy="182880"/>
          </a:xfrm>
          <a:prstGeom prst="ellipse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7667039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9A9A9A"/>
                </a:solidFill>
              </a:rPr>
              <a:t>2017</a:t>
            </a:r>
          </a:p>
        </p:txBody>
      </p:sp>
      <p:sp>
        <p:nvSpPr>
          <p:cNvPr id="24" name="Oval 23"/>
          <p:cNvSpPr/>
          <p:nvPr/>
        </p:nvSpPr>
        <p:spPr>
          <a:xfrm>
            <a:off x="20432683" y="2057400"/>
            <a:ext cx="182880" cy="182880"/>
          </a:xfrm>
          <a:prstGeom prst="ellipse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9518283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9A9A9A"/>
                </a:solidFill>
              </a:rPr>
              <a:t>2022</a:t>
            </a:r>
          </a:p>
        </p:txBody>
      </p:sp>
      <p:sp>
        <p:nvSpPr>
          <p:cNvPr id="26" name="Oval 25"/>
          <p:cNvSpPr/>
          <p:nvPr/>
        </p:nvSpPr>
        <p:spPr>
          <a:xfrm>
            <a:off x="22283927" y="2057400"/>
            <a:ext cx="182880" cy="182880"/>
          </a:xfrm>
          <a:prstGeom prst="ellipse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1369527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9A9A9A"/>
                </a:solidFill>
              </a:rPr>
              <a:t>2024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66543" y="3063240"/>
            <a:ext cx="20244816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0">
                <a:solidFill>
                  <a:srgbClr val="1A1A1A"/>
                </a:solidFill>
              </a:rPr>
              <a:t>1985'te Sovyetler'de doğdu, Kudüs'te büyüdü, lisede Kanada'ya taşındı — </a:t>
            </a:r>
            <a:r>
              <a:rPr sz="3800" b="1">
                <a:solidFill>
                  <a:srgbClr val="1A1A1A"/>
                </a:solidFill>
              </a:rPr>
              <a:t>bir ay sonra Toronto Üniversitesi'ne alındı.</a:t>
            </a:r>
          </a:p>
        </p:txBody>
      </p:sp>
      <p:pic>
        <p:nvPicPr>
          <p:cNvPr id="29" name="Picture 28" descr="ilyadog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5120640"/>
            <a:ext cx="11434572" cy="5623560"/>
          </a:xfrm>
          <a:prstGeom prst="rect">
            <a:avLst/>
          </a:prstGeom>
          <a:ln w="12700">
            <a:solidFill>
              <a:srgbClr val="DDDDDD"/>
            </a:solidFill>
          </a:ln>
        </p:spPr>
      </p:pic>
      <p:sp>
        <p:nvSpPr>
          <p:cNvPr id="30" name="TextBox 29"/>
          <p:cNvSpPr txBox="1"/>
          <p:nvPr/>
        </p:nvSpPr>
        <p:spPr>
          <a:xfrm>
            <a:off x="1463040" y="10908792"/>
            <a:ext cx="1143457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0">
                <a:solidFill>
                  <a:srgbClr val="6E6E6E"/>
                </a:solidFill>
              </a:rPr>
              <a:t>Kudüs, 1990 — Sovyetler dağıldıktan sonra ailesiyle İsrail'e taşınmıştı.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3761720" y="5120640"/>
            <a:ext cx="9144000" cy="562356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4401800" y="5669279"/>
            <a:ext cx="7863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5263F"/>
                </a:solidFill>
              </a:rPr>
              <a:t>Okul yıllarını bu soruların peşinde geçirdi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401800" y="6720840"/>
            <a:ext cx="7863840" cy="3429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2300" b="0">
                <a:solidFill>
                  <a:srgbClr val="1A1A1A"/>
                </a:solidFill>
              </a:rPr>
              <a:t>•  Zekâ nedir?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2300" b="0">
                <a:solidFill>
                  <a:srgbClr val="1A1A1A"/>
                </a:solidFill>
              </a:rPr>
              <a:t>•  Zekâ nasıl çalışır?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2300" b="0">
                <a:solidFill>
                  <a:srgbClr val="1A1A1A"/>
                </a:solidFill>
              </a:rPr>
              <a:t>•  Beyin örüntüleri nasıl okur?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2300" b="0">
                <a:solidFill>
                  <a:srgbClr val="1A1A1A"/>
                </a:solidFill>
              </a:rPr>
              <a:t>•  Hafıza dediğimiz şey nasıl çalışır?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2300" b="0">
                <a:solidFill>
                  <a:srgbClr val="1A1A1A"/>
                </a:solidFill>
              </a:rPr>
              <a:t>•  Nöronlar nasıl iletişim kurar?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</a:rPr>
              <a:t>Herkes 90'ların internet çılgınlığıyla meşgulken </a:t>
            </a:r>
            <a:r>
              <a:rPr sz="2400" b="1">
                <a:solidFill>
                  <a:srgbClr val="15263F"/>
                </a:solidFill>
              </a:rPr>
              <a:t>onun aklında düşünen makineler vardı.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</a:rPr>
              <a:t>Çöpten geleceğe: sinir ağları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280160" y="2148840"/>
            <a:ext cx="21826728" cy="0"/>
          </a:xfrm>
          <a:prstGeom prst="line">
            <a:avLst/>
          </a:prstGeom>
          <a:ln w="25400">
            <a:solidFill>
              <a:srgbClr val="D5D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920240" y="2057400"/>
            <a:ext cx="182880" cy="182880"/>
          </a:xfrm>
          <a:prstGeom prst="ellipse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9A9A9A"/>
                </a:solidFill>
              </a:rPr>
              <a:t>1950</a:t>
            </a:r>
          </a:p>
        </p:txBody>
      </p:sp>
      <p:sp>
        <p:nvSpPr>
          <p:cNvPr id="6" name="Oval 5"/>
          <p:cNvSpPr/>
          <p:nvPr/>
        </p:nvSpPr>
        <p:spPr>
          <a:xfrm>
            <a:off x="3771484" y="2057400"/>
            <a:ext cx="182880" cy="182880"/>
          </a:xfrm>
          <a:prstGeom prst="ellipse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857084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9A9A9A"/>
                </a:solidFill>
              </a:rPr>
              <a:t>1956</a:t>
            </a:r>
          </a:p>
        </p:txBody>
      </p:sp>
      <p:sp>
        <p:nvSpPr>
          <p:cNvPr id="8" name="Oval 7"/>
          <p:cNvSpPr/>
          <p:nvPr/>
        </p:nvSpPr>
        <p:spPr>
          <a:xfrm>
            <a:off x="5622728" y="2057400"/>
            <a:ext cx="182880" cy="182880"/>
          </a:xfrm>
          <a:prstGeom prst="ellipse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08328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9A9A9A"/>
                </a:solidFill>
              </a:rPr>
              <a:t>1986</a:t>
            </a:r>
          </a:p>
        </p:txBody>
      </p:sp>
      <p:sp>
        <p:nvSpPr>
          <p:cNvPr id="10" name="Oval 9"/>
          <p:cNvSpPr/>
          <p:nvPr/>
        </p:nvSpPr>
        <p:spPr>
          <a:xfrm>
            <a:off x="7473973" y="2057400"/>
            <a:ext cx="182880" cy="182880"/>
          </a:xfrm>
          <a:prstGeom prst="ellipse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59573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9A9A9A"/>
                </a:solidFill>
              </a:rPr>
              <a:t>1991</a:t>
            </a:r>
          </a:p>
        </p:txBody>
      </p:sp>
      <p:sp>
        <p:nvSpPr>
          <p:cNvPr id="12" name="Oval 11"/>
          <p:cNvSpPr/>
          <p:nvPr/>
        </p:nvSpPr>
        <p:spPr>
          <a:xfrm>
            <a:off x="9261209" y="1993392"/>
            <a:ext cx="310896" cy="310896"/>
          </a:xfrm>
          <a:prstGeom prst="ellipse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0817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C08A2E"/>
                </a:solidFill>
              </a:rPr>
              <a:t>2000'ler</a:t>
            </a:r>
          </a:p>
        </p:txBody>
      </p:sp>
      <p:sp>
        <p:nvSpPr>
          <p:cNvPr id="14" name="Oval 13"/>
          <p:cNvSpPr/>
          <p:nvPr/>
        </p:nvSpPr>
        <p:spPr>
          <a:xfrm>
            <a:off x="11176461" y="2057400"/>
            <a:ext cx="182880" cy="182880"/>
          </a:xfrm>
          <a:prstGeom prst="ellipse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262061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9A9A9A"/>
                </a:solidFill>
              </a:rPr>
              <a:t>2007</a:t>
            </a:r>
          </a:p>
        </p:txBody>
      </p:sp>
      <p:sp>
        <p:nvSpPr>
          <p:cNvPr id="16" name="Oval 15"/>
          <p:cNvSpPr/>
          <p:nvPr/>
        </p:nvSpPr>
        <p:spPr>
          <a:xfrm>
            <a:off x="13027706" y="2057400"/>
            <a:ext cx="182880" cy="182880"/>
          </a:xfrm>
          <a:prstGeom prst="ellipse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113306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9A9A9A"/>
                </a:solidFill>
              </a:rPr>
              <a:t>2009</a:t>
            </a:r>
          </a:p>
        </p:txBody>
      </p:sp>
      <p:sp>
        <p:nvSpPr>
          <p:cNvPr id="18" name="Oval 17"/>
          <p:cNvSpPr/>
          <p:nvPr/>
        </p:nvSpPr>
        <p:spPr>
          <a:xfrm>
            <a:off x="14878950" y="2057400"/>
            <a:ext cx="182880" cy="182880"/>
          </a:xfrm>
          <a:prstGeom prst="ellipse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964550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9A9A9A"/>
                </a:solidFill>
              </a:rPr>
              <a:t>2012</a:t>
            </a:r>
          </a:p>
        </p:txBody>
      </p:sp>
      <p:sp>
        <p:nvSpPr>
          <p:cNvPr id="20" name="Oval 19"/>
          <p:cNvSpPr/>
          <p:nvPr/>
        </p:nvSpPr>
        <p:spPr>
          <a:xfrm>
            <a:off x="16730194" y="2057400"/>
            <a:ext cx="182880" cy="182880"/>
          </a:xfrm>
          <a:prstGeom prst="ellipse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5815794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9A9A9A"/>
                </a:solidFill>
              </a:rPr>
              <a:t>2015</a:t>
            </a:r>
          </a:p>
        </p:txBody>
      </p:sp>
      <p:sp>
        <p:nvSpPr>
          <p:cNvPr id="22" name="Oval 21"/>
          <p:cNvSpPr/>
          <p:nvPr/>
        </p:nvSpPr>
        <p:spPr>
          <a:xfrm>
            <a:off x="18581439" y="2057400"/>
            <a:ext cx="182880" cy="182880"/>
          </a:xfrm>
          <a:prstGeom prst="ellipse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7667039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9A9A9A"/>
                </a:solidFill>
              </a:rPr>
              <a:t>2017</a:t>
            </a:r>
          </a:p>
        </p:txBody>
      </p:sp>
      <p:sp>
        <p:nvSpPr>
          <p:cNvPr id="24" name="Oval 23"/>
          <p:cNvSpPr/>
          <p:nvPr/>
        </p:nvSpPr>
        <p:spPr>
          <a:xfrm>
            <a:off x="20432683" y="2057400"/>
            <a:ext cx="182880" cy="182880"/>
          </a:xfrm>
          <a:prstGeom prst="ellipse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9518283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9A9A9A"/>
                </a:solidFill>
              </a:rPr>
              <a:t>2022</a:t>
            </a:r>
          </a:p>
        </p:txBody>
      </p:sp>
      <p:sp>
        <p:nvSpPr>
          <p:cNvPr id="26" name="Oval 25"/>
          <p:cNvSpPr/>
          <p:nvPr/>
        </p:nvSpPr>
        <p:spPr>
          <a:xfrm>
            <a:off x="22283927" y="2057400"/>
            <a:ext cx="182880" cy="182880"/>
          </a:xfrm>
          <a:prstGeom prst="ellipse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1369527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9A9A9A"/>
                </a:solidFill>
              </a:rPr>
              <a:t>2024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66543" y="3063240"/>
            <a:ext cx="20244816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0">
                <a:solidFill>
                  <a:srgbClr val="1A1A1A"/>
                </a:solidFill>
              </a:rPr>
              <a:t>Ilya, Hinton'ın kapısını çaldı: </a:t>
            </a:r>
            <a:r>
              <a:rPr sz="3800" b="1">
                <a:solidFill>
                  <a:srgbClr val="1A1A1A"/>
                </a:solidFill>
              </a:rPr>
              <a:t>yaz tatilinde, ücretsiz çalışmak için.</a:t>
            </a:r>
            <a:r>
              <a:rPr sz="3800" b="0">
                <a:solidFill>
                  <a:srgbClr val="1A1A1A"/>
                </a:solidFill>
              </a:rPr>
              <a:t> Herkesin "ölü" dediği alanı seçmişti.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540764" y="5120640"/>
            <a:ext cx="10241280" cy="521208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180844" y="5669279"/>
            <a:ext cx="896111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8A3B2F"/>
                </a:solidFill>
              </a:rPr>
              <a:t>Klasik yöntem: kuralı sen yaz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80844" y="6720840"/>
            <a:ext cx="8961119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2200" b="0">
                <a:solidFill>
                  <a:srgbClr val="1A1A1A"/>
                </a:solidFill>
              </a:rPr>
              <a:t>•  "Bıyığı vardır, kulakları vardır, tüylüdür."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2200" b="0">
                <a:solidFill>
                  <a:srgbClr val="1A1A1A"/>
                </a:solidFill>
              </a:rPr>
              <a:t>•  Ya kedi arkasını dönmüşse?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2200" b="0">
                <a:solidFill>
                  <a:srgbClr val="1A1A1A"/>
                </a:solidFill>
              </a:rPr>
              <a:t>•  Ya fotoğrafta yarısı görünmüyorsa?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2200" b="0">
                <a:solidFill>
                  <a:srgbClr val="1A1A1A"/>
                </a:solidFill>
              </a:rPr>
              <a:t>•  Ya ışık iyi değilse?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2200" b="0">
                <a:solidFill>
                  <a:srgbClr val="1A1A1A"/>
                </a:solidFill>
              </a:rPr>
              <a:t>•  Tek bir kedi için on binlerce kural.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2605004" y="5120640"/>
            <a:ext cx="10241280" cy="521208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3245084" y="5669279"/>
            <a:ext cx="896111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5263F"/>
                </a:solidFill>
              </a:rPr>
              <a:t>Hinton'ın fikri: örüntüyü o bulsun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45084" y="6720840"/>
            <a:ext cx="8961119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2200" b="0">
                <a:solidFill>
                  <a:srgbClr val="1A1A1A"/>
                </a:solidFill>
              </a:rPr>
              <a:t>•  Milyonlarca kedi fotoğrafı göster.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2200" b="0">
                <a:solidFill>
                  <a:srgbClr val="1A1A1A"/>
                </a:solidFill>
              </a:rPr>
              <a:t>•  Hiç kural koyma.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2200" b="0">
                <a:solidFill>
                  <a:srgbClr val="1A1A1A"/>
                </a:solidFill>
              </a:rPr>
              <a:t>•  Ağırlıkları veriden kendisi ayarlasın.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2200" b="0">
                <a:solidFill>
                  <a:srgbClr val="1A1A1A"/>
                </a:solidFill>
              </a:rPr>
              <a:t>•  Gereken tek şey: çok veri ve çok hesap.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2200" b="0">
                <a:solidFill>
                  <a:srgbClr val="1A1A1A"/>
                </a:solidFill>
              </a:rPr>
              <a:t>•  O dönem ikisi de yoktu.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</a:rPr>
              <a:t>Amaç bilgisayara balık vermek değildi — </a:t>
            </a:r>
            <a:r>
              <a:rPr sz="2400" b="1">
                <a:solidFill>
                  <a:srgbClr val="15263F"/>
                </a:solidFill>
              </a:rPr>
              <a:t>balık tutmayı öğretmekti.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</a:rPr>
              <a:t>Eksik parça: veri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280160" y="2148840"/>
            <a:ext cx="21826728" cy="0"/>
          </a:xfrm>
          <a:prstGeom prst="line">
            <a:avLst/>
          </a:prstGeom>
          <a:ln w="25400">
            <a:solidFill>
              <a:srgbClr val="D5D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920240" y="2057400"/>
            <a:ext cx="182880" cy="182880"/>
          </a:xfrm>
          <a:prstGeom prst="ellipse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9A9A9A"/>
                </a:solidFill>
              </a:rPr>
              <a:t>1950</a:t>
            </a:r>
          </a:p>
        </p:txBody>
      </p:sp>
      <p:sp>
        <p:nvSpPr>
          <p:cNvPr id="6" name="Oval 5"/>
          <p:cNvSpPr/>
          <p:nvPr/>
        </p:nvSpPr>
        <p:spPr>
          <a:xfrm>
            <a:off x="3771484" y="2057400"/>
            <a:ext cx="182880" cy="182880"/>
          </a:xfrm>
          <a:prstGeom prst="ellipse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857084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9A9A9A"/>
                </a:solidFill>
              </a:rPr>
              <a:t>1956</a:t>
            </a:r>
          </a:p>
        </p:txBody>
      </p:sp>
      <p:sp>
        <p:nvSpPr>
          <p:cNvPr id="8" name="Oval 7"/>
          <p:cNvSpPr/>
          <p:nvPr/>
        </p:nvSpPr>
        <p:spPr>
          <a:xfrm>
            <a:off x="5622728" y="2057400"/>
            <a:ext cx="182880" cy="182880"/>
          </a:xfrm>
          <a:prstGeom prst="ellipse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08328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9A9A9A"/>
                </a:solidFill>
              </a:rPr>
              <a:t>1986</a:t>
            </a:r>
          </a:p>
        </p:txBody>
      </p:sp>
      <p:sp>
        <p:nvSpPr>
          <p:cNvPr id="10" name="Oval 9"/>
          <p:cNvSpPr/>
          <p:nvPr/>
        </p:nvSpPr>
        <p:spPr>
          <a:xfrm>
            <a:off x="7473973" y="2057400"/>
            <a:ext cx="182880" cy="182880"/>
          </a:xfrm>
          <a:prstGeom prst="ellipse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59573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9A9A9A"/>
                </a:solidFill>
              </a:rPr>
              <a:t>1991</a:t>
            </a:r>
          </a:p>
        </p:txBody>
      </p:sp>
      <p:sp>
        <p:nvSpPr>
          <p:cNvPr id="12" name="Oval 11"/>
          <p:cNvSpPr/>
          <p:nvPr/>
        </p:nvSpPr>
        <p:spPr>
          <a:xfrm>
            <a:off x="9325217" y="2057400"/>
            <a:ext cx="182880" cy="182880"/>
          </a:xfrm>
          <a:prstGeom prst="ellipse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0817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9A9A9A"/>
                </a:solidFill>
              </a:rPr>
              <a:t>2000'ler</a:t>
            </a:r>
          </a:p>
        </p:txBody>
      </p:sp>
      <p:sp>
        <p:nvSpPr>
          <p:cNvPr id="14" name="Oval 13"/>
          <p:cNvSpPr/>
          <p:nvPr/>
        </p:nvSpPr>
        <p:spPr>
          <a:xfrm>
            <a:off x="11176461" y="2057400"/>
            <a:ext cx="182880" cy="182880"/>
          </a:xfrm>
          <a:prstGeom prst="ellipse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262061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9A9A9A"/>
                </a:solidFill>
              </a:rPr>
              <a:t>2007</a:t>
            </a:r>
          </a:p>
        </p:txBody>
      </p:sp>
      <p:sp>
        <p:nvSpPr>
          <p:cNvPr id="16" name="Oval 15"/>
          <p:cNvSpPr/>
          <p:nvPr/>
        </p:nvSpPr>
        <p:spPr>
          <a:xfrm>
            <a:off x="12963698" y="1993392"/>
            <a:ext cx="310896" cy="310896"/>
          </a:xfrm>
          <a:prstGeom prst="ellipse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113306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C08A2E"/>
                </a:solidFill>
              </a:rPr>
              <a:t>2009</a:t>
            </a:r>
          </a:p>
        </p:txBody>
      </p:sp>
      <p:sp>
        <p:nvSpPr>
          <p:cNvPr id="18" name="Oval 17"/>
          <p:cNvSpPr/>
          <p:nvPr/>
        </p:nvSpPr>
        <p:spPr>
          <a:xfrm>
            <a:off x="14878950" y="2057400"/>
            <a:ext cx="182880" cy="182880"/>
          </a:xfrm>
          <a:prstGeom prst="ellipse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964550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9A9A9A"/>
                </a:solidFill>
              </a:rPr>
              <a:t>2012</a:t>
            </a:r>
          </a:p>
        </p:txBody>
      </p:sp>
      <p:sp>
        <p:nvSpPr>
          <p:cNvPr id="20" name="Oval 19"/>
          <p:cNvSpPr/>
          <p:nvPr/>
        </p:nvSpPr>
        <p:spPr>
          <a:xfrm>
            <a:off x="16730194" y="2057400"/>
            <a:ext cx="182880" cy="182880"/>
          </a:xfrm>
          <a:prstGeom prst="ellipse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5815794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9A9A9A"/>
                </a:solidFill>
              </a:rPr>
              <a:t>2015</a:t>
            </a:r>
          </a:p>
        </p:txBody>
      </p:sp>
      <p:sp>
        <p:nvSpPr>
          <p:cNvPr id="22" name="Oval 21"/>
          <p:cNvSpPr/>
          <p:nvPr/>
        </p:nvSpPr>
        <p:spPr>
          <a:xfrm>
            <a:off x="18581439" y="2057400"/>
            <a:ext cx="182880" cy="182880"/>
          </a:xfrm>
          <a:prstGeom prst="ellipse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7667039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9A9A9A"/>
                </a:solidFill>
              </a:rPr>
              <a:t>2017</a:t>
            </a:r>
          </a:p>
        </p:txBody>
      </p:sp>
      <p:sp>
        <p:nvSpPr>
          <p:cNvPr id="24" name="Oval 23"/>
          <p:cNvSpPr/>
          <p:nvPr/>
        </p:nvSpPr>
        <p:spPr>
          <a:xfrm>
            <a:off x="20432683" y="2057400"/>
            <a:ext cx="182880" cy="182880"/>
          </a:xfrm>
          <a:prstGeom prst="ellipse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9518283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9A9A9A"/>
                </a:solidFill>
              </a:rPr>
              <a:t>2022</a:t>
            </a:r>
          </a:p>
        </p:txBody>
      </p:sp>
      <p:sp>
        <p:nvSpPr>
          <p:cNvPr id="26" name="Oval 25"/>
          <p:cNvSpPr/>
          <p:nvPr/>
        </p:nvSpPr>
        <p:spPr>
          <a:xfrm>
            <a:off x="22283927" y="2057400"/>
            <a:ext cx="182880" cy="182880"/>
          </a:xfrm>
          <a:prstGeom prst="ellipse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1369527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9A9A9A"/>
                </a:solidFill>
              </a:rPr>
              <a:t>2024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66543" y="3063240"/>
            <a:ext cx="20244816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0">
                <a:solidFill>
                  <a:srgbClr val="1A1A1A"/>
                </a:solidFill>
              </a:rPr>
              <a:t>Web 2.0 kullanıcıyı üretici yaptı; </a:t>
            </a:r>
            <a:r>
              <a:rPr sz="3800" b="1">
                <a:solidFill>
                  <a:srgbClr val="1A1A1A"/>
                </a:solidFill>
              </a:rPr>
              <a:t>ImageNet bu yığını etiketleyip tek çatı altında topladı.</a:t>
            </a:r>
          </a:p>
        </p:txBody>
      </p:sp>
      <p:pic>
        <p:nvPicPr>
          <p:cNvPr id="29" name="Picture 28" descr="imagen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850" y="5074920"/>
            <a:ext cx="8025913" cy="5120640"/>
          </a:xfrm>
          <a:prstGeom prst="rect">
            <a:avLst/>
          </a:prstGeom>
          <a:ln w="12700">
            <a:solidFill>
              <a:srgbClr val="DDDDDD"/>
            </a:solidFill>
          </a:ln>
        </p:spPr>
      </p:pic>
      <p:sp>
        <p:nvSpPr>
          <p:cNvPr id="30" name="TextBox 29"/>
          <p:cNvSpPr txBox="1"/>
          <p:nvPr/>
        </p:nvSpPr>
        <p:spPr>
          <a:xfrm>
            <a:off x="3801850" y="10360151"/>
            <a:ext cx="8025913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0">
                <a:solidFill>
                  <a:srgbClr val="6E6E6E"/>
                </a:solidFill>
              </a:rPr>
              <a:t>ImageNet (2009) — Fei-Fei Li ve ekibi, Princeton</a:t>
            </a:r>
          </a:p>
        </p:txBody>
      </p:sp>
      <p:pic>
        <p:nvPicPr>
          <p:cNvPr id="31" name="Picture 30" descr="imagenet_da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59284" y="5074920"/>
            <a:ext cx="8025913" cy="5120640"/>
          </a:xfrm>
          <a:prstGeom prst="rect">
            <a:avLst/>
          </a:prstGeom>
          <a:ln w="12700">
            <a:solidFill>
              <a:srgbClr val="DDDDDD"/>
            </a:solidFill>
          </a:ln>
        </p:spPr>
      </p:pic>
      <p:sp>
        <p:nvSpPr>
          <p:cNvPr id="32" name="TextBox 31"/>
          <p:cNvSpPr txBox="1"/>
          <p:nvPr/>
        </p:nvSpPr>
        <p:spPr>
          <a:xfrm>
            <a:off x="12559284" y="10360151"/>
            <a:ext cx="8025913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0">
                <a:solidFill>
                  <a:srgbClr val="6E6E6E"/>
                </a:solidFill>
              </a:rPr>
              <a:t>Milyonlarca etiketli görsel, hiyerarşik sınıflarla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80160" y="1147572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011680" y="1147572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</a:rPr>
              <a:t>Sosyal medya, forumlar, Wikipedia... </a:t>
            </a:r>
            <a:r>
              <a:rPr sz="2400" b="1">
                <a:solidFill>
                  <a:srgbClr val="15263F"/>
                </a:solidFill>
              </a:rPr>
              <a:t>Rüya gibiydi ve formül hazırdı: veri + hesaplama gücü + sinir ağı.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</a:rPr>
              <a:t>AlexNet devrimi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280160" y="2148840"/>
            <a:ext cx="21826728" cy="0"/>
          </a:xfrm>
          <a:prstGeom prst="line">
            <a:avLst/>
          </a:prstGeom>
          <a:ln w="25400">
            <a:solidFill>
              <a:srgbClr val="D5D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920240" y="2057400"/>
            <a:ext cx="182880" cy="182880"/>
          </a:xfrm>
          <a:prstGeom prst="ellipse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9A9A9A"/>
                </a:solidFill>
              </a:rPr>
              <a:t>1950</a:t>
            </a:r>
          </a:p>
        </p:txBody>
      </p:sp>
      <p:sp>
        <p:nvSpPr>
          <p:cNvPr id="6" name="Oval 5"/>
          <p:cNvSpPr/>
          <p:nvPr/>
        </p:nvSpPr>
        <p:spPr>
          <a:xfrm>
            <a:off x="3771484" y="2057400"/>
            <a:ext cx="182880" cy="182880"/>
          </a:xfrm>
          <a:prstGeom prst="ellipse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857084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9A9A9A"/>
                </a:solidFill>
              </a:rPr>
              <a:t>1956</a:t>
            </a:r>
          </a:p>
        </p:txBody>
      </p:sp>
      <p:sp>
        <p:nvSpPr>
          <p:cNvPr id="8" name="Oval 7"/>
          <p:cNvSpPr/>
          <p:nvPr/>
        </p:nvSpPr>
        <p:spPr>
          <a:xfrm>
            <a:off x="5622728" y="2057400"/>
            <a:ext cx="182880" cy="182880"/>
          </a:xfrm>
          <a:prstGeom prst="ellipse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08328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9A9A9A"/>
                </a:solidFill>
              </a:rPr>
              <a:t>1986</a:t>
            </a:r>
          </a:p>
        </p:txBody>
      </p:sp>
      <p:sp>
        <p:nvSpPr>
          <p:cNvPr id="10" name="Oval 9"/>
          <p:cNvSpPr/>
          <p:nvPr/>
        </p:nvSpPr>
        <p:spPr>
          <a:xfrm>
            <a:off x="7473973" y="2057400"/>
            <a:ext cx="182880" cy="182880"/>
          </a:xfrm>
          <a:prstGeom prst="ellipse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59573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9A9A9A"/>
                </a:solidFill>
              </a:rPr>
              <a:t>1991</a:t>
            </a:r>
          </a:p>
        </p:txBody>
      </p:sp>
      <p:sp>
        <p:nvSpPr>
          <p:cNvPr id="12" name="Oval 11"/>
          <p:cNvSpPr/>
          <p:nvPr/>
        </p:nvSpPr>
        <p:spPr>
          <a:xfrm>
            <a:off x="9325217" y="2057400"/>
            <a:ext cx="182880" cy="182880"/>
          </a:xfrm>
          <a:prstGeom prst="ellipse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0817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9A9A9A"/>
                </a:solidFill>
              </a:rPr>
              <a:t>2000'ler</a:t>
            </a:r>
          </a:p>
        </p:txBody>
      </p:sp>
      <p:sp>
        <p:nvSpPr>
          <p:cNvPr id="14" name="Oval 13"/>
          <p:cNvSpPr/>
          <p:nvPr/>
        </p:nvSpPr>
        <p:spPr>
          <a:xfrm>
            <a:off x="11176461" y="2057400"/>
            <a:ext cx="182880" cy="182880"/>
          </a:xfrm>
          <a:prstGeom prst="ellipse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262061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9A9A9A"/>
                </a:solidFill>
              </a:rPr>
              <a:t>2007</a:t>
            </a:r>
          </a:p>
        </p:txBody>
      </p:sp>
      <p:sp>
        <p:nvSpPr>
          <p:cNvPr id="16" name="Oval 15"/>
          <p:cNvSpPr/>
          <p:nvPr/>
        </p:nvSpPr>
        <p:spPr>
          <a:xfrm>
            <a:off x="13027706" y="2057400"/>
            <a:ext cx="182880" cy="182880"/>
          </a:xfrm>
          <a:prstGeom prst="ellipse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113306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9A9A9A"/>
                </a:solidFill>
              </a:rPr>
              <a:t>2009</a:t>
            </a:r>
          </a:p>
        </p:txBody>
      </p:sp>
      <p:sp>
        <p:nvSpPr>
          <p:cNvPr id="18" name="Oval 17"/>
          <p:cNvSpPr/>
          <p:nvPr/>
        </p:nvSpPr>
        <p:spPr>
          <a:xfrm>
            <a:off x="14814942" y="1993392"/>
            <a:ext cx="310896" cy="310896"/>
          </a:xfrm>
          <a:prstGeom prst="ellipse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964550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C08A2E"/>
                </a:solidFill>
              </a:rPr>
              <a:t>2012</a:t>
            </a:r>
          </a:p>
        </p:txBody>
      </p:sp>
      <p:sp>
        <p:nvSpPr>
          <p:cNvPr id="20" name="Oval 19"/>
          <p:cNvSpPr/>
          <p:nvPr/>
        </p:nvSpPr>
        <p:spPr>
          <a:xfrm>
            <a:off x="16730194" y="2057400"/>
            <a:ext cx="182880" cy="182880"/>
          </a:xfrm>
          <a:prstGeom prst="ellipse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5815794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9A9A9A"/>
                </a:solidFill>
              </a:rPr>
              <a:t>2015</a:t>
            </a:r>
          </a:p>
        </p:txBody>
      </p:sp>
      <p:sp>
        <p:nvSpPr>
          <p:cNvPr id="22" name="Oval 21"/>
          <p:cNvSpPr/>
          <p:nvPr/>
        </p:nvSpPr>
        <p:spPr>
          <a:xfrm>
            <a:off x="18581439" y="2057400"/>
            <a:ext cx="182880" cy="182880"/>
          </a:xfrm>
          <a:prstGeom prst="ellipse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7667039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9A9A9A"/>
                </a:solidFill>
              </a:rPr>
              <a:t>2017</a:t>
            </a:r>
          </a:p>
        </p:txBody>
      </p:sp>
      <p:sp>
        <p:nvSpPr>
          <p:cNvPr id="24" name="Oval 23"/>
          <p:cNvSpPr/>
          <p:nvPr/>
        </p:nvSpPr>
        <p:spPr>
          <a:xfrm>
            <a:off x="20432683" y="2057400"/>
            <a:ext cx="182880" cy="182880"/>
          </a:xfrm>
          <a:prstGeom prst="ellipse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9518283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9A9A9A"/>
                </a:solidFill>
              </a:rPr>
              <a:t>2022</a:t>
            </a:r>
          </a:p>
        </p:txBody>
      </p:sp>
      <p:sp>
        <p:nvSpPr>
          <p:cNvPr id="26" name="Oval 25"/>
          <p:cNvSpPr/>
          <p:nvPr/>
        </p:nvSpPr>
        <p:spPr>
          <a:xfrm>
            <a:off x="22283927" y="2057400"/>
            <a:ext cx="182880" cy="182880"/>
          </a:xfrm>
          <a:prstGeom prst="ellipse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1369527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9A9A9A"/>
                </a:solidFill>
              </a:rPr>
              <a:t>2024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66543" y="3063240"/>
            <a:ext cx="20244816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0">
                <a:solidFill>
                  <a:srgbClr val="1A1A1A"/>
                </a:solidFill>
              </a:rPr>
              <a:t>2012 ImageNet yarışmasında AlexNet, top-5 hatasını </a:t>
            </a:r>
            <a:r>
              <a:rPr sz="3800" b="1">
                <a:solidFill>
                  <a:srgbClr val="1A1A1A"/>
                </a:solidFill>
              </a:rPr>
              <a:t>%26'dan %15'e</a:t>
            </a:r>
            <a:r>
              <a:rPr sz="3800" b="0">
                <a:solidFill>
                  <a:srgbClr val="1A1A1A"/>
                </a:solidFill>
              </a:rPr>
              <a:t> düşürdü. Herkes önce hile olduğunu sandı.</a:t>
            </a:r>
          </a:p>
        </p:txBody>
      </p:sp>
      <p:pic>
        <p:nvPicPr>
          <p:cNvPr id="29" name="Picture 28" descr="ilyahintonal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5074920"/>
            <a:ext cx="8025913" cy="5120640"/>
          </a:xfrm>
          <a:prstGeom prst="rect">
            <a:avLst/>
          </a:prstGeom>
          <a:ln w="12700">
            <a:solidFill>
              <a:srgbClr val="DDDDDD"/>
            </a:solidFill>
          </a:ln>
        </p:spPr>
      </p:pic>
      <p:sp>
        <p:nvSpPr>
          <p:cNvPr id="30" name="TextBox 29"/>
          <p:cNvSpPr txBox="1"/>
          <p:nvPr/>
        </p:nvSpPr>
        <p:spPr>
          <a:xfrm>
            <a:off x="1554480" y="10360151"/>
            <a:ext cx="8025913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0">
                <a:solidFill>
                  <a:srgbClr val="6E6E6E"/>
                </a:solidFill>
              </a:rPr>
              <a:t>Alex Krizhevsky, Geoffrey Hinton ve Ilya Sutskever — Toronto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4754880"/>
            <a:ext cx="11795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1A1A1A"/>
                </a:solidFill>
              </a:rPr>
              <a:t>ImageNet (ILSVRC) top-5 hata oranı, %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1338560" y="10332720"/>
            <a:ext cx="11430000" cy="0"/>
          </a:xfrm>
          <a:prstGeom prst="line">
            <a:avLst/>
          </a:prstGeom>
          <a:ln w="25400">
            <a:solidFill>
              <a:srgbClr val="D5D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11704320" y="5820156"/>
            <a:ext cx="1325880" cy="4512564"/>
          </a:xfrm>
          <a:prstGeom prst="rect">
            <a:avLst/>
          </a:prstGeom>
          <a:solidFill>
            <a:srgbClr val="C7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384280" y="5253228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>
                <a:solidFill>
                  <a:srgbClr val="6E6E6E"/>
                </a:solidFill>
              </a:rPr>
              <a:t>%28,2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84280" y="10497312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>
                <a:solidFill>
                  <a:srgbClr val="6E6E6E"/>
                </a:solidFill>
              </a:rPr>
              <a:t>2010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578840" y="6204204"/>
            <a:ext cx="1325880" cy="4128515"/>
          </a:xfrm>
          <a:prstGeom prst="rect">
            <a:avLst/>
          </a:prstGeom>
          <a:solidFill>
            <a:srgbClr val="C7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3258800" y="5637276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>
                <a:solidFill>
                  <a:srgbClr val="6E6E6E"/>
                </a:solidFill>
              </a:rPr>
              <a:t>%25,8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258800" y="10497312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>
                <a:solidFill>
                  <a:srgbClr val="6E6E6E"/>
                </a:solidFill>
              </a:rPr>
              <a:t>2011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5453359" y="7884414"/>
            <a:ext cx="1325880" cy="2448306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5133319" y="7317486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C08A2E"/>
                </a:solidFill>
              </a:rPr>
              <a:t>%15,3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133319" y="10497312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C08A2E"/>
                </a:solidFill>
              </a:rPr>
              <a:t>2012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7327880" y="8460486"/>
            <a:ext cx="1325880" cy="1872234"/>
          </a:xfrm>
          <a:prstGeom prst="rect">
            <a:avLst/>
          </a:prstGeom>
          <a:solidFill>
            <a:srgbClr val="C7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7007839" y="7893558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>
                <a:solidFill>
                  <a:srgbClr val="6E6E6E"/>
                </a:solidFill>
              </a:rPr>
              <a:t>%11,7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007839" y="10497312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>
                <a:solidFill>
                  <a:srgbClr val="6E6E6E"/>
                </a:solidFill>
              </a:rPr>
              <a:t>2013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9202400" y="9260586"/>
            <a:ext cx="1325880" cy="1072134"/>
          </a:xfrm>
          <a:prstGeom prst="rect">
            <a:avLst/>
          </a:prstGeom>
          <a:solidFill>
            <a:srgbClr val="C7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8882360" y="8693658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>
                <a:solidFill>
                  <a:srgbClr val="6E6E6E"/>
                </a:solidFill>
              </a:rPr>
              <a:t>%6,7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882360" y="10497312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>
                <a:solidFill>
                  <a:srgbClr val="6E6E6E"/>
                </a:solidFill>
              </a:rPr>
              <a:t>2014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1076920" y="9756648"/>
            <a:ext cx="1325880" cy="576072"/>
          </a:xfrm>
          <a:prstGeom prst="rect">
            <a:avLst/>
          </a:prstGeom>
          <a:solidFill>
            <a:srgbClr val="C7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0756880" y="9189720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>
                <a:solidFill>
                  <a:srgbClr val="6E6E6E"/>
                </a:solidFill>
              </a:rPr>
              <a:t>%3,6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756880" y="10497312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>
                <a:solidFill>
                  <a:srgbClr val="6E6E6E"/>
                </a:solidFill>
              </a:rPr>
              <a:t>2015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447519" y="11064240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>
                <a:solidFill>
                  <a:srgbClr val="C08A2E"/>
                </a:solidFill>
              </a:rPr>
              <a:t>AlexNet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</a:rPr>
              <a:t>O güne kadar hata payı yılda birkaç puan düşüyordu. </a:t>
            </a:r>
            <a:r>
              <a:rPr sz="2400" b="1">
                <a:solidFill>
                  <a:srgbClr val="15263F"/>
                </a:solidFill>
              </a:rPr>
              <a:t>O gün, bir anlamda ChatGPT'nin de doğum günüydü.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</a:rPr>
              <a:t>Güç savaşları, OpenAI ve Transformer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280160" y="2148840"/>
            <a:ext cx="21826728" cy="0"/>
          </a:xfrm>
          <a:prstGeom prst="line">
            <a:avLst/>
          </a:prstGeom>
          <a:ln w="25400">
            <a:solidFill>
              <a:srgbClr val="D5D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920240" y="2057400"/>
            <a:ext cx="182880" cy="182880"/>
          </a:xfrm>
          <a:prstGeom prst="ellipse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9A9A9A"/>
                </a:solidFill>
              </a:rPr>
              <a:t>1950</a:t>
            </a:r>
          </a:p>
        </p:txBody>
      </p:sp>
      <p:sp>
        <p:nvSpPr>
          <p:cNvPr id="6" name="Oval 5"/>
          <p:cNvSpPr/>
          <p:nvPr/>
        </p:nvSpPr>
        <p:spPr>
          <a:xfrm>
            <a:off x="3771484" y="2057400"/>
            <a:ext cx="182880" cy="182880"/>
          </a:xfrm>
          <a:prstGeom prst="ellipse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857084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9A9A9A"/>
                </a:solidFill>
              </a:rPr>
              <a:t>1956</a:t>
            </a:r>
          </a:p>
        </p:txBody>
      </p:sp>
      <p:sp>
        <p:nvSpPr>
          <p:cNvPr id="8" name="Oval 7"/>
          <p:cNvSpPr/>
          <p:nvPr/>
        </p:nvSpPr>
        <p:spPr>
          <a:xfrm>
            <a:off x="5622728" y="2057400"/>
            <a:ext cx="182880" cy="182880"/>
          </a:xfrm>
          <a:prstGeom prst="ellipse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08328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9A9A9A"/>
                </a:solidFill>
              </a:rPr>
              <a:t>1986</a:t>
            </a:r>
          </a:p>
        </p:txBody>
      </p:sp>
      <p:sp>
        <p:nvSpPr>
          <p:cNvPr id="10" name="Oval 9"/>
          <p:cNvSpPr/>
          <p:nvPr/>
        </p:nvSpPr>
        <p:spPr>
          <a:xfrm>
            <a:off x="7473973" y="2057400"/>
            <a:ext cx="182880" cy="182880"/>
          </a:xfrm>
          <a:prstGeom prst="ellipse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59573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9A9A9A"/>
                </a:solidFill>
              </a:rPr>
              <a:t>1991</a:t>
            </a:r>
          </a:p>
        </p:txBody>
      </p:sp>
      <p:sp>
        <p:nvSpPr>
          <p:cNvPr id="12" name="Oval 11"/>
          <p:cNvSpPr/>
          <p:nvPr/>
        </p:nvSpPr>
        <p:spPr>
          <a:xfrm>
            <a:off x="9325217" y="2057400"/>
            <a:ext cx="182880" cy="182880"/>
          </a:xfrm>
          <a:prstGeom prst="ellipse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0817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9A9A9A"/>
                </a:solidFill>
              </a:rPr>
              <a:t>2000'ler</a:t>
            </a:r>
          </a:p>
        </p:txBody>
      </p:sp>
      <p:sp>
        <p:nvSpPr>
          <p:cNvPr id="14" name="Oval 13"/>
          <p:cNvSpPr/>
          <p:nvPr/>
        </p:nvSpPr>
        <p:spPr>
          <a:xfrm>
            <a:off x="11176461" y="2057400"/>
            <a:ext cx="182880" cy="182880"/>
          </a:xfrm>
          <a:prstGeom prst="ellipse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262061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9A9A9A"/>
                </a:solidFill>
              </a:rPr>
              <a:t>2007</a:t>
            </a:r>
          </a:p>
        </p:txBody>
      </p:sp>
      <p:sp>
        <p:nvSpPr>
          <p:cNvPr id="16" name="Oval 15"/>
          <p:cNvSpPr/>
          <p:nvPr/>
        </p:nvSpPr>
        <p:spPr>
          <a:xfrm>
            <a:off x="13027706" y="2057400"/>
            <a:ext cx="182880" cy="182880"/>
          </a:xfrm>
          <a:prstGeom prst="ellipse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113306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9A9A9A"/>
                </a:solidFill>
              </a:rPr>
              <a:t>2009</a:t>
            </a:r>
          </a:p>
        </p:txBody>
      </p:sp>
      <p:sp>
        <p:nvSpPr>
          <p:cNvPr id="18" name="Oval 17"/>
          <p:cNvSpPr/>
          <p:nvPr/>
        </p:nvSpPr>
        <p:spPr>
          <a:xfrm>
            <a:off x="14878950" y="2057400"/>
            <a:ext cx="182880" cy="182880"/>
          </a:xfrm>
          <a:prstGeom prst="ellipse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964550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9A9A9A"/>
                </a:solidFill>
              </a:rPr>
              <a:t>2012</a:t>
            </a:r>
          </a:p>
        </p:txBody>
      </p:sp>
      <p:sp>
        <p:nvSpPr>
          <p:cNvPr id="20" name="Oval 19"/>
          <p:cNvSpPr/>
          <p:nvPr/>
        </p:nvSpPr>
        <p:spPr>
          <a:xfrm>
            <a:off x="16666186" y="1993392"/>
            <a:ext cx="310896" cy="310896"/>
          </a:xfrm>
          <a:prstGeom prst="ellipse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5815794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C08A2E"/>
                </a:solidFill>
              </a:rPr>
              <a:t>2015</a:t>
            </a:r>
          </a:p>
        </p:txBody>
      </p:sp>
      <p:sp>
        <p:nvSpPr>
          <p:cNvPr id="22" name="Oval 21"/>
          <p:cNvSpPr/>
          <p:nvPr/>
        </p:nvSpPr>
        <p:spPr>
          <a:xfrm>
            <a:off x="18517431" y="1993392"/>
            <a:ext cx="310896" cy="310896"/>
          </a:xfrm>
          <a:prstGeom prst="ellipse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7667039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C08A2E"/>
                </a:solidFill>
              </a:rPr>
              <a:t>2017</a:t>
            </a:r>
          </a:p>
        </p:txBody>
      </p:sp>
      <p:sp>
        <p:nvSpPr>
          <p:cNvPr id="24" name="Oval 23"/>
          <p:cNvSpPr/>
          <p:nvPr/>
        </p:nvSpPr>
        <p:spPr>
          <a:xfrm>
            <a:off x="20368675" y="1993392"/>
            <a:ext cx="310896" cy="310896"/>
          </a:xfrm>
          <a:prstGeom prst="ellipse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9518283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C08A2E"/>
                </a:solidFill>
              </a:rPr>
              <a:t>2022</a:t>
            </a:r>
          </a:p>
        </p:txBody>
      </p:sp>
      <p:sp>
        <p:nvSpPr>
          <p:cNvPr id="26" name="Oval 25"/>
          <p:cNvSpPr/>
          <p:nvPr/>
        </p:nvSpPr>
        <p:spPr>
          <a:xfrm>
            <a:off x="22283927" y="2057400"/>
            <a:ext cx="182880" cy="182880"/>
          </a:xfrm>
          <a:prstGeom prst="ellipse">
            <a:avLst/>
          </a:prstGeom>
          <a:solidFill>
            <a:srgbClr val="B8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1369527" y="2423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9A9A9A"/>
                </a:solidFill>
              </a:rPr>
              <a:t>2024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66543" y="2743200"/>
            <a:ext cx="20244816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0">
                <a:solidFill>
                  <a:srgbClr val="1A1A1A"/>
                </a:solidFill>
              </a:rPr>
              <a:t>Soru artık "işe yarıyor mu" değildi: </a:t>
            </a:r>
            <a:r>
              <a:rPr sz="3800" b="1">
                <a:solidFill>
                  <a:srgbClr val="1A1A1A"/>
                </a:solidFill>
              </a:rPr>
              <a:t>bu teknoloji gerçekse, onu kim kontrol edecek?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35024" y="4572000"/>
            <a:ext cx="6903720" cy="667512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975104" y="5120640"/>
            <a:ext cx="5623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5263F"/>
                </a:solidFill>
              </a:rPr>
              <a:t>Önce Google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75104" y="6126480"/>
            <a:ext cx="5623560" cy="4663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2000" b="0">
                <a:solidFill>
                  <a:srgbClr val="1A1A1A"/>
                </a:solidFill>
              </a:rPr>
              <a:t>•  Devler trene atladı; en kolay yol satın almaktı.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2000" b="0">
                <a:solidFill>
                  <a:srgbClr val="1A1A1A"/>
                </a:solidFill>
              </a:rPr>
              <a:t>•  Google, Hinton ve ekibinin şirketini aldı.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2000" b="0">
                <a:solidFill>
                  <a:srgbClr val="1A1A1A"/>
                </a:solidFill>
              </a:rPr>
              <a:t>•  Ilya'nın her şeyi vardı: veri, işlem gücü, kaynak.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2000" b="0">
                <a:solidFill>
                  <a:srgbClr val="1A1A1A"/>
                </a:solidFill>
              </a:rPr>
              <a:t>•  Ama özgürlük yoktu.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41664" y="4572000"/>
            <a:ext cx="6903720" cy="667512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381744" y="5120640"/>
            <a:ext cx="5623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C08A2E"/>
                </a:solidFill>
              </a:rPr>
              <a:t>Sonra o akşam yemeği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81744" y="9601200"/>
            <a:ext cx="5623560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25000"/>
              </a:lnSpc>
              <a:spcAft>
                <a:spcPts val="1000"/>
              </a:spcAft>
            </a:pPr>
            <a:r>
              <a:rPr sz="1900" b="0">
                <a:solidFill>
                  <a:srgbClr val="1A1A1A"/>
                </a:solidFill>
              </a:rPr>
              <a:t>•  Musk finansman, Altman yönetim, Brockman mühendislik.</a:t>
            </a:r>
          </a:p>
          <a:p>
            <a:pPr marL="0" indent="0" algn="l">
              <a:lnSpc>
                <a:spcPct val="125000"/>
              </a:lnSpc>
              <a:spcAft>
                <a:spcPts val="1000"/>
              </a:spcAft>
            </a:pPr>
            <a:r>
              <a:rPr sz="1900" b="0">
                <a:solidFill>
                  <a:srgbClr val="1A1A1A"/>
                </a:solidFill>
              </a:rPr>
              <a:t>•  Konuşulan asıl konu ChatGPT değil, AGI'ydı.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6148304" y="4572000"/>
            <a:ext cx="6903720" cy="667512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6788384" y="5120640"/>
            <a:ext cx="5623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5263F"/>
                </a:solidFill>
              </a:rPr>
              <a:t>Ve sonra Transformer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788384" y="6035040"/>
            <a:ext cx="5623560" cy="1965960"/>
          </a:xfrm>
          <a:prstGeom prst="rect">
            <a:avLst/>
          </a:prstGeom>
          <a:solidFill>
            <a:srgbClr val="FFFFFF"/>
          </a:solidFill>
          <a:ln w="1524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7016984" y="6355080"/>
            <a:ext cx="5166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000" b="1">
                <a:solidFill>
                  <a:srgbClr val="1A1A1A"/>
                </a:solidFill>
                <a:latin typeface="Cambria"/>
              </a:rPr>
              <a:t>Attention Is All You Need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016984" y="7360920"/>
            <a:ext cx="5166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0">
                <a:solidFill>
                  <a:srgbClr val="6E6E6E"/>
                </a:solidFill>
              </a:rPr>
              <a:t>Vaswani ve ekibi, Google · NeurIPS 2017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788384" y="8412480"/>
            <a:ext cx="56235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2000" b="0">
                <a:solidFill>
                  <a:srgbClr val="1A1A1A"/>
                </a:solidFill>
              </a:rPr>
              <a:t>•  Tekrarlı yapı yok, paralel eğitim.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2000" b="0">
                <a:solidFill>
                  <a:srgbClr val="1A1A1A"/>
                </a:solidFill>
              </a:rPr>
              <a:t>•  Ölçekleme fikri karşılığını burada buldu.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80160" y="11612880"/>
            <a:ext cx="21826728" cy="11887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011680" y="11612880"/>
            <a:ext cx="20363688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</a:rPr>
              <a:t>Ilya'nın tezi: </a:t>
            </a:r>
            <a:r>
              <a:rPr sz="2400" b="1">
                <a:solidFill>
                  <a:srgbClr val="15263F"/>
                </a:solidFill>
              </a:rPr>
              <a:t>"Ölçeklendir ve gerisine karışma."</a:t>
            </a:r>
            <a:r>
              <a:rPr sz="2400" b="0">
                <a:solidFill>
                  <a:srgbClr val="15263F"/>
                </a:solidFill>
              </a:rPr>
              <a:t>  Model yeterince büyürse, beklemediğimiz yetenekler kendiliğinden çıkar.</a:t>
            </a:r>
          </a:p>
        </p:txBody>
      </p:sp>
      <p:pic>
        <p:nvPicPr>
          <p:cNvPr id="44" name="Resim 43">
            <a:extLst>
              <a:ext uri="{FF2B5EF4-FFF2-40B4-BE49-F238E27FC236}">
                <a16:creationId xmlns:a16="http://schemas.microsoft.com/office/drawing/2014/main" id="{0D29707E-7CD3-C274-0F4C-4ACF1D2CF8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6462" y="6035040"/>
            <a:ext cx="4794123" cy="2880360"/>
          </a:xfrm>
          <a:prstGeom prst="rect">
            <a:avLst/>
          </a:prstGeom>
          <a:ln w="12700">
            <a:solidFill>
              <a:srgbClr val="DDDDDD"/>
            </a:solidFill>
          </a:ln>
        </p:spPr>
      </p:pic>
      <p:sp>
        <p:nvSpPr>
          <p:cNvPr id="45" name="TextBox 44"/>
          <p:cNvSpPr txBox="1"/>
          <p:nvPr/>
        </p:nvSpPr>
        <p:spPr>
          <a:xfrm>
            <a:off x="9107424" y="9052560"/>
            <a:ext cx="61722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700">
                <a:solidFill>
                  <a:srgbClr val="6E6E6E"/>
                </a:solidFill>
              </a:rPr>
              <a:t>Musk, Brockman, Altman ve Sutskever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</a:rPr>
              <a:t>Neden Deep Learning?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66543" y="1874519"/>
            <a:ext cx="20244816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0">
                <a:solidFill>
                  <a:srgbClr val="1A1A1A"/>
                </a:solidFill>
              </a:rPr>
              <a:t>Klasik makine öğrenmesinde özelliği </a:t>
            </a:r>
            <a:r>
              <a:rPr sz="4000" b="1">
                <a:solidFill>
                  <a:srgbClr val="1A1A1A"/>
                </a:solidFill>
              </a:rPr>
              <a:t>insan çıkarır</a:t>
            </a:r>
            <a:r>
              <a:rPr sz="4000" b="0">
                <a:solidFill>
                  <a:srgbClr val="1A1A1A"/>
                </a:solidFill>
              </a:rPr>
              <a:t>; derin öğrenmede </a:t>
            </a:r>
            <a:r>
              <a:rPr sz="4000" b="1">
                <a:solidFill>
                  <a:srgbClr val="1A1A1A"/>
                </a:solidFill>
              </a:rPr>
              <a:t>model veriden kendisi çıkarır</a:t>
            </a:r>
            <a:r>
              <a:rPr sz="4000" b="0">
                <a:solidFill>
                  <a:srgbClr val="1A1A1A"/>
                </a:solidFill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06908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8A3B2F"/>
                </a:solidFill>
              </a:rPr>
              <a:t>Klasik makine öğrenmesi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4754880"/>
            <a:ext cx="4160520" cy="160020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566160" y="4754880"/>
            <a:ext cx="3611879" cy="1600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100" b="0">
                <a:solidFill>
                  <a:srgbClr val="1A1A1A"/>
                </a:solidFill>
              </a:rPr>
              <a:t>Ham veri</a:t>
            </a:r>
          </a:p>
        </p:txBody>
      </p:sp>
      <p:sp>
        <p:nvSpPr>
          <p:cNvPr id="7" name="Isosceles Triangle 6"/>
          <p:cNvSpPr/>
          <p:nvPr/>
        </p:nvSpPr>
        <p:spPr>
          <a:xfrm rot="5400000">
            <a:off x="7772400" y="5417820"/>
            <a:ext cx="274320" cy="274320"/>
          </a:xfrm>
          <a:prstGeom prst="triangle">
            <a:avLst/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366760" y="4754880"/>
            <a:ext cx="4160520" cy="1600200"/>
          </a:xfrm>
          <a:prstGeom prst="roundRect">
            <a:avLst>
              <a:gd name="adj" fmla="val 10000"/>
            </a:avLst>
          </a:prstGeom>
          <a:solidFill>
            <a:srgbClr val="8A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41080" y="4754880"/>
            <a:ext cx="3611879" cy="1600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100" b="1">
                <a:solidFill>
                  <a:srgbClr val="FFFFFF"/>
                </a:solidFill>
              </a:rPr>
              <a:t>İnsan
feature engineering</a:t>
            </a:r>
          </a:p>
        </p:txBody>
      </p:sp>
      <p:sp>
        <p:nvSpPr>
          <p:cNvPr id="10" name="Isosceles Triangle 9"/>
          <p:cNvSpPr/>
          <p:nvPr/>
        </p:nvSpPr>
        <p:spPr>
          <a:xfrm rot="5400000">
            <a:off x="12847319" y="5417820"/>
            <a:ext cx="274320" cy="274320"/>
          </a:xfrm>
          <a:prstGeom prst="triangle">
            <a:avLst/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3441680" y="4754880"/>
            <a:ext cx="4160520" cy="160020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716000" y="4754880"/>
            <a:ext cx="3611879" cy="1600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100" b="0">
                <a:solidFill>
                  <a:srgbClr val="1A1A1A"/>
                </a:solidFill>
              </a:rPr>
              <a:t>Model</a:t>
            </a:r>
          </a:p>
        </p:txBody>
      </p:sp>
      <p:sp>
        <p:nvSpPr>
          <p:cNvPr id="13" name="Isosceles Triangle 12"/>
          <p:cNvSpPr/>
          <p:nvPr/>
        </p:nvSpPr>
        <p:spPr>
          <a:xfrm rot="5400000">
            <a:off x="17922240" y="5417820"/>
            <a:ext cx="274320" cy="274320"/>
          </a:xfrm>
          <a:prstGeom prst="triangle">
            <a:avLst/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8516600" y="4754880"/>
            <a:ext cx="4160520" cy="160020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8790920" y="4754880"/>
            <a:ext cx="3611879" cy="1600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100" b="0">
                <a:solidFill>
                  <a:srgbClr val="1A1A1A"/>
                </a:solidFill>
              </a:rPr>
              <a:t>Sonuç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781812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48F77"/>
                </a:solidFill>
              </a:rPr>
              <a:t>Deep Learning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8503920"/>
            <a:ext cx="4160520" cy="160020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66160" y="8503920"/>
            <a:ext cx="3611879" cy="1600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100" b="0">
                <a:solidFill>
                  <a:srgbClr val="1A1A1A"/>
                </a:solidFill>
              </a:rPr>
              <a:t>Ham veri</a:t>
            </a:r>
          </a:p>
        </p:txBody>
      </p:sp>
      <p:sp>
        <p:nvSpPr>
          <p:cNvPr id="19" name="Isosceles Triangle 18"/>
          <p:cNvSpPr/>
          <p:nvPr/>
        </p:nvSpPr>
        <p:spPr>
          <a:xfrm rot="5400000">
            <a:off x="7772400" y="9166860"/>
            <a:ext cx="274320" cy="274320"/>
          </a:xfrm>
          <a:prstGeom prst="triangle">
            <a:avLst/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366760" y="8503920"/>
            <a:ext cx="4160520" cy="1600200"/>
          </a:xfrm>
          <a:prstGeom prst="roundRect">
            <a:avLst>
              <a:gd name="adj" fmla="val 10000"/>
            </a:avLst>
          </a:prstGeom>
          <a:solidFill>
            <a:srgbClr val="148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41080" y="8503920"/>
            <a:ext cx="3611879" cy="1600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100" b="1">
                <a:solidFill>
                  <a:srgbClr val="FFFFFF"/>
                </a:solidFill>
              </a:rPr>
              <a:t>Model
katmanlarda kendi öğrenir</a:t>
            </a:r>
          </a:p>
        </p:txBody>
      </p:sp>
      <p:sp>
        <p:nvSpPr>
          <p:cNvPr id="22" name="Isosceles Triangle 21"/>
          <p:cNvSpPr/>
          <p:nvPr/>
        </p:nvSpPr>
        <p:spPr>
          <a:xfrm rot="5400000">
            <a:off x="12847319" y="9166860"/>
            <a:ext cx="274320" cy="274320"/>
          </a:xfrm>
          <a:prstGeom prst="triangle">
            <a:avLst/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3441680" y="8503920"/>
            <a:ext cx="4160520" cy="160020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3716000" y="8503920"/>
            <a:ext cx="3611879" cy="1600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100" b="0">
                <a:solidFill>
                  <a:srgbClr val="1A1A1A"/>
                </a:solidFill>
              </a:rPr>
              <a:t>Sonuç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80160" y="11475720"/>
            <a:ext cx="21826728" cy="11887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011680" y="11475720"/>
            <a:ext cx="20363688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>
                <a:solidFill>
                  <a:srgbClr val="15263F"/>
                </a:solidFill>
              </a:rPr>
              <a:t>2000'lerde bilgisayarla görünün standardı elle tasarlanmış feature'lardı — SIFT (2004), HOG (2005). </a:t>
            </a:r>
            <a:r>
              <a:rPr sz="2300" b="1">
                <a:solidFill>
                  <a:srgbClr val="15263F"/>
                </a:solidFill>
              </a:rPr>
              <a:t>2012'de AlexNet bu yaklaşımı açık farkla geçti.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</a:rPr>
              <a:t>Neden Deep Learning?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66543" y="1874519"/>
            <a:ext cx="20244816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0">
                <a:solidFill>
                  <a:srgbClr val="1A1A1A"/>
                </a:solidFill>
              </a:rPr>
              <a:t>Ama derin öğrenme her problemin cevabı değil — </a:t>
            </a:r>
            <a:r>
              <a:rPr sz="4000" b="1">
                <a:solidFill>
                  <a:srgbClr val="1A1A1A"/>
                </a:solidFill>
              </a:rPr>
              <a:t>veri tipine ve boyutuna bağlı.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77440" y="4892040"/>
            <a:ext cx="19632168" cy="1060704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017520" y="4892040"/>
            <a:ext cx="8503920" cy="1060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>
                <a:solidFill>
                  <a:srgbClr val="1A1A1A"/>
                </a:solidFill>
              </a:rPr>
              <a:t>Görüntü, ses, metin, video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978640" y="4892040"/>
            <a:ext cx="9692640" cy="1060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00" b="1">
                <a:solidFill>
                  <a:srgbClr val="148F77"/>
                </a:solidFill>
              </a:rPr>
              <a:t>Deep Learning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6135624"/>
            <a:ext cx="19632168" cy="10607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17520" y="6135624"/>
            <a:ext cx="8503920" cy="1060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>
                <a:solidFill>
                  <a:srgbClr val="1A1A1A"/>
                </a:solidFill>
              </a:rPr>
              <a:t>Çok fazla etiketsiz veri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978640" y="6135624"/>
            <a:ext cx="9692640" cy="1060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00" b="1">
                <a:solidFill>
                  <a:srgbClr val="148F77"/>
                </a:solidFill>
              </a:rPr>
              <a:t>Deep Learning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40" y="7379208"/>
            <a:ext cx="19632168" cy="1060704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17520" y="7379208"/>
            <a:ext cx="8503920" cy="1060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>
                <a:solidFill>
                  <a:srgbClr val="1A1A1A"/>
                </a:solidFill>
              </a:rPr>
              <a:t>Zaman serisi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78640" y="7379208"/>
            <a:ext cx="9692640" cy="1060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00" b="0">
                <a:solidFill>
                  <a:srgbClr val="C08A2E"/>
                </a:solidFill>
              </a:rPr>
              <a:t>Duruma göre — kısa seri: ML,  uzun / çok seri: DL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7440" y="8622792"/>
            <a:ext cx="19632168" cy="10607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17520" y="8622792"/>
            <a:ext cx="8503920" cy="1060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>
                <a:solidFill>
                  <a:srgbClr val="1A1A1A"/>
                </a:solidFill>
              </a:rPr>
              <a:t>Tablo verisi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978640" y="8622792"/>
            <a:ext cx="9692640" cy="1060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00" b="0">
                <a:solidFill>
                  <a:srgbClr val="6E6E6E"/>
                </a:solidFill>
              </a:rPr>
              <a:t>Machine Learning (XGBoost / LightGBM)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77440" y="9866376"/>
            <a:ext cx="19632168" cy="1060704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17520" y="9866376"/>
            <a:ext cx="8503920" cy="1060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>
                <a:solidFill>
                  <a:srgbClr val="1A1A1A"/>
                </a:solidFill>
              </a:rPr>
              <a:t>Açıklanabilirlik zorunlu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978640" y="9866376"/>
            <a:ext cx="9692640" cy="1060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00" b="0">
                <a:solidFill>
                  <a:srgbClr val="6E6E6E"/>
                </a:solidFill>
              </a:rPr>
              <a:t>Machine Learning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80160" y="11292840"/>
            <a:ext cx="21826728" cy="11887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011680" y="11292840"/>
            <a:ext cx="20363688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>
                <a:solidFill>
                  <a:srgbClr val="15263F"/>
                </a:solidFill>
              </a:rPr>
              <a:t>Kural basit: veri </a:t>
            </a:r>
            <a:r>
              <a:rPr sz="2300" b="1">
                <a:solidFill>
                  <a:srgbClr val="15263F"/>
                </a:solidFill>
              </a:rPr>
              <a:t>görüntü, ses, metin ya da video ise</a:t>
            </a:r>
            <a:r>
              <a:rPr sz="2300" b="0">
                <a:solidFill>
                  <a:srgbClr val="15263F"/>
                </a:solidFill>
              </a:rPr>
              <a:t> derin öğrenme; </a:t>
            </a:r>
            <a:r>
              <a:rPr sz="2300" b="1">
                <a:solidFill>
                  <a:srgbClr val="15263F"/>
                </a:solidFill>
              </a:rPr>
              <a:t>tabloysa</a:t>
            </a:r>
            <a:r>
              <a:rPr sz="2300" b="0">
                <a:solidFill>
                  <a:srgbClr val="15263F"/>
                </a:solidFill>
              </a:rPr>
              <a:t> klasik makine öğrenmesi genelde daha iyi ve daha açıklanabilir.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E0C94BD7-D911-9244-0C22-30F3674F9BC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de-DE" dirty="0" err="1"/>
              <a:t>Yapay</a:t>
            </a:r>
            <a:r>
              <a:rPr lang="de-DE" dirty="0"/>
              <a:t> </a:t>
            </a:r>
            <a:r>
              <a:rPr lang="de-DE" dirty="0" err="1"/>
              <a:t>Sinir</a:t>
            </a:r>
            <a:r>
              <a:rPr lang="de-DE" dirty="0"/>
              <a:t> Ağı </a:t>
            </a:r>
            <a:r>
              <a:rPr lang="de-DE" dirty="0" err="1"/>
              <a:t>Yapısı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D04E83E-95AE-C2B6-73CB-D48A805FEC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541" y="1769154"/>
            <a:ext cx="15709901" cy="1118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888553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61935-959F-475A-4302-37E30F0D4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96E7CD23-2572-E425-EC81-AC7AE8333A5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de-DE" dirty="0" err="1"/>
              <a:t>Yapay</a:t>
            </a:r>
            <a:r>
              <a:rPr lang="de-DE" dirty="0"/>
              <a:t> </a:t>
            </a:r>
            <a:r>
              <a:rPr lang="de-DE" dirty="0" err="1"/>
              <a:t>Sinir</a:t>
            </a:r>
            <a:r>
              <a:rPr lang="de-DE" dirty="0"/>
              <a:t> Ağı </a:t>
            </a:r>
            <a:r>
              <a:rPr lang="de-DE" dirty="0" err="1"/>
              <a:t>Yapısı</a:t>
            </a:r>
            <a:endParaRPr lang="de-DE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F3E4C676-A022-6EAF-63D0-B64363193110}"/>
              </a:ext>
            </a:extLst>
          </p:cNvPr>
          <p:cNvSpPr/>
          <p:nvPr/>
        </p:nvSpPr>
        <p:spPr>
          <a:xfrm>
            <a:off x="1655064" y="4618481"/>
            <a:ext cx="598932" cy="661851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45959377-F1B1-FC9E-0473-AF67F57493B4}"/>
              </a:ext>
            </a:extLst>
          </p:cNvPr>
          <p:cNvSpPr/>
          <p:nvPr/>
        </p:nvSpPr>
        <p:spPr>
          <a:xfrm>
            <a:off x="2318004" y="4741164"/>
            <a:ext cx="47677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Inputs  </a:t>
            </a:r>
            <a:r>
              <a:rPr lang="en-US" dirty="0">
                <a:solidFill>
                  <a:srgbClr val="5A6B6B"/>
                </a:solidFill>
                <a:latin typeface="Chromatica"/>
                <a:ea typeface="Arial" pitchFamily="34" charset="-122"/>
                <a:cs typeface="Arial" pitchFamily="34" charset="-120"/>
              </a:rPr>
              <a:t>—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Girdi değerleri (x1..xn)</a:t>
            </a:r>
            <a:endParaRPr lang="en-US" dirty="0">
              <a:solidFill>
                <a:schemeClr val="bg2">
                  <a:lumMod val="10000"/>
                </a:schemeClr>
              </a:solidFill>
              <a:latin typeface="Chromatica"/>
            </a:endParaRPr>
          </a:p>
        </p:txBody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53CF7D53-A046-0684-14A9-45BAEE2C3CA4}"/>
              </a:ext>
            </a:extLst>
          </p:cNvPr>
          <p:cNvSpPr/>
          <p:nvPr/>
        </p:nvSpPr>
        <p:spPr>
          <a:xfrm>
            <a:off x="10590278" y="4611695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i="1" dirty="0">
                <a:solidFill>
                  <a:srgbClr val="1E2B2B"/>
                </a:solidFill>
                <a:latin typeface="Chromatica"/>
              </a:rPr>
              <a:t>x1</a:t>
            </a:r>
            <a:endParaRPr lang="en-US" sz="1800" dirty="0">
              <a:latin typeface="Chromatica"/>
            </a:endParaRPr>
          </a:p>
        </p:txBody>
      </p:sp>
      <p:sp>
        <p:nvSpPr>
          <p:cNvPr id="53" name="Text 26">
            <a:extLst>
              <a:ext uri="{FF2B5EF4-FFF2-40B4-BE49-F238E27FC236}">
                <a16:creationId xmlns:a16="http://schemas.microsoft.com/office/drawing/2014/main" id="{ED0A25A1-BA74-584F-AFC3-16072D48EC17}"/>
              </a:ext>
            </a:extLst>
          </p:cNvPr>
          <p:cNvSpPr/>
          <p:nvPr/>
        </p:nvSpPr>
        <p:spPr>
          <a:xfrm>
            <a:off x="10590278" y="874315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i="1" dirty="0">
                <a:solidFill>
                  <a:srgbClr val="1E2B2B"/>
                </a:solidFill>
                <a:latin typeface="Chromatica"/>
              </a:rPr>
              <a:t>xn</a:t>
            </a:r>
            <a:endParaRPr lang="en-US" sz="1800" dirty="0">
              <a:latin typeface="Chromatica"/>
            </a:endParaRPr>
          </a:p>
        </p:txBody>
      </p:sp>
      <p:sp>
        <p:nvSpPr>
          <p:cNvPr id="103" name="Text 14">
            <a:extLst>
              <a:ext uri="{FF2B5EF4-FFF2-40B4-BE49-F238E27FC236}">
                <a16:creationId xmlns:a16="http://schemas.microsoft.com/office/drawing/2014/main" id="{400269B7-758C-D8CF-C6D8-EB33D34CE246}"/>
              </a:ext>
            </a:extLst>
          </p:cNvPr>
          <p:cNvSpPr/>
          <p:nvPr/>
        </p:nvSpPr>
        <p:spPr>
          <a:xfrm>
            <a:off x="10588268" y="5815549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i="1" dirty="0">
                <a:solidFill>
                  <a:srgbClr val="1E2B2B"/>
                </a:solidFill>
                <a:latin typeface="Chromatica"/>
              </a:rPr>
              <a:t>x2</a:t>
            </a:r>
            <a:endParaRPr lang="en-US" sz="1800" dirty="0">
              <a:latin typeface="Chromatica"/>
            </a:endParaRPr>
          </a:p>
        </p:txBody>
      </p:sp>
      <p:sp>
        <p:nvSpPr>
          <p:cNvPr id="104" name="Text 14">
            <a:extLst>
              <a:ext uri="{FF2B5EF4-FFF2-40B4-BE49-F238E27FC236}">
                <a16:creationId xmlns:a16="http://schemas.microsoft.com/office/drawing/2014/main" id="{F0ECE5A9-3FFF-F26C-3AD3-C845CCB6D06C}"/>
              </a:ext>
            </a:extLst>
          </p:cNvPr>
          <p:cNvSpPr/>
          <p:nvPr/>
        </p:nvSpPr>
        <p:spPr>
          <a:xfrm>
            <a:off x="10586571" y="6981587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i="1" dirty="0">
                <a:solidFill>
                  <a:srgbClr val="1E2B2B"/>
                </a:solidFill>
                <a:latin typeface="Chromatica"/>
              </a:rPr>
              <a:t>x3</a:t>
            </a:r>
            <a:endParaRPr lang="en-US" sz="1800" dirty="0">
              <a:latin typeface="Chromatica"/>
            </a:endParaRPr>
          </a:p>
        </p:txBody>
      </p:sp>
    </p:spTree>
    <p:extLst>
      <p:ext uri="{BB962C8B-B14F-4D97-AF65-F5344CB8AC3E}">
        <p14:creationId xmlns:p14="http://schemas.microsoft.com/office/powerpoint/2010/main" val="2632152961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829D7-4465-0066-EB6F-E5CC42663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409709A7-9D74-A417-6AA2-27DC6329234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de-DE" dirty="0" err="1"/>
              <a:t>Yapay</a:t>
            </a:r>
            <a:r>
              <a:rPr lang="de-DE" dirty="0"/>
              <a:t> </a:t>
            </a:r>
            <a:r>
              <a:rPr lang="de-DE" dirty="0" err="1"/>
              <a:t>Sinir</a:t>
            </a:r>
            <a:r>
              <a:rPr lang="de-DE" dirty="0"/>
              <a:t> Ağı </a:t>
            </a:r>
            <a:r>
              <a:rPr lang="de-DE" dirty="0" err="1"/>
              <a:t>Yapısı</a:t>
            </a:r>
            <a:endParaRPr lang="de-DE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9616CBCE-128E-52BC-B743-E64B515E7458}"/>
              </a:ext>
            </a:extLst>
          </p:cNvPr>
          <p:cNvSpPr/>
          <p:nvPr/>
        </p:nvSpPr>
        <p:spPr>
          <a:xfrm>
            <a:off x="1655064" y="4618481"/>
            <a:ext cx="598932" cy="661851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9990D79B-4806-70D7-C2A2-48B74B7FAE7B}"/>
              </a:ext>
            </a:extLst>
          </p:cNvPr>
          <p:cNvSpPr/>
          <p:nvPr/>
        </p:nvSpPr>
        <p:spPr>
          <a:xfrm>
            <a:off x="2318004" y="4741164"/>
            <a:ext cx="47677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Inputs  </a:t>
            </a:r>
            <a:r>
              <a:rPr lang="en-US" dirty="0">
                <a:solidFill>
                  <a:srgbClr val="5A6B6B"/>
                </a:solidFill>
                <a:latin typeface="Chromatica"/>
                <a:ea typeface="Arial" pitchFamily="34" charset="-122"/>
                <a:cs typeface="Arial" pitchFamily="34" charset="-120"/>
              </a:rPr>
              <a:t>—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Girdi değerleri (x1..xn)</a:t>
            </a:r>
            <a:endParaRPr lang="en-US" dirty="0">
              <a:solidFill>
                <a:schemeClr val="bg2">
                  <a:lumMod val="10000"/>
                </a:schemeClr>
              </a:solidFill>
              <a:latin typeface="Chromatica"/>
            </a:endParaRP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9E99EF22-A95A-9F7D-45D0-E278B04F688A}"/>
              </a:ext>
            </a:extLst>
          </p:cNvPr>
          <p:cNvSpPr/>
          <p:nvPr/>
        </p:nvSpPr>
        <p:spPr>
          <a:xfrm>
            <a:off x="1655064" y="5497068"/>
            <a:ext cx="557784" cy="661851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9CE3BB01-4DD9-54A0-5CFB-00BB044E33F0}"/>
              </a:ext>
            </a:extLst>
          </p:cNvPr>
          <p:cNvSpPr/>
          <p:nvPr/>
        </p:nvSpPr>
        <p:spPr>
          <a:xfrm>
            <a:off x="2249424" y="5630418"/>
            <a:ext cx="46405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Weights 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— Her girdinin ağırlığı (w)</a:t>
            </a:r>
            <a:endParaRPr lang="en-US" dirty="0">
              <a:solidFill>
                <a:schemeClr val="bg2">
                  <a:lumMod val="10000"/>
                </a:schemeClr>
              </a:solidFill>
              <a:latin typeface="Chromatica"/>
            </a:endParaRPr>
          </a:p>
        </p:txBody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BFA60297-4E1A-4F29-7897-E1E5E770D0AA}"/>
              </a:ext>
            </a:extLst>
          </p:cNvPr>
          <p:cNvSpPr/>
          <p:nvPr/>
        </p:nvSpPr>
        <p:spPr>
          <a:xfrm>
            <a:off x="10590278" y="4611695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i="1" dirty="0">
                <a:solidFill>
                  <a:srgbClr val="1E2B2B"/>
                </a:solidFill>
                <a:latin typeface="Chromatica"/>
              </a:rPr>
              <a:t>x1</a:t>
            </a:r>
            <a:endParaRPr lang="en-US" sz="1800" dirty="0">
              <a:latin typeface="Chromatica"/>
            </a:endParaRPr>
          </a:p>
        </p:txBody>
      </p:sp>
      <p:sp>
        <p:nvSpPr>
          <p:cNvPr id="53" name="Text 26">
            <a:extLst>
              <a:ext uri="{FF2B5EF4-FFF2-40B4-BE49-F238E27FC236}">
                <a16:creationId xmlns:a16="http://schemas.microsoft.com/office/drawing/2014/main" id="{62DCBD8A-E9CC-C32A-D8E9-F6ADF3BD6589}"/>
              </a:ext>
            </a:extLst>
          </p:cNvPr>
          <p:cNvSpPr/>
          <p:nvPr/>
        </p:nvSpPr>
        <p:spPr>
          <a:xfrm>
            <a:off x="10590278" y="874315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i="1" dirty="0">
                <a:solidFill>
                  <a:srgbClr val="1E2B2B"/>
                </a:solidFill>
                <a:latin typeface="Chromatica"/>
              </a:rPr>
              <a:t>xn</a:t>
            </a:r>
            <a:endParaRPr lang="en-US" sz="1800" dirty="0">
              <a:latin typeface="Chromatica"/>
            </a:endParaRPr>
          </a:p>
        </p:txBody>
      </p:sp>
      <p:sp>
        <p:nvSpPr>
          <p:cNvPr id="61" name="Text 30">
            <a:extLst>
              <a:ext uri="{FF2B5EF4-FFF2-40B4-BE49-F238E27FC236}">
                <a16:creationId xmlns:a16="http://schemas.microsoft.com/office/drawing/2014/main" id="{19252490-0C10-5E7D-4731-C46C43619265}"/>
              </a:ext>
            </a:extLst>
          </p:cNvPr>
          <p:cNvSpPr/>
          <p:nvPr/>
        </p:nvSpPr>
        <p:spPr>
          <a:xfrm>
            <a:off x="11524600" y="7764345"/>
            <a:ext cx="274320" cy="3657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B2B"/>
                </a:solidFill>
              </a:rPr>
              <a:t>:</a:t>
            </a:r>
            <a:endParaRPr lang="en-US" sz="2000" dirty="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1B904465-1451-8C57-D6B7-4FFDB27FDA89}"/>
              </a:ext>
            </a:extLst>
          </p:cNvPr>
          <p:cNvSpPr/>
          <p:nvPr/>
        </p:nvSpPr>
        <p:spPr>
          <a:xfrm>
            <a:off x="11113120" y="38052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Chromatica"/>
              </a:rPr>
              <a:t>weights</a:t>
            </a:r>
          </a:p>
        </p:txBody>
      </p:sp>
      <p:sp>
        <p:nvSpPr>
          <p:cNvPr id="89" name="Shape 15">
            <a:extLst>
              <a:ext uri="{FF2B5EF4-FFF2-40B4-BE49-F238E27FC236}">
                <a16:creationId xmlns:a16="http://schemas.microsoft.com/office/drawing/2014/main" id="{8F2CDB10-3B48-5FFF-6655-929C0F6BE19F}"/>
              </a:ext>
            </a:extLst>
          </p:cNvPr>
          <p:cNvSpPr/>
          <p:nvPr/>
        </p:nvSpPr>
        <p:spPr>
          <a:xfrm>
            <a:off x="11305691" y="8510671"/>
            <a:ext cx="712138" cy="82736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F52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0" name="Text 16">
            <a:extLst>
              <a:ext uri="{FF2B5EF4-FFF2-40B4-BE49-F238E27FC236}">
                <a16:creationId xmlns:a16="http://schemas.microsoft.com/office/drawing/2014/main" id="{24B61729-D5CF-AAFC-87CC-E7EE92AA32D4}"/>
              </a:ext>
            </a:extLst>
          </p:cNvPr>
          <p:cNvSpPr/>
          <p:nvPr/>
        </p:nvSpPr>
        <p:spPr>
          <a:xfrm>
            <a:off x="11469736" y="8711150"/>
            <a:ext cx="384048" cy="384048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w</a:t>
            </a:r>
            <a:endParaRPr lang="en-US" sz="1600" dirty="0">
              <a:latin typeface="Chromatica"/>
            </a:endParaRPr>
          </a:p>
        </p:txBody>
      </p:sp>
      <p:sp>
        <p:nvSpPr>
          <p:cNvPr id="92" name="Shape 15">
            <a:extLst>
              <a:ext uri="{FF2B5EF4-FFF2-40B4-BE49-F238E27FC236}">
                <a16:creationId xmlns:a16="http://schemas.microsoft.com/office/drawing/2014/main" id="{E21DAAF1-2124-0921-C811-EB91E2BF78A3}"/>
              </a:ext>
            </a:extLst>
          </p:cNvPr>
          <p:cNvSpPr/>
          <p:nvPr/>
        </p:nvSpPr>
        <p:spPr>
          <a:xfrm>
            <a:off x="11305691" y="6749104"/>
            <a:ext cx="712138" cy="82736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F52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4" name="Text 16">
            <a:extLst>
              <a:ext uri="{FF2B5EF4-FFF2-40B4-BE49-F238E27FC236}">
                <a16:creationId xmlns:a16="http://schemas.microsoft.com/office/drawing/2014/main" id="{E81C3CEB-24B2-CDAE-7E57-3C66E87F53C1}"/>
              </a:ext>
            </a:extLst>
          </p:cNvPr>
          <p:cNvSpPr/>
          <p:nvPr/>
        </p:nvSpPr>
        <p:spPr>
          <a:xfrm>
            <a:off x="11469736" y="6949583"/>
            <a:ext cx="384048" cy="384048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w</a:t>
            </a:r>
            <a:endParaRPr lang="en-US" sz="1600" dirty="0">
              <a:latin typeface="Chromatica"/>
            </a:endParaRPr>
          </a:p>
        </p:txBody>
      </p:sp>
      <p:sp>
        <p:nvSpPr>
          <p:cNvPr id="96" name="Shape 15">
            <a:extLst>
              <a:ext uri="{FF2B5EF4-FFF2-40B4-BE49-F238E27FC236}">
                <a16:creationId xmlns:a16="http://schemas.microsoft.com/office/drawing/2014/main" id="{6E05D733-E7BD-2FC6-FDC4-E8B442AA0DAB}"/>
              </a:ext>
            </a:extLst>
          </p:cNvPr>
          <p:cNvSpPr/>
          <p:nvPr/>
        </p:nvSpPr>
        <p:spPr>
          <a:xfrm>
            <a:off x="11305691" y="5551062"/>
            <a:ext cx="712138" cy="82736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F52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8" name="Text 16">
            <a:extLst>
              <a:ext uri="{FF2B5EF4-FFF2-40B4-BE49-F238E27FC236}">
                <a16:creationId xmlns:a16="http://schemas.microsoft.com/office/drawing/2014/main" id="{F85FA90D-3CA2-22B4-101D-059A711ADF75}"/>
              </a:ext>
            </a:extLst>
          </p:cNvPr>
          <p:cNvSpPr/>
          <p:nvPr/>
        </p:nvSpPr>
        <p:spPr>
          <a:xfrm>
            <a:off x="11469736" y="5751541"/>
            <a:ext cx="384048" cy="384048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w</a:t>
            </a:r>
            <a:endParaRPr lang="en-US" sz="1600" dirty="0">
              <a:latin typeface="Chromatica"/>
            </a:endParaRPr>
          </a:p>
        </p:txBody>
      </p:sp>
      <p:sp>
        <p:nvSpPr>
          <p:cNvPr id="100" name="Shape 15">
            <a:extLst>
              <a:ext uri="{FF2B5EF4-FFF2-40B4-BE49-F238E27FC236}">
                <a16:creationId xmlns:a16="http://schemas.microsoft.com/office/drawing/2014/main" id="{1989AF8F-F9F8-9DAE-7D05-F554C7735B35}"/>
              </a:ext>
            </a:extLst>
          </p:cNvPr>
          <p:cNvSpPr/>
          <p:nvPr/>
        </p:nvSpPr>
        <p:spPr>
          <a:xfrm>
            <a:off x="11308561" y="4356717"/>
            <a:ext cx="712138" cy="82736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F52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2" name="Text 16">
            <a:extLst>
              <a:ext uri="{FF2B5EF4-FFF2-40B4-BE49-F238E27FC236}">
                <a16:creationId xmlns:a16="http://schemas.microsoft.com/office/drawing/2014/main" id="{AD34A9A6-EA3A-6724-F97E-1C783D642A02}"/>
              </a:ext>
            </a:extLst>
          </p:cNvPr>
          <p:cNvSpPr/>
          <p:nvPr/>
        </p:nvSpPr>
        <p:spPr>
          <a:xfrm>
            <a:off x="11472606" y="4557196"/>
            <a:ext cx="384048" cy="384048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w</a:t>
            </a:r>
            <a:endParaRPr lang="en-US" sz="1600" dirty="0">
              <a:latin typeface="Chromatica"/>
            </a:endParaRPr>
          </a:p>
        </p:txBody>
      </p:sp>
      <p:sp>
        <p:nvSpPr>
          <p:cNvPr id="103" name="Text 14">
            <a:extLst>
              <a:ext uri="{FF2B5EF4-FFF2-40B4-BE49-F238E27FC236}">
                <a16:creationId xmlns:a16="http://schemas.microsoft.com/office/drawing/2014/main" id="{2CFD2A87-6B7E-9888-2AC4-0DCFF1C8DE12}"/>
              </a:ext>
            </a:extLst>
          </p:cNvPr>
          <p:cNvSpPr/>
          <p:nvPr/>
        </p:nvSpPr>
        <p:spPr>
          <a:xfrm>
            <a:off x="10588268" y="5815549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i="1" dirty="0">
                <a:solidFill>
                  <a:srgbClr val="1E2B2B"/>
                </a:solidFill>
                <a:latin typeface="Chromatica"/>
              </a:rPr>
              <a:t>x2</a:t>
            </a:r>
            <a:endParaRPr lang="en-US" sz="1800" dirty="0">
              <a:latin typeface="Chromatica"/>
            </a:endParaRPr>
          </a:p>
        </p:txBody>
      </p:sp>
      <p:sp>
        <p:nvSpPr>
          <p:cNvPr id="104" name="Text 14">
            <a:extLst>
              <a:ext uri="{FF2B5EF4-FFF2-40B4-BE49-F238E27FC236}">
                <a16:creationId xmlns:a16="http://schemas.microsoft.com/office/drawing/2014/main" id="{ED675939-C8DF-7C7D-D485-B70FA2E52298}"/>
              </a:ext>
            </a:extLst>
          </p:cNvPr>
          <p:cNvSpPr/>
          <p:nvPr/>
        </p:nvSpPr>
        <p:spPr>
          <a:xfrm>
            <a:off x="10586571" y="6981587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i="1" dirty="0">
                <a:solidFill>
                  <a:srgbClr val="1E2B2B"/>
                </a:solidFill>
                <a:latin typeface="Chromatica"/>
              </a:rPr>
              <a:t>x3</a:t>
            </a:r>
            <a:endParaRPr lang="en-US" sz="1800" dirty="0">
              <a:latin typeface="Chromatica"/>
            </a:endParaRPr>
          </a:p>
        </p:txBody>
      </p:sp>
    </p:spTree>
    <p:extLst>
      <p:ext uri="{BB962C8B-B14F-4D97-AF65-F5344CB8AC3E}">
        <p14:creationId xmlns:p14="http://schemas.microsoft.com/office/powerpoint/2010/main" val="2546711453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A0E35-00FC-29F8-E1D7-2C3F2E4B1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30E22B2F-FF4A-6676-D493-52F2B249C9C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de-DE" dirty="0" err="1"/>
              <a:t>Yapay</a:t>
            </a:r>
            <a:r>
              <a:rPr lang="de-DE" dirty="0"/>
              <a:t> </a:t>
            </a:r>
            <a:r>
              <a:rPr lang="de-DE" dirty="0" err="1"/>
              <a:t>Sinir</a:t>
            </a:r>
            <a:r>
              <a:rPr lang="de-DE" dirty="0"/>
              <a:t> Ağı </a:t>
            </a:r>
            <a:r>
              <a:rPr lang="de-DE" dirty="0" err="1"/>
              <a:t>Yapısı</a:t>
            </a:r>
            <a:endParaRPr lang="de-DE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1A929614-C6B2-C462-4B1C-1B0B0888FCB9}"/>
              </a:ext>
            </a:extLst>
          </p:cNvPr>
          <p:cNvSpPr/>
          <p:nvPr/>
        </p:nvSpPr>
        <p:spPr>
          <a:xfrm>
            <a:off x="1655064" y="4618481"/>
            <a:ext cx="598932" cy="661851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F5C5A583-74ED-F5B3-76C4-59D46F856203}"/>
              </a:ext>
            </a:extLst>
          </p:cNvPr>
          <p:cNvSpPr/>
          <p:nvPr/>
        </p:nvSpPr>
        <p:spPr>
          <a:xfrm>
            <a:off x="2318004" y="4741164"/>
            <a:ext cx="47677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Inputs  </a:t>
            </a:r>
            <a:r>
              <a:rPr lang="en-US" dirty="0">
                <a:solidFill>
                  <a:srgbClr val="5A6B6B"/>
                </a:solidFill>
                <a:latin typeface="Chromatica"/>
                <a:ea typeface="Arial" pitchFamily="34" charset="-122"/>
                <a:cs typeface="Arial" pitchFamily="34" charset="-120"/>
              </a:rPr>
              <a:t>—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Girdi değerleri (x1..xn)</a:t>
            </a:r>
            <a:endParaRPr lang="en-US" dirty="0">
              <a:solidFill>
                <a:schemeClr val="bg2">
                  <a:lumMod val="10000"/>
                </a:schemeClr>
              </a:solidFill>
              <a:latin typeface="Chromatica"/>
            </a:endParaRP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0726BE4C-21D5-BD90-C28F-D2F5CA94B7B5}"/>
              </a:ext>
            </a:extLst>
          </p:cNvPr>
          <p:cNvSpPr/>
          <p:nvPr/>
        </p:nvSpPr>
        <p:spPr>
          <a:xfrm>
            <a:off x="1655064" y="5497068"/>
            <a:ext cx="557784" cy="661851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F3DA06C1-10EB-0767-E42C-960146CC0453}"/>
              </a:ext>
            </a:extLst>
          </p:cNvPr>
          <p:cNvSpPr/>
          <p:nvPr/>
        </p:nvSpPr>
        <p:spPr>
          <a:xfrm>
            <a:off x="2249424" y="5630418"/>
            <a:ext cx="46405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Weights 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— Her girdinin ağırlığı (w)</a:t>
            </a:r>
            <a:endParaRPr lang="en-US" dirty="0">
              <a:solidFill>
                <a:schemeClr val="bg2">
                  <a:lumMod val="10000"/>
                </a:schemeClr>
              </a:solidFill>
              <a:latin typeface="Chromatica"/>
            </a:endParaRPr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98F18C04-1A9C-A783-CB6D-C6F6296D74A3}"/>
              </a:ext>
            </a:extLst>
          </p:cNvPr>
          <p:cNvSpPr/>
          <p:nvPr/>
        </p:nvSpPr>
        <p:spPr>
          <a:xfrm>
            <a:off x="1659636" y="6373876"/>
            <a:ext cx="557784" cy="661851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7A9D9D57-E96C-7085-A747-632656175824}"/>
              </a:ext>
            </a:extLst>
          </p:cNvPr>
          <p:cNvSpPr/>
          <p:nvPr/>
        </p:nvSpPr>
        <p:spPr>
          <a:xfrm>
            <a:off x="2262634" y="6525423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Bias 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— Sabit kaydırma terimi</a:t>
            </a:r>
            <a:endParaRPr lang="en-US" dirty="0">
              <a:solidFill>
                <a:schemeClr val="bg2">
                  <a:lumMod val="10000"/>
                </a:schemeClr>
              </a:solidFill>
              <a:latin typeface="Chromatica"/>
            </a:endParaRPr>
          </a:p>
        </p:txBody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FB95FF49-1DA0-BB2A-6166-FBAAFD367DCF}"/>
              </a:ext>
            </a:extLst>
          </p:cNvPr>
          <p:cNvSpPr/>
          <p:nvPr/>
        </p:nvSpPr>
        <p:spPr>
          <a:xfrm>
            <a:off x="10590278" y="4611695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i="1" dirty="0">
                <a:solidFill>
                  <a:srgbClr val="1E2B2B"/>
                </a:solidFill>
                <a:latin typeface="Chromatica"/>
              </a:rPr>
              <a:t>x1</a:t>
            </a:r>
            <a:endParaRPr lang="en-US" sz="1800" dirty="0">
              <a:latin typeface="Chromatica"/>
            </a:endParaRPr>
          </a:p>
        </p:txBody>
      </p:sp>
      <p:sp>
        <p:nvSpPr>
          <p:cNvPr id="53" name="Text 26">
            <a:extLst>
              <a:ext uri="{FF2B5EF4-FFF2-40B4-BE49-F238E27FC236}">
                <a16:creationId xmlns:a16="http://schemas.microsoft.com/office/drawing/2014/main" id="{04E8AD02-A287-D9A7-36CF-2F6FBA27DB98}"/>
              </a:ext>
            </a:extLst>
          </p:cNvPr>
          <p:cNvSpPr/>
          <p:nvPr/>
        </p:nvSpPr>
        <p:spPr>
          <a:xfrm>
            <a:off x="10590278" y="874315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i="1" dirty="0" err="1">
                <a:solidFill>
                  <a:srgbClr val="1E2B2B"/>
                </a:solidFill>
                <a:latin typeface="Chromatica"/>
              </a:rPr>
              <a:t>xn</a:t>
            </a:r>
            <a:endParaRPr lang="en-US" sz="1800" dirty="0">
              <a:latin typeface="Chromatica"/>
            </a:endParaRPr>
          </a:p>
        </p:txBody>
      </p:sp>
      <p:sp>
        <p:nvSpPr>
          <p:cNvPr id="61" name="Text 30">
            <a:extLst>
              <a:ext uri="{FF2B5EF4-FFF2-40B4-BE49-F238E27FC236}">
                <a16:creationId xmlns:a16="http://schemas.microsoft.com/office/drawing/2014/main" id="{B4C76352-5A7A-1E0F-1DDF-C28F2958EE5C}"/>
              </a:ext>
            </a:extLst>
          </p:cNvPr>
          <p:cNvSpPr/>
          <p:nvPr/>
        </p:nvSpPr>
        <p:spPr>
          <a:xfrm>
            <a:off x="11524600" y="7764345"/>
            <a:ext cx="274320" cy="3657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B2B"/>
                </a:solidFill>
              </a:rPr>
              <a:t>:</a:t>
            </a:r>
            <a:endParaRPr lang="en-US" sz="2000" dirty="0"/>
          </a:p>
        </p:txBody>
      </p:sp>
      <p:sp>
        <p:nvSpPr>
          <p:cNvPr id="67" name="Text 33">
            <a:extLst>
              <a:ext uri="{FF2B5EF4-FFF2-40B4-BE49-F238E27FC236}">
                <a16:creationId xmlns:a16="http://schemas.microsoft.com/office/drawing/2014/main" id="{D96B1559-D91D-0709-558D-228AE557C254}"/>
              </a:ext>
            </a:extLst>
          </p:cNvPr>
          <p:cNvSpPr/>
          <p:nvPr/>
        </p:nvSpPr>
        <p:spPr>
          <a:xfrm>
            <a:off x="13423745" y="9528991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A6B6B"/>
                </a:solidFill>
                <a:latin typeface="Chromatica"/>
              </a:rPr>
              <a:t>bias</a:t>
            </a:r>
            <a:endParaRPr lang="en-US" sz="1800" dirty="0">
              <a:latin typeface="Chromatica"/>
            </a:endParaRPr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14826E42-34C6-E63A-447B-C4F53113A35A}"/>
              </a:ext>
            </a:extLst>
          </p:cNvPr>
          <p:cNvSpPr/>
          <p:nvPr/>
        </p:nvSpPr>
        <p:spPr>
          <a:xfrm>
            <a:off x="11113120" y="38052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Chromatica"/>
              </a:rPr>
              <a:t>weights</a:t>
            </a:r>
          </a:p>
        </p:txBody>
      </p:sp>
      <p:sp>
        <p:nvSpPr>
          <p:cNvPr id="89" name="Shape 15">
            <a:extLst>
              <a:ext uri="{FF2B5EF4-FFF2-40B4-BE49-F238E27FC236}">
                <a16:creationId xmlns:a16="http://schemas.microsoft.com/office/drawing/2014/main" id="{E18F41D1-7C6D-597D-8ED1-C0D7C6A36A5D}"/>
              </a:ext>
            </a:extLst>
          </p:cNvPr>
          <p:cNvSpPr/>
          <p:nvPr/>
        </p:nvSpPr>
        <p:spPr>
          <a:xfrm>
            <a:off x="11305691" y="8510671"/>
            <a:ext cx="712138" cy="82736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F52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0" name="Text 16">
            <a:extLst>
              <a:ext uri="{FF2B5EF4-FFF2-40B4-BE49-F238E27FC236}">
                <a16:creationId xmlns:a16="http://schemas.microsoft.com/office/drawing/2014/main" id="{8076E0CD-06EA-6566-A295-6223C8AEE3A9}"/>
              </a:ext>
            </a:extLst>
          </p:cNvPr>
          <p:cNvSpPr/>
          <p:nvPr/>
        </p:nvSpPr>
        <p:spPr>
          <a:xfrm>
            <a:off x="11469736" y="8711150"/>
            <a:ext cx="384048" cy="384048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w</a:t>
            </a:r>
            <a:endParaRPr lang="en-US" sz="1600" dirty="0">
              <a:latin typeface="Chromatica"/>
            </a:endParaRPr>
          </a:p>
        </p:txBody>
      </p:sp>
      <p:sp>
        <p:nvSpPr>
          <p:cNvPr id="92" name="Shape 15">
            <a:extLst>
              <a:ext uri="{FF2B5EF4-FFF2-40B4-BE49-F238E27FC236}">
                <a16:creationId xmlns:a16="http://schemas.microsoft.com/office/drawing/2014/main" id="{3D9CAADE-962E-D348-34FF-15EED3DDEC0E}"/>
              </a:ext>
            </a:extLst>
          </p:cNvPr>
          <p:cNvSpPr/>
          <p:nvPr/>
        </p:nvSpPr>
        <p:spPr>
          <a:xfrm>
            <a:off x="11305691" y="6749104"/>
            <a:ext cx="712138" cy="82736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F52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4" name="Text 16">
            <a:extLst>
              <a:ext uri="{FF2B5EF4-FFF2-40B4-BE49-F238E27FC236}">
                <a16:creationId xmlns:a16="http://schemas.microsoft.com/office/drawing/2014/main" id="{10ED09A3-4494-1B15-0178-B1EE02808310}"/>
              </a:ext>
            </a:extLst>
          </p:cNvPr>
          <p:cNvSpPr/>
          <p:nvPr/>
        </p:nvSpPr>
        <p:spPr>
          <a:xfrm>
            <a:off x="11469736" y="6949583"/>
            <a:ext cx="384048" cy="384048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w</a:t>
            </a:r>
            <a:endParaRPr lang="en-US" sz="1600" dirty="0">
              <a:latin typeface="Chromatica"/>
            </a:endParaRPr>
          </a:p>
        </p:txBody>
      </p:sp>
      <p:sp>
        <p:nvSpPr>
          <p:cNvPr id="96" name="Shape 15">
            <a:extLst>
              <a:ext uri="{FF2B5EF4-FFF2-40B4-BE49-F238E27FC236}">
                <a16:creationId xmlns:a16="http://schemas.microsoft.com/office/drawing/2014/main" id="{83F4AB99-51A1-157B-2F70-4C50F6DBDDB1}"/>
              </a:ext>
            </a:extLst>
          </p:cNvPr>
          <p:cNvSpPr/>
          <p:nvPr/>
        </p:nvSpPr>
        <p:spPr>
          <a:xfrm>
            <a:off x="11305691" y="5551062"/>
            <a:ext cx="712138" cy="82736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F52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8" name="Text 16">
            <a:extLst>
              <a:ext uri="{FF2B5EF4-FFF2-40B4-BE49-F238E27FC236}">
                <a16:creationId xmlns:a16="http://schemas.microsoft.com/office/drawing/2014/main" id="{8C6A3FB7-4023-6FDC-398A-2B88DF27F70D}"/>
              </a:ext>
            </a:extLst>
          </p:cNvPr>
          <p:cNvSpPr/>
          <p:nvPr/>
        </p:nvSpPr>
        <p:spPr>
          <a:xfrm>
            <a:off x="11469736" y="5751541"/>
            <a:ext cx="384048" cy="384048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w</a:t>
            </a:r>
            <a:endParaRPr lang="en-US" sz="1600" dirty="0">
              <a:latin typeface="Chromatica"/>
            </a:endParaRPr>
          </a:p>
        </p:txBody>
      </p:sp>
      <p:sp>
        <p:nvSpPr>
          <p:cNvPr id="100" name="Shape 15">
            <a:extLst>
              <a:ext uri="{FF2B5EF4-FFF2-40B4-BE49-F238E27FC236}">
                <a16:creationId xmlns:a16="http://schemas.microsoft.com/office/drawing/2014/main" id="{1BDF5A8A-1EE4-F3A9-24A3-82C9B9474A38}"/>
              </a:ext>
            </a:extLst>
          </p:cNvPr>
          <p:cNvSpPr/>
          <p:nvPr/>
        </p:nvSpPr>
        <p:spPr>
          <a:xfrm>
            <a:off x="11308561" y="4356717"/>
            <a:ext cx="712138" cy="82736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F52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2" name="Text 16">
            <a:extLst>
              <a:ext uri="{FF2B5EF4-FFF2-40B4-BE49-F238E27FC236}">
                <a16:creationId xmlns:a16="http://schemas.microsoft.com/office/drawing/2014/main" id="{8176BD14-8AEF-3AB4-F19D-6011BC11907A}"/>
              </a:ext>
            </a:extLst>
          </p:cNvPr>
          <p:cNvSpPr/>
          <p:nvPr/>
        </p:nvSpPr>
        <p:spPr>
          <a:xfrm>
            <a:off x="11472606" y="4557196"/>
            <a:ext cx="384048" cy="384048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w</a:t>
            </a:r>
            <a:endParaRPr lang="en-US" sz="1600" dirty="0">
              <a:latin typeface="Chromatica"/>
            </a:endParaRPr>
          </a:p>
        </p:txBody>
      </p:sp>
      <p:sp>
        <p:nvSpPr>
          <p:cNvPr id="103" name="Text 14">
            <a:extLst>
              <a:ext uri="{FF2B5EF4-FFF2-40B4-BE49-F238E27FC236}">
                <a16:creationId xmlns:a16="http://schemas.microsoft.com/office/drawing/2014/main" id="{B1126126-BDA1-FD11-7109-263AB7823AB5}"/>
              </a:ext>
            </a:extLst>
          </p:cNvPr>
          <p:cNvSpPr/>
          <p:nvPr/>
        </p:nvSpPr>
        <p:spPr>
          <a:xfrm>
            <a:off x="10588268" y="5815549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i="1" dirty="0">
                <a:solidFill>
                  <a:srgbClr val="1E2B2B"/>
                </a:solidFill>
                <a:latin typeface="Chromatica"/>
              </a:rPr>
              <a:t>x2</a:t>
            </a:r>
            <a:endParaRPr lang="en-US" sz="1800" dirty="0">
              <a:latin typeface="Chromatica"/>
            </a:endParaRPr>
          </a:p>
        </p:txBody>
      </p:sp>
      <p:sp>
        <p:nvSpPr>
          <p:cNvPr id="104" name="Text 14">
            <a:extLst>
              <a:ext uri="{FF2B5EF4-FFF2-40B4-BE49-F238E27FC236}">
                <a16:creationId xmlns:a16="http://schemas.microsoft.com/office/drawing/2014/main" id="{A743F0D6-FC26-3270-EB21-25FAD8DE4268}"/>
              </a:ext>
            </a:extLst>
          </p:cNvPr>
          <p:cNvSpPr/>
          <p:nvPr/>
        </p:nvSpPr>
        <p:spPr>
          <a:xfrm>
            <a:off x="10586571" y="6981587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i="1" dirty="0">
                <a:solidFill>
                  <a:srgbClr val="1E2B2B"/>
                </a:solidFill>
                <a:latin typeface="Chromatica"/>
              </a:rPr>
              <a:t>x3</a:t>
            </a:r>
            <a:endParaRPr lang="en-US" sz="1800" dirty="0">
              <a:latin typeface="Chromatica"/>
            </a:endParaRPr>
          </a:p>
        </p:txBody>
      </p:sp>
    </p:spTree>
    <p:extLst>
      <p:ext uri="{BB962C8B-B14F-4D97-AF65-F5344CB8AC3E}">
        <p14:creationId xmlns:p14="http://schemas.microsoft.com/office/powerpoint/2010/main" val="673531650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78FD3-C72A-A11B-5754-9859CF955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0266A17E-5637-540D-1633-24051926C61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de-DE" dirty="0" err="1"/>
              <a:t>Yapay</a:t>
            </a:r>
            <a:r>
              <a:rPr lang="de-DE" dirty="0"/>
              <a:t> </a:t>
            </a:r>
            <a:r>
              <a:rPr lang="de-DE" dirty="0" err="1"/>
              <a:t>Sinir</a:t>
            </a:r>
            <a:r>
              <a:rPr lang="de-DE" dirty="0"/>
              <a:t> Ağı </a:t>
            </a:r>
            <a:r>
              <a:rPr lang="de-DE" dirty="0" err="1"/>
              <a:t>Yapısı</a:t>
            </a:r>
            <a:endParaRPr lang="de-DE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EEEE7387-A9CD-1A84-3735-1F56E2ED11CB}"/>
              </a:ext>
            </a:extLst>
          </p:cNvPr>
          <p:cNvSpPr/>
          <p:nvPr/>
        </p:nvSpPr>
        <p:spPr>
          <a:xfrm>
            <a:off x="1655064" y="4618481"/>
            <a:ext cx="598932" cy="661851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89FA791F-2F28-1F42-6506-BDC6F0D08A8A}"/>
              </a:ext>
            </a:extLst>
          </p:cNvPr>
          <p:cNvSpPr/>
          <p:nvPr/>
        </p:nvSpPr>
        <p:spPr>
          <a:xfrm>
            <a:off x="2318004" y="4741164"/>
            <a:ext cx="47677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Inputs  </a:t>
            </a:r>
            <a:r>
              <a:rPr lang="en-US" dirty="0">
                <a:solidFill>
                  <a:srgbClr val="5A6B6B"/>
                </a:solidFill>
                <a:latin typeface="Chromatica"/>
                <a:ea typeface="Arial" pitchFamily="34" charset="-122"/>
                <a:cs typeface="Arial" pitchFamily="34" charset="-120"/>
              </a:rPr>
              <a:t>—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Girdi değerleri (x1..xn)</a:t>
            </a:r>
            <a:endParaRPr lang="en-US" dirty="0">
              <a:solidFill>
                <a:schemeClr val="bg2">
                  <a:lumMod val="10000"/>
                </a:schemeClr>
              </a:solidFill>
              <a:latin typeface="Chromatica"/>
            </a:endParaRP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3824FCC2-FEC0-7E8C-CA6C-11975209D126}"/>
              </a:ext>
            </a:extLst>
          </p:cNvPr>
          <p:cNvSpPr/>
          <p:nvPr/>
        </p:nvSpPr>
        <p:spPr>
          <a:xfrm>
            <a:off x="1655064" y="5497068"/>
            <a:ext cx="557784" cy="661851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D7B93502-96AC-42B6-FDD1-C536833EE833}"/>
              </a:ext>
            </a:extLst>
          </p:cNvPr>
          <p:cNvSpPr/>
          <p:nvPr/>
        </p:nvSpPr>
        <p:spPr>
          <a:xfrm>
            <a:off x="2249424" y="5630418"/>
            <a:ext cx="46405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Weights 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— Her girdinin ağırlığı (w)</a:t>
            </a:r>
            <a:endParaRPr lang="en-US" dirty="0">
              <a:solidFill>
                <a:schemeClr val="bg2">
                  <a:lumMod val="10000"/>
                </a:schemeClr>
              </a:solidFill>
              <a:latin typeface="Chromatica"/>
            </a:endParaRPr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C772ABB1-21F2-5F6C-2942-66CD304DF065}"/>
              </a:ext>
            </a:extLst>
          </p:cNvPr>
          <p:cNvSpPr/>
          <p:nvPr/>
        </p:nvSpPr>
        <p:spPr>
          <a:xfrm>
            <a:off x="1659636" y="6373876"/>
            <a:ext cx="557784" cy="661851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115023B1-2F58-6345-15C6-6C910A6D4202}"/>
              </a:ext>
            </a:extLst>
          </p:cNvPr>
          <p:cNvSpPr/>
          <p:nvPr/>
        </p:nvSpPr>
        <p:spPr>
          <a:xfrm>
            <a:off x="2262634" y="6525423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Bias 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— Sabit kaydırma terimi</a:t>
            </a:r>
            <a:endParaRPr lang="en-US" dirty="0">
              <a:solidFill>
                <a:schemeClr val="bg2">
                  <a:lumMod val="10000"/>
                </a:schemeClr>
              </a:solidFill>
              <a:latin typeface="Chromatica"/>
            </a:endParaRPr>
          </a:p>
        </p:txBody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7C93BC4C-8B38-F900-67E6-80EF3DDAF7E0}"/>
              </a:ext>
            </a:extLst>
          </p:cNvPr>
          <p:cNvSpPr/>
          <p:nvPr/>
        </p:nvSpPr>
        <p:spPr>
          <a:xfrm>
            <a:off x="1675638" y="7250684"/>
            <a:ext cx="557784" cy="661851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A0188919-FB00-5095-6D49-FB18D0B5FB24}"/>
              </a:ext>
            </a:extLst>
          </p:cNvPr>
          <p:cNvSpPr/>
          <p:nvPr/>
        </p:nvSpPr>
        <p:spPr>
          <a:xfrm>
            <a:off x="2262633" y="7375869"/>
            <a:ext cx="52847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Summation 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— Ağırlıklı toplam (Sigma)</a:t>
            </a:r>
            <a:endParaRPr lang="en-US" dirty="0">
              <a:solidFill>
                <a:schemeClr val="bg2">
                  <a:lumMod val="10000"/>
                </a:schemeClr>
              </a:solidFill>
              <a:latin typeface="Chromatica"/>
            </a:endParaRPr>
          </a:p>
        </p:txBody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BAFD3EE0-97EB-9E98-A508-DC76CCA2AB76}"/>
              </a:ext>
            </a:extLst>
          </p:cNvPr>
          <p:cNvSpPr/>
          <p:nvPr/>
        </p:nvSpPr>
        <p:spPr>
          <a:xfrm>
            <a:off x="10590278" y="4611695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i="1" dirty="0">
                <a:solidFill>
                  <a:srgbClr val="1E2B2B"/>
                </a:solidFill>
                <a:latin typeface="Chromatica"/>
              </a:rPr>
              <a:t>x1</a:t>
            </a:r>
            <a:endParaRPr lang="en-US" sz="1800" dirty="0">
              <a:latin typeface="Chromatica"/>
            </a:endParaRPr>
          </a:p>
        </p:txBody>
      </p:sp>
      <p:sp>
        <p:nvSpPr>
          <p:cNvPr id="53" name="Text 26">
            <a:extLst>
              <a:ext uri="{FF2B5EF4-FFF2-40B4-BE49-F238E27FC236}">
                <a16:creationId xmlns:a16="http://schemas.microsoft.com/office/drawing/2014/main" id="{C83A6748-8844-72B2-636D-6539733F0D16}"/>
              </a:ext>
            </a:extLst>
          </p:cNvPr>
          <p:cNvSpPr/>
          <p:nvPr/>
        </p:nvSpPr>
        <p:spPr>
          <a:xfrm>
            <a:off x="10590278" y="874315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i="1" dirty="0">
                <a:solidFill>
                  <a:srgbClr val="1E2B2B"/>
                </a:solidFill>
                <a:latin typeface="Chromatica"/>
              </a:rPr>
              <a:t>xn</a:t>
            </a:r>
            <a:endParaRPr lang="en-US" sz="1800" dirty="0">
              <a:latin typeface="Chromatica"/>
            </a:endParaRPr>
          </a:p>
        </p:txBody>
      </p:sp>
      <p:sp>
        <p:nvSpPr>
          <p:cNvPr id="61" name="Text 30">
            <a:extLst>
              <a:ext uri="{FF2B5EF4-FFF2-40B4-BE49-F238E27FC236}">
                <a16:creationId xmlns:a16="http://schemas.microsoft.com/office/drawing/2014/main" id="{26E41E01-CE91-2AEF-C1FC-D5688966F065}"/>
              </a:ext>
            </a:extLst>
          </p:cNvPr>
          <p:cNvSpPr/>
          <p:nvPr/>
        </p:nvSpPr>
        <p:spPr>
          <a:xfrm>
            <a:off x="11524600" y="7764345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B2B"/>
                </a:solidFill>
              </a:rPr>
              <a:t>:</a:t>
            </a:r>
            <a:endParaRPr lang="en-US" sz="2000" dirty="0"/>
          </a:p>
        </p:txBody>
      </p:sp>
      <p:sp>
        <p:nvSpPr>
          <p:cNvPr id="63" name="Shape 31">
            <a:extLst>
              <a:ext uri="{FF2B5EF4-FFF2-40B4-BE49-F238E27FC236}">
                <a16:creationId xmlns:a16="http://schemas.microsoft.com/office/drawing/2014/main" id="{937CE059-686C-0D99-8A34-F561BEBF4C5D}"/>
              </a:ext>
            </a:extLst>
          </p:cNvPr>
          <p:cNvSpPr/>
          <p:nvPr/>
        </p:nvSpPr>
        <p:spPr>
          <a:xfrm>
            <a:off x="14545407" y="6582804"/>
            <a:ext cx="1060198" cy="1169993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0F52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5" name="Text 32">
            <a:extLst>
              <a:ext uri="{FF2B5EF4-FFF2-40B4-BE49-F238E27FC236}">
                <a16:creationId xmlns:a16="http://schemas.microsoft.com/office/drawing/2014/main" id="{EB755ED7-CFCA-32C2-3AB9-221B14C4EC10}"/>
              </a:ext>
            </a:extLst>
          </p:cNvPr>
          <p:cNvSpPr/>
          <p:nvPr/>
        </p:nvSpPr>
        <p:spPr>
          <a:xfrm>
            <a:off x="14536332" y="6582804"/>
            <a:ext cx="1060198" cy="11699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2600" dirty="0"/>
          </a:p>
        </p:txBody>
      </p:sp>
      <p:sp>
        <p:nvSpPr>
          <p:cNvPr id="67" name="Text 33">
            <a:extLst>
              <a:ext uri="{FF2B5EF4-FFF2-40B4-BE49-F238E27FC236}">
                <a16:creationId xmlns:a16="http://schemas.microsoft.com/office/drawing/2014/main" id="{154460E7-1F00-FE0B-8969-8A9230826DEF}"/>
              </a:ext>
            </a:extLst>
          </p:cNvPr>
          <p:cNvSpPr/>
          <p:nvPr/>
        </p:nvSpPr>
        <p:spPr>
          <a:xfrm>
            <a:off x="13423745" y="9528991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A6B6B"/>
                </a:solidFill>
                <a:latin typeface="Chromatica"/>
              </a:rPr>
              <a:t>bias</a:t>
            </a:r>
            <a:endParaRPr lang="en-US" sz="1800" dirty="0">
              <a:latin typeface="Chromatica"/>
            </a:endParaRPr>
          </a:p>
        </p:txBody>
      </p:sp>
      <p:sp>
        <p:nvSpPr>
          <p:cNvPr id="69" name="Shape 34">
            <a:extLst>
              <a:ext uri="{FF2B5EF4-FFF2-40B4-BE49-F238E27FC236}">
                <a16:creationId xmlns:a16="http://schemas.microsoft.com/office/drawing/2014/main" id="{982F0661-B902-18CE-E5F2-FD25C6A6D354}"/>
              </a:ext>
            </a:extLst>
          </p:cNvPr>
          <p:cNvSpPr/>
          <p:nvPr/>
        </p:nvSpPr>
        <p:spPr>
          <a:xfrm>
            <a:off x="15262862" y="8202168"/>
            <a:ext cx="0" cy="0"/>
          </a:xfrm>
          <a:prstGeom prst="line">
            <a:avLst/>
          </a:prstGeom>
          <a:noFill/>
          <a:ln w="15875">
            <a:solidFill>
              <a:srgbClr val="9AAFA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3EC7A45D-4C3A-4127-98F3-51279DEC8085}"/>
              </a:ext>
            </a:extLst>
          </p:cNvPr>
          <p:cNvSpPr/>
          <p:nvPr/>
        </p:nvSpPr>
        <p:spPr>
          <a:xfrm>
            <a:off x="11113120" y="38052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Chromatica"/>
              </a:rPr>
              <a:t>weights</a:t>
            </a:r>
          </a:p>
        </p:txBody>
      </p:sp>
      <p:sp>
        <p:nvSpPr>
          <p:cNvPr id="89" name="Shape 15">
            <a:extLst>
              <a:ext uri="{FF2B5EF4-FFF2-40B4-BE49-F238E27FC236}">
                <a16:creationId xmlns:a16="http://schemas.microsoft.com/office/drawing/2014/main" id="{88AE49F5-7080-C39E-1632-F7DC208D3623}"/>
              </a:ext>
            </a:extLst>
          </p:cNvPr>
          <p:cNvSpPr/>
          <p:nvPr/>
        </p:nvSpPr>
        <p:spPr>
          <a:xfrm>
            <a:off x="11305691" y="8510671"/>
            <a:ext cx="712138" cy="82736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F52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0" name="Text 16">
            <a:extLst>
              <a:ext uri="{FF2B5EF4-FFF2-40B4-BE49-F238E27FC236}">
                <a16:creationId xmlns:a16="http://schemas.microsoft.com/office/drawing/2014/main" id="{5C9A8C82-F913-6B7D-B119-5CD435E90C6F}"/>
              </a:ext>
            </a:extLst>
          </p:cNvPr>
          <p:cNvSpPr/>
          <p:nvPr/>
        </p:nvSpPr>
        <p:spPr>
          <a:xfrm>
            <a:off x="11469736" y="871115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w</a:t>
            </a:r>
            <a:endParaRPr lang="en-US" sz="1600" dirty="0">
              <a:latin typeface="Chromatica"/>
            </a:endParaRPr>
          </a:p>
        </p:txBody>
      </p:sp>
      <p:sp>
        <p:nvSpPr>
          <p:cNvPr id="92" name="Shape 15">
            <a:extLst>
              <a:ext uri="{FF2B5EF4-FFF2-40B4-BE49-F238E27FC236}">
                <a16:creationId xmlns:a16="http://schemas.microsoft.com/office/drawing/2014/main" id="{14558EC4-D804-64F1-0670-41BD027BB9B6}"/>
              </a:ext>
            </a:extLst>
          </p:cNvPr>
          <p:cNvSpPr/>
          <p:nvPr/>
        </p:nvSpPr>
        <p:spPr>
          <a:xfrm>
            <a:off x="11305691" y="6749104"/>
            <a:ext cx="712138" cy="82736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F52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4" name="Text 16">
            <a:extLst>
              <a:ext uri="{FF2B5EF4-FFF2-40B4-BE49-F238E27FC236}">
                <a16:creationId xmlns:a16="http://schemas.microsoft.com/office/drawing/2014/main" id="{404ED2E7-F950-D2C2-A07D-2BB610AEB700}"/>
              </a:ext>
            </a:extLst>
          </p:cNvPr>
          <p:cNvSpPr/>
          <p:nvPr/>
        </p:nvSpPr>
        <p:spPr>
          <a:xfrm>
            <a:off x="11469736" y="6949583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w</a:t>
            </a:r>
            <a:endParaRPr lang="en-US" sz="1600" dirty="0">
              <a:latin typeface="Chromatica"/>
            </a:endParaRPr>
          </a:p>
        </p:txBody>
      </p:sp>
      <p:sp>
        <p:nvSpPr>
          <p:cNvPr id="96" name="Shape 15">
            <a:extLst>
              <a:ext uri="{FF2B5EF4-FFF2-40B4-BE49-F238E27FC236}">
                <a16:creationId xmlns:a16="http://schemas.microsoft.com/office/drawing/2014/main" id="{F168A45B-B5FC-1FD7-F462-E8BEE63CB88F}"/>
              </a:ext>
            </a:extLst>
          </p:cNvPr>
          <p:cNvSpPr/>
          <p:nvPr/>
        </p:nvSpPr>
        <p:spPr>
          <a:xfrm>
            <a:off x="11305691" y="5551062"/>
            <a:ext cx="712138" cy="82736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F52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8" name="Text 16">
            <a:extLst>
              <a:ext uri="{FF2B5EF4-FFF2-40B4-BE49-F238E27FC236}">
                <a16:creationId xmlns:a16="http://schemas.microsoft.com/office/drawing/2014/main" id="{3A816681-6376-92B8-AFB5-B2E619ADB979}"/>
              </a:ext>
            </a:extLst>
          </p:cNvPr>
          <p:cNvSpPr/>
          <p:nvPr/>
        </p:nvSpPr>
        <p:spPr>
          <a:xfrm>
            <a:off x="11469736" y="5751541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w</a:t>
            </a:r>
            <a:endParaRPr lang="en-US" sz="1600" dirty="0">
              <a:latin typeface="Chromatica"/>
            </a:endParaRPr>
          </a:p>
        </p:txBody>
      </p:sp>
      <p:sp>
        <p:nvSpPr>
          <p:cNvPr id="100" name="Shape 15">
            <a:extLst>
              <a:ext uri="{FF2B5EF4-FFF2-40B4-BE49-F238E27FC236}">
                <a16:creationId xmlns:a16="http://schemas.microsoft.com/office/drawing/2014/main" id="{5123B508-F66F-C46E-C0D3-9B91984D66B7}"/>
              </a:ext>
            </a:extLst>
          </p:cNvPr>
          <p:cNvSpPr/>
          <p:nvPr/>
        </p:nvSpPr>
        <p:spPr>
          <a:xfrm>
            <a:off x="11308561" y="4356717"/>
            <a:ext cx="712138" cy="82736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F52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2" name="Text 16">
            <a:extLst>
              <a:ext uri="{FF2B5EF4-FFF2-40B4-BE49-F238E27FC236}">
                <a16:creationId xmlns:a16="http://schemas.microsoft.com/office/drawing/2014/main" id="{080C4206-3ADA-A941-26C7-86BB829861FB}"/>
              </a:ext>
            </a:extLst>
          </p:cNvPr>
          <p:cNvSpPr/>
          <p:nvPr/>
        </p:nvSpPr>
        <p:spPr>
          <a:xfrm>
            <a:off x="11472606" y="45571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w</a:t>
            </a:r>
            <a:endParaRPr lang="en-US" sz="1600" dirty="0">
              <a:latin typeface="Chromatica"/>
            </a:endParaRPr>
          </a:p>
        </p:txBody>
      </p:sp>
      <p:sp>
        <p:nvSpPr>
          <p:cNvPr id="103" name="Text 14">
            <a:extLst>
              <a:ext uri="{FF2B5EF4-FFF2-40B4-BE49-F238E27FC236}">
                <a16:creationId xmlns:a16="http://schemas.microsoft.com/office/drawing/2014/main" id="{6DCE1627-EC26-B27F-F3D4-71E6145A4F15}"/>
              </a:ext>
            </a:extLst>
          </p:cNvPr>
          <p:cNvSpPr/>
          <p:nvPr/>
        </p:nvSpPr>
        <p:spPr>
          <a:xfrm>
            <a:off x="10588268" y="5815549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i="1" dirty="0">
                <a:solidFill>
                  <a:srgbClr val="1E2B2B"/>
                </a:solidFill>
                <a:latin typeface="Chromatica"/>
              </a:rPr>
              <a:t>x2</a:t>
            </a:r>
            <a:endParaRPr lang="en-US" sz="1800" dirty="0">
              <a:latin typeface="Chromatica"/>
            </a:endParaRPr>
          </a:p>
        </p:txBody>
      </p:sp>
      <p:sp>
        <p:nvSpPr>
          <p:cNvPr id="104" name="Text 14">
            <a:extLst>
              <a:ext uri="{FF2B5EF4-FFF2-40B4-BE49-F238E27FC236}">
                <a16:creationId xmlns:a16="http://schemas.microsoft.com/office/drawing/2014/main" id="{246FBC48-0F4F-0005-C2A7-3B2A2CB0DDAC}"/>
              </a:ext>
            </a:extLst>
          </p:cNvPr>
          <p:cNvSpPr/>
          <p:nvPr/>
        </p:nvSpPr>
        <p:spPr>
          <a:xfrm>
            <a:off x="10586571" y="6981587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i="1" dirty="0">
                <a:solidFill>
                  <a:srgbClr val="1E2B2B"/>
                </a:solidFill>
                <a:latin typeface="Chromatica"/>
              </a:rPr>
              <a:t>x3</a:t>
            </a:r>
            <a:endParaRPr lang="en-US" sz="1800" dirty="0">
              <a:latin typeface="Chromatica"/>
            </a:endParaRPr>
          </a:p>
        </p:txBody>
      </p:sp>
      <p:cxnSp>
        <p:nvCxnSpPr>
          <p:cNvPr id="106" name="Gerade Verbindung mit Pfeil 105">
            <a:extLst>
              <a:ext uri="{FF2B5EF4-FFF2-40B4-BE49-F238E27FC236}">
                <a16:creationId xmlns:a16="http://schemas.microsoft.com/office/drawing/2014/main" id="{BCAFF399-CB26-20AB-AEA0-ACFA65867F9A}"/>
              </a:ext>
            </a:extLst>
          </p:cNvPr>
          <p:cNvCxnSpPr>
            <a:cxnSpLocks/>
            <a:stCxn id="100" idx="6"/>
            <a:endCxn id="63" idx="1"/>
          </p:cNvCxnSpPr>
          <p:nvPr/>
        </p:nvCxnSpPr>
        <p:spPr>
          <a:xfrm>
            <a:off x="12020699" y="4770401"/>
            <a:ext cx="2679970" cy="1983745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9" name="Gerade Verbindung mit Pfeil 108">
            <a:extLst>
              <a:ext uri="{FF2B5EF4-FFF2-40B4-BE49-F238E27FC236}">
                <a16:creationId xmlns:a16="http://schemas.microsoft.com/office/drawing/2014/main" id="{156D4616-7832-2987-0E73-F1C5E165841E}"/>
              </a:ext>
            </a:extLst>
          </p:cNvPr>
          <p:cNvCxnSpPr>
            <a:stCxn id="92" idx="6"/>
            <a:endCxn id="63" idx="2"/>
          </p:cNvCxnSpPr>
          <p:nvPr/>
        </p:nvCxnSpPr>
        <p:spPr>
          <a:xfrm>
            <a:off x="12017829" y="7162788"/>
            <a:ext cx="2527578" cy="5013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5" name="Gerade Verbindung mit Pfeil 114">
            <a:extLst>
              <a:ext uri="{FF2B5EF4-FFF2-40B4-BE49-F238E27FC236}">
                <a16:creationId xmlns:a16="http://schemas.microsoft.com/office/drawing/2014/main" id="{A6183743-7FF4-0B58-F585-31BE10D00396}"/>
              </a:ext>
            </a:extLst>
          </p:cNvPr>
          <p:cNvCxnSpPr>
            <a:stCxn id="96" idx="6"/>
          </p:cNvCxnSpPr>
          <p:nvPr/>
        </p:nvCxnSpPr>
        <p:spPr>
          <a:xfrm>
            <a:off x="12017829" y="5964746"/>
            <a:ext cx="2640356" cy="972157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7" name="Gerade Verbindung mit Pfeil 116">
            <a:extLst>
              <a:ext uri="{FF2B5EF4-FFF2-40B4-BE49-F238E27FC236}">
                <a16:creationId xmlns:a16="http://schemas.microsoft.com/office/drawing/2014/main" id="{88D2FD09-7FA0-8D5F-5854-6382867632D3}"/>
              </a:ext>
            </a:extLst>
          </p:cNvPr>
          <p:cNvCxnSpPr>
            <a:stCxn id="89" idx="6"/>
            <a:endCxn id="63" idx="3"/>
          </p:cNvCxnSpPr>
          <p:nvPr/>
        </p:nvCxnSpPr>
        <p:spPr>
          <a:xfrm flipV="1">
            <a:off x="12017829" y="7581455"/>
            <a:ext cx="2682840" cy="134290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995908782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85E49-D98D-5271-8638-3053B0B9B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621101E3-537E-7B76-5A47-16F8607D792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de-DE" dirty="0" err="1"/>
              <a:t>Yapay</a:t>
            </a:r>
            <a:r>
              <a:rPr lang="de-DE" dirty="0"/>
              <a:t> </a:t>
            </a:r>
            <a:r>
              <a:rPr lang="de-DE" dirty="0" err="1"/>
              <a:t>Sinir</a:t>
            </a:r>
            <a:r>
              <a:rPr lang="de-DE" dirty="0"/>
              <a:t> Ağı </a:t>
            </a:r>
            <a:r>
              <a:rPr lang="de-DE" dirty="0" err="1"/>
              <a:t>Yapısı</a:t>
            </a:r>
            <a:endParaRPr lang="de-DE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D20FC908-1F00-1BCE-1652-A5E57741C91D}"/>
              </a:ext>
            </a:extLst>
          </p:cNvPr>
          <p:cNvSpPr/>
          <p:nvPr/>
        </p:nvSpPr>
        <p:spPr>
          <a:xfrm>
            <a:off x="1655064" y="4618481"/>
            <a:ext cx="598932" cy="661851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D6F3DE68-6431-F9BF-4A93-DBDFEA1F0BB4}"/>
              </a:ext>
            </a:extLst>
          </p:cNvPr>
          <p:cNvSpPr/>
          <p:nvPr/>
        </p:nvSpPr>
        <p:spPr>
          <a:xfrm>
            <a:off x="2318004" y="4741164"/>
            <a:ext cx="47677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Inputs  </a:t>
            </a:r>
            <a:r>
              <a:rPr lang="en-US" dirty="0">
                <a:solidFill>
                  <a:srgbClr val="5A6B6B"/>
                </a:solidFill>
                <a:latin typeface="Chromatica"/>
                <a:ea typeface="Arial" pitchFamily="34" charset="-122"/>
                <a:cs typeface="Arial" pitchFamily="34" charset="-120"/>
              </a:rPr>
              <a:t>—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Girdi değerleri (x1..xn)</a:t>
            </a:r>
            <a:endParaRPr lang="en-US" dirty="0">
              <a:solidFill>
                <a:schemeClr val="bg2">
                  <a:lumMod val="10000"/>
                </a:schemeClr>
              </a:solidFill>
              <a:latin typeface="Chromatica"/>
            </a:endParaRP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BF577A5E-8A80-3D3A-A9D5-4F34FCFB52B2}"/>
              </a:ext>
            </a:extLst>
          </p:cNvPr>
          <p:cNvSpPr/>
          <p:nvPr/>
        </p:nvSpPr>
        <p:spPr>
          <a:xfrm>
            <a:off x="1655064" y="5497068"/>
            <a:ext cx="557784" cy="661851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C2C4A950-955C-1D8E-13C8-3772B454AB76}"/>
              </a:ext>
            </a:extLst>
          </p:cNvPr>
          <p:cNvSpPr/>
          <p:nvPr/>
        </p:nvSpPr>
        <p:spPr>
          <a:xfrm>
            <a:off x="2249424" y="5630418"/>
            <a:ext cx="46405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Weights 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— Her girdinin ağırlığı (w)</a:t>
            </a:r>
            <a:endParaRPr lang="en-US" dirty="0">
              <a:solidFill>
                <a:schemeClr val="bg2">
                  <a:lumMod val="10000"/>
                </a:schemeClr>
              </a:solidFill>
              <a:latin typeface="Chromatica"/>
            </a:endParaRPr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2E272B53-124A-AB08-146A-013472861F07}"/>
              </a:ext>
            </a:extLst>
          </p:cNvPr>
          <p:cNvSpPr/>
          <p:nvPr/>
        </p:nvSpPr>
        <p:spPr>
          <a:xfrm>
            <a:off x="1659636" y="6373876"/>
            <a:ext cx="557784" cy="661851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500DAFBC-C6D5-1FAD-8040-55CEAA02504B}"/>
              </a:ext>
            </a:extLst>
          </p:cNvPr>
          <p:cNvSpPr/>
          <p:nvPr/>
        </p:nvSpPr>
        <p:spPr>
          <a:xfrm>
            <a:off x="2262634" y="6525423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Bias 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— Sabit kaydırma terimi</a:t>
            </a:r>
            <a:endParaRPr lang="en-US" dirty="0">
              <a:solidFill>
                <a:schemeClr val="bg2">
                  <a:lumMod val="10000"/>
                </a:schemeClr>
              </a:solidFill>
              <a:latin typeface="Chromatica"/>
            </a:endParaRPr>
          </a:p>
        </p:txBody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C219BCFB-587B-E668-801A-27F9557F43E5}"/>
              </a:ext>
            </a:extLst>
          </p:cNvPr>
          <p:cNvSpPr/>
          <p:nvPr/>
        </p:nvSpPr>
        <p:spPr>
          <a:xfrm>
            <a:off x="1675638" y="7250684"/>
            <a:ext cx="557784" cy="661851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3B6E0392-3280-6F04-F896-9FFA17744585}"/>
              </a:ext>
            </a:extLst>
          </p:cNvPr>
          <p:cNvSpPr/>
          <p:nvPr/>
        </p:nvSpPr>
        <p:spPr>
          <a:xfrm>
            <a:off x="2262633" y="7375869"/>
            <a:ext cx="52847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Summation 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— Ağırlıklı toplam (Sigma)</a:t>
            </a:r>
            <a:endParaRPr lang="en-US" dirty="0">
              <a:solidFill>
                <a:schemeClr val="bg2">
                  <a:lumMod val="10000"/>
                </a:schemeClr>
              </a:solidFill>
              <a:latin typeface="Chromatica"/>
            </a:endParaRPr>
          </a:p>
        </p:txBody>
      </p:sp>
      <p:sp>
        <p:nvSpPr>
          <p:cNvPr id="21" name="Shape 10">
            <a:extLst>
              <a:ext uri="{FF2B5EF4-FFF2-40B4-BE49-F238E27FC236}">
                <a16:creationId xmlns:a16="http://schemas.microsoft.com/office/drawing/2014/main" id="{5BED2DC9-0F97-1123-4553-BB6F99FF50C2}"/>
              </a:ext>
            </a:extLst>
          </p:cNvPr>
          <p:cNvSpPr/>
          <p:nvPr/>
        </p:nvSpPr>
        <p:spPr>
          <a:xfrm>
            <a:off x="1675638" y="8130105"/>
            <a:ext cx="557784" cy="661851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40D54F8C-5A18-EE9E-0E9C-82A122EA8D7E}"/>
              </a:ext>
            </a:extLst>
          </p:cNvPr>
          <p:cNvSpPr/>
          <p:nvPr/>
        </p:nvSpPr>
        <p:spPr>
          <a:xfrm>
            <a:off x="2203649" y="8250936"/>
            <a:ext cx="5677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Activation 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— Doğrusallığı kıran fonksiyon</a:t>
            </a:r>
            <a:endParaRPr lang="en-US" dirty="0">
              <a:solidFill>
                <a:schemeClr val="bg2">
                  <a:lumMod val="10000"/>
                </a:schemeClr>
              </a:solidFill>
              <a:latin typeface="Chromatica"/>
            </a:endParaRPr>
          </a:p>
        </p:txBody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C9A65DA5-D8A9-AA00-0F06-80CE2F5E325B}"/>
              </a:ext>
            </a:extLst>
          </p:cNvPr>
          <p:cNvSpPr/>
          <p:nvPr/>
        </p:nvSpPr>
        <p:spPr>
          <a:xfrm>
            <a:off x="10590278" y="4611695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i="1" dirty="0">
                <a:solidFill>
                  <a:srgbClr val="1E2B2B"/>
                </a:solidFill>
                <a:latin typeface="Chromatica"/>
              </a:rPr>
              <a:t>x1</a:t>
            </a:r>
            <a:endParaRPr lang="en-US" sz="1800" dirty="0">
              <a:latin typeface="Chromatica"/>
            </a:endParaRPr>
          </a:p>
        </p:txBody>
      </p:sp>
      <p:sp>
        <p:nvSpPr>
          <p:cNvPr id="53" name="Text 26">
            <a:extLst>
              <a:ext uri="{FF2B5EF4-FFF2-40B4-BE49-F238E27FC236}">
                <a16:creationId xmlns:a16="http://schemas.microsoft.com/office/drawing/2014/main" id="{170996C4-1CBC-98D9-DD62-8C7ED54D4106}"/>
              </a:ext>
            </a:extLst>
          </p:cNvPr>
          <p:cNvSpPr/>
          <p:nvPr/>
        </p:nvSpPr>
        <p:spPr>
          <a:xfrm>
            <a:off x="10590278" y="874315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i="1" dirty="0">
                <a:solidFill>
                  <a:srgbClr val="1E2B2B"/>
                </a:solidFill>
                <a:latin typeface="Chromatica"/>
              </a:rPr>
              <a:t>xn</a:t>
            </a:r>
            <a:endParaRPr lang="en-US" sz="1800" dirty="0">
              <a:latin typeface="Chromatica"/>
            </a:endParaRPr>
          </a:p>
        </p:txBody>
      </p:sp>
      <p:sp>
        <p:nvSpPr>
          <p:cNvPr id="61" name="Text 30">
            <a:extLst>
              <a:ext uri="{FF2B5EF4-FFF2-40B4-BE49-F238E27FC236}">
                <a16:creationId xmlns:a16="http://schemas.microsoft.com/office/drawing/2014/main" id="{7749E8E9-F867-0CCA-B163-4377BE3999DD}"/>
              </a:ext>
            </a:extLst>
          </p:cNvPr>
          <p:cNvSpPr/>
          <p:nvPr/>
        </p:nvSpPr>
        <p:spPr>
          <a:xfrm>
            <a:off x="11524600" y="7764345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B2B"/>
                </a:solidFill>
              </a:rPr>
              <a:t>:</a:t>
            </a:r>
            <a:endParaRPr lang="en-US" sz="2000" dirty="0"/>
          </a:p>
        </p:txBody>
      </p:sp>
      <p:sp>
        <p:nvSpPr>
          <p:cNvPr id="63" name="Shape 31">
            <a:extLst>
              <a:ext uri="{FF2B5EF4-FFF2-40B4-BE49-F238E27FC236}">
                <a16:creationId xmlns:a16="http://schemas.microsoft.com/office/drawing/2014/main" id="{24EC16B4-8CCC-E02A-9040-8DC57392FA35}"/>
              </a:ext>
            </a:extLst>
          </p:cNvPr>
          <p:cNvSpPr/>
          <p:nvPr/>
        </p:nvSpPr>
        <p:spPr>
          <a:xfrm>
            <a:off x="14545407" y="6582804"/>
            <a:ext cx="1060198" cy="1169993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0F52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5" name="Text 32">
            <a:extLst>
              <a:ext uri="{FF2B5EF4-FFF2-40B4-BE49-F238E27FC236}">
                <a16:creationId xmlns:a16="http://schemas.microsoft.com/office/drawing/2014/main" id="{AD01F3BF-540E-FA30-9B81-D4950C9A265B}"/>
              </a:ext>
            </a:extLst>
          </p:cNvPr>
          <p:cNvSpPr/>
          <p:nvPr/>
        </p:nvSpPr>
        <p:spPr>
          <a:xfrm>
            <a:off x="14536332" y="6582804"/>
            <a:ext cx="1060198" cy="11699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2600" dirty="0"/>
          </a:p>
        </p:txBody>
      </p:sp>
      <p:sp>
        <p:nvSpPr>
          <p:cNvPr id="67" name="Text 33">
            <a:extLst>
              <a:ext uri="{FF2B5EF4-FFF2-40B4-BE49-F238E27FC236}">
                <a16:creationId xmlns:a16="http://schemas.microsoft.com/office/drawing/2014/main" id="{3274819E-ABF0-0DBA-B4F5-BFFF790D4D7D}"/>
              </a:ext>
            </a:extLst>
          </p:cNvPr>
          <p:cNvSpPr/>
          <p:nvPr/>
        </p:nvSpPr>
        <p:spPr>
          <a:xfrm>
            <a:off x="13423745" y="9528991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A6B6B"/>
                </a:solidFill>
                <a:latin typeface="Chromatica"/>
              </a:rPr>
              <a:t>bias</a:t>
            </a:r>
            <a:endParaRPr lang="en-US" sz="1800" dirty="0">
              <a:latin typeface="Chromatica"/>
            </a:endParaRPr>
          </a:p>
        </p:txBody>
      </p:sp>
      <p:sp>
        <p:nvSpPr>
          <p:cNvPr id="69" name="Shape 34">
            <a:extLst>
              <a:ext uri="{FF2B5EF4-FFF2-40B4-BE49-F238E27FC236}">
                <a16:creationId xmlns:a16="http://schemas.microsoft.com/office/drawing/2014/main" id="{AB97ACC6-B803-C192-FAF6-673FD4229B30}"/>
              </a:ext>
            </a:extLst>
          </p:cNvPr>
          <p:cNvSpPr/>
          <p:nvPr/>
        </p:nvSpPr>
        <p:spPr>
          <a:xfrm>
            <a:off x="15262862" y="8202168"/>
            <a:ext cx="0" cy="0"/>
          </a:xfrm>
          <a:prstGeom prst="line">
            <a:avLst/>
          </a:prstGeom>
          <a:noFill/>
          <a:ln w="15875">
            <a:solidFill>
              <a:srgbClr val="9AAFA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1" name="Shape 35">
            <a:extLst>
              <a:ext uri="{FF2B5EF4-FFF2-40B4-BE49-F238E27FC236}">
                <a16:creationId xmlns:a16="http://schemas.microsoft.com/office/drawing/2014/main" id="{D7685A52-7984-EA1C-C9B3-FA0A53087392}"/>
              </a:ext>
            </a:extLst>
          </p:cNvPr>
          <p:cNvSpPr/>
          <p:nvPr/>
        </p:nvSpPr>
        <p:spPr>
          <a:xfrm>
            <a:off x="15605605" y="7101261"/>
            <a:ext cx="685800" cy="0"/>
          </a:xfrm>
          <a:prstGeom prst="line">
            <a:avLst/>
          </a:prstGeom>
          <a:noFill/>
          <a:ln w="19050">
            <a:solidFill>
              <a:srgbClr val="9AAFA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3" name="Shape 36">
            <a:extLst>
              <a:ext uri="{FF2B5EF4-FFF2-40B4-BE49-F238E27FC236}">
                <a16:creationId xmlns:a16="http://schemas.microsoft.com/office/drawing/2014/main" id="{1AC6622D-8B0C-8D8F-027F-89D1838D1B35}"/>
              </a:ext>
            </a:extLst>
          </p:cNvPr>
          <p:cNvSpPr/>
          <p:nvPr/>
        </p:nvSpPr>
        <p:spPr>
          <a:xfrm>
            <a:off x="16302073" y="6698416"/>
            <a:ext cx="903732" cy="855092"/>
          </a:xfrm>
          <a:prstGeom prst="roundRect">
            <a:avLst>
              <a:gd name="adj" fmla="val 7059"/>
            </a:avLst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rgbClr val="0F52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5" name="Text 37">
            <a:extLst>
              <a:ext uri="{FF2B5EF4-FFF2-40B4-BE49-F238E27FC236}">
                <a16:creationId xmlns:a16="http://schemas.microsoft.com/office/drawing/2014/main" id="{8DA07094-0D10-4496-73DE-2F1490DF9C1E}"/>
              </a:ext>
            </a:extLst>
          </p:cNvPr>
          <p:cNvSpPr/>
          <p:nvPr/>
        </p:nvSpPr>
        <p:spPr>
          <a:xfrm>
            <a:off x="16365319" y="6698416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5257"/>
                </a:solidFill>
              </a:rPr>
              <a:t>φ</a:t>
            </a:r>
            <a:endParaRPr lang="en-US" sz="2600" dirty="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83C5AB46-A26F-F86B-88D2-17EC75CB9334}"/>
              </a:ext>
            </a:extLst>
          </p:cNvPr>
          <p:cNvSpPr/>
          <p:nvPr/>
        </p:nvSpPr>
        <p:spPr>
          <a:xfrm>
            <a:off x="11113120" y="38052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Chromatica"/>
              </a:rPr>
              <a:t>weights</a:t>
            </a:r>
          </a:p>
        </p:txBody>
      </p:sp>
      <p:sp>
        <p:nvSpPr>
          <p:cNvPr id="83" name="Text 41">
            <a:extLst>
              <a:ext uri="{FF2B5EF4-FFF2-40B4-BE49-F238E27FC236}">
                <a16:creationId xmlns:a16="http://schemas.microsoft.com/office/drawing/2014/main" id="{7418A13C-3719-F4B7-5B6B-755B66A1666C}"/>
              </a:ext>
            </a:extLst>
          </p:cNvPr>
          <p:cNvSpPr/>
          <p:nvPr/>
        </p:nvSpPr>
        <p:spPr>
          <a:xfrm>
            <a:off x="16199965" y="6168573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Chromatica"/>
              </a:rPr>
              <a:t>activation</a:t>
            </a:r>
          </a:p>
        </p:txBody>
      </p:sp>
      <p:sp>
        <p:nvSpPr>
          <p:cNvPr id="89" name="Shape 15">
            <a:extLst>
              <a:ext uri="{FF2B5EF4-FFF2-40B4-BE49-F238E27FC236}">
                <a16:creationId xmlns:a16="http://schemas.microsoft.com/office/drawing/2014/main" id="{7613C3D6-04FE-580E-943D-E86ED0C9B952}"/>
              </a:ext>
            </a:extLst>
          </p:cNvPr>
          <p:cNvSpPr/>
          <p:nvPr/>
        </p:nvSpPr>
        <p:spPr>
          <a:xfrm>
            <a:off x="11305691" y="8510671"/>
            <a:ext cx="712138" cy="82736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F52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0" name="Text 16">
            <a:extLst>
              <a:ext uri="{FF2B5EF4-FFF2-40B4-BE49-F238E27FC236}">
                <a16:creationId xmlns:a16="http://schemas.microsoft.com/office/drawing/2014/main" id="{9D5B8903-184D-A4F0-CF0C-85511C00CC17}"/>
              </a:ext>
            </a:extLst>
          </p:cNvPr>
          <p:cNvSpPr/>
          <p:nvPr/>
        </p:nvSpPr>
        <p:spPr>
          <a:xfrm>
            <a:off x="11469736" y="871115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w</a:t>
            </a:r>
            <a:endParaRPr lang="en-US" sz="1600" dirty="0">
              <a:latin typeface="Chromatica"/>
            </a:endParaRPr>
          </a:p>
        </p:txBody>
      </p:sp>
      <p:sp>
        <p:nvSpPr>
          <p:cNvPr id="92" name="Shape 15">
            <a:extLst>
              <a:ext uri="{FF2B5EF4-FFF2-40B4-BE49-F238E27FC236}">
                <a16:creationId xmlns:a16="http://schemas.microsoft.com/office/drawing/2014/main" id="{FC34DEA5-FDB4-E262-1891-D4F78B604971}"/>
              </a:ext>
            </a:extLst>
          </p:cNvPr>
          <p:cNvSpPr/>
          <p:nvPr/>
        </p:nvSpPr>
        <p:spPr>
          <a:xfrm>
            <a:off x="11305691" y="6749104"/>
            <a:ext cx="712138" cy="82736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F52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4" name="Text 16">
            <a:extLst>
              <a:ext uri="{FF2B5EF4-FFF2-40B4-BE49-F238E27FC236}">
                <a16:creationId xmlns:a16="http://schemas.microsoft.com/office/drawing/2014/main" id="{A0AFBB38-93C1-D4AF-C63D-91E47C363819}"/>
              </a:ext>
            </a:extLst>
          </p:cNvPr>
          <p:cNvSpPr/>
          <p:nvPr/>
        </p:nvSpPr>
        <p:spPr>
          <a:xfrm>
            <a:off x="11469736" y="6949583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w</a:t>
            </a:r>
            <a:endParaRPr lang="en-US" sz="1600" dirty="0">
              <a:latin typeface="Chromatica"/>
            </a:endParaRPr>
          </a:p>
        </p:txBody>
      </p:sp>
      <p:sp>
        <p:nvSpPr>
          <p:cNvPr id="96" name="Shape 15">
            <a:extLst>
              <a:ext uri="{FF2B5EF4-FFF2-40B4-BE49-F238E27FC236}">
                <a16:creationId xmlns:a16="http://schemas.microsoft.com/office/drawing/2014/main" id="{842CBE71-4205-82B0-615A-22D2E2CCDAA6}"/>
              </a:ext>
            </a:extLst>
          </p:cNvPr>
          <p:cNvSpPr/>
          <p:nvPr/>
        </p:nvSpPr>
        <p:spPr>
          <a:xfrm>
            <a:off x="11305691" y="5551062"/>
            <a:ext cx="712138" cy="82736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F52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8" name="Text 16">
            <a:extLst>
              <a:ext uri="{FF2B5EF4-FFF2-40B4-BE49-F238E27FC236}">
                <a16:creationId xmlns:a16="http://schemas.microsoft.com/office/drawing/2014/main" id="{DBB64854-F5CF-B867-0E59-213062D20B36}"/>
              </a:ext>
            </a:extLst>
          </p:cNvPr>
          <p:cNvSpPr/>
          <p:nvPr/>
        </p:nvSpPr>
        <p:spPr>
          <a:xfrm>
            <a:off x="11469736" y="5751541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w</a:t>
            </a:r>
            <a:endParaRPr lang="en-US" sz="1600" dirty="0">
              <a:latin typeface="Chromatica"/>
            </a:endParaRPr>
          </a:p>
        </p:txBody>
      </p:sp>
      <p:sp>
        <p:nvSpPr>
          <p:cNvPr id="100" name="Shape 15">
            <a:extLst>
              <a:ext uri="{FF2B5EF4-FFF2-40B4-BE49-F238E27FC236}">
                <a16:creationId xmlns:a16="http://schemas.microsoft.com/office/drawing/2014/main" id="{BA4183E6-6A17-DF3B-911C-4D999FDD1E72}"/>
              </a:ext>
            </a:extLst>
          </p:cNvPr>
          <p:cNvSpPr/>
          <p:nvPr/>
        </p:nvSpPr>
        <p:spPr>
          <a:xfrm>
            <a:off x="11308561" y="4356717"/>
            <a:ext cx="712138" cy="82736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F52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2" name="Text 16">
            <a:extLst>
              <a:ext uri="{FF2B5EF4-FFF2-40B4-BE49-F238E27FC236}">
                <a16:creationId xmlns:a16="http://schemas.microsoft.com/office/drawing/2014/main" id="{5AAC2EF1-8463-6D33-B39F-AE2C8FF37638}"/>
              </a:ext>
            </a:extLst>
          </p:cNvPr>
          <p:cNvSpPr/>
          <p:nvPr/>
        </p:nvSpPr>
        <p:spPr>
          <a:xfrm>
            <a:off x="11472606" y="45571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w</a:t>
            </a:r>
            <a:endParaRPr lang="en-US" sz="1600" dirty="0">
              <a:latin typeface="Chromatica"/>
            </a:endParaRPr>
          </a:p>
        </p:txBody>
      </p:sp>
      <p:sp>
        <p:nvSpPr>
          <p:cNvPr id="103" name="Text 14">
            <a:extLst>
              <a:ext uri="{FF2B5EF4-FFF2-40B4-BE49-F238E27FC236}">
                <a16:creationId xmlns:a16="http://schemas.microsoft.com/office/drawing/2014/main" id="{F917FF6E-8EAE-8D4C-3EAF-B5FEA7CF0735}"/>
              </a:ext>
            </a:extLst>
          </p:cNvPr>
          <p:cNvSpPr/>
          <p:nvPr/>
        </p:nvSpPr>
        <p:spPr>
          <a:xfrm>
            <a:off x="10588268" y="5815549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i="1" dirty="0">
                <a:solidFill>
                  <a:srgbClr val="1E2B2B"/>
                </a:solidFill>
                <a:latin typeface="Chromatica"/>
              </a:rPr>
              <a:t>x2</a:t>
            </a:r>
            <a:endParaRPr lang="en-US" sz="1800" dirty="0">
              <a:latin typeface="Chromatica"/>
            </a:endParaRPr>
          </a:p>
        </p:txBody>
      </p:sp>
      <p:sp>
        <p:nvSpPr>
          <p:cNvPr id="104" name="Text 14">
            <a:extLst>
              <a:ext uri="{FF2B5EF4-FFF2-40B4-BE49-F238E27FC236}">
                <a16:creationId xmlns:a16="http://schemas.microsoft.com/office/drawing/2014/main" id="{ED8E6628-2671-9BA9-AB1A-B17794901384}"/>
              </a:ext>
            </a:extLst>
          </p:cNvPr>
          <p:cNvSpPr/>
          <p:nvPr/>
        </p:nvSpPr>
        <p:spPr>
          <a:xfrm>
            <a:off x="10586571" y="6981587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i="1" dirty="0">
                <a:solidFill>
                  <a:srgbClr val="1E2B2B"/>
                </a:solidFill>
                <a:latin typeface="Chromatica"/>
              </a:rPr>
              <a:t>x3</a:t>
            </a:r>
            <a:endParaRPr lang="en-US" sz="1800" dirty="0">
              <a:latin typeface="Chromatica"/>
            </a:endParaRPr>
          </a:p>
        </p:txBody>
      </p:sp>
      <p:cxnSp>
        <p:nvCxnSpPr>
          <p:cNvPr id="106" name="Gerade Verbindung mit Pfeil 105">
            <a:extLst>
              <a:ext uri="{FF2B5EF4-FFF2-40B4-BE49-F238E27FC236}">
                <a16:creationId xmlns:a16="http://schemas.microsoft.com/office/drawing/2014/main" id="{790C7835-6659-3DC1-ADC9-288874BFBA37}"/>
              </a:ext>
            </a:extLst>
          </p:cNvPr>
          <p:cNvCxnSpPr>
            <a:cxnSpLocks/>
            <a:stCxn id="100" idx="6"/>
            <a:endCxn id="63" idx="1"/>
          </p:cNvCxnSpPr>
          <p:nvPr/>
        </p:nvCxnSpPr>
        <p:spPr>
          <a:xfrm>
            <a:off x="12020699" y="4770401"/>
            <a:ext cx="2679970" cy="1983745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9" name="Gerade Verbindung mit Pfeil 108">
            <a:extLst>
              <a:ext uri="{FF2B5EF4-FFF2-40B4-BE49-F238E27FC236}">
                <a16:creationId xmlns:a16="http://schemas.microsoft.com/office/drawing/2014/main" id="{38F81CFB-A479-4139-FFAB-C1836D67601C}"/>
              </a:ext>
            </a:extLst>
          </p:cNvPr>
          <p:cNvCxnSpPr>
            <a:stCxn id="92" idx="6"/>
            <a:endCxn id="63" idx="2"/>
          </p:cNvCxnSpPr>
          <p:nvPr/>
        </p:nvCxnSpPr>
        <p:spPr>
          <a:xfrm>
            <a:off x="12017829" y="7162788"/>
            <a:ext cx="2527578" cy="5013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5" name="Gerade Verbindung mit Pfeil 114">
            <a:extLst>
              <a:ext uri="{FF2B5EF4-FFF2-40B4-BE49-F238E27FC236}">
                <a16:creationId xmlns:a16="http://schemas.microsoft.com/office/drawing/2014/main" id="{5803BB7D-327A-0B9F-31E1-AE0CFD1D43C2}"/>
              </a:ext>
            </a:extLst>
          </p:cNvPr>
          <p:cNvCxnSpPr>
            <a:stCxn id="96" idx="6"/>
          </p:cNvCxnSpPr>
          <p:nvPr/>
        </p:nvCxnSpPr>
        <p:spPr>
          <a:xfrm>
            <a:off x="12017829" y="5964746"/>
            <a:ext cx="2640356" cy="972157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7" name="Gerade Verbindung mit Pfeil 116">
            <a:extLst>
              <a:ext uri="{FF2B5EF4-FFF2-40B4-BE49-F238E27FC236}">
                <a16:creationId xmlns:a16="http://schemas.microsoft.com/office/drawing/2014/main" id="{8D566316-176D-0EA7-0805-C27A2A99A20C}"/>
              </a:ext>
            </a:extLst>
          </p:cNvPr>
          <p:cNvCxnSpPr>
            <a:stCxn id="89" idx="6"/>
            <a:endCxn id="63" idx="3"/>
          </p:cNvCxnSpPr>
          <p:nvPr/>
        </p:nvCxnSpPr>
        <p:spPr>
          <a:xfrm flipV="1">
            <a:off x="12017829" y="7581455"/>
            <a:ext cx="2682840" cy="134290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568736449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870F3-F202-EDB1-1B8A-3D560F8DB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BE26E555-72F3-C136-0BF3-9E20FF4037F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de-DE" dirty="0" err="1"/>
              <a:t>Yapay</a:t>
            </a:r>
            <a:r>
              <a:rPr lang="de-DE" dirty="0"/>
              <a:t> </a:t>
            </a:r>
            <a:r>
              <a:rPr lang="de-DE" dirty="0" err="1"/>
              <a:t>Sinir</a:t>
            </a:r>
            <a:r>
              <a:rPr lang="de-DE" dirty="0"/>
              <a:t> Ağı </a:t>
            </a:r>
            <a:r>
              <a:rPr lang="de-DE" dirty="0" err="1"/>
              <a:t>Yapısı</a:t>
            </a:r>
            <a:endParaRPr lang="de-DE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82D218F0-F9A2-4662-D10D-E1CFF74D088D}"/>
              </a:ext>
            </a:extLst>
          </p:cNvPr>
          <p:cNvSpPr/>
          <p:nvPr/>
        </p:nvSpPr>
        <p:spPr>
          <a:xfrm>
            <a:off x="1655064" y="4618481"/>
            <a:ext cx="598932" cy="661851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B10BCA9F-ADBA-A9AE-21E3-DE4BD87F223B}"/>
              </a:ext>
            </a:extLst>
          </p:cNvPr>
          <p:cNvSpPr/>
          <p:nvPr/>
        </p:nvSpPr>
        <p:spPr>
          <a:xfrm>
            <a:off x="2318004" y="4741164"/>
            <a:ext cx="47677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Inputs  </a:t>
            </a:r>
            <a:r>
              <a:rPr lang="en-US" dirty="0">
                <a:solidFill>
                  <a:srgbClr val="5A6B6B"/>
                </a:solidFill>
                <a:latin typeface="Chromatica"/>
                <a:ea typeface="Arial" pitchFamily="34" charset="-122"/>
                <a:cs typeface="Arial" pitchFamily="34" charset="-120"/>
              </a:rPr>
              <a:t>—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Girdi değerleri (x1..xn)</a:t>
            </a:r>
            <a:endParaRPr lang="en-US" dirty="0">
              <a:solidFill>
                <a:schemeClr val="bg2">
                  <a:lumMod val="10000"/>
                </a:schemeClr>
              </a:solidFill>
              <a:latin typeface="Chromatica"/>
            </a:endParaRP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EA6D2ED3-577C-B90B-B1F9-459EDFB69B2F}"/>
              </a:ext>
            </a:extLst>
          </p:cNvPr>
          <p:cNvSpPr/>
          <p:nvPr/>
        </p:nvSpPr>
        <p:spPr>
          <a:xfrm>
            <a:off x="1655064" y="5497068"/>
            <a:ext cx="557784" cy="661851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A30CF0A1-ED74-5645-C7F0-67BA3E29C1C5}"/>
              </a:ext>
            </a:extLst>
          </p:cNvPr>
          <p:cNvSpPr/>
          <p:nvPr/>
        </p:nvSpPr>
        <p:spPr>
          <a:xfrm>
            <a:off x="2249424" y="5630418"/>
            <a:ext cx="46405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Weights 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— Her girdinin ağırlığı (w)</a:t>
            </a:r>
            <a:endParaRPr lang="en-US" dirty="0">
              <a:solidFill>
                <a:schemeClr val="bg2">
                  <a:lumMod val="10000"/>
                </a:schemeClr>
              </a:solidFill>
              <a:latin typeface="Chromatica"/>
            </a:endParaRPr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0DEB70F1-DD4B-E6B8-243B-E2340F7AD525}"/>
              </a:ext>
            </a:extLst>
          </p:cNvPr>
          <p:cNvSpPr/>
          <p:nvPr/>
        </p:nvSpPr>
        <p:spPr>
          <a:xfrm>
            <a:off x="1659636" y="6373876"/>
            <a:ext cx="557784" cy="661851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D3157BEE-E02D-F229-D472-16C3F3F6A80A}"/>
              </a:ext>
            </a:extLst>
          </p:cNvPr>
          <p:cNvSpPr/>
          <p:nvPr/>
        </p:nvSpPr>
        <p:spPr>
          <a:xfrm>
            <a:off x="2262634" y="6525423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Bias 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— Sabit kaydırma terimi</a:t>
            </a:r>
            <a:endParaRPr lang="en-US" dirty="0">
              <a:solidFill>
                <a:schemeClr val="bg2">
                  <a:lumMod val="10000"/>
                </a:schemeClr>
              </a:solidFill>
              <a:latin typeface="Chromatica"/>
            </a:endParaRPr>
          </a:p>
        </p:txBody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9491EBAF-F3A9-841E-5516-80EF187331C5}"/>
              </a:ext>
            </a:extLst>
          </p:cNvPr>
          <p:cNvSpPr/>
          <p:nvPr/>
        </p:nvSpPr>
        <p:spPr>
          <a:xfrm>
            <a:off x="1675638" y="7250684"/>
            <a:ext cx="557784" cy="661851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A9287ED9-175C-9B2D-5D22-56BCD31EE4DD}"/>
              </a:ext>
            </a:extLst>
          </p:cNvPr>
          <p:cNvSpPr/>
          <p:nvPr/>
        </p:nvSpPr>
        <p:spPr>
          <a:xfrm>
            <a:off x="2262633" y="7375869"/>
            <a:ext cx="52847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Summation 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— Ağırlıklı toplam (Sigma)</a:t>
            </a:r>
            <a:endParaRPr lang="en-US" dirty="0">
              <a:solidFill>
                <a:schemeClr val="bg2">
                  <a:lumMod val="10000"/>
                </a:schemeClr>
              </a:solidFill>
              <a:latin typeface="Chromatica"/>
            </a:endParaRPr>
          </a:p>
        </p:txBody>
      </p:sp>
      <p:sp>
        <p:nvSpPr>
          <p:cNvPr id="21" name="Shape 10">
            <a:extLst>
              <a:ext uri="{FF2B5EF4-FFF2-40B4-BE49-F238E27FC236}">
                <a16:creationId xmlns:a16="http://schemas.microsoft.com/office/drawing/2014/main" id="{A08C03AC-1523-7650-5249-21AF184A18FC}"/>
              </a:ext>
            </a:extLst>
          </p:cNvPr>
          <p:cNvSpPr/>
          <p:nvPr/>
        </p:nvSpPr>
        <p:spPr>
          <a:xfrm>
            <a:off x="1675638" y="8130105"/>
            <a:ext cx="557784" cy="661851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EDF12029-98B4-2129-9279-1BBA0C5A4A4D}"/>
              </a:ext>
            </a:extLst>
          </p:cNvPr>
          <p:cNvSpPr/>
          <p:nvPr/>
        </p:nvSpPr>
        <p:spPr>
          <a:xfrm>
            <a:off x="2203649" y="8250936"/>
            <a:ext cx="5677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Activation 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— Doğrusallığı kıran fonksiyon</a:t>
            </a:r>
            <a:endParaRPr lang="en-US" dirty="0">
              <a:solidFill>
                <a:schemeClr val="bg2">
                  <a:lumMod val="10000"/>
                </a:schemeClr>
              </a:solidFill>
              <a:latin typeface="Chromatica"/>
            </a:endParaRPr>
          </a:p>
        </p:txBody>
      </p:sp>
      <p:sp>
        <p:nvSpPr>
          <p:cNvPr id="25" name="Shape 12">
            <a:extLst>
              <a:ext uri="{FF2B5EF4-FFF2-40B4-BE49-F238E27FC236}">
                <a16:creationId xmlns:a16="http://schemas.microsoft.com/office/drawing/2014/main" id="{3690958D-EF02-9087-50C8-2D238B2CE0F3}"/>
              </a:ext>
            </a:extLst>
          </p:cNvPr>
          <p:cNvSpPr/>
          <p:nvPr/>
        </p:nvSpPr>
        <p:spPr>
          <a:xfrm>
            <a:off x="1696212" y="9004300"/>
            <a:ext cx="557784" cy="661851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CBEC0AEB-FF9C-5D79-59FC-B5F6E449707F}"/>
              </a:ext>
            </a:extLst>
          </p:cNvPr>
          <p:cNvSpPr/>
          <p:nvPr/>
        </p:nvSpPr>
        <p:spPr>
          <a:xfrm>
            <a:off x="2253996" y="9074223"/>
            <a:ext cx="483180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Output 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— Nöronun çıktı değeri</a:t>
            </a:r>
            <a:endParaRPr lang="en-US" dirty="0">
              <a:solidFill>
                <a:schemeClr val="bg2">
                  <a:lumMod val="10000"/>
                </a:schemeClr>
              </a:solidFill>
              <a:latin typeface="Chromatica"/>
            </a:endParaRPr>
          </a:p>
        </p:txBody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D27F8001-1EFD-011D-5930-07D4B3A5E29E}"/>
              </a:ext>
            </a:extLst>
          </p:cNvPr>
          <p:cNvSpPr/>
          <p:nvPr/>
        </p:nvSpPr>
        <p:spPr>
          <a:xfrm>
            <a:off x="10590278" y="4611695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i="1" dirty="0">
                <a:solidFill>
                  <a:srgbClr val="1E2B2B"/>
                </a:solidFill>
                <a:latin typeface="Chromatica"/>
              </a:rPr>
              <a:t>x1</a:t>
            </a:r>
            <a:endParaRPr lang="en-US" sz="1800" dirty="0">
              <a:latin typeface="Chromatica"/>
            </a:endParaRPr>
          </a:p>
        </p:txBody>
      </p:sp>
      <p:sp>
        <p:nvSpPr>
          <p:cNvPr id="53" name="Text 26">
            <a:extLst>
              <a:ext uri="{FF2B5EF4-FFF2-40B4-BE49-F238E27FC236}">
                <a16:creationId xmlns:a16="http://schemas.microsoft.com/office/drawing/2014/main" id="{A2D94C95-17FC-F502-908F-92019CEEC7B4}"/>
              </a:ext>
            </a:extLst>
          </p:cNvPr>
          <p:cNvSpPr/>
          <p:nvPr/>
        </p:nvSpPr>
        <p:spPr>
          <a:xfrm>
            <a:off x="10590278" y="874315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i="1" dirty="0">
                <a:solidFill>
                  <a:srgbClr val="1E2B2B"/>
                </a:solidFill>
                <a:latin typeface="Chromatica"/>
              </a:rPr>
              <a:t>xn</a:t>
            </a:r>
            <a:endParaRPr lang="en-US" sz="1800" dirty="0">
              <a:latin typeface="Chromatica"/>
            </a:endParaRPr>
          </a:p>
        </p:txBody>
      </p:sp>
      <p:sp>
        <p:nvSpPr>
          <p:cNvPr id="61" name="Text 30">
            <a:extLst>
              <a:ext uri="{FF2B5EF4-FFF2-40B4-BE49-F238E27FC236}">
                <a16:creationId xmlns:a16="http://schemas.microsoft.com/office/drawing/2014/main" id="{F770964D-7616-6A3D-90C0-B2B9275647AC}"/>
              </a:ext>
            </a:extLst>
          </p:cNvPr>
          <p:cNvSpPr/>
          <p:nvPr/>
        </p:nvSpPr>
        <p:spPr>
          <a:xfrm>
            <a:off x="11524600" y="7764345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B2B"/>
                </a:solidFill>
              </a:rPr>
              <a:t>:</a:t>
            </a:r>
            <a:endParaRPr lang="en-US" sz="2000" dirty="0"/>
          </a:p>
        </p:txBody>
      </p:sp>
      <p:sp>
        <p:nvSpPr>
          <p:cNvPr id="63" name="Shape 31">
            <a:extLst>
              <a:ext uri="{FF2B5EF4-FFF2-40B4-BE49-F238E27FC236}">
                <a16:creationId xmlns:a16="http://schemas.microsoft.com/office/drawing/2014/main" id="{FC894CB7-51F5-EE42-8D15-B60B563F3D4E}"/>
              </a:ext>
            </a:extLst>
          </p:cNvPr>
          <p:cNvSpPr/>
          <p:nvPr/>
        </p:nvSpPr>
        <p:spPr>
          <a:xfrm>
            <a:off x="14545407" y="6582804"/>
            <a:ext cx="1060198" cy="1169993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0F52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5" name="Text 32">
            <a:extLst>
              <a:ext uri="{FF2B5EF4-FFF2-40B4-BE49-F238E27FC236}">
                <a16:creationId xmlns:a16="http://schemas.microsoft.com/office/drawing/2014/main" id="{7B923733-F9E2-59E0-3623-29F1B4E9DAF7}"/>
              </a:ext>
            </a:extLst>
          </p:cNvPr>
          <p:cNvSpPr/>
          <p:nvPr/>
        </p:nvSpPr>
        <p:spPr>
          <a:xfrm>
            <a:off x="14536332" y="6582804"/>
            <a:ext cx="1060198" cy="11699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2600" dirty="0"/>
          </a:p>
        </p:txBody>
      </p:sp>
      <p:sp>
        <p:nvSpPr>
          <p:cNvPr id="67" name="Text 33">
            <a:extLst>
              <a:ext uri="{FF2B5EF4-FFF2-40B4-BE49-F238E27FC236}">
                <a16:creationId xmlns:a16="http://schemas.microsoft.com/office/drawing/2014/main" id="{296B565D-3A90-3EB4-DBEB-1E1347C676AC}"/>
              </a:ext>
            </a:extLst>
          </p:cNvPr>
          <p:cNvSpPr/>
          <p:nvPr/>
        </p:nvSpPr>
        <p:spPr>
          <a:xfrm>
            <a:off x="13423745" y="9528991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A6B6B"/>
                </a:solidFill>
                <a:latin typeface="Chromatica"/>
              </a:rPr>
              <a:t>bias</a:t>
            </a:r>
            <a:endParaRPr lang="en-US" sz="1800" dirty="0">
              <a:latin typeface="Chromatica"/>
            </a:endParaRPr>
          </a:p>
        </p:txBody>
      </p:sp>
      <p:sp>
        <p:nvSpPr>
          <p:cNvPr id="69" name="Shape 34">
            <a:extLst>
              <a:ext uri="{FF2B5EF4-FFF2-40B4-BE49-F238E27FC236}">
                <a16:creationId xmlns:a16="http://schemas.microsoft.com/office/drawing/2014/main" id="{B2D22689-35A9-8A37-C429-C8F706585EB2}"/>
              </a:ext>
            </a:extLst>
          </p:cNvPr>
          <p:cNvSpPr/>
          <p:nvPr/>
        </p:nvSpPr>
        <p:spPr>
          <a:xfrm>
            <a:off x="15262862" y="8202168"/>
            <a:ext cx="0" cy="0"/>
          </a:xfrm>
          <a:prstGeom prst="line">
            <a:avLst/>
          </a:prstGeom>
          <a:noFill/>
          <a:ln w="15875">
            <a:solidFill>
              <a:srgbClr val="9AAFA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1" name="Shape 35">
            <a:extLst>
              <a:ext uri="{FF2B5EF4-FFF2-40B4-BE49-F238E27FC236}">
                <a16:creationId xmlns:a16="http://schemas.microsoft.com/office/drawing/2014/main" id="{BDB80AA7-A59C-AEF0-9664-F930DBCE3D6A}"/>
              </a:ext>
            </a:extLst>
          </p:cNvPr>
          <p:cNvSpPr/>
          <p:nvPr/>
        </p:nvSpPr>
        <p:spPr>
          <a:xfrm>
            <a:off x="15605605" y="7101261"/>
            <a:ext cx="685800" cy="0"/>
          </a:xfrm>
          <a:prstGeom prst="line">
            <a:avLst/>
          </a:prstGeom>
          <a:noFill/>
          <a:ln w="19050">
            <a:solidFill>
              <a:srgbClr val="9AAFA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3" name="Shape 36">
            <a:extLst>
              <a:ext uri="{FF2B5EF4-FFF2-40B4-BE49-F238E27FC236}">
                <a16:creationId xmlns:a16="http://schemas.microsoft.com/office/drawing/2014/main" id="{792F7F55-9882-4534-126E-AE12802BD053}"/>
              </a:ext>
            </a:extLst>
          </p:cNvPr>
          <p:cNvSpPr/>
          <p:nvPr/>
        </p:nvSpPr>
        <p:spPr>
          <a:xfrm>
            <a:off x="16302073" y="6698416"/>
            <a:ext cx="903732" cy="855092"/>
          </a:xfrm>
          <a:prstGeom prst="roundRect">
            <a:avLst>
              <a:gd name="adj" fmla="val 7059"/>
            </a:avLst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rgbClr val="0F52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5" name="Text 37">
            <a:extLst>
              <a:ext uri="{FF2B5EF4-FFF2-40B4-BE49-F238E27FC236}">
                <a16:creationId xmlns:a16="http://schemas.microsoft.com/office/drawing/2014/main" id="{BA487ABE-5B41-7CFD-D672-D6868343B639}"/>
              </a:ext>
            </a:extLst>
          </p:cNvPr>
          <p:cNvSpPr/>
          <p:nvPr/>
        </p:nvSpPr>
        <p:spPr>
          <a:xfrm>
            <a:off x="16365319" y="6698416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5257"/>
                </a:solidFill>
              </a:rPr>
              <a:t>φ</a:t>
            </a:r>
            <a:endParaRPr lang="en-US" sz="2600" dirty="0"/>
          </a:p>
        </p:txBody>
      </p:sp>
      <p:sp>
        <p:nvSpPr>
          <p:cNvPr id="77" name="Shape 38">
            <a:extLst>
              <a:ext uri="{FF2B5EF4-FFF2-40B4-BE49-F238E27FC236}">
                <a16:creationId xmlns:a16="http://schemas.microsoft.com/office/drawing/2014/main" id="{9D59ED8F-D257-2B5C-DA51-A360F9DBD1B1}"/>
              </a:ext>
            </a:extLst>
          </p:cNvPr>
          <p:cNvSpPr/>
          <p:nvPr/>
        </p:nvSpPr>
        <p:spPr>
          <a:xfrm>
            <a:off x="17205805" y="7101261"/>
            <a:ext cx="594360" cy="0"/>
          </a:xfrm>
          <a:prstGeom prst="line">
            <a:avLst/>
          </a:prstGeom>
          <a:noFill/>
          <a:ln w="19050">
            <a:solidFill>
              <a:srgbClr val="9AAFA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9" name="Text 39">
            <a:extLst>
              <a:ext uri="{FF2B5EF4-FFF2-40B4-BE49-F238E27FC236}">
                <a16:creationId xmlns:a16="http://schemas.microsoft.com/office/drawing/2014/main" id="{EAF8EDBE-E40B-A29B-4782-6CF660FE166D}"/>
              </a:ext>
            </a:extLst>
          </p:cNvPr>
          <p:cNvSpPr/>
          <p:nvPr/>
        </p:nvSpPr>
        <p:spPr>
          <a:xfrm>
            <a:off x="17673673" y="686157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1E2B2B"/>
                </a:solidFill>
              </a:rPr>
              <a:t>o</a:t>
            </a:r>
            <a:endParaRPr lang="en-US" sz="2000" dirty="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CDF8D55A-76B3-EE71-E154-EC76B1B66132}"/>
              </a:ext>
            </a:extLst>
          </p:cNvPr>
          <p:cNvSpPr/>
          <p:nvPr/>
        </p:nvSpPr>
        <p:spPr>
          <a:xfrm>
            <a:off x="11113120" y="38052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Chromatica"/>
              </a:rPr>
              <a:t>weights</a:t>
            </a:r>
          </a:p>
        </p:txBody>
      </p:sp>
      <p:sp>
        <p:nvSpPr>
          <p:cNvPr id="83" name="Text 41">
            <a:extLst>
              <a:ext uri="{FF2B5EF4-FFF2-40B4-BE49-F238E27FC236}">
                <a16:creationId xmlns:a16="http://schemas.microsoft.com/office/drawing/2014/main" id="{4C920999-CC59-6B70-FEEF-635EB3FA4A39}"/>
              </a:ext>
            </a:extLst>
          </p:cNvPr>
          <p:cNvSpPr/>
          <p:nvPr/>
        </p:nvSpPr>
        <p:spPr>
          <a:xfrm>
            <a:off x="16199965" y="6168573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Chromatica"/>
              </a:rPr>
              <a:t>activation</a:t>
            </a:r>
          </a:p>
        </p:txBody>
      </p:sp>
      <p:sp>
        <p:nvSpPr>
          <p:cNvPr id="89" name="Shape 15">
            <a:extLst>
              <a:ext uri="{FF2B5EF4-FFF2-40B4-BE49-F238E27FC236}">
                <a16:creationId xmlns:a16="http://schemas.microsoft.com/office/drawing/2014/main" id="{8328C252-62F2-AF66-A165-38D36F544E8F}"/>
              </a:ext>
            </a:extLst>
          </p:cNvPr>
          <p:cNvSpPr/>
          <p:nvPr/>
        </p:nvSpPr>
        <p:spPr>
          <a:xfrm>
            <a:off x="11305691" y="8510671"/>
            <a:ext cx="712138" cy="82736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F52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0" name="Text 16">
            <a:extLst>
              <a:ext uri="{FF2B5EF4-FFF2-40B4-BE49-F238E27FC236}">
                <a16:creationId xmlns:a16="http://schemas.microsoft.com/office/drawing/2014/main" id="{B93CA812-332C-1037-360E-BE7DE6B74A46}"/>
              </a:ext>
            </a:extLst>
          </p:cNvPr>
          <p:cNvSpPr/>
          <p:nvPr/>
        </p:nvSpPr>
        <p:spPr>
          <a:xfrm>
            <a:off x="11469736" y="871115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w</a:t>
            </a:r>
            <a:endParaRPr lang="en-US" sz="1600" dirty="0">
              <a:latin typeface="Chromatica"/>
            </a:endParaRPr>
          </a:p>
        </p:txBody>
      </p:sp>
      <p:sp>
        <p:nvSpPr>
          <p:cNvPr id="92" name="Shape 15">
            <a:extLst>
              <a:ext uri="{FF2B5EF4-FFF2-40B4-BE49-F238E27FC236}">
                <a16:creationId xmlns:a16="http://schemas.microsoft.com/office/drawing/2014/main" id="{7650F42A-7985-F439-E28B-32F789B96D83}"/>
              </a:ext>
            </a:extLst>
          </p:cNvPr>
          <p:cNvSpPr/>
          <p:nvPr/>
        </p:nvSpPr>
        <p:spPr>
          <a:xfrm>
            <a:off x="11305691" y="6749104"/>
            <a:ext cx="712138" cy="82736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F52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4" name="Text 16">
            <a:extLst>
              <a:ext uri="{FF2B5EF4-FFF2-40B4-BE49-F238E27FC236}">
                <a16:creationId xmlns:a16="http://schemas.microsoft.com/office/drawing/2014/main" id="{4DD78B5A-9DC2-0C1B-8319-25E9C7B9CF49}"/>
              </a:ext>
            </a:extLst>
          </p:cNvPr>
          <p:cNvSpPr/>
          <p:nvPr/>
        </p:nvSpPr>
        <p:spPr>
          <a:xfrm>
            <a:off x="11469736" y="6949583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w</a:t>
            </a:r>
            <a:endParaRPr lang="en-US" sz="1600" dirty="0">
              <a:latin typeface="Chromatica"/>
            </a:endParaRPr>
          </a:p>
        </p:txBody>
      </p:sp>
      <p:sp>
        <p:nvSpPr>
          <p:cNvPr id="96" name="Shape 15">
            <a:extLst>
              <a:ext uri="{FF2B5EF4-FFF2-40B4-BE49-F238E27FC236}">
                <a16:creationId xmlns:a16="http://schemas.microsoft.com/office/drawing/2014/main" id="{807AE075-1A5B-9EC1-A395-F3A67278DAAE}"/>
              </a:ext>
            </a:extLst>
          </p:cNvPr>
          <p:cNvSpPr/>
          <p:nvPr/>
        </p:nvSpPr>
        <p:spPr>
          <a:xfrm>
            <a:off x="11305691" y="5551062"/>
            <a:ext cx="712138" cy="82736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F52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8" name="Text 16">
            <a:extLst>
              <a:ext uri="{FF2B5EF4-FFF2-40B4-BE49-F238E27FC236}">
                <a16:creationId xmlns:a16="http://schemas.microsoft.com/office/drawing/2014/main" id="{44E57DF8-E33E-F169-64A6-7FFB842B7D63}"/>
              </a:ext>
            </a:extLst>
          </p:cNvPr>
          <p:cNvSpPr/>
          <p:nvPr/>
        </p:nvSpPr>
        <p:spPr>
          <a:xfrm>
            <a:off x="11469736" y="5751541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w</a:t>
            </a:r>
            <a:endParaRPr lang="en-US" sz="1600" dirty="0">
              <a:latin typeface="Chromatica"/>
            </a:endParaRPr>
          </a:p>
        </p:txBody>
      </p:sp>
      <p:sp>
        <p:nvSpPr>
          <p:cNvPr id="100" name="Shape 15">
            <a:extLst>
              <a:ext uri="{FF2B5EF4-FFF2-40B4-BE49-F238E27FC236}">
                <a16:creationId xmlns:a16="http://schemas.microsoft.com/office/drawing/2014/main" id="{688EC127-E197-3776-46C7-6646FB58C49C}"/>
              </a:ext>
            </a:extLst>
          </p:cNvPr>
          <p:cNvSpPr/>
          <p:nvPr/>
        </p:nvSpPr>
        <p:spPr>
          <a:xfrm>
            <a:off x="11308561" y="4356717"/>
            <a:ext cx="712138" cy="82736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F52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2" name="Text 16">
            <a:extLst>
              <a:ext uri="{FF2B5EF4-FFF2-40B4-BE49-F238E27FC236}">
                <a16:creationId xmlns:a16="http://schemas.microsoft.com/office/drawing/2014/main" id="{2081C7AB-5AA0-5960-428D-BE9C5FBCA73E}"/>
              </a:ext>
            </a:extLst>
          </p:cNvPr>
          <p:cNvSpPr/>
          <p:nvPr/>
        </p:nvSpPr>
        <p:spPr>
          <a:xfrm>
            <a:off x="11472606" y="45571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w</a:t>
            </a:r>
            <a:endParaRPr lang="en-US" sz="1600" dirty="0">
              <a:latin typeface="Chromatica"/>
            </a:endParaRPr>
          </a:p>
        </p:txBody>
      </p:sp>
      <p:sp>
        <p:nvSpPr>
          <p:cNvPr id="103" name="Text 14">
            <a:extLst>
              <a:ext uri="{FF2B5EF4-FFF2-40B4-BE49-F238E27FC236}">
                <a16:creationId xmlns:a16="http://schemas.microsoft.com/office/drawing/2014/main" id="{2F8E20F6-F9A5-BA11-F404-415597D91CFF}"/>
              </a:ext>
            </a:extLst>
          </p:cNvPr>
          <p:cNvSpPr/>
          <p:nvPr/>
        </p:nvSpPr>
        <p:spPr>
          <a:xfrm>
            <a:off x="10588268" y="5815549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i="1" dirty="0">
                <a:solidFill>
                  <a:srgbClr val="1E2B2B"/>
                </a:solidFill>
                <a:latin typeface="Chromatica"/>
              </a:rPr>
              <a:t>x2</a:t>
            </a:r>
            <a:endParaRPr lang="en-US" sz="1800" dirty="0">
              <a:latin typeface="Chromatica"/>
            </a:endParaRPr>
          </a:p>
        </p:txBody>
      </p:sp>
      <p:sp>
        <p:nvSpPr>
          <p:cNvPr id="104" name="Text 14">
            <a:extLst>
              <a:ext uri="{FF2B5EF4-FFF2-40B4-BE49-F238E27FC236}">
                <a16:creationId xmlns:a16="http://schemas.microsoft.com/office/drawing/2014/main" id="{23047A2B-9423-8C7E-F48C-8E3834D0EFE6}"/>
              </a:ext>
            </a:extLst>
          </p:cNvPr>
          <p:cNvSpPr/>
          <p:nvPr/>
        </p:nvSpPr>
        <p:spPr>
          <a:xfrm>
            <a:off x="10586571" y="6981587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i="1" dirty="0">
                <a:solidFill>
                  <a:srgbClr val="1E2B2B"/>
                </a:solidFill>
                <a:latin typeface="Chromatica"/>
              </a:rPr>
              <a:t>x3</a:t>
            </a:r>
            <a:endParaRPr lang="en-US" sz="1800" dirty="0">
              <a:latin typeface="Chromatica"/>
            </a:endParaRPr>
          </a:p>
        </p:txBody>
      </p:sp>
      <p:cxnSp>
        <p:nvCxnSpPr>
          <p:cNvPr id="106" name="Gerade Verbindung mit Pfeil 105">
            <a:extLst>
              <a:ext uri="{FF2B5EF4-FFF2-40B4-BE49-F238E27FC236}">
                <a16:creationId xmlns:a16="http://schemas.microsoft.com/office/drawing/2014/main" id="{10A10A55-60DA-0486-0795-9B44A3946312}"/>
              </a:ext>
            </a:extLst>
          </p:cNvPr>
          <p:cNvCxnSpPr>
            <a:cxnSpLocks/>
            <a:stCxn id="100" idx="6"/>
            <a:endCxn id="63" idx="1"/>
          </p:cNvCxnSpPr>
          <p:nvPr/>
        </p:nvCxnSpPr>
        <p:spPr>
          <a:xfrm>
            <a:off x="12020699" y="4770401"/>
            <a:ext cx="2679970" cy="1983745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9" name="Gerade Verbindung mit Pfeil 108">
            <a:extLst>
              <a:ext uri="{FF2B5EF4-FFF2-40B4-BE49-F238E27FC236}">
                <a16:creationId xmlns:a16="http://schemas.microsoft.com/office/drawing/2014/main" id="{551A3D3C-7B21-6EAB-167E-68A6AAE2030A}"/>
              </a:ext>
            </a:extLst>
          </p:cNvPr>
          <p:cNvCxnSpPr>
            <a:stCxn id="92" idx="6"/>
            <a:endCxn id="63" idx="2"/>
          </p:cNvCxnSpPr>
          <p:nvPr/>
        </p:nvCxnSpPr>
        <p:spPr>
          <a:xfrm>
            <a:off x="12017829" y="7162788"/>
            <a:ext cx="2527578" cy="5013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5" name="Gerade Verbindung mit Pfeil 114">
            <a:extLst>
              <a:ext uri="{FF2B5EF4-FFF2-40B4-BE49-F238E27FC236}">
                <a16:creationId xmlns:a16="http://schemas.microsoft.com/office/drawing/2014/main" id="{E9CA336C-5620-B69E-75DB-2FCAE394D258}"/>
              </a:ext>
            </a:extLst>
          </p:cNvPr>
          <p:cNvCxnSpPr>
            <a:stCxn id="96" idx="6"/>
          </p:cNvCxnSpPr>
          <p:nvPr/>
        </p:nvCxnSpPr>
        <p:spPr>
          <a:xfrm>
            <a:off x="12017829" y="5964746"/>
            <a:ext cx="2640356" cy="972157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7" name="Gerade Verbindung mit Pfeil 116">
            <a:extLst>
              <a:ext uri="{FF2B5EF4-FFF2-40B4-BE49-F238E27FC236}">
                <a16:creationId xmlns:a16="http://schemas.microsoft.com/office/drawing/2014/main" id="{57FEE127-3D6B-BAE4-607F-BC67CD2AA857}"/>
              </a:ext>
            </a:extLst>
          </p:cNvPr>
          <p:cNvCxnSpPr>
            <a:stCxn id="89" idx="6"/>
            <a:endCxn id="63" idx="3"/>
          </p:cNvCxnSpPr>
          <p:nvPr/>
        </p:nvCxnSpPr>
        <p:spPr>
          <a:xfrm flipV="1">
            <a:off x="12017829" y="7581455"/>
            <a:ext cx="2682840" cy="134290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12278761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2654CBD9-3A7D-9541-1D40-52B94E487D7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de-DE" dirty="0"/>
              <a:t>Forward </a:t>
            </a:r>
            <a:r>
              <a:rPr lang="de-DE" dirty="0" err="1"/>
              <a:t>Propagation</a:t>
            </a:r>
            <a:endParaRPr lang="de-DE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B1E32D2B-B9EC-DA22-DCC5-DA88B2C89F81}"/>
              </a:ext>
            </a:extLst>
          </p:cNvPr>
          <p:cNvSpPr/>
          <p:nvPr/>
        </p:nvSpPr>
        <p:spPr>
          <a:xfrm>
            <a:off x="1570873" y="4196625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7E59F78B-466C-C353-05DE-46B4A8B27366}"/>
              </a:ext>
            </a:extLst>
          </p:cNvPr>
          <p:cNvSpPr/>
          <p:nvPr/>
        </p:nvSpPr>
        <p:spPr>
          <a:xfrm>
            <a:off x="1570873" y="6421165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37DA0CB7-6810-18BD-A4E6-C6796447F68A}"/>
              </a:ext>
            </a:extLst>
          </p:cNvPr>
          <p:cNvSpPr/>
          <p:nvPr/>
        </p:nvSpPr>
        <p:spPr>
          <a:xfrm>
            <a:off x="1552585" y="8645705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2067207F-C7C4-508A-8D89-8B04CA76B3D4}"/>
              </a:ext>
            </a:extLst>
          </p:cNvPr>
          <p:cNvSpPr/>
          <p:nvPr/>
        </p:nvSpPr>
        <p:spPr>
          <a:xfrm>
            <a:off x="1552585" y="10905974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FE70DE7F-033C-A614-7E1E-BFD235672EDE}"/>
              </a:ext>
            </a:extLst>
          </p:cNvPr>
          <p:cNvSpPr/>
          <p:nvPr/>
        </p:nvSpPr>
        <p:spPr>
          <a:xfrm>
            <a:off x="8387725" y="5730750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A9C213D4-0D01-1F18-77EA-45AF94BF5099}"/>
              </a:ext>
            </a:extLst>
          </p:cNvPr>
          <p:cNvSpPr/>
          <p:nvPr/>
        </p:nvSpPr>
        <p:spPr>
          <a:xfrm>
            <a:off x="8303534" y="8645704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Shape 24">
            <a:extLst>
              <a:ext uri="{FF2B5EF4-FFF2-40B4-BE49-F238E27FC236}">
                <a16:creationId xmlns:a16="http://schemas.microsoft.com/office/drawing/2014/main" id="{1FD6C19F-4104-0601-DE2F-5F885651701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3007340" y="4904905"/>
            <a:ext cx="10271760" cy="6709349"/>
          </a:xfrm>
          <a:prstGeom prst="roundRect">
            <a:avLst>
              <a:gd name="adj" fmla="val 1714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graphicFrame>
        <p:nvGraphicFramePr>
          <p:cNvPr id="14" name="Table 0">
            <a:extLst>
              <a:ext uri="{FF2B5EF4-FFF2-40B4-BE49-F238E27FC236}">
                <a16:creationId xmlns:a16="http://schemas.microsoft.com/office/drawing/2014/main" id="{DAE6B297-5EC7-ADFA-4D54-6071110867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2778901"/>
              </p:ext>
            </p:extLst>
          </p:nvPr>
        </p:nvGraphicFramePr>
        <p:xfrm>
          <a:off x="1310640" y="2035680"/>
          <a:ext cx="11696700" cy="1416560"/>
        </p:xfrm>
        <a:graphic>
          <a:graphicData uri="http://schemas.openxmlformats.org/drawingml/2006/table">
            <a:tbl>
              <a:tblPr/>
              <a:tblGrid>
                <a:gridCol w="2339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8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Oda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m²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Bina yaşı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Merkeze uzaklık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0F5257"/>
                          </a:solidFill>
                          <a:latin typeface="Chromatica"/>
                        </a:rPr>
                        <a:t>Fiyat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0.3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0.6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0.2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0.5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0.85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" name="Text 16">
            <a:extLst>
              <a:ext uri="{FF2B5EF4-FFF2-40B4-BE49-F238E27FC236}">
                <a16:creationId xmlns:a16="http://schemas.microsoft.com/office/drawing/2014/main" id="{98CFAB20-56BB-5AAE-358B-3124649380F7}"/>
              </a:ext>
            </a:extLst>
          </p:cNvPr>
          <p:cNvSpPr/>
          <p:nvPr/>
        </p:nvSpPr>
        <p:spPr>
          <a:xfrm>
            <a:off x="1779495" y="4490957"/>
            <a:ext cx="862915" cy="82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0.3</a:t>
            </a:r>
            <a:endParaRPr lang="en-US" dirty="0">
              <a:latin typeface="Chromatica"/>
            </a:endParaRPr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4C8DA1D1-24FA-685E-5054-B0477B1A0A94}"/>
              </a:ext>
            </a:extLst>
          </p:cNvPr>
          <p:cNvSpPr/>
          <p:nvPr/>
        </p:nvSpPr>
        <p:spPr>
          <a:xfrm>
            <a:off x="1779495" y="6715496"/>
            <a:ext cx="862915" cy="82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0.6</a:t>
            </a:r>
            <a:endParaRPr lang="en-US" dirty="0">
              <a:latin typeface="Chromatica"/>
            </a:endParaRP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B3690C94-BE54-17BE-90C9-ABE1721D2F7B}"/>
              </a:ext>
            </a:extLst>
          </p:cNvPr>
          <p:cNvSpPr/>
          <p:nvPr/>
        </p:nvSpPr>
        <p:spPr>
          <a:xfrm>
            <a:off x="1779494" y="8953283"/>
            <a:ext cx="862915" cy="82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0.2</a:t>
            </a:r>
            <a:endParaRPr lang="en-US" dirty="0">
              <a:latin typeface="Chromatica"/>
            </a:endParaRPr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1CCCCDE8-8E39-25E3-A0EB-284539BB447B}"/>
              </a:ext>
            </a:extLst>
          </p:cNvPr>
          <p:cNvSpPr/>
          <p:nvPr/>
        </p:nvSpPr>
        <p:spPr>
          <a:xfrm>
            <a:off x="1797783" y="11200305"/>
            <a:ext cx="862915" cy="82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0.5</a:t>
            </a:r>
            <a:endParaRPr lang="en-US" dirty="0">
              <a:latin typeface="Chromatic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26">
                <a:extLst>
                  <a:ext uri="{FF2B5EF4-FFF2-40B4-BE49-F238E27FC236}">
                    <a16:creationId xmlns:a16="http://schemas.microsoft.com/office/drawing/2014/main" id="{7A1CF995-118A-18A7-A310-DA4541E3AE55}"/>
                  </a:ext>
                </a:extLst>
              </p:cNvPr>
              <p:cNvSpPr/>
              <p:nvPr/>
            </p:nvSpPr>
            <p:spPr>
              <a:xfrm>
                <a:off x="13091531" y="5318853"/>
                <a:ext cx="6732661" cy="17623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l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𝒛</m:t>
                          </m:r>
                        </m:e>
                        <m:sub>
                          <m:r>
                            <a:rPr lang="de-DE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𝟏</m:t>
                          </m:r>
                        </m:sub>
                        <m:sup>
                          <m:r>
                            <a:rPr lang="de-DE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𝟏</m:t>
                          </m:r>
                        </m:sup>
                      </m:sSubSup>
                      <m:r>
                        <a:rPr lang="en-US" b="1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=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𝒙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𝟏</m:t>
                          </m:r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𝒘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𝟏</m:t>
                          </m:r>
                        </m:sub>
                        <m:sup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𝟏</m:t>
                          </m:r>
                        </m:sup>
                      </m:sSubSup>
                      <m:r>
                        <a:rPr lang="de-DE" b="1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𝒙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𝟐</m:t>
                          </m:r>
                          <m:r>
                            <a:rPr lang="de-DE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𝒘</m:t>
                          </m:r>
                        </m:e>
                        <m:sub>
                          <m:r>
                            <a:rPr lang="de-DE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𝟏</m:t>
                          </m:r>
                        </m:sub>
                        <m:sup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𝟐</m:t>
                          </m:r>
                        </m:sup>
                      </m:sSubSup>
                      <m:r>
                        <a:rPr lang="de-DE" b="1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𝒙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𝟑</m:t>
                          </m:r>
                          <m:r>
                            <a:rPr lang="de-DE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𝒘</m:t>
                          </m:r>
                        </m:e>
                        <m:sub>
                          <m:r>
                            <a:rPr lang="de-DE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𝟏</m:t>
                          </m:r>
                        </m:sub>
                        <m:sup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𝟑</m:t>
                          </m:r>
                        </m:sup>
                      </m:sSubSup>
                      <m:r>
                        <a:rPr lang="de-DE" b="1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𝒙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𝟒</m:t>
                          </m:r>
                          <m:r>
                            <a:rPr lang="de-DE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𝒘</m:t>
                          </m:r>
                        </m:e>
                        <m:sub>
                          <m:r>
                            <a:rPr lang="de-DE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𝟏</m:t>
                          </m:r>
                        </m:sub>
                        <m:sup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𝟒</m:t>
                          </m:r>
                        </m:sup>
                      </m:sSubSup>
                      <m:r>
                        <a:rPr lang="de-DE" b="1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Sup>
                        <m:sSubSupPr>
                          <m:ctrlPr>
                            <a:rPr lang="en-US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𝒃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𝟏</m:t>
                          </m:r>
                        </m:sub>
                        <m:sup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chemeClr val="bg2">
                      <a:lumMod val="10000"/>
                    </a:schemeClr>
                  </a:solidFill>
                  <a:latin typeface="Chromatica"/>
                </a:endParaRPr>
              </a:p>
            </p:txBody>
          </p:sp>
        </mc:Choice>
        <mc:Fallback xmlns="">
          <p:sp>
            <p:nvSpPr>
              <p:cNvPr id="23" name="Text 26">
                <a:extLst>
                  <a:ext uri="{FF2B5EF4-FFF2-40B4-BE49-F238E27FC236}">
                    <a16:creationId xmlns:a16="http://schemas.microsoft.com/office/drawing/2014/main" id="{7A1CF995-118A-18A7-A310-DA4541E3AE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91531" y="5318853"/>
                <a:ext cx="6732661" cy="17623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16">
                <a:extLst>
                  <a:ext uri="{FF2B5EF4-FFF2-40B4-BE49-F238E27FC236}">
                    <a16:creationId xmlns:a16="http://schemas.microsoft.com/office/drawing/2014/main" id="{B8BB6288-3ED2-CAC6-B68B-905E338E8444}"/>
                  </a:ext>
                </a:extLst>
              </p:cNvPr>
              <p:cNvSpPr/>
              <p:nvPr/>
            </p:nvSpPr>
            <p:spPr>
              <a:xfrm>
                <a:off x="8614635" y="6007217"/>
                <a:ext cx="862915" cy="8278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SupPr>
                        <m:e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𝒛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𝟏</m:t>
                          </m:r>
                        </m:sub>
                        <m:sup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dirty="0">
                  <a:latin typeface="Chromatica"/>
                </a:endParaRPr>
              </a:p>
            </p:txBody>
          </p:sp>
        </mc:Choice>
        <mc:Fallback xmlns="">
          <p:sp>
            <p:nvSpPr>
              <p:cNvPr id="25" name="Text 16">
                <a:extLst>
                  <a:ext uri="{FF2B5EF4-FFF2-40B4-BE49-F238E27FC236}">
                    <a16:creationId xmlns:a16="http://schemas.microsoft.com/office/drawing/2014/main" id="{B8BB6288-3ED2-CAC6-B68B-905E338E84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4635" y="6007217"/>
                <a:ext cx="862915" cy="8278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16">
                <a:extLst>
                  <a:ext uri="{FF2B5EF4-FFF2-40B4-BE49-F238E27FC236}">
                    <a16:creationId xmlns:a16="http://schemas.microsoft.com/office/drawing/2014/main" id="{91B7E8BB-7628-4A30-9415-6DD388F57D03}"/>
                  </a:ext>
                </a:extLst>
              </p:cNvPr>
              <p:cNvSpPr/>
              <p:nvPr/>
            </p:nvSpPr>
            <p:spPr>
              <a:xfrm>
                <a:off x="8530444" y="8940035"/>
                <a:ext cx="862915" cy="8278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SupPr>
                        <m:e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𝒛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𝟐</m:t>
                          </m:r>
                        </m:sub>
                        <m:sup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dirty="0">
                  <a:latin typeface="Chromatica"/>
                </a:endParaRPr>
              </a:p>
            </p:txBody>
          </p:sp>
        </mc:Choice>
        <mc:Fallback xmlns="">
          <p:sp>
            <p:nvSpPr>
              <p:cNvPr id="27" name="Text 16">
                <a:extLst>
                  <a:ext uri="{FF2B5EF4-FFF2-40B4-BE49-F238E27FC236}">
                    <a16:creationId xmlns:a16="http://schemas.microsoft.com/office/drawing/2014/main" id="{91B7E8BB-7628-4A30-9415-6DD388F57D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0444" y="8940035"/>
                <a:ext cx="862915" cy="8278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D049D9B4-1318-96EF-CBFB-2A3A8F8B5A71}"/>
              </a:ext>
            </a:extLst>
          </p:cNvPr>
          <p:cNvCxnSpPr>
            <a:cxnSpLocks/>
            <a:stCxn id="5" idx="6"/>
            <a:endCxn id="9" idx="2"/>
          </p:cNvCxnSpPr>
          <p:nvPr/>
        </p:nvCxnSpPr>
        <p:spPr>
          <a:xfrm>
            <a:off x="2887609" y="4904905"/>
            <a:ext cx="5500116" cy="1534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D23FB6B5-E274-B6DC-9B23-1E6F534D0193}"/>
              </a:ext>
            </a:extLst>
          </p:cNvPr>
          <p:cNvCxnSpPr>
            <a:cxnSpLocks/>
            <a:stCxn id="6" idx="6"/>
            <a:endCxn id="9" idx="2"/>
          </p:cNvCxnSpPr>
          <p:nvPr/>
        </p:nvCxnSpPr>
        <p:spPr>
          <a:xfrm flipV="1">
            <a:off x="2887609" y="6439030"/>
            <a:ext cx="5500116" cy="6904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AB7B5AA9-66F5-2DC0-3383-3BA3B332F820}"/>
              </a:ext>
            </a:extLst>
          </p:cNvPr>
          <p:cNvCxnSpPr>
            <a:cxnSpLocks/>
            <a:stCxn id="7" idx="6"/>
            <a:endCxn id="9" idx="2"/>
          </p:cNvCxnSpPr>
          <p:nvPr/>
        </p:nvCxnSpPr>
        <p:spPr>
          <a:xfrm flipV="1">
            <a:off x="2869321" y="6439030"/>
            <a:ext cx="5518404" cy="29149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E86CFDE8-87AD-F122-A11A-A8E9B5CFB070}"/>
              </a:ext>
            </a:extLst>
          </p:cNvPr>
          <p:cNvCxnSpPr>
            <a:stCxn id="8" idx="6"/>
            <a:endCxn id="9" idx="2"/>
          </p:cNvCxnSpPr>
          <p:nvPr/>
        </p:nvCxnSpPr>
        <p:spPr>
          <a:xfrm flipV="1">
            <a:off x="2869321" y="6439030"/>
            <a:ext cx="5518404" cy="51752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307592" y="3520440"/>
            <a:ext cx="11695176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>
                <a:solidFill>
                  <a:srgbClr val="6E6E6E"/>
                </a:solidFill>
              </a:rPr>
              <a:t>Değerler ölçeklendi:  3 oda → 0.3,   120 m² → 0.6,   10 yıl → 0.2,   5 km → 0.5,   850 bin € → 0.85</a:t>
            </a:r>
          </a:p>
        </p:txBody>
      </p:sp>
    </p:spTree>
    <p:extLst>
      <p:ext uri="{BB962C8B-B14F-4D97-AF65-F5344CB8AC3E}">
        <p14:creationId xmlns:p14="http://schemas.microsoft.com/office/powerpoint/2010/main" val="3664955666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2677D-D27A-50D5-9B29-845170D2C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A7AFE08E-0160-D6A9-64F6-96C124EA9AC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de-DE" dirty="0"/>
              <a:t>Forward </a:t>
            </a:r>
            <a:r>
              <a:rPr lang="de-DE" dirty="0" err="1"/>
              <a:t>Propagation</a:t>
            </a:r>
            <a:endParaRPr lang="de-DE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7507E7E7-CDC0-77B2-D9C2-02E1E3A97010}"/>
              </a:ext>
            </a:extLst>
          </p:cNvPr>
          <p:cNvSpPr/>
          <p:nvPr/>
        </p:nvSpPr>
        <p:spPr>
          <a:xfrm>
            <a:off x="1570873" y="4196625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8782458A-C785-1FB0-97E1-56188F8D5343}"/>
              </a:ext>
            </a:extLst>
          </p:cNvPr>
          <p:cNvSpPr/>
          <p:nvPr/>
        </p:nvSpPr>
        <p:spPr>
          <a:xfrm>
            <a:off x="1570873" y="6421165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4A803A85-EA31-30B5-1A96-DBE82A8D080F}"/>
              </a:ext>
            </a:extLst>
          </p:cNvPr>
          <p:cNvSpPr/>
          <p:nvPr/>
        </p:nvSpPr>
        <p:spPr>
          <a:xfrm>
            <a:off x="1552585" y="8645705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864DD810-2E98-3EB2-8747-E489E4DA4EE1}"/>
              </a:ext>
            </a:extLst>
          </p:cNvPr>
          <p:cNvSpPr/>
          <p:nvPr/>
        </p:nvSpPr>
        <p:spPr>
          <a:xfrm>
            <a:off x="1552585" y="10905974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AD9CF397-7F45-85E7-688B-A299CEFCA419}"/>
              </a:ext>
            </a:extLst>
          </p:cNvPr>
          <p:cNvSpPr/>
          <p:nvPr/>
        </p:nvSpPr>
        <p:spPr>
          <a:xfrm>
            <a:off x="8387725" y="5730750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87AC0FB1-0D8A-3095-71C6-9F7DE988C07B}"/>
              </a:ext>
            </a:extLst>
          </p:cNvPr>
          <p:cNvSpPr/>
          <p:nvPr/>
        </p:nvSpPr>
        <p:spPr>
          <a:xfrm>
            <a:off x="8303534" y="8645704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Shape 24">
            <a:extLst>
              <a:ext uri="{FF2B5EF4-FFF2-40B4-BE49-F238E27FC236}">
                <a16:creationId xmlns:a16="http://schemas.microsoft.com/office/drawing/2014/main" id="{5944F6F3-9C6F-27EF-5AC3-0AAE03F1B53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3007340" y="4904905"/>
            <a:ext cx="10271760" cy="6709349"/>
          </a:xfrm>
          <a:prstGeom prst="roundRect">
            <a:avLst>
              <a:gd name="adj" fmla="val 1714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graphicFrame>
        <p:nvGraphicFramePr>
          <p:cNvPr id="14" name="Table 0">
            <a:extLst>
              <a:ext uri="{FF2B5EF4-FFF2-40B4-BE49-F238E27FC236}">
                <a16:creationId xmlns:a16="http://schemas.microsoft.com/office/drawing/2014/main" id="{253AE74C-4D4B-9BC2-81A5-46E1C2A6D6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6076206"/>
              </p:ext>
            </p:extLst>
          </p:nvPr>
        </p:nvGraphicFramePr>
        <p:xfrm>
          <a:off x="1310640" y="2035680"/>
          <a:ext cx="11696700" cy="1416560"/>
        </p:xfrm>
        <a:graphic>
          <a:graphicData uri="http://schemas.openxmlformats.org/drawingml/2006/table">
            <a:tbl>
              <a:tblPr/>
              <a:tblGrid>
                <a:gridCol w="2339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8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Oda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m²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Bina yaşı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Merkeze uzaklık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0F5257"/>
                          </a:solidFill>
                          <a:latin typeface="Chromatica"/>
                        </a:rPr>
                        <a:t>Fiyat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0.3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0.6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0.2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0.5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0.85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" name="Text 16">
            <a:extLst>
              <a:ext uri="{FF2B5EF4-FFF2-40B4-BE49-F238E27FC236}">
                <a16:creationId xmlns:a16="http://schemas.microsoft.com/office/drawing/2014/main" id="{0E3EB87E-878B-79A4-9299-F825C36C45D1}"/>
              </a:ext>
            </a:extLst>
          </p:cNvPr>
          <p:cNvSpPr/>
          <p:nvPr/>
        </p:nvSpPr>
        <p:spPr>
          <a:xfrm>
            <a:off x="1779495" y="4490957"/>
            <a:ext cx="862915" cy="82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0.3</a:t>
            </a:r>
            <a:endParaRPr lang="en-US" dirty="0">
              <a:latin typeface="Chromatica"/>
            </a:endParaRPr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1A564334-2E66-C496-C95F-84721EAB05D2}"/>
              </a:ext>
            </a:extLst>
          </p:cNvPr>
          <p:cNvSpPr/>
          <p:nvPr/>
        </p:nvSpPr>
        <p:spPr>
          <a:xfrm>
            <a:off x="1779495" y="6715496"/>
            <a:ext cx="862915" cy="82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0.6</a:t>
            </a:r>
            <a:endParaRPr lang="en-US" dirty="0">
              <a:latin typeface="Chromatica"/>
            </a:endParaRP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F7539B90-FDB2-C874-0B82-44B87E8D2682}"/>
              </a:ext>
            </a:extLst>
          </p:cNvPr>
          <p:cNvSpPr/>
          <p:nvPr/>
        </p:nvSpPr>
        <p:spPr>
          <a:xfrm>
            <a:off x="1779494" y="8953283"/>
            <a:ext cx="862915" cy="82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0.2</a:t>
            </a:r>
            <a:endParaRPr lang="en-US" dirty="0">
              <a:latin typeface="Chromatica"/>
            </a:endParaRPr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6397FA5A-9386-F28C-CB7C-956010F63BC5}"/>
              </a:ext>
            </a:extLst>
          </p:cNvPr>
          <p:cNvSpPr/>
          <p:nvPr/>
        </p:nvSpPr>
        <p:spPr>
          <a:xfrm>
            <a:off x="1797783" y="11200305"/>
            <a:ext cx="862915" cy="82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0.5</a:t>
            </a:r>
            <a:endParaRPr lang="en-US" dirty="0">
              <a:latin typeface="Chromatic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26">
                <a:extLst>
                  <a:ext uri="{FF2B5EF4-FFF2-40B4-BE49-F238E27FC236}">
                    <a16:creationId xmlns:a16="http://schemas.microsoft.com/office/drawing/2014/main" id="{B450D5F9-42BE-CE24-48C6-C432F9F26603}"/>
                  </a:ext>
                </a:extLst>
              </p:cNvPr>
              <p:cNvSpPr/>
              <p:nvPr/>
            </p:nvSpPr>
            <p:spPr>
              <a:xfrm>
                <a:off x="13091531" y="5318853"/>
                <a:ext cx="6732661" cy="17623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l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𝑧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p>
                      </m:sSubSup>
                      <m:r>
                        <a:rPr lang="en-US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1 </m:t>
                          </m:r>
                        </m:sub>
                      </m:sSub>
                      <m:sSubSup>
                        <m:sSubSup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3</m:t>
                          </m:r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3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4</m:t>
                          </m:r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4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𝑏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chemeClr val="bg2">
                      <a:lumMod val="10000"/>
                    </a:schemeClr>
                  </a:solidFill>
                  <a:latin typeface="Chromatica"/>
                </a:endParaRP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b>
                      <m:sup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p>
                    </m:sSubSup>
                    <m:r>
                      <a:rPr lang="de-DE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cs typeface="Courier New" pitchFamily="34" charset="-12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= 0.3*0.1 + 0.6*0.3 + 0.2*0.5 + 0.5*0.7 + 0.1</a:t>
                </a:r>
              </a:p>
            </p:txBody>
          </p:sp>
        </mc:Choice>
        <mc:Fallback xmlns="">
          <p:sp>
            <p:nvSpPr>
              <p:cNvPr id="23" name="Text 26">
                <a:extLst>
                  <a:ext uri="{FF2B5EF4-FFF2-40B4-BE49-F238E27FC236}">
                    <a16:creationId xmlns:a16="http://schemas.microsoft.com/office/drawing/2014/main" id="{B450D5F9-42BE-CE24-48C6-C432F9F266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91531" y="5318853"/>
                <a:ext cx="6732661" cy="17623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16">
                <a:extLst>
                  <a:ext uri="{FF2B5EF4-FFF2-40B4-BE49-F238E27FC236}">
                    <a16:creationId xmlns:a16="http://schemas.microsoft.com/office/drawing/2014/main" id="{02EFCBB2-BA09-A686-905A-E1978169044E}"/>
                  </a:ext>
                </a:extLst>
              </p:cNvPr>
              <p:cNvSpPr/>
              <p:nvPr/>
            </p:nvSpPr>
            <p:spPr>
              <a:xfrm>
                <a:off x="8614635" y="6007217"/>
                <a:ext cx="862915" cy="8278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SupPr>
                        <m:e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𝒛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𝟏</m:t>
                          </m:r>
                        </m:sub>
                        <m:sup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dirty="0">
                  <a:latin typeface="Chromatica"/>
                </a:endParaRPr>
              </a:p>
            </p:txBody>
          </p:sp>
        </mc:Choice>
        <mc:Fallback xmlns="">
          <p:sp>
            <p:nvSpPr>
              <p:cNvPr id="25" name="Text 16">
                <a:extLst>
                  <a:ext uri="{FF2B5EF4-FFF2-40B4-BE49-F238E27FC236}">
                    <a16:creationId xmlns:a16="http://schemas.microsoft.com/office/drawing/2014/main" id="{02EFCBB2-BA09-A686-905A-E197816904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4635" y="6007217"/>
                <a:ext cx="862915" cy="8278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16">
                <a:extLst>
                  <a:ext uri="{FF2B5EF4-FFF2-40B4-BE49-F238E27FC236}">
                    <a16:creationId xmlns:a16="http://schemas.microsoft.com/office/drawing/2014/main" id="{1378FD1B-2BFD-C082-3E51-02C5508E9F66}"/>
                  </a:ext>
                </a:extLst>
              </p:cNvPr>
              <p:cNvSpPr/>
              <p:nvPr/>
            </p:nvSpPr>
            <p:spPr>
              <a:xfrm>
                <a:off x="8530444" y="8940035"/>
                <a:ext cx="862915" cy="8278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SupPr>
                        <m:e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𝒛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𝟐</m:t>
                          </m:r>
                        </m:sub>
                        <m:sup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dirty="0">
                  <a:latin typeface="Chromatica"/>
                </a:endParaRPr>
              </a:p>
            </p:txBody>
          </p:sp>
        </mc:Choice>
        <mc:Fallback xmlns="">
          <p:sp>
            <p:nvSpPr>
              <p:cNvPr id="27" name="Text 16">
                <a:extLst>
                  <a:ext uri="{FF2B5EF4-FFF2-40B4-BE49-F238E27FC236}">
                    <a16:creationId xmlns:a16="http://schemas.microsoft.com/office/drawing/2014/main" id="{1378FD1B-2BFD-C082-3E51-02C5508E9F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0444" y="8940035"/>
                <a:ext cx="862915" cy="8278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33E7B082-C4CD-ADF8-E126-12A9DA278762}"/>
              </a:ext>
            </a:extLst>
          </p:cNvPr>
          <p:cNvCxnSpPr>
            <a:cxnSpLocks/>
            <a:stCxn id="5" idx="6"/>
            <a:endCxn id="9" idx="2"/>
          </p:cNvCxnSpPr>
          <p:nvPr/>
        </p:nvCxnSpPr>
        <p:spPr>
          <a:xfrm>
            <a:off x="2887609" y="4904905"/>
            <a:ext cx="5500116" cy="1534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FAC9B377-B2B4-0617-83ED-27C6ADE1CFD4}"/>
              </a:ext>
            </a:extLst>
          </p:cNvPr>
          <p:cNvCxnSpPr>
            <a:cxnSpLocks/>
            <a:stCxn id="6" idx="6"/>
            <a:endCxn id="9" idx="2"/>
          </p:cNvCxnSpPr>
          <p:nvPr/>
        </p:nvCxnSpPr>
        <p:spPr>
          <a:xfrm flipV="1">
            <a:off x="2887609" y="6439030"/>
            <a:ext cx="5500116" cy="6904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9CEE9D09-AB86-7E05-6D2D-08162055CCF2}"/>
              </a:ext>
            </a:extLst>
          </p:cNvPr>
          <p:cNvCxnSpPr>
            <a:cxnSpLocks/>
            <a:stCxn id="7" idx="6"/>
            <a:endCxn id="9" idx="2"/>
          </p:cNvCxnSpPr>
          <p:nvPr/>
        </p:nvCxnSpPr>
        <p:spPr>
          <a:xfrm flipV="1">
            <a:off x="2869321" y="6439030"/>
            <a:ext cx="5518404" cy="29149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53C39D95-C0E2-30EB-AEDD-F231EC1E2B7B}"/>
              </a:ext>
            </a:extLst>
          </p:cNvPr>
          <p:cNvCxnSpPr>
            <a:stCxn id="8" idx="6"/>
            <a:endCxn id="9" idx="2"/>
          </p:cNvCxnSpPr>
          <p:nvPr/>
        </p:nvCxnSpPr>
        <p:spPr>
          <a:xfrm flipV="1">
            <a:off x="2869321" y="6439030"/>
            <a:ext cx="5518404" cy="51752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307592" y="3520440"/>
            <a:ext cx="11695176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>
                <a:solidFill>
                  <a:srgbClr val="6E6E6E"/>
                </a:solidFill>
              </a:rPr>
              <a:t>Değerler ölçeklendi:  3 oda → 0.3,   120 m² → 0.6,   10 yıl → 0.2,   5 km → 0.5,   850 bin € → 0.85</a:t>
            </a:r>
          </a:p>
        </p:txBody>
      </p:sp>
    </p:spTree>
    <p:extLst>
      <p:ext uri="{BB962C8B-B14F-4D97-AF65-F5344CB8AC3E}">
        <p14:creationId xmlns:p14="http://schemas.microsoft.com/office/powerpoint/2010/main" val="1703649968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D3D4C-E553-2F10-720D-C26B6BBD3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A6F99C30-1791-CB70-3A3F-20480201182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de-DE" dirty="0"/>
              <a:t>Forward </a:t>
            </a:r>
            <a:r>
              <a:rPr lang="de-DE" dirty="0" err="1"/>
              <a:t>Propagation</a:t>
            </a:r>
            <a:endParaRPr lang="de-DE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276E3566-7AE0-01CC-73C3-F52538E8A98E}"/>
              </a:ext>
            </a:extLst>
          </p:cNvPr>
          <p:cNvSpPr/>
          <p:nvPr/>
        </p:nvSpPr>
        <p:spPr>
          <a:xfrm>
            <a:off x="1570873" y="4196625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B285E22F-874F-AFE5-9ECF-C8F2BC8E0A8A}"/>
              </a:ext>
            </a:extLst>
          </p:cNvPr>
          <p:cNvSpPr/>
          <p:nvPr/>
        </p:nvSpPr>
        <p:spPr>
          <a:xfrm>
            <a:off x="1570873" y="6421165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6BE20006-FEBE-FA1D-D075-B38E0F4DBBBD}"/>
              </a:ext>
            </a:extLst>
          </p:cNvPr>
          <p:cNvSpPr/>
          <p:nvPr/>
        </p:nvSpPr>
        <p:spPr>
          <a:xfrm>
            <a:off x="1552585" y="8645705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350D24D1-7470-4C5C-AFCE-D0F9A8FC57DA}"/>
              </a:ext>
            </a:extLst>
          </p:cNvPr>
          <p:cNvSpPr/>
          <p:nvPr/>
        </p:nvSpPr>
        <p:spPr>
          <a:xfrm>
            <a:off x="1552585" y="10905974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8AC5411D-B602-93E1-4178-6832AC9DB273}"/>
              </a:ext>
            </a:extLst>
          </p:cNvPr>
          <p:cNvSpPr/>
          <p:nvPr/>
        </p:nvSpPr>
        <p:spPr>
          <a:xfrm>
            <a:off x="8387725" y="5730750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8797A1F8-BB7F-8D18-7C59-7CF773CDE863}"/>
              </a:ext>
            </a:extLst>
          </p:cNvPr>
          <p:cNvSpPr/>
          <p:nvPr/>
        </p:nvSpPr>
        <p:spPr>
          <a:xfrm>
            <a:off x="8303534" y="8645704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Shape 24">
            <a:extLst>
              <a:ext uri="{FF2B5EF4-FFF2-40B4-BE49-F238E27FC236}">
                <a16:creationId xmlns:a16="http://schemas.microsoft.com/office/drawing/2014/main" id="{0DBB5E68-EA4E-0FDF-C90D-1620D834768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3007340" y="4904905"/>
            <a:ext cx="10271760" cy="6709349"/>
          </a:xfrm>
          <a:prstGeom prst="roundRect">
            <a:avLst>
              <a:gd name="adj" fmla="val 1714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graphicFrame>
        <p:nvGraphicFramePr>
          <p:cNvPr id="14" name="Table 0">
            <a:extLst>
              <a:ext uri="{FF2B5EF4-FFF2-40B4-BE49-F238E27FC236}">
                <a16:creationId xmlns:a16="http://schemas.microsoft.com/office/drawing/2014/main" id="{EBE5EA4C-97B8-FD8C-6AB3-9BD45885CD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2788955"/>
              </p:ext>
            </p:extLst>
          </p:nvPr>
        </p:nvGraphicFramePr>
        <p:xfrm>
          <a:off x="1310640" y="2035680"/>
          <a:ext cx="11696700" cy="1416560"/>
        </p:xfrm>
        <a:graphic>
          <a:graphicData uri="http://schemas.openxmlformats.org/drawingml/2006/table">
            <a:tbl>
              <a:tblPr/>
              <a:tblGrid>
                <a:gridCol w="2339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8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Oda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m²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Bina yaşı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Merkeze uzaklık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0F5257"/>
                          </a:solidFill>
                          <a:latin typeface="Chromatica"/>
                        </a:rPr>
                        <a:t>Fiyat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0.3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0.6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0.2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0.5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0.85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" name="Text 16">
            <a:extLst>
              <a:ext uri="{FF2B5EF4-FFF2-40B4-BE49-F238E27FC236}">
                <a16:creationId xmlns:a16="http://schemas.microsoft.com/office/drawing/2014/main" id="{F0A8A3BC-7D4B-18F5-359E-C5DB8DBDB98A}"/>
              </a:ext>
            </a:extLst>
          </p:cNvPr>
          <p:cNvSpPr/>
          <p:nvPr/>
        </p:nvSpPr>
        <p:spPr>
          <a:xfrm>
            <a:off x="1779495" y="4490957"/>
            <a:ext cx="862915" cy="82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0.3</a:t>
            </a:r>
            <a:endParaRPr lang="en-US" dirty="0">
              <a:latin typeface="Chromatica"/>
            </a:endParaRPr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9272F504-F556-451D-7995-1A3CCA8901F0}"/>
              </a:ext>
            </a:extLst>
          </p:cNvPr>
          <p:cNvSpPr/>
          <p:nvPr/>
        </p:nvSpPr>
        <p:spPr>
          <a:xfrm>
            <a:off x="1779495" y="6715496"/>
            <a:ext cx="862915" cy="82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0.6</a:t>
            </a:r>
            <a:endParaRPr lang="en-US" dirty="0">
              <a:latin typeface="Chromatica"/>
            </a:endParaRP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EAFD195F-89C4-F8BF-0D05-F34C42F243DF}"/>
              </a:ext>
            </a:extLst>
          </p:cNvPr>
          <p:cNvSpPr/>
          <p:nvPr/>
        </p:nvSpPr>
        <p:spPr>
          <a:xfrm>
            <a:off x="1779494" y="8953283"/>
            <a:ext cx="862915" cy="82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0.2</a:t>
            </a:r>
            <a:endParaRPr lang="en-US" dirty="0">
              <a:latin typeface="Chromatica"/>
            </a:endParaRPr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9D533673-BD7E-56DA-2770-3414F22044A2}"/>
              </a:ext>
            </a:extLst>
          </p:cNvPr>
          <p:cNvSpPr/>
          <p:nvPr/>
        </p:nvSpPr>
        <p:spPr>
          <a:xfrm>
            <a:off x="1797783" y="11200305"/>
            <a:ext cx="862915" cy="82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0.5</a:t>
            </a:r>
            <a:endParaRPr lang="en-US" dirty="0">
              <a:latin typeface="Chromatic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26">
                <a:extLst>
                  <a:ext uri="{FF2B5EF4-FFF2-40B4-BE49-F238E27FC236}">
                    <a16:creationId xmlns:a16="http://schemas.microsoft.com/office/drawing/2014/main" id="{205CE6C0-0ED6-221F-7615-BF8556D4D942}"/>
                  </a:ext>
                </a:extLst>
              </p:cNvPr>
              <p:cNvSpPr/>
              <p:nvPr/>
            </p:nvSpPr>
            <p:spPr>
              <a:xfrm>
                <a:off x="13091531" y="5318853"/>
                <a:ext cx="6732661" cy="17623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l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𝑧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p>
                      </m:sSubSup>
                      <m:r>
                        <a:rPr lang="en-US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1 </m:t>
                          </m:r>
                        </m:sub>
                      </m:sSub>
                      <m:sSubSup>
                        <m:sSubSup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3</m:t>
                          </m:r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3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4</m:t>
                          </m:r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4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𝑏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chemeClr val="bg2">
                      <a:lumMod val="10000"/>
                    </a:schemeClr>
                  </a:solidFill>
                  <a:latin typeface="Chromatica"/>
                </a:endParaRP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b>
                      <m:sup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p>
                    </m:sSubSup>
                    <m:r>
                      <a:rPr lang="de-DE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cs typeface="Courier New" pitchFamily="34" charset="-12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= 0.3*0.1 + 0.6*0.3 + 0.2*0.5 + 0.5*0.7 + 0.1</a:t>
                </a: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b>
                      <m:sup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 = 0.03 + 0.18 + 0.10 + 0.35 + 0.1</a:t>
                </a: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b>
                      <m:sup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 = 0.76</a:t>
                </a:r>
              </a:p>
            </p:txBody>
          </p:sp>
        </mc:Choice>
        <mc:Fallback xmlns="">
          <p:sp>
            <p:nvSpPr>
              <p:cNvPr id="23" name="Text 26">
                <a:extLst>
                  <a:ext uri="{FF2B5EF4-FFF2-40B4-BE49-F238E27FC236}">
                    <a16:creationId xmlns:a16="http://schemas.microsoft.com/office/drawing/2014/main" id="{205CE6C0-0ED6-221F-7615-BF8556D4D9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91531" y="5318853"/>
                <a:ext cx="6732661" cy="1762308"/>
              </a:xfrm>
              <a:prstGeom prst="rect">
                <a:avLst/>
              </a:prstGeom>
              <a:blipFill>
                <a:blip r:embed="rId3"/>
                <a:stretch>
                  <a:fillRect b="-7958"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16">
                <a:extLst>
                  <a:ext uri="{FF2B5EF4-FFF2-40B4-BE49-F238E27FC236}">
                    <a16:creationId xmlns:a16="http://schemas.microsoft.com/office/drawing/2014/main" id="{9029552E-114E-3503-EA86-60F44E676ADF}"/>
                  </a:ext>
                </a:extLst>
              </p:cNvPr>
              <p:cNvSpPr/>
              <p:nvPr/>
            </p:nvSpPr>
            <p:spPr>
              <a:xfrm>
                <a:off x="8614635" y="6007217"/>
                <a:ext cx="862915" cy="8278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SupPr>
                        <m:e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𝒛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𝟏</m:t>
                          </m:r>
                        </m:sub>
                        <m:sup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dirty="0">
                  <a:latin typeface="Chromatica"/>
                </a:endParaRPr>
              </a:p>
            </p:txBody>
          </p:sp>
        </mc:Choice>
        <mc:Fallback xmlns="">
          <p:sp>
            <p:nvSpPr>
              <p:cNvPr id="25" name="Text 16">
                <a:extLst>
                  <a:ext uri="{FF2B5EF4-FFF2-40B4-BE49-F238E27FC236}">
                    <a16:creationId xmlns:a16="http://schemas.microsoft.com/office/drawing/2014/main" id="{9029552E-114E-3503-EA86-60F44E676A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4635" y="6007217"/>
                <a:ext cx="862915" cy="8278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16">
                <a:extLst>
                  <a:ext uri="{FF2B5EF4-FFF2-40B4-BE49-F238E27FC236}">
                    <a16:creationId xmlns:a16="http://schemas.microsoft.com/office/drawing/2014/main" id="{CA34B219-8FAC-C38B-4561-B0EB802969E5}"/>
                  </a:ext>
                </a:extLst>
              </p:cNvPr>
              <p:cNvSpPr/>
              <p:nvPr/>
            </p:nvSpPr>
            <p:spPr>
              <a:xfrm>
                <a:off x="8530444" y="8940035"/>
                <a:ext cx="862915" cy="8278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SupPr>
                        <m:e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𝒛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𝟐</m:t>
                          </m:r>
                        </m:sub>
                        <m:sup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dirty="0">
                  <a:latin typeface="Chromatica"/>
                </a:endParaRPr>
              </a:p>
            </p:txBody>
          </p:sp>
        </mc:Choice>
        <mc:Fallback xmlns="">
          <p:sp>
            <p:nvSpPr>
              <p:cNvPr id="27" name="Text 16">
                <a:extLst>
                  <a:ext uri="{FF2B5EF4-FFF2-40B4-BE49-F238E27FC236}">
                    <a16:creationId xmlns:a16="http://schemas.microsoft.com/office/drawing/2014/main" id="{CA34B219-8FAC-C38B-4561-B0EB802969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0444" y="8940035"/>
                <a:ext cx="862915" cy="8278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4746C08C-1E63-AA2E-A423-210698E21614}"/>
              </a:ext>
            </a:extLst>
          </p:cNvPr>
          <p:cNvCxnSpPr>
            <a:cxnSpLocks/>
            <a:stCxn id="5" idx="6"/>
            <a:endCxn id="9" idx="2"/>
          </p:cNvCxnSpPr>
          <p:nvPr/>
        </p:nvCxnSpPr>
        <p:spPr>
          <a:xfrm>
            <a:off x="2887609" y="4904905"/>
            <a:ext cx="5500116" cy="1534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916D1D91-B27F-C147-6C77-13CCC3C10B11}"/>
              </a:ext>
            </a:extLst>
          </p:cNvPr>
          <p:cNvCxnSpPr>
            <a:cxnSpLocks/>
            <a:stCxn id="6" idx="6"/>
            <a:endCxn id="9" idx="2"/>
          </p:cNvCxnSpPr>
          <p:nvPr/>
        </p:nvCxnSpPr>
        <p:spPr>
          <a:xfrm flipV="1">
            <a:off x="2887609" y="6439030"/>
            <a:ext cx="5500116" cy="6904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0F87D285-4837-9EF5-A8A6-1A168FF638F7}"/>
              </a:ext>
            </a:extLst>
          </p:cNvPr>
          <p:cNvCxnSpPr>
            <a:cxnSpLocks/>
            <a:stCxn id="7" idx="6"/>
            <a:endCxn id="9" idx="2"/>
          </p:cNvCxnSpPr>
          <p:nvPr/>
        </p:nvCxnSpPr>
        <p:spPr>
          <a:xfrm flipV="1">
            <a:off x="2869321" y="6439030"/>
            <a:ext cx="5518404" cy="29149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DA0CD8B5-6A5A-1B77-7BE7-963B11FF80B4}"/>
              </a:ext>
            </a:extLst>
          </p:cNvPr>
          <p:cNvCxnSpPr>
            <a:stCxn id="8" idx="6"/>
            <a:endCxn id="9" idx="2"/>
          </p:cNvCxnSpPr>
          <p:nvPr/>
        </p:nvCxnSpPr>
        <p:spPr>
          <a:xfrm flipV="1">
            <a:off x="2869321" y="6439030"/>
            <a:ext cx="5518404" cy="51752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307592" y="3520440"/>
            <a:ext cx="11695176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>
                <a:solidFill>
                  <a:srgbClr val="6E6E6E"/>
                </a:solidFill>
              </a:rPr>
              <a:t>Değerler ölçeklendi:  3 oda → 0.3,   120 m² → 0.6,   10 yıl → 0.2,   5 km → 0.5,   850 bin € → 0.85</a:t>
            </a:r>
          </a:p>
        </p:txBody>
      </p:sp>
    </p:spTree>
    <p:extLst>
      <p:ext uri="{BB962C8B-B14F-4D97-AF65-F5344CB8AC3E}">
        <p14:creationId xmlns:p14="http://schemas.microsoft.com/office/powerpoint/2010/main" val="3708059844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8A993-0926-5C81-4D1D-49205EA25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A65EB2D7-8933-041F-8419-87722BF02B0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de-DE" dirty="0"/>
              <a:t>Forward </a:t>
            </a:r>
            <a:r>
              <a:rPr lang="de-DE" dirty="0" err="1"/>
              <a:t>Propagation</a:t>
            </a:r>
            <a:endParaRPr lang="de-DE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0BE4E6DC-9805-4FEA-0F85-2F25896ED5BC}"/>
              </a:ext>
            </a:extLst>
          </p:cNvPr>
          <p:cNvSpPr/>
          <p:nvPr/>
        </p:nvSpPr>
        <p:spPr>
          <a:xfrm>
            <a:off x="1570873" y="4196625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FCBC87A3-44CA-2BB7-4F3C-1FEC06E00C95}"/>
              </a:ext>
            </a:extLst>
          </p:cNvPr>
          <p:cNvSpPr/>
          <p:nvPr/>
        </p:nvSpPr>
        <p:spPr>
          <a:xfrm>
            <a:off x="1570873" y="6421165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A63C49F8-F11D-1BD8-BCBA-41309B8B6FB9}"/>
              </a:ext>
            </a:extLst>
          </p:cNvPr>
          <p:cNvSpPr/>
          <p:nvPr/>
        </p:nvSpPr>
        <p:spPr>
          <a:xfrm>
            <a:off x="1552585" y="8645705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15B70BA3-BE0D-1CDD-38CE-0AAE1FA59F1B}"/>
              </a:ext>
            </a:extLst>
          </p:cNvPr>
          <p:cNvSpPr/>
          <p:nvPr/>
        </p:nvSpPr>
        <p:spPr>
          <a:xfrm>
            <a:off x="1552585" y="10905974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2CFF1997-AE64-927D-95A1-866FD4EF93EB}"/>
              </a:ext>
            </a:extLst>
          </p:cNvPr>
          <p:cNvSpPr/>
          <p:nvPr/>
        </p:nvSpPr>
        <p:spPr>
          <a:xfrm>
            <a:off x="8387725" y="5730750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20FFEE80-3998-4554-AD3C-A0D1B95045A8}"/>
              </a:ext>
            </a:extLst>
          </p:cNvPr>
          <p:cNvSpPr/>
          <p:nvPr/>
        </p:nvSpPr>
        <p:spPr>
          <a:xfrm>
            <a:off x="8303534" y="8645704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Shape 24">
            <a:extLst>
              <a:ext uri="{FF2B5EF4-FFF2-40B4-BE49-F238E27FC236}">
                <a16:creationId xmlns:a16="http://schemas.microsoft.com/office/drawing/2014/main" id="{09B88AED-A663-10EC-006A-1069BC72252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3007340" y="4904905"/>
            <a:ext cx="10271760" cy="6709349"/>
          </a:xfrm>
          <a:prstGeom prst="roundRect">
            <a:avLst>
              <a:gd name="adj" fmla="val 1714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graphicFrame>
        <p:nvGraphicFramePr>
          <p:cNvPr id="14" name="Table 0">
            <a:extLst>
              <a:ext uri="{FF2B5EF4-FFF2-40B4-BE49-F238E27FC236}">
                <a16:creationId xmlns:a16="http://schemas.microsoft.com/office/drawing/2014/main" id="{85D43524-87B4-9F79-DD98-196EE881DE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1351764"/>
              </p:ext>
            </p:extLst>
          </p:nvPr>
        </p:nvGraphicFramePr>
        <p:xfrm>
          <a:off x="1310640" y="2035680"/>
          <a:ext cx="11696700" cy="1416560"/>
        </p:xfrm>
        <a:graphic>
          <a:graphicData uri="http://schemas.openxmlformats.org/drawingml/2006/table">
            <a:tbl>
              <a:tblPr/>
              <a:tblGrid>
                <a:gridCol w="2339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8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Oda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m²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Bina yaşı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Merkeze uzaklık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0F5257"/>
                          </a:solidFill>
                          <a:latin typeface="Chromatica"/>
                        </a:rPr>
                        <a:t>Fiyat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0.3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0.6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0.2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0.5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0.85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" name="Text 16">
            <a:extLst>
              <a:ext uri="{FF2B5EF4-FFF2-40B4-BE49-F238E27FC236}">
                <a16:creationId xmlns:a16="http://schemas.microsoft.com/office/drawing/2014/main" id="{1C1F80E1-68F5-FB40-7666-096F11BB95EC}"/>
              </a:ext>
            </a:extLst>
          </p:cNvPr>
          <p:cNvSpPr/>
          <p:nvPr/>
        </p:nvSpPr>
        <p:spPr>
          <a:xfrm>
            <a:off x="1779495" y="4490957"/>
            <a:ext cx="862915" cy="82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0.3</a:t>
            </a:r>
            <a:endParaRPr lang="en-US" dirty="0">
              <a:latin typeface="Chromatica"/>
            </a:endParaRPr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53B32AC1-C944-C0F7-2585-E8AC36BA6C76}"/>
              </a:ext>
            </a:extLst>
          </p:cNvPr>
          <p:cNvSpPr/>
          <p:nvPr/>
        </p:nvSpPr>
        <p:spPr>
          <a:xfrm>
            <a:off x="1779495" y="6715496"/>
            <a:ext cx="862915" cy="82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0.6</a:t>
            </a:r>
            <a:endParaRPr lang="en-US" dirty="0">
              <a:latin typeface="Chromatica"/>
            </a:endParaRP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C96C26C7-8980-C0DA-4156-CB6B7FF4CB65}"/>
              </a:ext>
            </a:extLst>
          </p:cNvPr>
          <p:cNvSpPr/>
          <p:nvPr/>
        </p:nvSpPr>
        <p:spPr>
          <a:xfrm>
            <a:off x="1779494" y="8953283"/>
            <a:ext cx="862915" cy="82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0.2</a:t>
            </a:r>
            <a:endParaRPr lang="en-US" dirty="0">
              <a:latin typeface="Chromatica"/>
            </a:endParaRPr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F9DA7214-7DAB-DC04-FBED-823BAA9D4500}"/>
              </a:ext>
            </a:extLst>
          </p:cNvPr>
          <p:cNvSpPr/>
          <p:nvPr/>
        </p:nvSpPr>
        <p:spPr>
          <a:xfrm>
            <a:off x="1797783" y="11200305"/>
            <a:ext cx="862915" cy="82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0.5</a:t>
            </a:r>
            <a:endParaRPr lang="en-US" dirty="0">
              <a:latin typeface="Chromatic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26">
                <a:extLst>
                  <a:ext uri="{FF2B5EF4-FFF2-40B4-BE49-F238E27FC236}">
                    <a16:creationId xmlns:a16="http://schemas.microsoft.com/office/drawing/2014/main" id="{1AF6621F-D7E4-051B-7073-3EF3FD794C64}"/>
                  </a:ext>
                </a:extLst>
              </p:cNvPr>
              <p:cNvSpPr/>
              <p:nvPr/>
            </p:nvSpPr>
            <p:spPr>
              <a:xfrm>
                <a:off x="13091531" y="5318853"/>
                <a:ext cx="6732661" cy="17623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l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𝑧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p>
                      </m:sSubSup>
                      <m:r>
                        <a:rPr lang="en-US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1 </m:t>
                          </m:r>
                        </m:sub>
                      </m:sSub>
                      <m:sSubSup>
                        <m:sSubSup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3</m:t>
                          </m:r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3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4</m:t>
                          </m:r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4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𝑏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chemeClr val="bg2">
                      <a:lumMod val="10000"/>
                    </a:schemeClr>
                  </a:solidFill>
                  <a:latin typeface="Chromatica"/>
                </a:endParaRP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b>
                      <m:sup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p>
                    </m:sSubSup>
                    <m:r>
                      <a:rPr lang="de-DE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cs typeface="Courier New" pitchFamily="34" charset="-12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= 0.3*0.1 + 0.6*0.3 + 0.2*0.5 + 0.5*0.7 + 0.1</a:t>
                </a: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b>
                      <m:sup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 = 0.03 + 0.18 + 0.10 + 0.35 + 0.1</a:t>
                </a: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b>
                      <m:sup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 = 0.76</a:t>
                </a: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b="1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𝒂</m:t>
                        </m:r>
                      </m:e>
                      <m:sub>
                        <m:r>
                          <a:rPr lang="de-DE" b="1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𝟏</m:t>
                        </m:r>
                      </m:sub>
                      <m:sup>
                        <m:r>
                          <a:rPr lang="de-DE" b="1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𝟏</m:t>
                        </m:r>
                      </m:sup>
                    </m:sSubSup>
                  </m:oMath>
                </a14:m>
                <a:r>
                  <a:rPr lang="en-US" b="1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 = ReLU(0.76) = 0.76</a:t>
                </a:r>
                <a:endParaRPr lang="en-US" b="1" dirty="0">
                  <a:solidFill>
                    <a:schemeClr val="bg2">
                      <a:lumMod val="10000"/>
                    </a:schemeClr>
                  </a:solidFill>
                  <a:latin typeface="Chromatica"/>
                </a:endParaRPr>
              </a:p>
            </p:txBody>
          </p:sp>
        </mc:Choice>
        <mc:Fallback xmlns="">
          <p:sp>
            <p:nvSpPr>
              <p:cNvPr id="23" name="Text 26">
                <a:extLst>
                  <a:ext uri="{FF2B5EF4-FFF2-40B4-BE49-F238E27FC236}">
                    <a16:creationId xmlns:a16="http://schemas.microsoft.com/office/drawing/2014/main" id="{1AF6621F-D7E4-051B-7073-3EF3FD794C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91531" y="5318853"/>
                <a:ext cx="6732661" cy="1762308"/>
              </a:xfrm>
              <a:prstGeom prst="rect">
                <a:avLst/>
              </a:prstGeom>
              <a:blipFill>
                <a:blip r:embed="rId2"/>
                <a:stretch>
                  <a:fillRect t="-6574" b="-20415"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16">
                <a:extLst>
                  <a:ext uri="{FF2B5EF4-FFF2-40B4-BE49-F238E27FC236}">
                    <a16:creationId xmlns:a16="http://schemas.microsoft.com/office/drawing/2014/main" id="{9919879F-1B7E-8EAF-00F8-0DCDB5F479CF}"/>
                  </a:ext>
                </a:extLst>
              </p:cNvPr>
              <p:cNvSpPr/>
              <p:nvPr/>
            </p:nvSpPr>
            <p:spPr>
              <a:xfrm>
                <a:off x="8614635" y="6007217"/>
                <a:ext cx="862915" cy="8278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SupPr>
                        <m:e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𝒛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𝟏</m:t>
                          </m:r>
                        </m:sub>
                        <m:sup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dirty="0">
                  <a:latin typeface="Chromatica"/>
                </a:endParaRPr>
              </a:p>
            </p:txBody>
          </p:sp>
        </mc:Choice>
        <mc:Fallback xmlns="">
          <p:sp>
            <p:nvSpPr>
              <p:cNvPr id="25" name="Text 16">
                <a:extLst>
                  <a:ext uri="{FF2B5EF4-FFF2-40B4-BE49-F238E27FC236}">
                    <a16:creationId xmlns:a16="http://schemas.microsoft.com/office/drawing/2014/main" id="{9919879F-1B7E-8EAF-00F8-0DCDB5F479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4635" y="6007217"/>
                <a:ext cx="862915" cy="8278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16">
                <a:extLst>
                  <a:ext uri="{FF2B5EF4-FFF2-40B4-BE49-F238E27FC236}">
                    <a16:creationId xmlns:a16="http://schemas.microsoft.com/office/drawing/2014/main" id="{8C78A0AE-B1EE-8796-F376-8E5D22CB6818}"/>
                  </a:ext>
                </a:extLst>
              </p:cNvPr>
              <p:cNvSpPr/>
              <p:nvPr/>
            </p:nvSpPr>
            <p:spPr>
              <a:xfrm>
                <a:off x="8530444" y="8940035"/>
                <a:ext cx="862915" cy="8278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SupPr>
                        <m:e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𝒛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𝟐</m:t>
                          </m:r>
                        </m:sub>
                        <m:sup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dirty="0">
                  <a:latin typeface="Chromatica"/>
                </a:endParaRPr>
              </a:p>
            </p:txBody>
          </p:sp>
        </mc:Choice>
        <mc:Fallback xmlns="">
          <p:sp>
            <p:nvSpPr>
              <p:cNvPr id="27" name="Text 16">
                <a:extLst>
                  <a:ext uri="{FF2B5EF4-FFF2-40B4-BE49-F238E27FC236}">
                    <a16:creationId xmlns:a16="http://schemas.microsoft.com/office/drawing/2014/main" id="{8C78A0AE-B1EE-8796-F376-8E5D22CB68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0444" y="8940035"/>
                <a:ext cx="862915" cy="8278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793167C5-C40F-E7F7-02EA-9337231B9562}"/>
              </a:ext>
            </a:extLst>
          </p:cNvPr>
          <p:cNvCxnSpPr>
            <a:cxnSpLocks/>
            <a:stCxn id="5" idx="6"/>
            <a:endCxn id="9" idx="2"/>
          </p:cNvCxnSpPr>
          <p:nvPr/>
        </p:nvCxnSpPr>
        <p:spPr>
          <a:xfrm>
            <a:off x="2887609" y="4904905"/>
            <a:ext cx="5500116" cy="1534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794D8832-4DCD-6CC2-992C-B27BE39C8A06}"/>
              </a:ext>
            </a:extLst>
          </p:cNvPr>
          <p:cNvCxnSpPr>
            <a:cxnSpLocks/>
            <a:stCxn id="6" idx="6"/>
            <a:endCxn id="9" idx="2"/>
          </p:cNvCxnSpPr>
          <p:nvPr/>
        </p:nvCxnSpPr>
        <p:spPr>
          <a:xfrm flipV="1">
            <a:off x="2887609" y="6439030"/>
            <a:ext cx="5500116" cy="6904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A45A7437-CF5C-3118-541C-43949BFF60B6}"/>
              </a:ext>
            </a:extLst>
          </p:cNvPr>
          <p:cNvCxnSpPr>
            <a:cxnSpLocks/>
            <a:stCxn id="7" idx="6"/>
            <a:endCxn id="9" idx="2"/>
          </p:cNvCxnSpPr>
          <p:nvPr/>
        </p:nvCxnSpPr>
        <p:spPr>
          <a:xfrm flipV="1">
            <a:off x="2869321" y="6439030"/>
            <a:ext cx="5518404" cy="29149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7793C227-3D19-5BDE-E4F1-ADC4DE8F21FF}"/>
              </a:ext>
            </a:extLst>
          </p:cNvPr>
          <p:cNvCxnSpPr>
            <a:stCxn id="8" idx="6"/>
            <a:endCxn id="9" idx="2"/>
          </p:cNvCxnSpPr>
          <p:nvPr/>
        </p:nvCxnSpPr>
        <p:spPr>
          <a:xfrm flipV="1">
            <a:off x="2869321" y="6439030"/>
            <a:ext cx="5518404" cy="51752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307592" y="3520440"/>
            <a:ext cx="11695176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>
                <a:solidFill>
                  <a:srgbClr val="6E6E6E"/>
                </a:solidFill>
              </a:rPr>
              <a:t>Değerler ölçeklendi:  3 oda → 0.3,   120 m² → 0.6,   10 yıl → 0.2,   5 km → 0.5,   850 bin € → 0.85</a:t>
            </a:r>
          </a:p>
        </p:txBody>
      </p:sp>
    </p:spTree>
    <p:extLst>
      <p:ext uri="{BB962C8B-B14F-4D97-AF65-F5344CB8AC3E}">
        <p14:creationId xmlns:p14="http://schemas.microsoft.com/office/powerpoint/2010/main" val="3472321803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32A80-9B08-B27D-726D-3562E694D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5C60FB50-D43C-D641-FDEA-E33F81CF874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de-DE" dirty="0"/>
              <a:t>Forward </a:t>
            </a:r>
            <a:r>
              <a:rPr lang="de-DE" dirty="0" err="1"/>
              <a:t>Propagation</a:t>
            </a:r>
            <a:endParaRPr lang="de-DE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54587B33-A54C-2A71-2313-11018B832B0B}"/>
              </a:ext>
            </a:extLst>
          </p:cNvPr>
          <p:cNvSpPr/>
          <p:nvPr/>
        </p:nvSpPr>
        <p:spPr>
          <a:xfrm>
            <a:off x="1570873" y="4196625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5304B4D2-C171-F7BA-5B9C-1140FCC3E33B}"/>
              </a:ext>
            </a:extLst>
          </p:cNvPr>
          <p:cNvSpPr/>
          <p:nvPr/>
        </p:nvSpPr>
        <p:spPr>
          <a:xfrm>
            <a:off x="1570873" y="6421165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0556B94D-04F5-186F-2C10-A4FFB1A3BC8F}"/>
              </a:ext>
            </a:extLst>
          </p:cNvPr>
          <p:cNvSpPr/>
          <p:nvPr/>
        </p:nvSpPr>
        <p:spPr>
          <a:xfrm>
            <a:off x="1552585" y="8645705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57D738C2-E3D6-2207-15B3-BF691B3F63AD}"/>
              </a:ext>
            </a:extLst>
          </p:cNvPr>
          <p:cNvSpPr/>
          <p:nvPr/>
        </p:nvSpPr>
        <p:spPr>
          <a:xfrm>
            <a:off x="1552585" y="10905974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DBDE146E-7946-FB3A-0B39-E13D7532F0D6}"/>
              </a:ext>
            </a:extLst>
          </p:cNvPr>
          <p:cNvSpPr/>
          <p:nvPr/>
        </p:nvSpPr>
        <p:spPr>
          <a:xfrm>
            <a:off x="8387725" y="5730750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7FA48CF0-9D61-B2A3-D4C4-F35FBBB92F64}"/>
              </a:ext>
            </a:extLst>
          </p:cNvPr>
          <p:cNvSpPr/>
          <p:nvPr/>
        </p:nvSpPr>
        <p:spPr>
          <a:xfrm>
            <a:off x="8303534" y="8645704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Shape 24">
            <a:extLst>
              <a:ext uri="{FF2B5EF4-FFF2-40B4-BE49-F238E27FC236}">
                <a16:creationId xmlns:a16="http://schemas.microsoft.com/office/drawing/2014/main" id="{764E0DE3-C556-7F77-F07B-39742AA4636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3007340" y="4904905"/>
            <a:ext cx="10271760" cy="6709349"/>
          </a:xfrm>
          <a:prstGeom prst="roundRect">
            <a:avLst>
              <a:gd name="adj" fmla="val 1714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graphicFrame>
        <p:nvGraphicFramePr>
          <p:cNvPr id="14" name="Table 0">
            <a:extLst>
              <a:ext uri="{FF2B5EF4-FFF2-40B4-BE49-F238E27FC236}">
                <a16:creationId xmlns:a16="http://schemas.microsoft.com/office/drawing/2014/main" id="{42A033E4-9C5B-E46F-044C-CB111ECACD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5809317"/>
              </p:ext>
            </p:extLst>
          </p:nvPr>
        </p:nvGraphicFramePr>
        <p:xfrm>
          <a:off x="1310640" y="2035680"/>
          <a:ext cx="11696700" cy="1416560"/>
        </p:xfrm>
        <a:graphic>
          <a:graphicData uri="http://schemas.openxmlformats.org/drawingml/2006/table">
            <a:tbl>
              <a:tblPr/>
              <a:tblGrid>
                <a:gridCol w="2339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8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Oda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m²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Bina yaşı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Merkeze uzaklık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0F5257"/>
                          </a:solidFill>
                          <a:latin typeface="Chromatica"/>
                        </a:rPr>
                        <a:t>Fiyat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0.3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0.6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0.2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0.5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0.85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" name="Text 16">
            <a:extLst>
              <a:ext uri="{FF2B5EF4-FFF2-40B4-BE49-F238E27FC236}">
                <a16:creationId xmlns:a16="http://schemas.microsoft.com/office/drawing/2014/main" id="{582C544A-91BD-50E8-B873-D45AC8B50BF5}"/>
              </a:ext>
            </a:extLst>
          </p:cNvPr>
          <p:cNvSpPr/>
          <p:nvPr/>
        </p:nvSpPr>
        <p:spPr>
          <a:xfrm>
            <a:off x="1779495" y="4490957"/>
            <a:ext cx="862915" cy="82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0.3</a:t>
            </a:r>
            <a:endParaRPr lang="en-US" dirty="0">
              <a:latin typeface="Chromatica"/>
            </a:endParaRPr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D217651A-A045-15FC-0F73-58D5F428D97E}"/>
              </a:ext>
            </a:extLst>
          </p:cNvPr>
          <p:cNvSpPr/>
          <p:nvPr/>
        </p:nvSpPr>
        <p:spPr>
          <a:xfrm>
            <a:off x="1779495" y="6715496"/>
            <a:ext cx="862915" cy="82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0.6</a:t>
            </a:r>
            <a:endParaRPr lang="en-US" dirty="0">
              <a:latin typeface="Chromatica"/>
            </a:endParaRP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65C25883-7F20-3D1F-2615-B3817AF86751}"/>
              </a:ext>
            </a:extLst>
          </p:cNvPr>
          <p:cNvSpPr/>
          <p:nvPr/>
        </p:nvSpPr>
        <p:spPr>
          <a:xfrm>
            <a:off x="1779494" y="8953283"/>
            <a:ext cx="862915" cy="82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0.2</a:t>
            </a:r>
            <a:endParaRPr lang="en-US" dirty="0">
              <a:latin typeface="Chromatica"/>
            </a:endParaRPr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38DF376E-B128-4288-714D-BAF3377AA3A9}"/>
              </a:ext>
            </a:extLst>
          </p:cNvPr>
          <p:cNvSpPr/>
          <p:nvPr/>
        </p:nvSpPr>
        <p:spPr>
          <a:xfrm>
            <a:off x="1797783" y="11200305"/>
            <a:ext cx="862915" cy="82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0.5</a:t>
            </a:r>
            <a:endParaRPr lang="en-US" dirty="0">
              <a:latin typeface="Chromatic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26">
                <a:extLst>
                  <a:ext uri="{FF2B5EF4-FFF2-40B4-BE49-F238E27FC236}">
                    <a16:creationId xmlns:a16="http://schemas.microsoft.com/office/drawing/2014/main" id="{0B2A2766-46D8-2A5F-D460-38D8A0C0E522}"/>
                  </a:ext>
                </a:extLst>
              </p:cNvPr>
              <p:cNvSpPr/>
              <p:nvPr/>
            </p:nvSpPr>
            <p:spPr>
              <a:xfrm>
                <a:off x="13091531" y="5318853"/>
                <a:ext cx="6732661" cy="17623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l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𝑧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p>
                      </m:sSubSup>
                      <m:r>
                        <a:rPr lang="en-US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1 </m:t>
                          </m:r>
                        </m:sub>
                      </m:sSub>
                      <m:sSubSup>
                        <m:sSubSup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3</m:t>
                          </m:r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3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4</m:t>
                          </m:r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4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𝑏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chemeClr val="bg2">
                      <a:lumMod val="10000"/>
                    </a:schemeClr>
                  </a:solidFill>
                  <a:latin typeface="Chromatica"/>
                </a:endParaRP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b>
                      <m:sup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p>
                    </m:sSubSup>
                    <m:r>
                      <a:rPr lang="de-DE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cs typeface="Courier New" pitchFamily="34" charset="-12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= 0.3*0.1 + 0.6*0.3 + 0.2*0.5 + 0.5*0.7 + 0.1</a:t>
                </a: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b>
                      <m:sup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 = 0.03 + 0.18 + 0.10 + 0.35 + 0.1</a:t>
                </a: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b>
                      <m:sup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 = 0.76</a:t>
                </a: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b="1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𝒂</m:t>
                        </m:r>
                      </m:e>
                      <m:sub>
                        <m:r>
                          <a:rPr lang="de-DE" b="1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𝟏</m:t>
                        </m:r>
                      </m:sub>
                      <m:sup>
                        <m:r>
                          <a:rPr lang="de-DE" b="1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𝟏</m:t>
                        </m:r>
                      </m:sup>
                    </m:sSubSup>
                  </m:oMath>
                </a14:m>
                <a:r>
                  <a:rPr lang="en-US" b="1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 = ReLU(0.76) = 0.76</a:t>
                </a:r>
                <a:endParaRPr lang="en-US" b="1" dirty="0">
                  <a:solidFill>
                    <a:schemeClr val="bg2">
                      <a:lumMod val="10000"/>
                    </a:schemeClr>
                  </a:solidFill>
                  <a:latin typeface="Chromatica"/>
                </a:endParaRPr>
              </a:p>
            </p:txBody>
          </p:sp>
        </mc:Choice>
        <mc:Fallback xmlns="">
          <p:sp>
            <p:nvSpPr>
              <p:cNvPr id="23" name="Text 26">
                <a:extLst>
                  <a:ext uri="{FF2B5EF4-FFF2-40B4-BE49-F238E27FC236}">
                    <a16:creationId xmlns:a16="http://schemas.microsoft.com/office/drawing/2014/main" id="{0B2A2766-46D8-2A5F-D460-38D8A0C0E5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91531" y="5318853"/>
                <a:ext cx="6732661" cy="1762308"/>
              </a:xfrm>
              <a:prstGeom prst="rect">
                <a:avLst/>
              </a:prstGeom>
              <a:blipFill>
                <a:blip r:embed="rId3"/>
                <a:stretch>
                  <a:fillRect t="-6574" b="-20415"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16">
                <a:extLst>
                  <a:ext uri="{FF2B5EF4-FFF2-40B4-BE49-F238E27FC236}">
                    <a16:creationId xmlns:a16="http://schemas.microsoft.com/office/drawing/2014/main" id="{0702D48B-9668-663A-45BA-F7FEA926715A}"/>
                  </a:ext>
                </a:extLst>
              </p:cNvPr>
              <p:cNvSpPr/>
              <p:nvPr/>
            </p:nvSpPr>
            <p:spPr>
              <a:xfrm>
                <a:off x="8614635" y="6007217"/>
                <a:ext cx="862915" cy="8278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SupPr>
                        <m:e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𝒛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𝟏</m:t>
                          </m:r>
                        </m:sub>
                        <m:sup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dirty="0">
                  <a:latin typeface="Chromatica"/>
                </a:endParaRPr>
              </a:p>
            </p:txBody>
          </p:sp>
        </mc:Choice>
        <mc:Fallback xmlns="">
          <p:sp>
            <p:nvSpPr>
              <p:cNvPr id="25" name="Text 16">
                <a:extLst>
                  <a:ext uri="{FF2B5EF4-FFF2-40B4-BE49-F238E27FC236}">
                    <a16:creationId xmlns:a16="http://schemas.microsoft.com/office/drawing/2014/main" id="{0702D48B-9668-663A-45BA-F7FEA92671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4635" y="6007217"/>
                <a:ext cx="862915" cy="8278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16">
                <a:extLst>
                  <a:ext uri="{FF2B5EF4-FFF2-40B4-BE49-F238E27FC236}">
                    <a16:creationId xmlns:a16="http://schemas.microsoft.com/office/drawing/2014/main" id="{7C8BA602-8C3D-67AF-DBF6-5D699458CD93}"/>
                  </a:ext>
                </a:extLst>
              </p:cNvPr>
              <p:cNvSpPr/>
              <p:nvPr/>
            </p:nvSpPr>
            <p:spPr>
              <a:xfrm>
                <a:off x="8530444" y="8940035"/>
                <a:ext cx="862915" cy="8278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SupPr>
                        <m:e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𝒛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𝟐</m:t>
                          </m:r>
                        </m:sub>
                        <m:sup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dirty="0">
                  <a:latin typeface="Chromatica"/>
                </a:endParaRPr>
              </a:p>
            </p:txBody>
          </p:sp>
        </mc:Choice>
        <mc:Fallback xmlns="">
          <p:sp>
            <p:nvSpPr>
              <p:cNvPr id="27" name="Text 16">
                <a:extLst>
                  <a:ext uri="{FF2B5EF4-FFF2-40B4-BE49-F238E27FC236}">
                    <a16:creationId xmlns:a16="http://schemas.microsoft.com/office/drawing/2014/main" id="{7C8BA602-8C3D-67AF-DBF6-5D699458CD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0444" y="8940035"/>
                <a:ext cx="862915" cy="8278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 26">
                <a:extLst>
                  <a:ext uri="{FF2B5EF4-FFF2-40B4-BE49-F238E27FC236}">
                    <a16:creationId xmlns:a16="http://schemas.microsoft.com/office/drawing/2014/main" id="{7E5EB02C-49B5-A133-47B4-E691A311F464}"/>
                  </a:ext>
                </a:extLst>
              </p:cNvPr>
              <p:cNvSpPr/>
              <p:nvPr/>
            </p:nvSpPr>
            <p:spPr>
              <a:xfrm>
                <a:off x="13109819" y="9017198"/>
                <a:ext cx="6732661" cy="17623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l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𝒛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𝟐</m:t>
                          </m:r>
                        </m:sub>
                        <m:sup>
                          <m:r>
                            <a:rPr lang="de-DE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𝟏</m:t>
                          </m:r>
                        </m:sup>
                      </m:sSubSup>
                      <m:r>
                        <a:rPr lang="en-US" b="1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=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𝒙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𝟏</m:t>
                          </m:r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𝒘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𝟐</m:t>
                          </m:r>
                        </m:sub>
                        <m:sup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𝟏</m:t>
                          </m:r>
                        </m:sup>
                      </m:sSubSup>
                      <m:r>
                        <a:rPr lang="de-DE" b="1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𝒙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𝟐</m:t>
                          </m:r>
                          <m:r>
                            <a:rPr lang="de-DE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𝒘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𝟐</m:t>
                          </m:r>
                        </m:sub>
                        <m:sup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𝟐</m:t>
                          </m:r>
                        </m:sup>
                      </m:sSubSup>
                      <m:r>
                        <a:rPr lang="de-DE" b="1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𝒙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𝟑</m:t>
                          </m:r>
                          <m:r>
                            <a:rPr lang="de-DE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𝒘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𝟐</m:t>
                          </m:r>
                        </m:sub>
                        <m:sup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𝟑</m:t>
                          </m:r>
                        </m:sup>
                      </m:sSubSup>
                      <m:r>
                        <a:rPr lang="de-DE" b="1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𝒙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𝟒</m:t>
                          </m:r>
                          <m:r>
                            <a:rPr lang="de-DE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𝒘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𝟐</m:t>
                          </m:r>
                        </m:sub>
                        <m:sup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𝟒</m:t>
                          </m:r>
                        </m:sup>
                      </m:sSubSup>
                      <m:r>
                        <a:rPr lang="de-DE" b="1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Sup>
                        <m:sSubSupPr>
                          <m:ctrlPr>
                            <a:rPr lang="en-US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𝒃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𝟐</m:t>
                          </m:r>
                        </m:sub>
                        <m:sup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chemeClr val="bg2">
                      <a:lumMod val="10000"/>
                    </a:schemeClr>
                  </a:solidFill>
                  <a:latin typeface="Chromatica"/>
                </a:endParaRPr>
              </a:p>
            </p:txBody>
          </p:sp>
        </mc:Choice>
        <mc:Fallback xmlns="">
          <p:sp>
            <p:nvSpPr>
              <p:cNvPr id="29" name="Text 26">
                <a:extLst>
                  <a:ext uri="{FF2B5EF4-FFF2-40B4-BE49-F238E27FC236}">
                    <a16:creationId xmlns:a16="http://schemas.microsoft.com/office/drawing/2014/main" id="{7E5EB02C-49B5-A133-47B4-E691A311F4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09819" y="9017198"/>
                <a:ext cx="6732661" cy="176230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86007B06-DB86-B1A7-36C3-F88D3D125278}"/>
              </a:ext>
            </a:extLst>
          </p:cNvPr>
          <p:cNvCxnSpPr>
            <a:cxnSpLocks/>
            <a:stCxn id="5" idx="6"/>
            <a:endCxn id="9" idx="2"/>
          </p:cNvCxnSpPr>
          <p:nvPr/>
        </p:nvCxnSpPr>
        <p:spPr>
          <a:xfrm>
            <a:off x="2887609" y="4904905"/>
            <a:ext cx="5500116" cy="1534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082800B0-D13C-ECF5-C242-AF53C5066D54}"/>
              </a:ext>
            </a:extLst>
          </p:cNvPr>
          <p:cNvCxnSpPr>
            <a:cxnSpLocks/>
            <a:stCxn id="6" idx="6"/>
            <a:endCxn id="9" idx="2"/>
          </p:cNvCxnSpPr>
          <p:nvPr/>
        </p:nvCxnSpPr>
        <p:spPr>
          <a:xfrm flipV="1">
            <a:off x="2887609" y="6439030"/>
            <a:ext cx="5500116" cy="6904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5F526F77-1522-7822-65D8-B71DF1ABF1CF}"/>
              </a:ext>
            </a:extLst>
          </p:cNvPr>
          <p:cNvCxnSpPr>
            <a:cxnSpLocks/>
            <a:stCxn id="7" idx="6"/>
            <a:endCxn id="9" idx="2"/>
          </p:cNvCxnSpPr>
          <p:nvPr/>
        </p:nvCxnSpPr>
        <p:spPr>
          <a:xfrm flipV="1">
            <a:off x="2869321" y="6439030"/>
            <a:ext cx="5518404" cy="29149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D76EB613-571F-74D2-553B-FA539C193766}"/>
              </a:ext>
            </a:extLst>
          </p:cNvPr>
          <p:cNvCxnSpPr>
            <a:stCxn id="8" idx="6"/>
            <a:endCxn id="9" idx="2"/>
          </p:cNvCxnSpPr>
          <p:nvPr/>
        </p:nvCxnSpPr>
        <p:spPr>
          <a:xfrm flipV="1">
            <a:off x="2869321" y="6439030"/>
            <a:ext cx="5518404" cy="51752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42E36367-7FB3-044B-D0ED-5AA4220ED712}"/>
              </a:ext>
            </a:extLst>
          </p:cNvPr>
          <p:cNvCxnSpPr>
            <a:stCxn id="5" idx="6"/>
            <a:endCxn id="10" idx="2"/>
          </p:cNvCxnSpPr>
          <p:nvPr/>
        </p:nvCxnSpPr>
        <p:spPr>
          <a:xfrm>
            <a:off x="2887609" y="4904905"/>
            <a:ext cx="5415925" cy="4449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074BCDA2-94E1-A4A1-5E9B-6DE3B3B6DE34}"/>
              </a:ext>
            </a:extLst>
          </p:cNvPr>
          <p:cNvCxnSpPr>
            <a:stCxn id="6" idx="6"/>
          </p:cNvCxnSpPr>
          <p:nvPr/>
        </p:nvCxnSpPr>
        <p:spPr>
          <a:xfrm>
            <a:off x="2887609" y="7129445"/>
            <a:ext cx="5415925" cy="22245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7885879C-549C-0199-B0E0-235B69D59238}"/>
              </a:ext>
            </a:extLst>
          </p:cNvPr>
          <p:cNvCxnSpPr>
            <a:cxnSpLocks/>
            <a:stCxn id="7" idx="6"/>
            <a:endCxn id="10" idx="2"/>
          </p:cNvCxnSpPr>
          <p:nvPr/>
        </p:nvCxnSpPr>
        <p:spPr>
          <a:xfrm flipV="1">
            <a:off x="2869321" y="9353984"/>
            <a:ext cx="543421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FAB86A35-AC17-15AE-4793-09181E778BB9}"/>
              </a:ext>
            </a:extLst>
          </p:cNvPr>
          <p:cNvCxnSpPr>
            <a:stCxn id="8" idx="6"/>
            <a:endCxn id="10" idx="2"/>
          </p:cNvCxnSpPr>
          <p:nvPr/>
        </p:nvCxnSpPr>
        <p:spPr>
          <a:xfrm flipV="1">
            <a:off x="2869321" y="9353984"/>
            <a:ext cx="5434213" cy="22602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307592" y="3520440"/>
            <a:ext cx="11695176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>
                <a:solidFill>
                  <a:srgbClr val="6E6E6E"/>
                </a:solidFill>
              </a:rPr>
              <a:t>Değerler ölçeklendi:  3 oda → 0.3,   120 m² → 0.6,   10 yıl → 0.2,   5 km → 0.5,   850 bin € → 0.85</a:t>
            </a:r>
          </a:p>
        </p:txBody>
      </p:sp>
    </p:spTree>
    <p:extLst>
      <p:ext uri="{BB962C8B-B14F-4D97-AF65-F5344CB8AC3E}">
        <p14:creationId xmlns:p14="http://schemas.microsoft.com/office/powerpoint/2010/main" val="2541352740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CDB02-1BF7-82A5-FB62-600B5D4B1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B37840F7-03F5-CE31-6136-936803B69C7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de-DE" dirty="0"/>
              <a:t>Forward </a:t>
            </a:r>
            <a:r>
              <a:rPr lang="de-DE" dirty="0" err="1"/>
              <a:t>Propagation</a:t>
            </a:r>
            <a:endParaRPr lang="de-DE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DA9F45A3-F57A-E638-05DF-B181BC8C695E}"/>
              </a:ext>
            </a:extLst>
          </p:cNvPr>
          <p:cNvSpPr/>
          <p:nvPr/>
        </p:nvSpPr>
        <p:spPr>
          <a:xfrm>
            <a:off x="1570873" y="4196625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9CC94B5A-F433-F424-54B2-4BF318DAFC11}"/>
              </a:ext>
            </a:extLst>
          </p:cNvPr>
          <p:cNvSpPr/>
          <p:nvPr/>
        </p:nvSpPr>
        <p:spPr>
          <a:xfrm>
            <a:off x="1570873" y="6421165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4163890B-E81F-078E-6BF4-7A8126BA5724}"/>
              </a:ext>
            </a:extLst>
          </p:cNvPr>
          <p:cNvSpPr/>
          <p:nvPr/>
        </p:nvSpPr>
        <p:spPr>
          <a:xfrm>
            <a:off x="1552585" y="8645705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0FD7FF66-05C4-B030-3B33-C8DB510782A7}"/>
              </a:ext>
            </a:extLst>
          </p:cNvPr>
          <p:cNvSpPr/>
          <p:nvPr/>
        </p:nvSpPr>
        <p:spPr>
          <a:xfrm>
            <a:off x="1552585" y="10905974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A2F45DAB-616D-FB4B-B18F-3500034C68B1}"/>
              </a:ext>
            </a:extLst>
          </p:cNvPr>
          <p:cNvSpPr/>
          <p:nvPr/>
        </p:nvSpPr>
        <p:spPr>
          <a:xfrm>
            <a:off x="8387725" y="5730750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48ADBCC1-15B8-700D-94F1-37DF2B7A8DEB}"/>
              </a:ext>
            </a:extLst>
          </p:cNvPr>
          <p:cNvSpPr/>
          <p:nvPr/>
        </p:nvSpPr>
        <p:spPr>
          <a:xfrm>
            <a:off x="8303534" y="8645704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Shape 24">
            <a:extLst>
              <a:ext uri="{FF2B5EF4-FFF2-40B4-BE49-F238E27FC236}">
                <a16:creationId xmlns:a16="http://schemas.microsoft.com/office/drawing/2014/main" id="{3997B8B4-6E91-C9E8-5FFF-3FFE6B75A95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3007340" y="4904905"/>
            <a:ext cx="10271760" cy="6709349"/>
          </a:xfrm>
          <a:prstGeom prst="roundRect">
            <a:avLst>
              <a:gd name="adj" fmla="val 1714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graphicFrame>
        <p:nvGraphicFramePr>
          <p:cNvPr id="14" name="Table 0">
            <a:extLst>
              <a:ext uri="{FF2B5EF4-FFF2-40B4-BE49-F238E27FC236}">
                <a16:creationId xmlns:a16="http://schemas.microsoft.com/office/drawing/2014/main" id="{74298158-2DDE-DE88-4873-F6E2242BE8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160864"/>
              </p:ext>
            </p:extLst>
          </p:nvPr>
        </p:nvGraphicFramePr>
        <p:xfrm>
          <a:off x="1310640" y="2035680"/>
          <a:ext cx="11696700" cy="1416560"/>
        </p:xfrm>
        <a:graphic>
          <a:graphicData uri="http://schemas.openxmlformats.org/drawingml/2006/table">
            <a:tbl>
              <a:tblPr/>
              <a:tblGrid>
                <a:gridCol w="2339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8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Oda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m²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Bina yaşı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Merkeze uzaklık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0F5257"/>
                          </a:solidFill>
                          <a:latin typeface="Chromatica"/>
                        </a:rPr>
                        <a:t>Fiyat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0.3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0.6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0.2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0.5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0.85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" name="Text 16">
            <a:extLst>
              <a:ext uri="{FF2B5EF4-FFF2-40B4-BE49-F238E27FC236}">
                <a16:creationId xmlns:a16="http://schemas.microsoft.com/office/drawing/2014/main" id="{048C8F3C-7FF0-3D16-14D5-A1227BF97AB3}"/>
              </a:ext>
            </a:extLst>
          </p:cNvPr>
          <p:cNvSpPr/>
          <p:nvPr/>
        </p:nvSpPr>
        <p:spPr>
          <a:xfrm>
            <a:off x="1779495" y="4490957"/>
            <a:ext cx="862915" cy="82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0.3</a:t>
            </a:r>
            <a:endParaRPr lang="en-US" dirty="0">
              <a:latin typeface="Chromatica"/>
            </a:endParaRPr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F59884A9-7C41-95EF-C971-1C57AB0A69CC}"/>
              </a:ext>
            </a:extLst>
          </p:cNvPr>
          <p:cNvSpPr/>
          <p:nvPr/>
        </p:nvSpPr>
        <p:spPr>
          <a:xfrm>
            <a:off x="1779495" y="6715496"/>
            <a:ext cx="862915" cy="82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0.6</a:t>
            </a:r>
            <a:endParaRPr lang="en-US" dirty="0">
              <a:latin typeface="Chromatica"/>
            </a:endParaRP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EC5F4053-370B-AF0B-78BB-D0DB16509D40}"/>
              </a:ext>
            </a:extLst>
          </p:cNvPr>
          <p:cNvSpPr/>
          <p:nvPr/>
        </p:nvSpPr>
        <p:spPr>
          <a:xfrm>
            <a:off x="1779494" y="8953283"/>
            <a:ext cx="862915" cy="82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0.2</a:t>
            </a:r>
            <a:endParaRPr lang="en-US" dirty="0">
              <a:latin typeface="Chromatica"/>
            </a:endParaRPr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684E1CED-8F54-EDD0-DDF0-83C637F85573}"/>
              </a:ext>
            </a:extLst>
          </p:cNvPr>
          <p:cNvSpPr/>
          <p:nvPr/>
        </p:nvSpPr>
        <p:spPr>
          <a:xfrm>
            <a:off x="1797783" y="11200305"/>
            <a:ext cx="862915" cy="82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0.5</a:t>
            </a:r>
            <a:endParaRPr lang="en-US" dirty="0">
              <a:latin typeface="Chromatic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26">
                <a:extLst>
                  <a:ext uri="{FF2B5EF4-FFF2-40B4-BE49-F238E27FC236}">
                    <a16:creationId xmlns:a16="http://schemas.microsoft.com/office/drawing/2014/main" id="{6377768E-DBE9-4DBB-5A97-72151FB41BE6}"/>
                  </a:ext>
                </a:extLst>
              </p:cNvPr>
              <p:cNvSpPr/>
              <p:nvPr/>
            </p:nvSpPr>
            <p:spPr>
              <a:xfrm>
                <a:off x="13091531" y="5318853"/>
                <a:ext cx="6732661" cy="17623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l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𝑧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p>
                      </m:sSubSup>
                      <m:r>
                        <a:rPr lang="en-US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1 </m:t>
                          </m:r>
                        </m:sub>
                      </m:sSub>
                      <m:sSubSup>
                        <m:sSubSup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3</m:t>
                          </m:r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3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4</m:t>
                          </m:r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4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𝑏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chemeClr val="bg2">
                      <a:lumMod val="10000"/>
                    </a:schemeClr>
                  </a:solidFill>
                  <a:latin typeface="Chromatica"/>
                </a:endParaRP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b>
                      <m:sup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p>
                    </m:sSubSup>
                    <m:r>
                      <a:rPr lang="de-DE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cs typeface="Courier New" pitchFamily="34" charset="-12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= 0.3*0.1 + 0.6*0.3 + 0.2*0.5 + 0.5*0.7 + 0.1</a:t>
                </a: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b>
                      <m:sup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 = 0.03 + 0.18 + 0.10 + 0.35 + 0.1</a:t>
                </a: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b>
                      <m:sup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 = 0.76</a:t>
                </a: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b="1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𝒂</m:t>
                        </m:r>
                      </m:e>
                      <m:sub>
                        <m:r>
                          <a:rPr lang="de-DE" b="1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𝟏</m:t>
                        </m:r>
                      </m:sub>
                      <m:sup>
                        <m:r>
                          <a:rPr lang="de-DE" b="1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𝟏</m:t>
                        </m:r>
                      </m:sup>
                    </m:sSubSup>
                  </m:oMath>
                </a14:m>
                <a:r>
                  <a:rPr lang="en-US" b="1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 = ReLU(0.76) = 0.76</a:t>
                </a:r>
                <a:endParaRPr lang="en-US" b="1" dirty="0">
                  <a:solidFill>
                    <a:schemeClr val="bg2">
                      <a:lumMod val="10000"/>
                    </a:schemeClr>
                  </a:solidFill>
                  <a:latin typeface="Chromatica"/>
                </a:endParaRPr>
              </a:p>
            </p:txBody>
          </p:sp>
        </mc:Choice>
        <mc:Fallback xmlns="">
          <p:sp>
            <p:nvSpPr>
              <p:cNvPr id="23" name="Text 26">
                <a:extLst>
                  <a:ext uri="{FF2B5EF4-FFF2-40B4-BE49-F238E27FC236}">
                    <a16:creationId xmlns:a16="http://schemas.microsoft.com/office/drawing/2014/main" id="{6377768E-DBE9-4DBB-5A97-72151FB41B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91531" y="5318853"/>
                <a:ext cx="6732661" cy="1762308"/>
              </a:xfrm>
              <a:prstGeom prst="rect">
                <a:avLst/>
              </a:prstGeom>
              <a:blipFill>
                <a:blip r:embed="rId2"/>
                <a:stretch>
                  <a:fillRect t="-6574" b="-20415"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16">
                <a:extLst>
                  <a:ext uri="{FF2B5EF4-FFF2-40B4-BE49-F238E27FC236}">
                    <a16:creationId xmlns:a16="http://schemas.microsoft.com/office/drawing/2014/main" id="{2E4797CE-BF6C-5602-6135-5D1F9C1E5B94}"/>
                  </a:ext>
                </a:extLst>
              </p:cNvPr>
              <p:cNvSpPr/>
              <p:nvPr/>
            </p:nvSpPr>
            <p:spPr>
              <a:xfrm>
                <a:off x="8614635" y="6007217"/>
                <a:ext cx="862915" cy="8278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SupPr>
                        <m:e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𝒛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𝟏</m:t>
                          </m:r>
                        </m:sub>
                        <m:sup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dirty="0">
                  <a:latin typeface="Chromatica"/>
                </a:endParaRPr>
              </a:p>
            </p:txBody>
          </p:sp>
        </mc:Choice>
        <mc:Fallback xmlns="">
          <p:sp>
            <p:nvSpPr>
              <p:cNvPr id="25" name="Text 16">
                <a:extLst>
                  <a:ext uri="{FF2B5EF4-FFF2-40B4-BE49-F238E27FC236}">
                    <a16:creationId xmlns:a16="http://schemas.microsoft.com/office/drawing/2014/main" id="{2E4797CE-BF6C-5602-6135-5D1F9C1E5B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4635" y="6007217"/>
                <a:ext cx="862915" cy="8278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16">
                <a:extLst>
                  <a:ext uri="{FF2B5EF4-FFF2-40B4-BE49-F238E27FC236}">
                    <a16:creationId xmlns:a16="http://schemas.microsoft.com/office/drawing/2014/main" id="{5A0B16BA-4CB1-580E-2F8F-DFE8A9F76377}"/>
                  </a:ext>
                </a:extLst>
              </p:cNvPr>
              <p:cNvSpPr/>
              <p:nvPr/>
            </p:nvSpPr>
            <p:spPr>
              <a:xfrm>
                <a:off x="8530444" y="8940035"/>
                <a:ext cx="862915" cy="8278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SupPr>
                        <m:e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𝒛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𝟐</m:t>
                          </m:r>
                        </m:sub>
                        <m:sup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dirty="0">
                  <a:latin typeface="Chromatica"/>
                </a:endParaRPr>
              </a:p>
            </p:txBody>
          </p:sp>
        </mc:Choice>
        <mc:Fallback xmlns="">
          <p:sp>
            <p:nvSpPr>
              <p:cNvPr id="27" name="Text 16">
                <a:extLst>
                  <a:ext uri="{FF2B5EF4-FFF2-40B4-BE49-F238E27FC236}">
                    <a16:creationId xmlns:a16="http://schemas.microsoft.com/office/drawing/2014/main" id="{5A0B16BA-4CB1-580E-2F8F-DFE8A9F763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0444" y="8940035"/>
                <a:ext cx="862915" cy="8278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 26">
                <a:extLst>
                  <a:ext uri="{FF2B5EF4-FFF2-40B4-BE49-F238E27FC236}">
                    <a16:creationId xmlns:a16="http://schemas.microsoft.com/office/drawing/2014/main" id="{91A557B2-052F-7916-D358-415A707CD44E}"/>
                  </a:ext>
                </a:extLst>
              </p:cNvPr>
              <p:cNvSpPr/>
              <p:nvPr/>
            </p:nvSpPr>
            <p:spPr>
              <a:xfrm>
                <a:off x="13109819" y="9017198"/>
                <a:ext cx="6732661" cy="17623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l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b>
                        <m:sup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p>
                      </m:sSubSup>
                      <m:r>
                        <a:rPr lang="en-US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1 </m:t>
                          </m:r>
                        </m:sub>
                      </m:sSub>
                      <m:sSubSup>
                        <m:sSubSup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3</m:t>
                          </m:r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3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4</m:t>
                          </m:r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4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𝑏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chemeClr val="bg2">
                      <a:lumMod val="10000"/>
                    </a:schemeClr>
                  </a:solidFill>
                  <a:latin typeface="Chromatica"/>
                </a:endParaRP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𝑧</m:t>
                        </m:r>
                      </m:e>
                      <m:sub>
                        <m:r>
                          <a:rPr lang="de-DE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2</m:t>
                        </m:r>
                      </m:sub>
                      <m:sup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p>
                    </m:sSubSup>
                    <m:r>
                      <a:rPr lang="de-DE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cs typeface="Courier New" pitchFamily="34" charset="-12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= 0.3*0.2 + 0.6*0.4 + 0.2*0.6 + 0.5*0.8 + 0.1</a:t>
                </a:r>
              </a:p>
            </p:txBody>
          </p:sp>
        </mc:Choice>
        <mc:Fallback xmlns="">
          <p:sp>
            <p:nvSpPr>
              <p:cNvPr id="29" name="Text 26">
                <a:extLst>
                  <a:ext uri="{FF2B5EF4-FFF2-40B4-BE49-F238E27FC236}">
                    <a16:creationId xmlns:a16="http://schemas.microsoft.com/office/drawing/2014/main" id="{91A557B2-052F-7916-D358-415A707CD4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09819" y="9017198"/>
                <a:ext cx="6732661" cy="176230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9ADFB0BD-E8DB-0F50-DF51-6B3E50A5D19C}"/>
              </a:ext>
            </a:extLst>
          </p:cNvPr>
          <p:cNvCxnSpPr>
            <a:cxnSpLocks/>
            <a:stCxn id="5" idx="6"/>
            <a:endCxn id="9" idx="2"/>
          </p:cNvCxnSpPr>
          <p:nvPr/>
        </p:nvCxnSpPr>
        <p:spPr>
          <a:xfrm>
            <a:off x="2887609" y="4904905"/>
            <a:ext cx="5500116" cy="1534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A2B2A48D-AB15-F352-4A54-859F32425D18}"/>
              </a:ext>
            </a:extLst>
          </p:cNvPr>
          <p:cNvCxnSpPr>
            <a:cxnSpLocks/>
            <a:stCxn id="6" idx="6"/>
            <a:endCxn id="9" idx="2"/>
          </p:cNvCxnSpPr>
          <p:nvPr/>
        </p:nvCxnSpPr>
        <p:spPr>
          <a:xfrm flipV="1">
            <a:off x="2887609" y="6439030"/>
            <a:ext cx="5500116" cy="6904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A77A964C-37C9-37B9-9583-C54F588492C4}"/>
              </a:ext>
            </a:extLst>
          </p:cNvPr>
          <p:cNvCxnSpPr>
            <a:cxnSpLocks/>
            <a:stCxn id="7" idx="6"/>
            <a:endCxn id="9" idx="2"/>
          </p:cNvCxnSpPr>
          <p:nvPr/>
        </p:nvCxnSpPr>
        <p:spPr>
          <a:xfrm flipV="1">
            <a:off x="2869321" y="6439030"/>
            <a:ext cx="5518404" cy="29149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65DA156F-42AF-CFC4-D178-4F7432E47A6B}"/>
              </a:ext>
            </a:extLst>
          </p:cNvPr>
          <p:cNvCxnSpPr>
            <a:stCxn id="8" idx="6"/>
            <a:endCxn id="9" idx="2"/>
          </p:cNvCxnSpPr>
          <p:nvPr/>
        </p:nvCxnSpPr>
        <p:spPr>
          <a:xfrm flipV="1">
            <a:off x="2869321" y="6439030"/>
            <a:ext cx="5518404" cy="51752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D9DC0EB2-6E2C-CC1D-2455-9BE936895FC2}"/>
              </a:ext>
            </a:extLst>
          </p:cNvPr>
          <p:cNvCxnSpPr>
            <a:stCxn id="5" idx="6"/>
            <a:endCxn id="10" idx="2"/>
          </p:cNvCxnSpPr>
          <p:nvPr/>
        </p:nvCxnSpPr>
        <p:spPr>
          <a:xfrm>
            <a:off x="2887609" y="4904905"/>
            <a:ext cx="5415925" cy="4449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D6BD0647-1B2D-1140-4CD2-6939ABED2C36}"/>
              </a:ext>
            </a:extLst>
          </p:cNvPr>
          <p:cNvCxnSpPr>
            <a:stCxn id="6" idx="6"/>
          </p:cNvCxnSpPr>
          <p:nvPr/>
        </p:nvCxnSpPr>
        <p:spPr>
          <a:xfrm>
            <a:off x="2887609" y="7129445"/>
            <a:ext cx="5415925" cy="22245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408A550D-8C89-FA79-9245-32A2D7EA4077}"/>
              </a:ext>
            </a:extLst>
          </p:cNvPr>
          <p:cNvCxnSpPr>
            <a:cxnSpLocks/>
            <a:stCxn id="7" idx="6"/>
            <a:endCxn id="10" idx="2"/>
          </p:cNvCxnSpPr>
          <p:nvPr/>
        </p:nvCxnSpPr>
        <p:spPr>
          <a:xfrm flipV="1">
            <a:off x="2869321" y="9353984"/>
            <a:ext cx="543421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8E6133EE-52EA-91CF-AE69-0C1E57A7A719}"/>
              </a:ext>
            </a:extLst>
          </p:cNvPr>
          <p:cNvCxnSpPr>
            <a:stCxn id="8" idx="6"/>
            <a:endCxn id="10" idx="2"/>
          </p:cNvCxnSpPr>
          <p:nvPr/>
        </p:nvCxnSpPr>
        <p:spPr>
          <a:xfrm flipV="1">
            <a:off x="2869321" y="9353984"/>
            <a:ext cx="5434213" cy="22602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307592" y="3520440"/>
            <a:ext cx="11695176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>
                <a:solidFill>
                  <a:srgbClr val="6E6E6E"/>
                </a:solidFill>
              </a:rPr>
              <a:t>Değerler ölçeklendi:  3 oda → 0.3,   120 m² → 0.6,   10 yıl → 0.2,   5 km → 0.5,   850 bin € → 0.85</a:t>
            </a:r>
          </a:p>
        </p:txBody>
      </p:sp>
    </p:spTree>
    <p:extLst>
      <p:ext uri="{BB962C8B-B14F-4D97-AF65-F5344CB8AC3E}">
        <p14:creationId xmlns:p14="http://schemas.microsoft.com/office/powerpoint/2010/main" val="2971463904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D0D26-D19A-60DF-429E-D95977D91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DC452FBE-CFD6-B6BE-A994-7FF84CE259F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de-DE" dirty="0"/>
              <a:t>Forward </a:t>
            </a:r>
            <a:r>
              <a:rPr lang="de-DE" dirty="0" err="1"/>
              <a:t>Propagation</a:t>
            </a:r>
            <a:endParaRPr lang="de-DE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E2971581-B391-5D06-03A8-1D7D8A4E5C05}"/>
              </a:ext>
            </a:extLst>
          </p:cNvPr>
          <p:cNvSpPr/>
          <p:nvPr/>
        </p:nvSpPr>
        <p:spPr>
          <a:xfrm>
            <a:off x="1570873" y="4196625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F9B50A43-0389-27EA-0456-AD07E8F5707B}"/>
              </a:ext>
            </a:extLst>
          </p:cNvPr>
          <p:cNvSpPr/>
          <p:nvPr/>
        </p:nvSpPr>
        <p:spPr>
          <a:xfrm>
            <a:off x="1570873" y="6421165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08AF55BE-D9E8-2A68-8EA2-1478F1682223}"/>
              </a:ext>
            </a:extLst>
          </p:cNvPr>
          <p:cNvSpPr/>
          <p:nvPr/>
        </p:nvSpPr>
        <p:spPr>
          <a:xfrm>
            <a:off x="1552585" y="8645705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AE9AAC6F-8D40-F380-2E45-8D7ED828EFBE}"/>
              </a:ext>
            </a:extLst>
          </p:cNvPr>
          <p:cNvSpPr/>
          <p:nvPr/>
        </p:nvSpPr>
        <p:spPr>
          <a:xfrm>
            <a:off x="1552585" y="10905974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AB1326F3-5822-A745-0070-8490B71B2750}"/>
              </a:ext>
            </a:extLst>
          </p:cNvPr>
          <p:cNvSpPr/>
          <p:nvPr/>
        </p:nvSpPr>
        <p:spPr>
          <a:xfrm>
            <a:off x="8387725" y="5730750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361C9C7C-5246-3272-DD97-71A81574D739}"/>
              </a:ext>
            </a:extLst>
          </p:cNvPr>
          <p:cNvSpPr/>
          <p:nvPr/>
        </p:nvSpPr>
        <p:spPr>
          <a:xfrm>
            <a:off x="8303534" y="8645704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Shape 24">
            <a:extLst>
              <a:ext uri="{FF2B5EF4-FFF2-40B4-BE49-F238E27FC236}">
                <a16:creationId xmlns:a16="http://schemas.microsoft.com/office/drawing/2014/main" id="{EE597916-FFDA-EC0F-27FE-26C1A23C323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3007340" y="4904905"/>
            <a:ext cx="10271760" cy="6709349"/>
          </a:xfrm>
          <a:prstGeom prst="roundRect">
            <a:avLst>
              <a:gd name="adj" fmla="val 1714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graphicFrame>
        <p:nvGraphicFramePr>
          <p:cNvPr id="14" name="Table 0">
            <a:extLst>
              <a:ext uri="{FF2B5EF4-FFF2-40B4-BE49-F238E27FC236}">
                <a16:creationId xmlns:a16="http://schemas.microsoft.com/office/drawing/2014/main" id="{26FEC11B-E076-2CE2-6707-73584A3C22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8485774"/>
              </p:ext>
            </p:extLst>
          </p:nvPr>
        </p:nvGraphicFramePr>
        <p:xfrm>
          <a:off x="1310640" y="2035680"/>
          <a:ext cx="11696700" cy="1416560"/>
        </p:xfrm>
        <a:graphic>
          <a:graphicData uri="http://schemas.openxmlformats.org/drawingml/2006/table">
            <a:tbl>
              <a:tblPr/>
              <a:tblGrid>
                <a:gridCol w="2339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8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Oda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m²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Bina yaşı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Merkeze uzaklık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0F5257"/>
                          </a:solidFill>
                          <a:latin typeface="Chromatica"/>
                        </a:rPr>
                        <a:t>Fiyat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0.3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0.6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0.2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0.5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0.85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" name="Text 16">
            <a:extLst>
              <a:ext uri="{FF2B5EF4-FFF2-40B4-BE49-F238E27FC236}">
                <a16:creationId xmlns:a16="http://schemas.microsoft.com/office/drawing/2014/main" id="{003D2946-9D21-A8D3-8068-BC4DE9F08816}"/>
              </a:ext>
            </a:extLst>
          </p:cNvPr>
          <p:cNvSpPr/>
          <p:nvPr/>
        </p:nvSpPr>
        <p:spPr>
          <a:xfrm>
            <a:off x="1779495" y="4490957"/>
            <a:ext cx="862915" cy="82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0.3</a:t>
            </a:r>
            <a:endParaRPr lang="en-US" dirty="0">
              <a:latin typeface="Chromatica"/>
            </a:endParaRPr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58D98151-CAC1-427B-1752-E89D81B8227E}"/>
              </a:ext>
            </a:extLst>
          </p:cNvPr>
          <p:cNvSpPr/>
          <p:nvPr/>
        </p:nvSpPr>
        <p:spPr>
          <a:xfrm>
            <a:off x="1779495" y="6715496"/>
            <a:ext cx="862915" cy="82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0.6</a:t>
            </a:r>
            <a:endParaRPr lang="en-US" dirty="0">
              <a:latin typeface="Chromatica"/>
            </a:endParaRP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3348780A-8F99-E540-D1AB-6B36F0A0BF4E}"/>
              </a:ext>
            </a:extLst>
          </p:cNvPr>
          <p:cNvSpPr/>
          <p:nvPr/>
        </p:nvSpPr>
        <p:spPr>
          <a:xfrm>
            <a:off x="1779494" y="8953283"/>
            <a:ext cx="862915" cy="82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0.2</a:t>
            </a:r>
            <a:endParaRPr lang="en-US" dirty="0">
              <a:latin typeface="Chromatica"/>
            </a:endParaRPr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CE3C098E-1037-B229-5B06-D57AF426C234}"/>
              </a:ext>
            </a:extLst>
          </p:cNvPr>
          <p:cNvSpPr/>
          <p:nvPr/>
        </p:nvSpPr>
        <p:spPr>
          <a:xfrm>
            <a:off x="1797783" y="11200305"/>
            <a:ext cx="862915" cy="82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0.5</a:t>
            </a:r>
            <a:endParaRPr lang="en-US" dirty="0">
              <a:latin typeface="Chromatic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26">
                <a:extLst>
                  <a:ext uri="{FF2B5EF4-FFF2-40B4-BE49-F238E27FC236}">
                    <a16:creationId xmlns:a16="http://schemas.microsoft.com/office/drawing/2014/main" id="{02E1623D-7E5E-80BB-E35A-77AC2853464E}"/>
                  </a:ext>
                </a:extLst>
              </p:cNvPr>
              <p:cNvSpPr/>
              <p:nvPr/>
            </p:nvSpPr>
            <p:spPr>
              <a:xfrm>
                <a:off x="13091531" y="5318853"/>
                <a:ext cx="6732661" cy="17623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l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𝑧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p>
                      </m:sSubSup>
                      <m:r>
                        <a:rPr lang="en-US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1 </m:t>
                          </m:r>
                        </m:sub>
                      </m:sSub>
                      <m:sSubSup>
                        <m:sSubSup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3</m:t>
                          </m:r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3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4</m:t>
                          </m:r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4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𝑏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chemeClr val="bg2">
                      <a:lumMod val="10000"/>
                    </a:schemeClr>
                  </a:solidFill>
                  <a:latin typeface="Chromatica"/>
                </a:endParaRP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b>
                      <m:sup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p>
                    </m:sSubSup>
                    <m:r>
                      <a:rPr lang="de-DE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cs typeface="Courier New" pitchFamily="34" charset="-12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= 0.3*0.1 + 0.6*0.3 + 0.2*0.5 + 0.5*0.7 + 0.1</a:t>
                </a: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b>
                      <m:sup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 = 0.03 + 0.18 + 0.10 + 0.35 + 0.1</a:t>
                </a: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b>
                      <m:sup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 = 0.76</a:t>
                </a: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b="1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𝒂</m:t>
                        </m:r>
                      </m:e>
                      <m:sub>
                        <m:r>
                          <a:rPr lang="de-DE" b="1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𝟏</m:t>
                        </m:r>
                      </m:sub>
                      <m:sup>
                        <m:r>
                          <a:rPr lang="de-DE" b="1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𝟏</m:t>
                        </m:r>
                      </m:sup>
                    </m:sSubSup>
                  </m:oMath>
                </a14:m>
                <a:r>
                  <a:rPr lang="en-US" b="1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 = ReLU(0.76) = 0.76</a:t>
                </a:r>
                <a:endParaRPr lang="en-US" b="1" dirty="0">
                  <a:solidFill>
                    <a:schemeClr val="bg2">
                      <a:lumMod val="10000"/>
                    </a:schemeClr>
                  </a:solidFill>
                  <a:latin typeface="Chromatica"/>
                </a:endParaRPr>
              </a:p>
            </p:txBody>
          </p:sp>
        </mc:Choice>
        <mc:Fallback xmlns="">
          <p:sp>
            <p:nvSpPr>
              <p:cNvPr id="23" name="Text 26">
                <a:extLst>
                  <a:ext uri="{FF2B5EF4-FFF2-40B4-BE49-F238E27FC236}">
                    <a16:creationId xmlns:a16="http://schemas.microsoft.com/office/drawing/2014/main" id="{02E1623D-7E5E-80BB-E35A-77AC285346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91531" y="5318853"/>
                <a:ext cx="6732661" cy="1762308"/>
              </a:xfrm>
              <a:prstGeom prst="rect">
                <a:avLst/>
              </a:prstGeom>
              <a:blipFill>
                <a:blip r:embed="rId2"/>
                <a:stretch>
                  <a:fillRect t="-6574" b="-20415"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16">
                <a:extLst>
                  <a:ext uri="{FF2B5EF4-FFF2-40B4-BE49-F238E27FC236}">
                    <a16:creationId xmlns:a16="http://schemas.microsoft.com/office/drawing/2014/main" id="{10C5552C-0D0A-6185-FE95-412A1C6873ED}"/>
                  </a:ext>
                </a:extLst>
              </p:cNvPr>
              <p:cNvSpPr/>
              <p:nvPr/>
            </p:nvSpPr>
            <p:spPr>
              <a:xfrm>
                <a:off x="8614635" y="6007217"/>
                <a:ext cx="862915" cy="8278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SupPr>
                        <m:e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𝒛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𝟏</m:t>
                          </m:r>
                        </m:sub>
                        <m:sup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dirty="0">
                  <a:latin typeface="Chromatica"/>
                </a:endParaRPr>
              </a:p>
            </p:txBody>
          </p:sp>
        </mc:Choice>
        <mc:Fallback xmlns="">
          <p:sp>
            <p:nvSpPr>
              <p:cNvPr id="25" name="Text 16">
                <a:extLst>
                  <a:ext uri="{FF2B5EF4-FFF2-40B4-BE49-F238E27FC236}">
                    <a16:creationId xmlns:a16="http://schemas.microsoft.com/office/drawing/2014/main" id="{10C5552C-0D0A-6185-FE95-412A1C6873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4635" y="6007217"/>
                <a:ext cx="862915" cy="8278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16">
                <a:extLst>
                  <a:ext uri="{FF2B5EF4-FFF2-40B4-BE49-F238E27FC236}">
                    <a16:creationId xmlns:a16="http://schemas.microsoft.com/office/drawing/2014/main" id="{5E86D417-779B-DCFC-D19C-134398679833}"/>
                  </a:ext>
                </a:extLst>
              </p:cNvPr>
              <p:cNvSpPr/>
              <p:nvPr/>
            </p:nvSpPr>
            <p:spPr>
              <a:xfrm>
                <a:off x="8530444" y="8940035"/>
                <a:ext cx="862915" cy="8278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SupPr>
                        <m:e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𝒛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𝟐</m:t>
                          </m:r>
                        </m:sub>
                        <m:sup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dirty="0">
                  <a:latin typeface="Chromatica"/>
                </a:endParaRPr>
              </a:p>
            </p:txBody>
          </p:sp>
        </mc:Choice>
        <mc:Fallback xmlns="">
          <p:sp>
            <p:nvSpPr>
              <p:cNvPr id="27" name="Text 16">
                <a:extLst>
                  <a:ext uri="{FF2B5EF4-FFF2-40B4-BE49-F238E27FC236}">
                    <a16:creationId xmlns:a16="http://schemas.microsoft.com/office/drawing/2014/main" id="{5E86D417-779B-DCFC-D19C-1343986798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0444" y="8940035"/>
                <a:ext cx="862915" cy="8278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 26">
                <a:extLst>
                  <a:ext uri="{FF2B5EF4-FFF2-40B4-BE49-F238E27FC236}">
                    <a16:creationId xmlns:a16="http://schemas.microsoft.com/office/drawing/2014/main" id="{BBE840EE-0809-F054-0621-1F4FC0BE2AD4}"/>
                  </a:ext>
                </a:extLst>
              </p:cNvPr>
              <p:cNvSpPr/>
              <p:nvPr/>
            </p:nvSpPr>
            <p:spPr>
              <a:xfrm>
                <a:off x="13109819" y="9017198"/>
                <a:ext cx="6732661" cy="17623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l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b>
                        <m:sup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p>
                      </m:sSubSup>
                      <m:r>
                        <a:rPr lang="en-US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1 </m:t>
                          </m:r>
                        </m:sub>
                      </m:sSub>
                      <m:sSubSup>
                        <m:sSubSup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3</m:t>
                          </m:r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3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4</m:t>
                          </m:r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4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𝑏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chemeClr val="bg2">
                      <a:lumMod val="10000"/>
                    </a:schemeClr>
                  </a:solidFill>
                  <a:latin typeface="Chromatica"/>
                </a:endParaRP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𝑧</m:t>
                        </m:r>
                      </m:e>
                      <m:sub>
                        <m:r>
                          <a:rPr lang="de-DE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2</m:t>
                        </m:r>
                      </m:sub>
                      <m:sup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p>
                    </m:sSubSup>
                    <m:r>
                      <a:rPr lang="de-DE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cs typeface="Courier New" pitchFamily="34" charset="-12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= 0.3*0.2 + 0.6*0.4 + 0.2*0.6 + 0.5*0.8 + 0.1</a:t>
                </a: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𝑧</m:t>
                        </m:r>
                      </m:e>
                      <m:sub>
                        <m:r>
                          <a:rPr lang="de-DE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2</m:t>
                        </m:r>
                      </m:sub>
                      <m:sup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 = 0.06 + 0.24 + 0.12 + 0.40 + 0.1</a:t>
                </a: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𝑧</m:t>
                        </m:r>
                      </m:e>
                      <m:sub>
                        <m:r>
                          <a:rPr lang="de-DE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2</m:t>
                        </m:r>
                      </m:sub>
                      <m:sup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 = 0.92</a:t>
                </a:r>
              </a:p>
            </p:txBody>
          </p:sp>
        </mc:Choice>
        <mc:Fallback xmlns="">
          <p:sp>
            <p:nvSpPr>
              <p:cNvPr id="29" name="Text 26">
                <a:extLst>
                  <a:ext uri="{FF2B5EF4-FFF2-40B4-BE49-F238E27FC236}">
                    <a16:creationId xmlns:a16="http://schemas.microsoft.com/office/drawing/2014/main" id="{BBE840EE-0809-F054-0621-1F4FC0BE2A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09819" y="9017198"/>
                <a:ext cx="6732661" cy="1762308"/>
              </a:xfrm>
              <a:prstGeom prst="rect">
                <a:avLst/>
              </a:prstGeom>
              <a:blipFill>
                <a:blip r:embed="rId5"/>
                <a:stretch>
                  <a:fillRect b="-8304"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EB95959F-87B6-3C7B-9371-A506FF78CF92}"/>
              </a:ext>
            </a:extLst>
          </p:cNvPr>
          <p:cNvCxnSpPr>
            <a:cxnSpLocks/>
            <a:stCxn id="5" idx="6"/>
            <a:endCxn id="9" idx="2"/>
          </p:cNvCxnSpPr>
          <p:nvPr/>
        </p:nvCxnSpPr>
        <p:spPr>
          <a:xfrm>
            <a:off x="2887609" y="4904905"/>
            <a:ext cx="5500116" cy="1534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DBA6A95F-8BA7-BFF9-2606-B0C48A1D0B8D}"/>
              </a:ext>
            </a:extLst>
          </p:cNvPr>
          <p:cNvCxnSpPr>
            <a:cxnSpLocks/>
            <a:stCxn id="6" idx="6"/>
            <a:endCxn id="9" idx="2"/>
          </p:cNvCxnSpPr>
          <p:nvPr/>
        </p:nvCxnSpPr>
        <p:spPr>
          <a:xfrm flipV="1">
            <a:off x="2887609" y="6439030"/>
            <a:ext cx="5500116" cy="6904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9C90771D-2543-26C8-F46C-815F6F6FAD7E}"/>
              </a:ext>
            </a:extLst>
          </p:cNvPr>
          <p:cNvCxnSpPr>
            <a:cxnSpLocks/>
            <a:stCxn id="7" idx="6"/>
            <a:endCxn id="9" idx="2"/>
          </p:cNvCxnSpPr>
          <p:nvPr/>
        </p:nvCxnSpPr>
        <p:spPr>
          <a:xfrm flipV="1">
            <a:off x="2869321" y="6439030"/>
            <a:ext cx="5518404" cy="29149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B1B87A11-6F38-CF42-1A0C-3FBDD1EFC45D}"/>
              </a:ext>
            </a:extLst>
          </p:cNvPr>
          <p:cNvCxnSpPr>
            <a:stCxn id="8" idx="6"/>
            <a:endCxn id="9" idx="2"/>
          </p:cNvCxnSpPr>
          <p:nvPr/>
        </p:nvCxnSpPr>
        <p:spPr>
          <a:xfrm flipV="1">
            <a:off x="2869321" y="6439030"/>
            <a:ext cx="5518404" cy="51752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DD119CE4-DB0E-5399-7CD7-4DC9C7C84034}"/>
              </a:ext>
            </a:extLst>
          </p:cNvPr>
          <p:cNvCxnSpPr>
            <a:stCxn id="5" idx="6"/>
            <a:endCxn id="10" idx="2"/>
          </p:cNvCxnSpPr>
          <p:nvPr/>
        </p:nvCxnSpPr>
        <p:spPr>
          <a:xfrm>
            <a:off x="2887609" y="4904905"/>
            <a:ext cx="5415925" cy="4449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398680BA-D046-315F-76BD-8BD41A5D9B58}"/>
              </a:ext>
            </a:extLst>
          </p:cNvPr>
          <p:cNvCxnSpPr>
            <a:stCxn id="6" idx="6"/>
          </p:cNvCxnSpPr>
          <p:nvPr/>
        </p:nvCxnSpPr>
        <p:spPr>
          <a:xfrm>
            <a:off x="2887609" y="7129445"/>
            <a:ext cx="5415925" cy="22245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637FA1CB-4A20-8E9C-1AE1-C4DC35A34BD6}"/>
              </a:ext>
            </a:extLst>
          </p:cNvPr>
          <p:cNvCxnSpPr>
            <a:cxnSpLocks/>
            <a:stCxn id="7" idx="6"/>
            <a:endCxn id="10" idx="2"/>
          </p:cNvCxnSpPr>
          <p:nvPr/>
        </p:nvCxnSpPr>
        <p:spPr>
          <a:xfrm flipV="1">
            <a:off x="2869321" y="9353984"/>
            <a:ext cx="543421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3768EF4E-6E62-2736-018D-784DDD845429}"/>
              </a:ext>
            </a:extLst>
          </p:cNvPr>
          <p:cNvCxnSpPr>
            <a:stCxn id="8" idx="6"/>
            <a:endCxn id="10" idx="2"/>
          </p:cNvCxnSpPr>
          <p:nvPr/>
        </p:nvCxnSpPr>
        <p:spPr>
          <a:xfrm flipV="1">
            <a:off x="2869321" y="9353984"/>
            <a:ext cx="5434213" cy="22602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307592" y="3520440"/>
            <a:ext cx="11695176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>
                <a:solidFill>
                  <a:srgbClr val="6E6E6E"/>
                </a:solidFill>
              </a:rPr>
              <a:t>Değerler ölçeklendi:  3 oda → 0.3,   120 m² → 0.6,   10 yıl → 0.2,   5 km → 0.5,   850 bin € → 0.85</a:t>
            </a:r>
          </a:p>
        </p:txBody>
      </p:sp>
    </p:spTree>
    <p:extLst>
      <p:ext uri="{BB962C8B-B14F-4D97-AF65-F5344CB8AC3E}">
        <p14:creationId xmlns:p14="http://schemas.microsoft.com/office/powerpoint/2010/main" val="4056219687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A6C97-5735-2ED8-B001-F2F349692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AA469FE1-D24C-F944-29B3-33898C2F998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de-DE" dirty="0"/>
              <a:t>Forward </a:t>
            </a:r>
            <a:r>
              <a:rPr lang="de-DE" dirty="0" err="1"/>
              <a:t>Propagation</a:t>
            </a:r>
            <a:endParaRPr lang="de-DE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46202F41-52B4-93B8-A00E-6F8A6A7438DC}"/>
              </a:ext>
            </a:extLst>
          </p:cNvPr>
          <p:cNvSpPr/>
          <p:nvPr/>
        </p:nvSpPr>
        <p:spPr>
          <a:xfrm>
            <a:off x="1570873" y="4196625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14701F1B-59F6-4415-FF5C-B7FFC116A3CA}"/>
              </a:ext>
            </a:extLst>
          </p:cNvPr>
          <p:cNvSpPr/>
          <p:nvPr/>
        </p:nvSpPr>
        <p:spPr>
          <a:xfrm>
            <a:off x="1570873" y="6421165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363F4DBE-3F3D-CA95-7D5F-039ABBE41C0B}"/>
              </a:ext>
            </a:extLst>
          </p:cNvPr>
          <p:cNvSpPr/>
          <p:nvPr/>
        </p:nvSpPr>
        <p:spPr>
          <a:xfrm>
            <a:off x="1552585" y="8645705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1E661BF5-0AA9-F8C6-783C-815A0D3C8AD1}"/>
              </a:ext>
            </a:extLst>
          </p:cNvPr>
          <p:cNvSpPr/>
          <p:nvPr/>
        </p:nvSpPr>
        <p:spPr>
          <a:xfrm>
            <a:off x="1552585" y="10905974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37621CDE-9544-B5A3-E7C4-059FD5733069}"/>
              </a:ext>
            </a:extLst>
          </p:cNvPr>
          <p:cNvSpPr/>
          <p:nvPr/>
        </p:nvSpPr>
        <p:spPr>
          <a:xfrm>
            <a:off x="8387725" y="5730750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05A05937-B8E6-6A4C-D8A4-37B065FE4B55}"/>
              </a:ext>
            </a:extLst>
          </p:cNvPr>
          <p:cNvSpPr/>
          <p:nvPr/>
        </p:nvSpPr>
        <p:spPr>
          <a:xfrm>
            <a:off x="8303534" y="8645704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Shape 24">
            <a:extLst>
              <a:ext uri="{FF2B5EF4-FFF2-40B4-BE49-F238E27FC236}">
                <a16:creationId xmlns:a16="http://schemas.microsoft.com/office/drawing/2014/main" id="{390C8A6C-3756-F3EF-426A-92A20E8C3AB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3007340" y="4904905"/>
            <a:ext cx="10271760" cy="6709349"/>
          </a:xfrm>
          <a:prstGeom prst="roundRect">
            <a:avLst>
              <a:gd name="adj" fmla="val 1714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graphicFrame>
        <p:nvGraphicFramePr>
          <p:cNvPr id="14" name="Table 0">
            <a:extLst>
              <a:ext uri="{FF2B5EF4-FFF2-40B4-BE49-F238E27FC236}">
                <a16:creationId xmlns:a16="http://schemas.microsoft.com/office/drawing/2014/main" id="{CCE43AC7-F46D-E9E1-8369-8D67D73BB3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500896"/>
              </p:ext>
            </p:extLst>
          </p:nvPr>
        </p:nvGraphicFramePr>
        <p:xfrm>
          <a:off x="1310640" y="2035680"/>
          <a:ext cx="11696700" cy="1416560"/>
        </p:xfrm>
        <a:graphic>
          <a:graphicData uri="http://schemas.openxmlformats.org/drawingml/2006/table">
            <a:tbl>
              <a:tblPr/>
              <a:tblGrid>
                <a:gridCol w="2339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8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Oda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m²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Bina yaşı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Merkeze uzaklık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0F5257"/>
                          </a:solidFill>
                          <a:latin typeface="Chromatica"/>
                        </a:rPr>
                        <a:t>Fiyat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0.3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0.6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0.2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0.5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0.85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" name="Text 16">
            <a:extLst>
              <a:ext uri="{FF2B5EF4-FFF2-40B4-BE49-F238E27FC236}">
                <a16:creationId xmlns:a16="http://schemas.microsoft.com/office/drawing/2014/main" id="{C714E87D-06D9-CAAF-5801-CE6859CB9852}"/>
              </a:ext>
            </a:extLst>
          </p:cNvPr>
          <p:cNvSpPr/>
          <p:nvPr/>
        </p:nvSpPr>
        <p:spPr>
          <a:xfrm>
            <a:off x="1779495" y="4490957"/>
            <a:ext cx="862915" cy="82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0.3</a:t>
            </a:r>
            <a:endParaRPr lang="en-US" dirty="0">
              <a:latin typeface="Chromatica"/>
            </a:endParaRPr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69B2BC5F-62A4-54C6-4E2A-BE80765D8E6D}"/>
              </a:ext>
            </a:extLst>
          </p:cNvPr>
          <p:cNvSpPr/>
          <p:nvPr/>
        </p:nvSpPr>
        <p:spPr>
          <a:xfrm>
            <a:off x="1779495" y="6715496"/>
            <a:ext cx="862915" cy="82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0.6</a:t>
            </a:r>
            <a:endParaRPr lang="en-US" dirty="0">
              <a:latin typeface="Chromatica"/>
            </a:endParaRP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5DD7E8AE-F725-28DC-2DA5-74CEE3688EDA}"/>
              </a:ext>
            </a:extLst>
          </p:cNvPr>
          <p:cNvSpPr/>
          <p:nvPr/>
        </p:nvSpPr>
        <p:spPr>
          <a:xfrm>
            <a:off x="1779494" y="8953283"/>
            <a:ext cx="862915" cy="82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0.2</a:t>
            </a:r>
            <a:endParaRPr lang="en-US" dirty="0">
              <a:latin typeface="Chromatica"/>
            </a:endParaRPr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826EDCDE-8B34-16A6-8E58-24A23C43DED1}"/>
              </a:ext>
            </a:extLst>
          </p:cNvPr>
          <p:cNvSpPr/>
          <p:nvPr/>
        </p:nvSpPr>
        <p:spPr>
          <a:xfrm>
            <a:off x="1797783" y="11200305"/>
            <a:ext cx="862915" cy="82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0.5</a:t>
            </a:r>
            <a:endParaRPr lang="en-US" dirty="0">
              <a:latin typeface="Chromatic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26">
                <a:extLst>
                  <a:ext uri="{FF2B5EF4-FFF2-40B4-BE49-F238E27FC236}">
                    <a16:creationId xmlns:a16="http://schemas.microsoft.com/office/drawing/2014/main" id="{1E088802-E856-C3D0-136D-8AA67C77C7DA}"/>
                  </a:ext>
                </a:extLst>
              </p:cNvPr>
              <p:cNvSpPr/>
              <p:nvPr/>
            </p:nvSpPr>
            <p:spPr>
              <a:xfrm>
                <a:off x="13091531" y="5318853"/>
                <a:ext cx="6732661" cy="17623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l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𝑧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p>
                      </m:sSubSup>
                      <m:r>
                        <a:rPr lang="en-US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1 </m:t>
                          </m:r>
                        </m:sub>
                      </m:sSub>
                      <m:sSubSup>
                        <m:sSubSup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3</m:t>
                          </m:r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3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4</m:t>
                          </m:r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4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𝑏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chemeClr val="bg2">
                      <a:lumMod val="10000"/>
                    </a:schemeClr>
                  </a:solidFill>
                  <a:latin typeface="Chromatica"/>
                </a:endParaRP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b>
                      <m:sup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p>
                    </m:sSubSup>
                    <m:r>
                      <a:rPr lang="de-DE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cs typeface="Courier New" pitchFamily="34" charset="-12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= 0.3*0.1 + 0.6*0.3 + 0.2*0.5 + 0.5*0.7 + 0.1</a:t>
                </a: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b>
                      <m:sup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 = 0.03 + 0.18 + 0.10 + 0.35 + 0.1</a:t>
                </a: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b>
                      <m:sup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 = 0.76</a:t>
                </a: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b="1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𝒂</m:t>
                        </m:r>
                      </m:e>
                      <m:sub>
                        <m:r>
                          <a:rPr lang="de-DE" b="1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𝟏</m:t>
                        </m:r>
                      </m:sub>
                      <m:sup>
                        <m:r>
                          <a:rPr lang="de-DE" b="1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𝟏</m:t>
                        </m:r>
                      </m:sup>
                    </m:sSubSup>
                  </m:oMath>
                </a14:m>
                <a:r>
                  <a:rPr lang="en-US" b="1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 = ReLU(0.76) = 0.76</a:t>
                </a:r>
                <a:endParaRPr lang="en-US" b="1" dirty="0">
                  <a:solidFill>
                    <a:schemeClr val="bg2">
                      <a:lumMod val="10000"/>
                    </a:schemeClr>
                  </a:solidFill>
                  <a:latin typeface="Chromatica"/>
                </a:endParaRPr>
              </a:p>
            </p:txBody>
          </p:sp>
        </mc:Choice>
        <mc:Fallback xmlns="">
          <p:sp>
            <p:nvSpPr>
              <p:cNvPr id="23" name="Text 26">
                <a:extLst>
                  <a:ext uri="{FF2B5EF4-FFF2-40B4-BE49-F238E27FC236}">
                    <a16:creationId xmlns:a16="http://schemas.microsoft.com/office/drawing/2014/main" id="{1E088802-E856-C3D0-136D-8AA67C77C7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91531" y="5318853"/>
                <a:ext cx="6732661" cy="1762308"/>
              </a:xfrm>
              <a:prstGeom prst="rect">
                <a:avLst/>
              </a:prstGeom>
              <a:blipFill>
                <a:blip r:embed="rId3"/>
                <a:stretch>
                  <a:fillRect t="-6574" b="-20415"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16">
                <a:extLst>
                  <a:ext uri="{FF2B5EF4-FFF2-40B4-BE49-F238E27FC236}">
                    <a16:creationId xmlns:a16="http://schemas.microsoft.com/office/drawing/2014/main" id="{22A2E122-604F-93E9-6714-D373B07504D7}"/>
                  </a:ext>
                </a:extLst>
              </p:cNvPr>
              <p:cNvSpPr/>
              <p:nvPr/>
            </p:nvSpPr>
            <p:spPr>
              <a:xfrm>
                <a:off x="8614635" y="6007217"/>
                <a:ext cx="862915" cy="8278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SupPr>
                        <m:e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𝒛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𝟏</m:t>
                          </m:r>
                        </m:sub>
                        <m:sup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dirty="0">
                  <a:latin typeface="Chromatica"/>
                </a:endParaRPr>
              </a:p>
            </p:txBody>
          </p:sp>
        </mc:Choice>
        <mc:Fallback xmlns="">
          <p:sp>
            <p:nvSpPr>
              <p:cNvPr id="25" name="Text 16">
                <a:extLst>
                  <a:ext uri="{FF2B5EF4-FFF2-40B4-BE49-F238E27FC236}">
                    <a16:creationId xmlns:a16="http://schemas.microsoft.com/office/drawing/2014/main" id="{22A2E122-604F-93E9-6714-D373B07504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4635" y="6007217"/>
                <a:ext cx="862915" cy="8278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16">
                <a:extLst>
                  <a:ext uri="{FF2B5EF4-FFF2-40B4-BE49-F238E27FC236}">
                    <a16:creationId xmlns:a16="http://schemas.microsoft.com/office/drawing/2014/main" id="{04212DF3-6C32-25D2-6F38-159D2893A9DA}"/>
                  </a:ext>
                </a:extLst>
              </p:cNvPr>
              <p:cNvSpPr/>
              <p:nvPr/>
            </p:nvSpPr>
            <p:spPr>
              <a:xfrm>
                <a:off x="8530444" y="8940035"/>
                <a:ext cx="862915" cy="8278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SupPr>
                        <m:e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𝒛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𝟐</m:t>
                          </m:r>
                        </m:sub>
                        <m:sup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dirty="0">
                  <a:latin typeface="Chromatica"/>
                </a:endParaRPr>
              </a:p>
            </p:txBody>
          </p:sp>
        </mc:Choice>
        <mc:Fallback xmlns="">
          <p:sp>
            <p:nvSpPr>
              <p:cNvPr id="27" name="Text 16">
                <a:extLst>
                  <a:ext uri="{FF2B5EF4-FFF2-40B4-BE49-F238E27FC236}">
                    <a16:creationId xmlns:a16="http://schemas.microsoft.com/office/drawing/2014/main" id="{04212DF3-6C32-25D2-6F38-159D2893A9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0444" y="8940035"/>
                <a:ext cx="862915" cy="8278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 26">
                <a:extLst>
                  <a:ext uri="{FF2B5EF4-FFF2-40B4-BE49-F238E27FC236}">
                    <a16:creationId xmlns:a16="http://schemas.microsoft.com/office/drawing/2014/main" id="{C76ADB25-2183-DBDC-FE78-4B35FBF0D1CD}"/>
                  </a:ext>
                </a:extLst>
              </p:cNvPr>
              <p:cNvSpPr/>
              <p:nvPr/>
            </p:nvSpPr>
            <p:spPr>
              <a:xfrm>
                <a:off x="13109819" y="9017198"/>
                <a:ext cx="6732661" cy="17623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l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b>
                        <m:sup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p>
                      </m:sSubSup>
                      <m:r>
                        <a:rPr lang="en-US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1 </m:t>
                          </m:r>
                        </m:sub>
                      </m:sSub>
                      <m:sSubSup>
                        <m:sSubSup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3</m:t>
                          </m:r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3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4</m:t>
                          </m:r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4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𝑏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chemeClr val="bg2">
                      <a:lumMod val="10000"/>
                    </a:schemeClr>
                  </a:solidFill>
                  <a:latin typeface="Chromatica"/>
                </a:endParaRP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𝑧</m:t>
                        </m:r>
                      </m:e>
                      <m:sub>
                        <m:r>
                          <a:rPr lang="de-DE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2</m:t>
                        </m:r>
                      </m:sub>
                      <m:sup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p>
                    </m:sSubSup>
                    <m:r>
                      <a:rPr lang="de-DE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cs typeface="Courier New" pitchFamily="34" charset="-12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= 0.3*0.2 + 0.6*0.4 + 0.2*0.6 + 0.5*0.8 + 0.1</a:t>
                </a: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𝑧</m:t>
                        </m:r>
                      </m:e>
                      <m:sub>
                        <m:r>
                          <a:rPr lang="de-DE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2</m:t>
                        </m:r>
                      </m:sub>
                      <m:sup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 = 0.06 + 0.24 + 0.12 + 0.40 + 0.1</a:t>
                </a: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𝑧</m:t>
                        </m:r>
                      </m:e>
                      <m:sub>
                        <m:r>
                          <a:rPr lang="de-DE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2</m:t>
                        </m:r>
                      </m:sub>
                      <m:sup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 = 0.92</a:t>
                </a: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b="1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𝒂</m:t>
                        </m:r>
                      </m:e>
                      <m:sub>
                        <m:r>
                          <a:rPr lang="de-DE" b="1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𝟐</m:t>
                        </m:r>
                      </m:sub>
                      <m:sup>
                        <m:r>
                          <a:rPr lang="de-DE" b="1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𝟏</m:t>
                        </m:r>
                      </m:sup>
                    </m:sSubSup>
                  </m:oMath>
                </a14:m>
                <a:r>
                  <a:rPr lang="en-US" b="1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 = ReLU(0.92) = 0.92</a:t>
                </a:r>
                <a:endParaRPr lang="en-US" b="1" dirty="0">
                  <a:solidFill>
                    <a:schemeClr val="bg2">
                      <a:lumMod val="10000"/>
                    </a:schemeClr>
                  </a:solidFill>
                  <a:latin typeface="Chromatica"/>
                </a:endParaRPr>
              </a:p>
            </p:txBody>
          </p:sp>
        </mc:Choice>
        <mc:Fallback xmlns="">
          <p:sp>
            <p:nvSpPr>
              <p:cNvPr id="29" name="Text 26">
                <a:extLst>
                  <a:ext uri="{FF2B5EF4-FFF2-40B4-BE49-F238E27FC236}">
                    <a16:creationId xmlns:a16="http://schemas.microsoft.com/office/drawing/2014/main" id="{C76ADB25-2183-DBDC-FE78-4B35FBF0D1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09819" y="9017198"/>
                <a:ext cx="6732661" cy="1762308"/>
              </a:xfrm>
              <a:prstGeom prst="rect">
                <a:avLst/>
              </a:prstGeom>
              <a:blipFill>
                <a:blip r:embed="rId6"/>
                <a:stretch>
                  <a:fillRect t="-6574" b="-20761"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0E474AD2-D019-3E48-DFE4-BEA3C8F49CE7}"/>
              </a:ext>
            </a:extLst>
          </p:cNvPr>
          <p:cNvCxnSpPr>
            <a:cxnSpLocks/>
            <a:stCxn id="5" idx="6"/>
            <a:endCxn id="9" idx="2"/>
          </p:cNvCxnSpPr>
          <p:nvPr/>
        </p:nvCxnSpPr>
        <p:spPr>
          <a:xfrm>
            <a:off x="2887609" y="4904905"/>
            <a:ext cx="5500116" cy="1534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9AC06417-66DE-553F-C56A-D0F73E49BA30}"/>
              </a:ext>
            </a:extLst>
          </p:cNvPr>
          <p:cNvCxnSpPr>
            <a:cxnSpLocks/>
            <a:stCxn id="6" idx="6"/>
            <a:endCxn id="9" idx="2"/>
          </p:cNvCxnSpPr>
          <p:nvPr/>
        </p:nvCxnSpPr>
        <p:spPr>
          <a:xfrm flipV="1">
            <a:off x="2887609" y="6439030"/>
            <a:ext cx="5500116" cy="6904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1DB5B294-CDF4-5BCC-7FD7-933E7613570B}"/>
              </a:ext>
            </a:extLst>
          </p:cNvPr>
          <p:cNvCxnSpPr>
            <a:cxnSpLocks/>
            <a:stCxn id="7" idx="6"/>
            <a:endCxn id="9" idx="2"/>
          </p:cNvCxnSpPr>
          <p:nvPr/>
        </p:nvCxnSpPr>
        <p:spPr>
          <a:xfrm flipV="1">
            <a:off x="2869321" y="6439030"/>
            <a:ext cx="5518404" cy="29149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A48A80A9-86D8-8764-B7E4-33247498DAC5}"/>
              </a:ext>
            </a:extLst>
          </p:cNvPr>
          <p:cNvCxnSpPr>
            <a:stCxn id="8" idx="6"/>
            <a:endCxn id="9" idx="2"/>
          </p:cNvCxnSpPr>
          <p:nvPr/>
        </p:nvCxnSpPr>
        <p:spPr>
          <a:xfrm flipV="1">
            <a:off x="2869321" y="6439030"/>
            <a:ext cx="5518404" cy="51752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B9A2D78F-9B7D-D499-B656-3B23A7C3BC8C}"/>
              </a:ext>
            </a:extLst>
          </p:cNvPr>
          <p:cNvCxnSpPr>
            <a:stCxn id="5" idx="6"/>
            <a:endCxn id="10" idx="2"/>
          </p:cNvCxnSpPr>
          <p:nvPr/>
        </p:nvCxnSpPr>
        <p:spPr>
          <a:xfrm>
            <a:off x="2887609" y="4904905"/>
            <a:ext cx="5415925" cy="4449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909AEB0C-06AB-4ACD-5E6B-1FE2864C2117}"/>
              </a:ext>
            </a:extLst>
          </p:cNvPr>
          <p:cNvCxnSpPr>
            <a:stCxn id="6" idx="6"/>
          </p:cNvCxnSpPr>
          <p:nvPr/>
        </p:nvCxnSpPr>
        <p:spPr>
          <a:xfrm>
            <a:off x="2887609" y="7129445"/>
            <a:ext cx="5415925" cy="22245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BAF847F2-DF89-9247-2FC0-0A8E71BEC5A4}"/>
              </a:ext>
            </a:extLst>
          </p:cNvPr>
          <p:cNvCxnSpPr>
            <a:cxnSpLocks/>
            <a:stCxn id="7" idx="6"/>
            <a:endCxn id="10" idx="2"/>
          </p:cNvCxnSpPr>
          <p:nvPr/>
        </p:nvCxnSpPr>
        <p:spPr>
          <a:xfrm flipV="1">
            <a:off x="2869321" y="9353984"/>
            <a:ext cx="543421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D26EE28A-4A75-F02E-B564-99144C33E472}"/>
              </a:ext>
            </a:extLst>
          </p:cNvPr>
          <p:cNvCxnSpPr>
            <a:stCxn id="8" idx="6"/>
            <a:endCxn id="10" idx="2"/>
          </p:cNvCxnSpPr>
          <p:nvPr/>
        </p:nvCxnSpPr>
        <p:spPr>
          <a:xfrm flipV="1">
            <a:off x="2869321" y="9353984"/>
            <a:ext cx="5434213" cy="22602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307592" y="3520440"/>
            <a:ext cx="11695176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>
                <a:solidFill>
                  <a:srgbClr val="6E6E6E"/>
                </a:solidFill>
              </a:rPr>
              <a:t>Değerler ölçeklendi:  3 oda → 0.3,   120 m² → 0.6,   10 yıl → 0.2,   5 km → 0.5,   850 bin € → 0.85</a:t>
            </a:r>
          </a:p>
        </p:txBody>
      </p:sp>
    </p:spTree>
    <p:extLst>
      <p:ext uri="{BB962C8B-B14F-4D97-AF65-F5344CB8AC3E}">
        <p14:creationId xmlns:p14="http://schemas.microsoft.com/office/powerpoint/2010/main" val="517772917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DA9EA-BBD5-A365-1ED5-1188B8F83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31AB29C9-F5B6-1C3B-EA26-D52D5102359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de-DE" dirty="0"/>
              <a:t>Forward </a:t>
            </a:r>
            <a:r>
              <a:rPr lang="de-DE" dirty="0" err="1"/>
              <a:t>Propagation</a:t>
            </a:r>
            <a:endParaRPr lang="de-DE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04B84F05-3AA2-BD15-1A85-F67A7E8CF268}"/>
              </a:ext>
            </a:extLst>
          </p:cNvPr>
          <p:cNvSpPr/>
          <p:nvPr/>
        </p:nvSpPr>
        <p:spPr>
          <a:xfrm>
            <a:off x="1570873" y="4196625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2AFAE66C-2B81-CD04-D72E-B3A17457F90D}"/>
              </a:ext>
            </a:extLst>
          </p:cNvPr>
          <p:cNvSpPr/>
          <p:nvPr/>
        </p:nvSpPr>
        <p:spPr>
          <a:xfrm>
            <a:off x="1552585" y="8645705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600CC4CE-BBEB-D4EA-E19A-2CAE9032FF1E}"/>
              </a:ext>
            </a:extLst>
          </p:cNvPr>
          <p:cNvSpPr/>
          <p:nvPr/>
        </p:nvSpPr>
        <p:spPr>
          <a:xfrm>
            <a:off x="8387725" y="5730750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Shape 24">
            <a:extLst>
              <a:ext uri="{FF2B5EF4-FFF2-40B4-BE49-F238E27FC236}">
                <a16:creationId xmlns:a16="http://schemas.microsoft.com/office/drawing/2014/main" id="{6E8097FE-DE85-1DA0-0D05-687DBE8E79E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3007340" y="4904905"/>
            <a:ext cx="10271760" cy="6709349"/>
          </a:xfrm>
          <a:prstGeom prst="roundRect">
            <a:avLst>
              <a:gd name="adj" fmla="val 1714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r>
              <a:rPr lang="en-US" sz="2400" dirty="0" err="1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Gizli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katmandan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gelen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aktivasyonlar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 (a¹₁, a¹₂)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ağırlıklarla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çarpılır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, bias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eklenir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ve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 son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tahmin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 (y-hat)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üretilir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.</a:t>
            </a:r>
            <a:endParaRPr lang="en-US" sz="2400" dirty="0">
              <a:solidFill>
                <a:schemeClr val="bg2">
                  <a:lumMod val="10000"/>
                </a:schemeClr>
              </a:solidFill>
              <a:latin typeface="Chromatica"/>
            </a:endParaRPr>
          </a:p>
          <a:p>
            <a:endParaRPr lang="de-DE" dirty="0"/>
          </a:p>
        </p:txBody>
      </p:sp>
      <p:graphicFrame>
        <p:nvGraphicFramePr>
          <p:cNvPr id="14" name="Table 0">
            <a:extLst>
              <a:ext uri="{FF2B5EF4-FFF2-40B4-BE49-F238E27FC236}">
                <a16:creationId xmlns:a16="http://schemas.microsoft.com/office/drawing/2014/main" id="{BE3AC9E6-D571-6751-06D0-4A3B3DB6EA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1164964"/>
              </p:ext>
            </p:extLst>
          </p:nvPr>
        </p:nvGraphicFramePr>
        <p:xfrm>
          <a:off x="1310640" y="2035680"/>
          <a:ext cx="11696700" cy="1416560"/>
        </p:xfrm>
        <a:graphic>
          <a:graphicData uri="http://schemas.openxmlformats.org/drawingml/2006/table">
            <a:tbl>
              <a:tblPr/>
              <a:tblGrid>
                <a:gridCol w="2339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8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Oda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m²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Bina yaşı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Merkeze uzaklık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0F5257"/>
                          </a:solidFill>
                          <a:latin typeface="Chromatica"/>
                        </a:rPr>
                        <a:t>Fiyat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0.3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0.6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0.2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0.5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0.85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6">
                <a:extLst>
                  <a:ext uri="{FF2B5EF4-FFF2-40B4-BE49-F238E27FC236}">
                    <a16:creationId xmlns:a16="http://schemas.microsoft.com/office/drawing/2014/main" id="{B58D4CAC-FCBD-1F17-43EF-973A6F9DD06D}"/>
                  </a:ext>
                </a:extLst>
              </p:cNvPr>
              <p:cNvSpPr/>
              <p:nvPr/>
            </p:nvSpPr>
            <p:spPr>
              <a:xfrm>
                <a:off x="1779495" y="4490957"/>
                <a:ext cx="862915" cy="8278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SupPr>
                        <m:e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𝒂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𝟏</m:t>
                          </m:r>
                        </m:sub>
                        <m:sup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dirty="0">
                  <a:latin typeface="Chromatica"/>
                </a:endParaRPr>
              </a:p>
            </p:txBody>
          </p:sp>
        </mc:Choice>
        <mc:Fallback xmlns="">
          <p:sp>
            <p:nvSpPr>
              <p:cNvPr id="16" name="Text 16">
                <a:extLst>
                  <a:ext uri="{FF2B5EF4-FFF2-40B4-BE49-F238E27FC236}">
                    <a16:creationId xmlns:a16="http://schemas.microsoft.com/office/drawing/2014/main" id="{B58D4CAC-FCBD-1F17-43EF-973A6F9DD0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9495" y="4490957"/>
                <a:ext cx="862915" cy="8278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16">
                <a:extLst>
                  <a:ext uri="{FF2B5EF4-FFF2-40B4-BE49-F238E27FC236}">
                    <a16:creationId xmlns:a16="http://schemas.microsoft.com/office/drawing/2014/main" id="{E2E9D198-C8BD-F974-9BFA-433384B02F7C}"/>
                  </a:ext>
                </a:extLst>
              </p:cNvPr>
              <p:cNvSpPr/>
              <p:nvPr/>
            </p:nvSpPr>
            <p:spPr>
              <a:xfrm>
                <a:off x="1779494" y="8953283"/>
                <a:ext cx="862915" cy="8278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SupPr>
                        <m:e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𝒂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𝟐</m:t>
                          </m:r>
                        </m:sub>
                        <m:sup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dirty="0">
                  <a:latin typeface="Chromatica"/>
                </a:endParaRPr>
              </a:p>
            </p:txBody>
          </p:sp>
        </mc:Choice>
        <mc:Fallback xmlns="">
          <p:sp>
            <p:nvSpPr>
              <p:cNvPr id="20" name="Text 16">
                <a:extLst>
                  <a:ext uri="{FF2B5EF4-FFF2-40B4-BE49-F238E27FC236}">
                    <a16:creationId xmlns:a16="http://schemas.microsoft.com/office/drawing/2014/main" id="{E2E9D198-C8BD-F974-9BFA-433384B02F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9494" y="8953283"/>
                <a:ext cx="862915" cy="8278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26">
                <a:extLst>
                  <a:ext uri="{FF2B5EF4-FFF2-40B4-BE49-F238E27FC236}">
                    <a16:creationId xmlns:a16="http://schemas.microsoft.com/office/drawing/2014/main" id="{D5FF0A76-F7EC-6136-A732-5A59A7992130}"/>
                  </a:ext>
                </a:extLst>
              </p:cNvPr>
              <p:cNvSpPr/>
              <p:nvPr/>
            </p:nvSpPr>
            <p:spPr>
              <a:xfrm>
                <a:off x="13007340" y="5953959"/>
                <a:ext cx="6732661" cy="17623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l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𝑧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p>
                      </m:sSubSup>
                      <m:r>
                        <a:rPr lang="en-US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=</m:t>
                      </m:r>
                      <m:sSubSup>
                        <m:sSubSup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sSubSup>
                            <m:sSubSupPr>
                              <m:ctrlPr>
                                <a:rPr lang="en-US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ourier New" pitchFamily="34" charset="-120"/>
                                </a:rPr>
                              </m:ctrlPr>
                            </m:sSubSupPr>
                            <m:e>
                              <m:r>
                                <a:rPr lang="de-DE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ourier New" pitchFamily="34" charset="-12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de-DE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ourier New" pitchFamily="34" charset="-12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de-DE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ourier New" pitchFamily="34" charset="-120"/>
                                </a:rPr>
                                <m:t>1</m:t>
                              </m:r>
                            </m:sup>
                          </m:sSub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𝑎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b>
                        <m:sup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p>
                      </m:sSubSup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𝑏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chemeClr val="bg2">
                      <a:lumMod val="10000"/>
                    </a:schemeClr>
                  </a:solidFill>
                  <a:latin typeface="Chromatica"/>
                </a:endParaRPr>
              </a:p>
            </p:txBody>
          </p:sp>
        </mc:Choice>
        <mc:Fallback xmlns="">
          <p:sp>
            <p:nvSpPr>
              <p:cNvPr id="23" name="Text 26">
                <a:extLst>
                  <a:ext uri="{FF2B5EF4-FFF2-40B4-BE49-F238E27FC236}">
                    <a16:creationId xmlns:a16="http://schemas.microsoft.com/office/drawing/2014/main" id="{D5FF0A76-F7EC-6136-A732-5A59A79921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07340" y="5953959"/>
                <a:ext cx="6732661" cy="176230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16">
                <a:extLst>
                  <a:ext uri="{FF2B5EF4-FFF2-40B4-BE49-F238E27FC236}">
                    <a16:creationId xmlns:a16="http://schemas.microsoft.com/office/drawing/2014/main" id="{E61B96F5-7598-F32B-87FF-1415BA932C7A}"/>
                  </a:ext>
                </a:extLst>
              </p:cNvPr>
              <p:cNvSpPr/>
              <p:nvPr/>
            </p:nvSpPr>
            <p:spPr>
              <a:xfrm>
                <a:off x="8614635" y="6007217"/>
                <a:ext cx="862915" cy="8278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SupPr>
                        <m:e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𝒛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𝟏</m:t>
                          </m:r>
                        </m:sub>
                        <m:sup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𝟐</m:t>
                          </m:r>
                        </m:sup>
                      </m:sSubSup>
                    </m:oMath>
                  </m:oMathPara>
                </a14:m>
                <a:endParaRPr lang="en-US" dirty="0">
                  <a:latin typeface="Chromatica"/>
                </a:endParaRPr>
              </a:p>
            </p:txBody>
          </p:sp>
        </mc:Choice>
        <mc:Fallback xmlns="">
          <p:sp>
            <p:nvSpPr>
              <p:cNvPr id="25" name="Text 16">
                <a:extLst>
                  <a:ext uri="{FF2B5EF4-FFF2-40B4-BE49-F238E27FC236}">
                    <a16:creationId xmlns:a16="http://schemas.microsoft.com/office/drawing/2014/main" id="{E61B96F5-7598-F32B-87FF-1415BA932C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4635" y="6007217"/>
                <a:ext cx="862915" cy="82789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8FB83BFE-A52B-059D-2257-E534E5417BE5}"/>
              </a:ext>
            </a:extLst>
          </p:cNvPr>
          <p:cNvCxnSpPr>
            <a:cxnSpLocks/>
            <a:stCxn id="5" idx="6"/>
            <a:endCxn id="9" idx="2"/>
          </p:cNvCxnSpPr>
          <p:nvPr/>
        </p:nvCxnSpPr>
        <p:spPr>
          <a:xfrm>
            <a:off x="2887609" y="4904905"/>
            <a:ext cx="5500116" cy="1534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7177090B-9531-5E17-965B-65045B6AE4C9}"/>
              </a:ext>
            </a:extLst>
          </p:cNvPr>
          <p:cNvCxnSpPr>
            <a:cxnSpLocks/>
            <a:stCxn id="7" idx="6"/>
            <a:endCxn id="9" idx="2"/>
          </p:cNvCxnSpPr>
          <p:nvPr/>
        </p:nvCxnSpPr>
        <p:spPr>
          <a:xfrm flipV="1">
            <a:off x="2869321" y="6439030"/>
            <a:ext cx="5518404" cy="29149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F3B77E42-E885-1D88-1C8E-CCB791AE0DF5}"/>
              </a:ext>
            </a:extLst>
          </p:cNvPr>
          <p:cNvCxnSpPr>
            <a:stCxn id="9" idx="6"/>
          </p:cNvCxnSpPr>
          <p:nvPr/>
        </p:nvCxnSpPr>
        <p:spPr>
          <a:xfrm>
            <a:off x="9704461" y="6439030"/>
            <a:ext cx="1573139" cy="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16">
                <a:extLst>
                  <a:ext uri="{FF2B5EF4-FFF2-40B4-BE49-F238E27FC236}">
                    <a16:creationId xmlns:a16="http://schemas.microsoft.com/office/drawing/2014/main" id="{45EC7CC7-0FDD-EB8E-53D9-535A4F4497A4}"/>
                  </a:ext>
                </a:extLst>
              </p:cNvPr>
              <p:cNvSpPr/>
              <p:nvPr/>
            </p:nvSpPr>
            <p:spPr>
              <a:xfrm>
                <a:off x="11207290" y="6030104"/>
                <a:ext cx="862915" cy="8278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accPr>
                        <m:e>
                          <m:r>
                            <a:rPr lang="de-DE" sz="2800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en-US" sz="2800" dirty="0">
                  <a:solidFill>
                    <a:schemeClr val="bg2">
                      <a:lumMod val="10000"/>
                    </a:schemeClr>
                  </a:solidFill>
                  <a:latin typeface="Chromatica"/>
                </a:endParaRPr>
              </a:p>
            </p:txBody>
          </p:sp>
        </mc:Choice>
        <mc:Fallback xmlns="">
          <p:sp>
            <p:nvSpPr>
              <p:cNvPr id="19" name="Text 16">
                <a:extLst>
                  <a:ext uri="{FF2B5EF4-FFF2-40B4-BE49-F238E27FC236}">
                    <a16:creationId xmlns:a16="http://schemas.microsoft.com/office/drawing/2014/main" id="{45EC7CC7-0FDD-EB8E-53D9-535A4F4497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07290" y="6030104"/>
                <a:ext cx="862915" cy="82789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/>
          <p:cNvSpPr txBox="1"/>
          <p:nvPr/>
        </p:nvSpPr>
        <p:spPr>
          <a:xfrm>
            <a:off x="1307592" y="3520440"/>
            <a:ext cx="11695176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>
                <a:solidFill>
                  <a:srgbClr val="6E6E6E"/>
                </a:solidFill>
              </a:rPr>
              <a:t>Değerler ölçeklendi:  3 oda → 0.3,   120 m² → 0.6,   10 yıl → 0.2,   5 km → 0.5,   850 bin € → 0.85</a:t>
            </a:r>
          </a:p>
        </p:txBody>
      </p:sp>
    </p:spTree>
    <p:extLst>
      <p:ext uri="{BB962C8B-B14F-4D97-AF65-F5344CB8AC3E}">
        <p14:creationId xmlns:p14="http://schemas.microsoft.com/office/powerpoint/2010/main" val="370987540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2126C-7B05-CA4C-1A5D-BCDC05211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07C1968D-9C75-B226-4D97-D432FE1C805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de-DE" dirty="0"/>
              <a:t>Forward </a:t>
            </a:r>
            <a:r>
              <a:rPr lang="de-DE" dirty="0" err="1"/>
              <a:t>Propagation</a:t>
            </a:r>
            <a:endParaRPr lang="de-DE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7344D004-20E6-4379-0ADC-C4E17B07891A}"/>
              </a:ext>
            </a:extLst>
          </p:cNvPr>
          <p:cNvSpPr/>
          <p:nvPr/>
        </p:nvSpPr>
        <p:spPr>
          <a:xfrm>
            <a:off x="1570873" y="4196625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2F766F37-91A8-495B-6F5E-898F58A2503B}"/>
              </a:ext>
            </a:extLst>
          </p:cNvPr>
          <p:cNvSpPr/>
          <p:nvPr/>
        </p:nvSpPr>
        <p:spPr>
          <a:xfrm>
            <a:off x="1552585" y="8645705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321EABC2-FFB1-F3D0-9588-2A33E9AAA2E5}"/>
              </a:ext>
            </a:extLst>
          </p:cNvPr>
          <p:cNvSpPr/>
          <p:nvPr/>
        </p:nvSpPr>
        <p:spPr>
          <a:xfrm>
            <a:off x="8387725" y="5730750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Shape 24">
            <a:extLst>
              <a:ext uri="{FF2B5EF4-FFF2-40B4-BE49-F238E27FC236}">
                <a16:creationId xmlns:a16="http://schemas.microsoft.com/office/drawing/2014/main" id="{D0D90FF8-3C07-DEE2-F628-4FCAF62622B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3007340" y="4904905"/>
            <a:ext cx="10271760" cy="6709349"/>
          </a:xfrm>
          <a:prstGeom prst="roundRect">
            <a:avLst>
              <a:gd name="adj" fmla="val 1714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r>
              <a:rPr lang="en-US" sz="2400" dirty="0" err="1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Gizli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katmandan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gelen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aktivasyonlar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 (a¹₁, a¹₂)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ağırlıklarla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çarpılır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, bias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eklenir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ve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 son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tahmin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 (y-hat)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üretilir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.</a:t>
            </a:r>
            <a:endParaRPr lang="en-US" sz="2400" dirty="0">
              <a:solidFill>
                <a:schemeClr val="bg2">
                  <a:lumMod val="10000"/>
                </a:schemeClr>
              </a:solidFill>
              <a:latin typeface="Chromatica"/>
            </a:endParaRPr>
          </a:p>
          <a:p>
            <a:endParaRPr lang="de-DE" dirty="0"/>
          </a:p>
        </p:txBody>
      </p:sp>
      <p:graphicFrame>
        <p:nvGraphicFramePr>
          <p:cNvPr id="14" name="Table 0">
            <a:extLst>
              <a:ext uri="{FF2B5EF4-FFF2-40B4-BE49-F238E27FC236}">
                <a16:creationId xmlns:a16="http://schemas.microsoft.com/office/drawing/2014/main" id="{527923A5-A631-87B8-1AC7-BA221A7703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6576939"/>
              </p:ext>
            </p:extLst>
          </p:nvPr>
        </p:nvGraphicFramePr>
        <p:xfrm>
          <a:off x="1310640" y="2035680"/>
          <a:ext cx="11696700" cy="1416560"/>
        </p:xfrm>
        <a:graphic>
          <a:graphicData uri="http://schemas.openxmlformats.org/drawingml/2006/table">
            <a:tbl>
              <a:tblPr/>
              <a:tblGrid>
                <a:gridCol w="2339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8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Oda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m²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Bina yaşı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Merkeze uzaklık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0F5257"/>
                          </a:solidFill>
                          <a:latin typeface="Chromatica"/>
                        </a:rPr>
                        <a:t>Fiyat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0.3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0.6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0.2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0.5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0.85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6">
                <a:extLst>
                  <a:ext uri="{FF2B5EF4-FFF2-40B4-BE49-F238E27FC236}">
                    <a16:creationId xmlns:a16="http://schemas.microsoft.com/office/drawing/2014/main" id="{719AE011-6981-942F-B5EC-8EB1504DDE5E}"/>
                  </a:ext>
                </a:extLst>
              </p:cNvPr>
              <p:cNvSpPr/>
              <p:nvPr/>
            </p:nvSpPr>
            <p:spPr>
              <a:xfrm>
                <a:off x="1779495" y="4490957"/>
                <a:ext cx="862915" cy="8278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SupPr>
                        <m:e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𝒂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𝟏</m:t>
                          </m:r>
                        </m:sub>
                        <m:sup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dirty="0">
                  <a:latin typeface="Chromatica"/>
                </a:endParaRPr>
              </a:p>
            </p:txBody>
          </p:sp>
        </mc:Choice>
        <mc:Fallback xmlns="">
          <p:sp>
            <p:nvSpPr>
              <p:cNvPr id="16" name="Text 16">
                <a:extLst>
                  <a:ext uri="{FF2B5EF4-FFF2-40B4-BE49-F238E27FC236}">
                    <a16:creationId xmlns:a16="http://schemas.microsoft.com/office/drawing/2014/main" id="{719AE011-6981-942F-B5EC-8EB1504DDE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9495" y="4490957"/>
                <a:ext cx="862915" cy="8278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16">
                <a:extLst>
                  <a:ext uri="{FF2B5EF4-FFF2-40B4-BE49-F238E27FC236}">
                    <a16:creationId xmlns:a16="http://schemas.microsoft.com/office/drawing/2014/main" id="{C3579C88-7AB7-F816-AC68-F328C1D3DF5A}"/>
                  </a:ext>
                </a:extLst>
              </p:cNvPr>
              <p:cNvSpPr/>
              <p:nvPr/>
            </p:nvSpPr>
            <p:spPr>
              <a:xfrm>
                <a:off x="1779494" y="8953283"/>
                <a:ext cx="862915" cy="8278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SupPr>
                        <m:e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𝒂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𝟐</m:t>
                          </m:r>
                        </m:sub>
                        <m:sup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dirty="0">
                  <a:latin typeface="Chromatica"/>
                </a:endParaRPr>
              </a:p>
            </p:txBody>
          </p:sp>
        </mc:Choice>
        <mc:Fallback xmlns="">
          <p:sp>
            <p:nvSpPr>
              <p:cNvPr id="20" name="Text 16">
                <a:extLst>
                  <a:ext uri="{FF2B5EF4-FFF2-40B4-BE49-F238E27FC236}">
                    <a16:creationId xmlns:a16="http://schemas.microsoft.com/office/drawing/2014/main" id="{C3579C88-7AB7-F816-AC68-F328C1D3DF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9494" y="8953283"/>
                <a:ext cx="862915" cy="8278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26">
                <a:extLst>
                  <a:ext uri="{FF2B5EF4-FFF2-40B4-BE49-F238E27FC236}">
                    <a16:creationId xmlns:a16="http://schemas.microsoft.com/office/drawing/2014/main" id="{F51B941A-319F-C54B-7FA9-B77A2F00606F}"/>
                  </a:ext>
                </a:extLst>
              </p:cNvPr>
              <p:cNvSpPr/>
              <p:nvPr/>
            </p:nvSpPr>
            <p:spPr>
              <a:xfrm>
                <a:off x="13007340" y="5953959"/>
                <a:ext cx="6732661" cy="17623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l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𝑧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p>
                      </m:sSubSup>
                      <m:r>
                        <a:rPr lang="en-US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=</m:t>
                      </m:r>
                      <m:sSubSup>
                        <m:sSubSup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sSubSup>
                            <m:sSubSupPr>
                              <m:ctrlPr>
                                <a:rPr lang="en-US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ourier New" pitchFamily="34" charset="-120"/>
                                </a:rPr>
                              </m:ctrlPr>
                            </m:sSubSupPr>
                            <m:e>
                              <m:r>
                                <a:rPr lang="de-DE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ourier New" pitchFamily="34" charset="-12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de-DE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ourier New" pitchFamily="34" charset="-12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de-DE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ourier New" pitchFamily="34" charset="-120"/>
                                </a:rPr>
                                <m:t>1</m:t>
                              </m:r>
                            </m:sup>
                          </m:sSub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𝑎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b>
                        <m:sup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p>
                      </m:sSubSup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𝑏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chemeClr val="bg2">
                      <a:lumMod val="10000"/>
                    </a:schemeClr>
                  </a:solidFill>
                  <a:latin typeface="Chromatica"/>
                </a:endParaRP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b>
                      <m:sup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p>
                    </m:sSubSup>
                    <m:r>
                      <a:rPr lang="de-DE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cs typeface="Courier New" pitchFamily="34" charset="-12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= 0.76*0.3 + 0.92*0.4 + 0.5</a:t>
                </a: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b>
                      <m:sup>
                        <m:r>
                          <a:rPr lang="de-DE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 = 1.10</a:t>
                </a:r>
                <a:r>
                  <a:rPr lang="en-US" b="1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 </a:t>
                </a:r>
                <a:endParaRPr lang="en-US" b="1" dirty="0">
                  <a:solidFill>
                    <a:schemeClr val="bg2">
                      <a:lumMod val="10000"/>
                    </a:schemeClr>
                  </a:solidFill>
                  <a:latin typeface="Chromatica"/>
                </a:endParaRPr>
              </a:p>
            </p:txBody>
          </p:sp>
        </mc:Choice>
        <mc:Fallback xmlns="">
          <p:sp>
            <p:nvSpPr>
              <p:cNvPr id="23" name="Text 26">
                <a:extLst>
                  <a:ext uri="{FF2B5EF4-FFF2-40B4-BE49-F238E27FC236}">
                    <a16:creationId xmlns:a16="http://schemas.microsoft.com/office/drawing/2014/main" id="{F51B941A-319F-C54B-7FA9-B77A2F0060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07340" y="5953959"/>
                <a:ext cx="6732661" cy="176230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16">
                <a:extLst>
                  <a:ext uri="{FF2B5EF4-FFF2-40B4-BE49-F238E27FC236}">
                    <a16:creationId xmlns:a16="http://schemas.microsoft.com/office/drawing/2014/main" id="{9E04F77A-0E9F-C300-8220-A64A25E993FF}"/>
                  </a:ext>
                </a:extLst>
              </p:cNvPr>
              <p:cNvSpPr/>
              <p:nvPr/>
            </p:nvSpPr>
            <p:spPr>
              <a:xfrm>
                <a:off x="8614635" y="6007217"/>
                <a:ext cx="862915" cy="8278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SupPr>
                        <m:e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𝒛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𝟏</m:t>
                          </m:r>
                        </m:sub>
                        <m:sup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𝟐</m:t>
                          </m:r>
                        </m:sup>
                      </m:sSubSup>
                    </m:oMath>
                  </m:oMathPara>
                </a14:m>
                <a:endParaRPr lang="en-US" dirty="0">
                  <a:latin typeface="Chromatica"/>
                </a:endParaRPr>
              </a:p>
            </p:txBody>
          </p:sp>
        </mc:Choice>
        <mc:Fallback xmlns="">
          <p:sp>
            <p:nvSpPr>
              <p:cNvPr id="25" name="Text 16">
                <a:extLst>
                  <a:ext uri="{FF2B5EF4-FFF2-40B4-BE49-F238E27FC236}">
                    <a16:creationId xmlns:a16="http://schemas.microsoft.com/office/drawing/2014/main" id="{9E04F77A-0E9F-C300-8220-A64A25E993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4635" y="6007217"/>
                <a:ext cx="862915" cy="82789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1CFBFEE7-C6D0-265A-4635-B0D1F91BDBDD}"/>
              </a:ext>
            </a:extLst>
          </p:cNvPr>
          <p:cNvCxnSpPr>
            <a:cxnSpLocks/>
            <a:stCxn id="5" idx="6"/>
            <a:endCxn id="9" idx="2"/>
          </p:cNvCxnSpPr>
          <p:nvPr/>
        </p:nvCxnSpPr>
        <p:spPr>
          <a:xfrm>
            <a:off x="2887609" y="4904905"/>
            <a:ext cx="5500116" cy="1534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AAD14CE1-73A0-7511-C436-8FA3BAA03BE7}"/>
              </a:ext>
            </a:extLst>
          </p:cNvPr>
          <p:cNvCxnSpPr>
            <a:cxnSpLocks/>
            <a:stCxn id="7" idx="6"/>
            <a:endCxn id="9" idx="2"/>
          </p:cNvCxnSpPr>
          <p:nvPr/>
        </p:nvCxnSpPr>
        <p:spPr>
          <a:xfrm flipV="1">
            <a:off x="2869321" y="6439030"/>
            <a:ext cx="5518404" cy="29149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2ACE87CA-3D41-E690-A458-7A6146BA41CB}"/>
              </a:ext>
            </a:extLst>
          </p:cNvPr>
          <p:cNvCxnSpPr>
            <a:stCxn id="9" idx="6"/>
          </p:cNvCxnSpPr>
          <p:nvPr/>
        </p:nvCxnSpPr>
        <p:spPr>
          <a:xfrm>
            <a:off x="9704461" y="6439030"/>
            <a:ext cx="1573139" cy="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16">
                <a:extLst>
                  <a:ext uri="{FF2B5EF4-FFF2-40B4-BE49-F238E27FC236}">
                    <a16:creationId xmlns:a16="http://schemas.microsoft.com/office/drawing/2014/main" id="{F8D6498E-2554-683E-2303-ED258B4D9205}"/>
                  </a:ext>
                </a:extLst>
              </p:cNvPr>
              <p:cNvSpPr/>
              <p:nvPr/>
            </p:nvSpPr>
            <p:spPr>
              <a:xfrm>
                <a:off x="11207290" y="6030104"/>
                <a:ext cx="862915" cy="8278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accPr>
                        <m:e>
                          <m:r>
                            <a:rPr lang="de-DE" sz="2800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en-US" sz="2800" dirty="0">
                  <a:solidFill>
                    <a:schemeClr val="bg2">
                      <a:lumMod val="10000"/>
                    </a:schemeClr>
                  </a:solidFill>
                  <a:latin typeface="Chromatica"/>
                </a:endParaRPr>
              </a:p>
            </p:txBody>
          </p:sp>
        </mc:Choice>
        <mc:Fallback xmlns="">
          <p:sp>
            <p:nvSpPr>
              <p:cNvPr id="19" name="Text 16">
                <a:extLst>
                  <a:ext uri="{FF2B5EF4-FFF2-40B4-BE49-F238E27FC236}">
                    <a16:creationId xmlns:a16="http://schemas.microsoft.com/office/drawing/2014/main" id="{F8D6498E-2554-683E-2303-ED258B4D92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07290" y="6030104"/>
                <a:ext cx="862915" cy="82789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/>
          <p:cNvSpPr txBox="1"/>
          <p:nvPr/>
        </p:nvSpPr>
        <p:spPr>
          <a:xfrm>
            <a:off x="1307592" y="3520440"/>
            <a:ext cx="11695176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>
                <a:solidFill>
                  <a:srgbClr val="6E6E6E"/>
                </a:solidFill>
              </a:rPr>
              <a:t>Değerler ölçeklendi:  3 oda → 0.3,   120 m² → 0.6,   10 yıl → 0.2,   5 km → 0.5,   850 bin € → 0.85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3002768" y="9235440"/>
            <a:ext cx="10268712" cy="1874519"/>
          </a:xfrm>
          <a:prstGeom prst="roundRect">
            <a:avLst>
              <a:gd name="adj" fmla="val 6000"/>
            </a:avLst>
          </a:prstGeom>
          <a:noFill/>
          <a:ln w="25400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3459968" y="9235440"/>
            <a:ext cx="9354312" cy="18745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2600" b="1">
                <a:solidFill>
                  <a:srgbClr val="15263F"/>
                </a:solidFill>
              </a:rPr>
              <a:t>ŷ = 1.10</a:t>
            </a:r>
          </a:p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2600" b="0">
                <a:solidFill>
                  <a:srgbClr val="15263F"/>
                </a:solidFill>
              </a:rPr>
              <a:t>→  1 milyon 100 bin € tahmin   (gerçek fiyat 850 bin €)</a:t>
            </a:r>
          </a:p>
        </p:txBody>
      </p:sp>
    </p:spTree>
    <p:extLst>
      <p:ext uri="{BB962C8B-B14F-4D97-AF65-F5344CB8AC3E}">
        <p14:creationId xmlns:p14="http://schemas.microsoft.com/office/powerpoint/2010/main" val="1630780839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</a:rPr>
              <a:t>Loss: Hatanın Tek Sayısı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66543" y="1874519"/>
            <a:ext cx="20244816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0">
                <a:solidFill>
                  <a:srgbClr val="1A1A1A"/>
                </a:solidFill>
              </a:rPr>
              <a:t>Model kendini düzeltebilmek için önce </a:t>
            </a:r>
            <a:r>
              <a:rPr sz="4000" b="1">
                <a:solidFill>
                  <a:srgbClr val="1A1A1A"/>
                </a:solidFill>
              </a:rPr>
              <a:t>ne kadar yanıldığını tek bir sayıya indirmek</a:t>
            </a:r>
            <a:r>
              <a:rPr sz="4000" b="0">
                <a:solidFill>
                  <a:srgbClr val="1A1A1A"/>
                </a:solidFill>
              </a:rPr>
              <a:t> zorundadır.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06524" y="4754880"/>
            <a:ext cx="6492240" cy="393192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455164" y="5257800"/>
            <a:ext cx="539495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48F77"/>
                </a:solidFill>
              </a:rPr>
              <a:t>Regresyon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55164" y="6263640"/>
            <a:ext cx="5394959" cy="1920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100" b="0">
                <a:solidFill>
                  <a:srgbClr val="1A1A1A"/>
                </a:solidFill>
              </a:rPr>
              <a:t>MSE  —  (tahmin − gerçek)²
Bizim örneğimiz bu.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47404" y="4754880"/>
            <a:ext cx="6492240" cy="393192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96044" y="5257800"/>
            <a:ext cx="539495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5263F"/>
                </a:solidFill>
              </a:rPr>
              <a:t>İkili sınıflandırma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96044" y="6263640"/>
            <a:ext cx="5394959" cy="1920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100" b="0">
                <a:solidFill>
                  <a:srgbClr val="1A1A1A"/>
                </a:solidFill>
              </a:rPr>
              <a:t>Binary Cross-Entropy
Evet / hayır problemleri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988284" y="4754880"/>
            <a:ext cx="6492240" cy="393192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536924" y="5257800"/>
            <a:ext cx="539495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5263F"/>
                </a:solidFill>
              </a:rPr>
              <a:t>Çok sınıflı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36924" y="6263640"/>
            <a:ext cx="5394959" cy="1920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100" b="0">
                <a:solidFill>
                  <a:srgbClr val="1A1A1A"/>
                </a:solidFill>
              </a:rPr>
              <a:t>Categorical Cross-Entropy
Softmax ile birlikte çalışır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06524" y="9144000"/>
            <a:ext cx="20573999" cy="1874519"/>
          </a:xfrm>
          <a:prstGeom prst="rect">
            <a:avLst/>
          </a:prstGeom>
          <a:noFill/>
          <a:ln w="190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280160" y="11475720"/>
            <a:ext cx="21826728" cy="11887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011680" y="11475720"/>
            <a:ext cx="20363688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</a:rPr>
              <a:t>Loss küçüldükçe model iyileşiyor demektir. </a:t>
            </a:r>
            <a:r>
              <a:rPr sz="2400" b="1">
                <a:solidFill>
                  <a:srgbClr val="15263F"/>
                </a:solidFill>
              </a:rPr>
              <a:t>Eğitim, bu tek sayıyı küçültme çabasıdır.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38044" y="9144000"/>
            <a:ext cx="19110959" cy="18745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1000"/>
              </a:spcAft>
            </a:pPr>
            <a:r>
              <a:rPr sz="2600" b="0">
                <a:solidFill>
                  <a:srgbClr val="1A1A1A"/>
                </a:solidFill>
              </a:rPr>
              <a:t>Tahmin </a:t>
            </a:r>
            <a:r>
              <a:rPr sz="2600" b="1">
                <a:solidFill>
                  <a:srgbClr val="1A1A1A"/>
                </a:solidFill>
              </a:rPr>
              <a:t>ŷ = 1.10</a:t>
            </a:r>
            <a:r>
              <a:rPr sz="2600" b="0">
                <a:solidFill>
                  <a:srgbClr val="1A1A1A"/>
                </a:solidFill>
              </a:rPr>
              <a:t>  (1.100 bin €)      Gerçek </a:t>
            </a:r>
            <a:r>
              <a:rPr sz="2600" b="1">
                <a:solidFill>
                  <a:srgbClr val="1A1A1A"/>
                </a:solidFill>
              </a:rPr>
              <a:t>y = 0.85</a:t>
            </a:r>
            <a:r>
              <a:rPr sz="2600" b="0">
                <a:solidFill>
                  <a:srgbClr val="1A1A1A"/>
                </a:solidFill>
              </a:rPr>
              <a:t>  (850 bin €)</a:t>
            </a:r>
          </a:p>
          <a:p>
            <a:pPr algn="ctr">
              <a:lnSpc>
                <a:spcPct val="130000"/>
              </a:lnSpc>
              <a:spcAft>
                <a:spcPts val="1000"/>
              </a:spcAft>
            </a:pPr>
            <a:r>
              <a:rPr sz="2600" b="0">
                <a:solidFill>
                  <a:srgbClr val="1A1A1A"/>
                </a:solidFill>
              </a:rPr>
              <a:t>Hata = 1.10 − 0.85 = 0.25      →      </a:t>
            </a:r>
            <a:r>
              <a:rPr sz="2600" b="1">
                <a:solidFill>
                  <a:srgbClr val="1A1A1A"/>
                </a:solidFill>
              </a:rPr>
              <a:t>MSE = 0.25² = 0.06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C54F8DED-9E3A-8A8A-0F8F-45F43142311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de-DE" dirty="0" err="1"/>
              <a:t>Yapay</a:t>
            </a:r>
            <a:r>
              <a:rPr lang="de-DE" dirty="0"/>
              <a:t> </a:t>
            </a:r>
            <a:r>
              <a:rPr lang="de-DE" dirty="0" err="1"/>
              <a:t>Sinir</a:t>
            </a:r>
            <a:r>
              <a:rPr lang="de-DE" dirty="0"/>
              <a:t> Ağı </a:t>
            </a:r>
            <a:r>
              <a:rPr lang="de-DE" dirty="0" err="1"/>
              <a:t>Nasıl</a:t>
            </a:r>
            <a:r>
              <a:rPr lang="de-DE" dirty="0"/>
              <a:t> </a:t>
            </a:r>
            <a:r>
              <a:rPr lang="de-DE" dirty="0" err="1"/>
              <a:t>Eğitilir</a:t>
            </a:r>
            <a:r>
              <a:rPr lang="de-DE" dirty="0"/>
              <a:t>?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85418856-A119-7E90-F83B-4E1DD2AA4237}"/>
              </a:ext>
            </a:extLst>
          </p:cNvPr>
          <p:cNvSpPr/>
          <p:nvPr/>
        </p:nvSpPr>
        <p:spPr>
          <a:xfrm>
            <a:off x="1049411" y="2998799"/>
            <a:ext cx="5008489" cy="2182801"/>
          </a:xfrm>
          <a:prstGeom prst="roundRect">
            <a:avLst>
              <a:gd name="adj" fmla="val 5333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A1AB975D-F42A-4B44-50BD-B2676D076552}"/>
              </a:ext>
            </a:extLst>
          </p:cNvPr>
          <p:cNvSpPr/>
          <p:nvPr/>
        </p:nvSpPr>
        <p:spPr>
          <a:xfrm>
            <a:off x="1299210" y="3659668"/>
            <a:ext cx="834390" cy="931381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5FF623F9-F410-85D6-A925-9B8E9EC63779}"/>
              </a:ext>
            </a:extLst>
          </p:cNvPr>
          <p:cNvSpPr/>
          <p:nvPr/>
        </p:nvSpPr>
        <p:spPr>
          <a:xfrm>
            <a:off x="1419225" y="382817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22A63CDB-C5C6-B8E9-0043-E1C5D2871336}"/>
              </a:ext>
            </a:extLst>
          </p:cNvPr>
          <p:cNvSpPr/>
          <p:nvPr/>
        </p:nvSpPr>
        <p:spPr>
          <a:xfrm>
            <a:off x="2529205" y="3861599"/>
            <a:ext cx="19532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Initialization</a:t>
            </a:r>
            <a:endParaRPr lang="en-US" dirty="0">
              <a:latin typeface="Chromatica"/>
            </a:endParaRPr>
          </a:p>
        </p:txBody>
      </p:sp>
    </p:spTree>
    <p:extLst>
      <p:ext uri="{BB962C8B-B14F-4D97-AF65-F5344CB8AC3E}">
        <p14:creationId xmlns:p14="http://schemas.microsoft.com/office/powerpoint/2010/main" val="3799573648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587B9-BE07-D172-3494-E5937ED88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5886FC97-4F37-98F9-6D7F-317F631476C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de-DE" dirty="0" err="1"/>
              <a:t>Yapay</a:t>
            </a:r>
            <a:r>
              <a:rPr lang="de-DE" dirty="0"/>
              <a:t> </a:t>
            </a:r>
            <a:r>
              <a:rPr lang="de-DE" dirty="0" err="1"/>
              <a:t>Sinir</a:t>
            </a:r>
            <a:r>
              <a:rPr lang="de-DE" dirty="0"/>
              <a:t> Ağı </a:t>
            </a:r>
            <a:r>
              <a:rPr lang="de-DE" dirty="0" err="1"/>
              <a:t>Nasıl</a:t>
            </a:r>
            <a:r>
              <a:rPr lang="de-DE" dirty="0"/>
              <a:t> </a:t>
            </a:r>
            <a:r>
              <a:rPr lang="de-DE" dirty="0" err="1"/>
              <a:t>Eğitilir</a:t>
            </a:r>
            <a:r>
              <a:rPr lang="de-DE" dirty="0"/>
              <a:t>?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E471E177-99D4-492F-2400-97FBF4C05416}"/>
              </a:ext>
            </a:extLst>
          </p:cNvPr>
          <p:cNvSpPr/>
          <p:nvPr/>
        </p:nvSpPr>
        <p:spPr>
          <a:xfrm>
            <a:off x="1049411" y="2998799"/>
            <a:ext cx="5008489" cy="2182801"/>
          </a:xfrm>
          <a:prstGeom prst="roundRect">
            <a:avLst>
              <a:gd name="adj" fmla="val 5333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11FBE2DE-A62F-3FEE-D202-10C3CD5822F5}"/>
              </a:ext>
            </a:extLst>
          </p:cNvPr>
          <p:cNvSpPr/>
          <p:nvPr/>
        </p:nvSpPr>
        <p:spPr>
          <a:xfrm>
            <a:off x="8497961" y="2998799"/>
            <a:ext cx="5008489" cy="2182801"/>
          </a:xfrm>
          <a:prstGeom prst="roundRect">
            <a:avLst>
              <a:gd name="adj" fmla="val 5333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4A28627E-8B1E-BDDF-853A-999148242F63}"/>
              </a:ext>
            </a:extLst>
          </p:cNvPr>
          <p:cNvSpPr/>
          <p:nvPr/>
        </p:nvSpPr>
        <p:spPr>
          <a:xfrm>
            <a:off x="1299210" y="3659668"/>
            <a:ext cx="834390" cy="931381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FA9057A4-5874-30EB-3B5F-01A4D948D025}"/>
              </a:ext>
            </a:extLst>
          </p:cNvPr>
          <p:cNvSpPr/>
          <p:nvPr/>
        </p:nvSpPr>
        <p:spPr>
          <a:xfrm>
            <a:off x="1419225" y="382817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458DA66C-AD89-70A9-885C-482F4D3584C2}"/>
              </a:ext>
            </a:extLst>
          </p:cNvPr>
          <p:cNvSpPr/>
          <p:nvPr/>
        </p:nvSpPr>
        <p:spPr>
          <a:xfrm>
            <a:off x="8625596" y="3659668"/>
            <a:ext cx="834390" cy="931381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D64F614A-F359-38CB-7D0A-DECDCF0BC34F}"/>
              </a:ext>
            </a:extLst>
          </p:cNvPr>
          <p:cNvSpPr/>
          <p:nvPr/>
        </p:nvSpPr>
        <p:spPr>
          <a:xfrm>
            <a:off x="8745611" y="382817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F5FFBE69-8B12-F5FF-7C5E-EA99F66FF8DF}"/>
              </a:ext>
            </a:extLst>
          </p:cNvPr>
          <p:cNvSpPr/>
          <p:nvPr/>
        </p:nvSpPr>
        <p:spPr>
          <a:xfrm>
            <a:off x="2529205" y="3861599"/>
            <a:ext cx="19532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Initialization</a:t>
            </a:r>
            <a:endParaRPr lang="en-US" dirty="0">
              <a:latin typeface="Chromatica"/>
            </a:endParaRPr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505DF10D-5DC7-A173-A988-1D8379BB763F}"/>
              </a:ext>
            </a:extLst>
          </p:cNvPr>
          <p:cNvSpPr/>
          <p:nvPr/>
        </p:nvSpPr>
        <p:spPr>
          <a:xfrm>
            <a:off x="9855592" y="3828177"/>
            <a:ext cx="3136508" cy="4906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Forward Propagation</a:t>
            </a:r>
            <a:endParaRPr lang="en-US" dirty="0">
              <a:latin typeface="Chromatica"/>
            </a:endParaRPr>
          </a:p>
        </p:txBody>
      </p: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C42F270E-EBC3-87BC-8594-7512F367AC12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6057900" y="4090200"/>
            <a:ext cx="2440061" cy="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586546672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9E5E9-74B5-F87E-628B-A1D2B4CB8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A1D3CB0C-FBD8-1D9B-396F-8CAE8C7AF93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de-DE" dirty="0" err="1"/>
              <a:t>Yapay</a:t>
            </a:r>
            <a:r>
              <a:rPr lang="de-DE" dirty="0"/>
              <a:t> </a:t>
            </a:r>
            <a:r>
              <a:rPr lang="de-DE" dirty="0" err="1"/>
              <a:t>Sinir</a:t>
            </a:r>
            <a:r>
              <a:rPr lang="de-DE" dirty="0"/>
              <a:t> Ağı </a:t>
            </a:r>
            <a:r>
              <a:rPr lang="de-DE" dirty="0" err="1"/>
              <a:t>Nasıl</a:t>
            </a:r>
            <a:r>
              <a:rPr lang="de-DE" dirty="0"/>
              <a:t> </a:t>
            </a:r>
            <a:r>
              <a:rPr lang="de-DE" dirty="0" err="1"/>
              <a:t>Eğitilir</a:t>
            </a:r>
            <a:r>
              <a:rPr lang="de-DE" dirty="0"/>
              <a:t>?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99F70F45-36C2-B5A2-013B-DA9877D2055F}"/>
              </a:ext>
            </a:extLst>
          </p:cNvPr>
          <p:cNvSpPr/>
          <p:nvPr/>
        </p:nvSpPr>
        <p:spPr>
          <a:xfrm>
            <a:off x="1049411" y="2998799"/>
            <a:ext cx="5008489" cy="2182801"/>
          </a:xfrm>
          <a:prstGeom prst="roundRect">
            <a:avLst>
              <a:gd name="adj" fmla="val 5333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2EEACE7E-9643-FA34-97A4-B64B41159342}"/>
              </a:ext>
            </a:extLst>
          </p:cNvPr>
          <p:cNvSpPr/>
          <p:nvPr/>
        </p:nvSpPr>
        <p:spPr>
          <a:xfrm>
            <a:off x="8497961" y="2998799"/>
            <a:ext cx="5008489" cy="2182801"/>
          </a:xfrm>
          <a:prstGeom prst="roundRect">
            <a:avLst>
              <a:gd name="adj" fmla="val 5333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7EB16ADB-0480-0508-5A37-0F380E68F7AA}"/>
              </a:ext>
            </a:extLst>
          </p:cNvPr>
          <p:cNvSpPr/>
          <p:nvPr/>
        </p:nvSpPr>
        <p:spPr>
          <a:xfrm>
            <a:off x="15946511" y="2998799"/>
            <a:ext cx="5008489" cy="2182801"/>
          </a:xfrm>
          <a:prstGeom prst="roundRect">
            <a:avLst>
              <a:gd name="adj" fmla="val 5333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302D3E00-1B1D-35D1-8FD1-C7426E2EEDE5}"/>
              </a:ext>
            </a:extLst>
          </p:cNvPr>
          <p:cNvSpPr/>
          <p:nvPr/>
        </p:nvSpPr>
        <p:spPr>
          <a:xfrm>
            <a:off x="1299210" y="3659668"/>
            <a:ext cx="834390" cy="931381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F54752AD-4F09-A51C-406A-401F80400B28}"/>
              </a:ext>
            </a:extLst>
          </p:cNvPr>
          <p:cNvSpPr/>
          <p:nvPr/>
        </p:nvSpPr>
        <p:spPr>
          <a:xfrm>
            <a:off x="1419225" y="382817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79B593B2-6DE8-BA02-97BE-D032FFCA7245}"/>
              </a:ext>
            </a:extLst>
          </p:cNvPr>
          <p:cNvSpPr/>
          <p:nvPr/>
        </p:nvSpPr>
        <p:spPr>
          <a:xfrm>
            <a:off x="8625596" y="3659668"/>
            <a:ext cx="834390" cy="931381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892D3647-438E-71FD-8DD3-324B132ED820}"/>
              </a:ext>
            </a:extLst>
          </p:cNvPr>
          <p:cNvSpPr/>
          <p:nvPr/>
        </p:nvSpPr>
        <p:spPr>
          <a:xfrm>
            <a:off x="8745611" y="382817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0BD98652-7BDB-58EA-354F-39C51197FA56}"/>
              </a:ext>
            </a:extLst>
          </p:cNvPr>
          <p:cNvSpPr/>
          <p:nvPr/>
        </p:nvSpPr>
        <p:spPr>
          <a:xfrm>
            <a:off x="16342117" y="3659668"/>
            <a:ext cx="834390" cy="931381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0F214CBD-00B4-3325-888D-0B65E9D2F71E}"/>
              </a:ext>
            </a:extLst>
          </p:cNvPr>
          <p:cNvSpPr/>
          <p:nvPr/>
        </p:nvSpPr>
        <p:spPr>
          <a:xfrm>
            <a:off x="16462132" y="382817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C1E79376-E255-A7DE-A413-9BE49115C3C3}"/>
              </a:ext>
            </a:extLst>
          </p:cNvPr>
          <p:cNvSpPr/>
          <p:nvPr/>
        </p:nvSpPr>
        <p:spPr>
          <a:xfrm>
            <a:off x="2529205" y="3861599"/>
            <a:ext cx="19532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Initialization</a:t>
            </a:r>
            <a:endParaRPr lang="en-US" dirty="0">
              <a:latin typeface="Chromatica"/>
            </a:endParaRPr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6184DE98-E51E-629F-6ED3-0B0C538FDF02}"/>
              </a:ext>
            </a:extLst>
          </p:cNvPr>
          <p:cNvSpPr/>
          <p:nvPr/>
        </p:nvSpPr>
        <p:spPr>
          <a:xfrm>
            <a:off x="9855592" y="3828177"/>
            <a:ext cx="3136508" cy="4906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Forward Propagation</a:t>
            </a:r>
            <a:endParaRPr lang="en-US" dirty="0">
              <a:latin typeface="Chromatica"/>
            </a:endParaRPr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99DFBE0C-7B71-3DE0-C45B-277335C7F94C}"/>
              </a:ext>
            </a:extLst>
          </p:cNvPr>
          <p:cNvSpPr/>
          <p:nvPr/>
        </p:nvSpPr>
        <p:spPr>
          <a:xfrm>
            <a:off x="17572113" y="3844888"/>
            <a:ext cx="3136508" cy="4906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Loss Calculation</a:t>
            </a:r>
            <a:endParaRPr lang="en-US" dirty="0">
              <a:latin typeface="Chromatica"/>
            </a:endParaRPr>
          </a:p>
        </p:txBody>
      </p: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A7171239-F5ED-3E82-E1C3-CA1D5E2C3344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6057900" y="4090200"/>
            <a:ext cx="2440061" cy="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18DB6FF6-C3D7-9565-DE98-3658C7E3245D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13506450" y="4090200"/>
            <a:ext cx="2440061" cy="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4279119291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B6C2D-CD07-58A5-D69D-B8C887AEE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2CC7E51C-4BDC-6EC0-ED89-9DBF0E2B590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de-DE" dirty="0" err="1"/>
              <a:t>Yapay</a:t>
            </a:r>
            <a:r>
              <a:rPr lang="de-DE" dirty="0"/>
              <a:t> </a:t>
            </a:r>
            <a:r>
              <a:rPr lang="de-DE" dirty="0" err="1"/>
              <a:t>Sinir</a:t>
            </a:r>
            <a:r>
              <a:rPr lang="de-DE" dirty="0"/>
              <a:t> Ağı </a:t>
            </a:r>
            <a:r>
              <a:rPr lang="de-DE" dirty="0" err="1"/>
              <a:t>Nasıl</a:t>
            </a:r>
            <a:r>
              <a:rPr lang="de-DE" dirty="0"/>
              <a:t> </a:t>
            </a:r>
            <a:r>
              <a:rPr lang="de-DE" dirty="0" err="1"/>
              <a:t>Eğitilir</a:t>
            </a:r>
            <a:r>
              <a:rPr lang="de-DE" dirty="0"/>
              <a:t>?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0CDAE645-7782-75AF-6A4D-1B5329324BDA}"/>
              </a:ext>
            </a:extLst>
          </p:cNvPr>
          <p:cNvSpPr/>
          <p:nvPr/>
        </p:nvSpPr>
        <p:spPr>
          <a:xfrm>
            <a:off x="1049411" y="2998799"/>
            <a:ext cx="5008489" cy="2182801"/>
          </a:xfrm>
          <a:prstGeom prst="roundRect">
            <a:avLst>
              <a:gd name="adj" fmla="val 5333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94B1D359-191F-BF57-9E30-563905F4F40D}"/>
              </a:ext>
            </a:extLst>
          </p:cNvPr>
          <p:cNvSpPr/>
          <p:nvPr/>
        </p:nvSpPr>
        <p:spPr>
          <a:xfrm>
            <a:off x="8497961" y="2998799"/>
            <a:ext cx="5008489" cy="2182801"/>
          </a:xfrm>
          <a:prstGeom prst="roundRect">
            <a:avLst>
              <a:gd name="adj" fmla="val 5333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2FCEDA72-CA22-5F0E-5BF2-63E67EDF99C7}"/>
              </a:ext>
            </a:extLst>
          </p:cNvPr>
          <p:cNvSpPr/>
          <p:nvPr/>
        </p:nvSpPr>
        <p:spPr>
          <a:xfrm>
            <a:off x="15946511" y="2998799"/>
            <a:ext cx="5008489" cy="2182801"/>
          </a:xfrm>
          <a:prstGeom prst="roundRect">
            <a:avLst>
              <a:gd name="adj" fmla="val 5333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85093F5E-29C9-207C-0313-08C05DA9BC39}"/>
              </a:ext>
            </a:extLst>
          </p:cNvPr>
          <p:cNvSpPr/>
          <p:nvPr/>
        </p:nvSpPr>
        <p:spPr>
          <a:xfrm>
            <a:off x="1049411" y="7091606"/>
            <a:ext cx="5008489" cy="2182801"/>
          </a:xfrm>
          <a:prstGeom prst="roundRect">
            <a:avLst>
              <a:gd name="adj" fmla="val 5333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7193AF0B-8E4C-C3C4-6AF2-35E59DB9B95E}"/>
              </a:ext>
            </a:extLst>
          </p:cNvPr>
          <p:cNvSpPr/>
          <p:nvPr/>
        </p:nvSpPr>
        <p:spPr>
          <a:xfrm>
            <a:off x="1299210" y="3659668"/>
            <a:ext cx="834390" cy="931381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8536ACE7-5026-1B12-EC13-ECA8CB0D78A5}"/>
              </a:ext>
            </a:extLst>
          </p:cNvPr>
          <p:cNvSpPr/>
          <p:nvPr/>
        </p:nvSpPr>
        <p:spPr>
          <a:xfrm>
            <a:off x="1419225" y="382817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9AA6AC51-F067-C02A-EB36-5CAE33AB0815}"/>
              </a:ext>
            </a:extLst>
          </p:cNvPr>
          <p:cNvSpPr/>
          <p:nvPr/>
        </p:nvSpPr>
        <p:spPr>
          <a:xfrm>
            <a:off x="8625596" y="3659668"/>
            <a:ext cx="834390" cy="931381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166B3D7C-EDAF-6066-88C3-F25886B24B75}"/>
              </a:ext>
            </a:extLst>
          </p:cNvPr>
          <p:cNvSpPr/>
          <p:nvPr/>
        </p:nvSpPr>
        <p:spPr>
          <a:xfrm>
            <a:off x="8745611" y="382817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8FEB2017-E9A3-9FBD-42F8-D7A34519BE4C}"/>
              </a:ext>
            </a:extLst>
          </p:cNvPr>
          <p:cNvSpPr/>
          <p:nvPr/>
        </p:nvSpPr>
        <p:spPr>
          <a:xfrm>
            <a:off x="16342117" y="3659668"/>
            <a:ext cx="834390" cy="931381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60D82139-310A-6E08-006A-32F61C37624F}"/>
              </a:ext>
            </a:extLst>
          </p:cNvPr>
          <p:cNvSpPr/>
          <p:nvPr/>
        </p:nvSpPr>
        <p:spPr>
          <a:xfrm>
            <a:off x="16462132" y="382817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AF2F7693-E32A-F373-9589-72558DD53DF4}"/>
              </a:ext>
            </a:extLst>
          </p:cNvPr>
          <p:cNvSpPr/>
          <p:nvPr/>
        </p:nvSpPr>
        <p:spPr>
          <a:xfrm>
            <a:off x="1299210" y="7717318"/>
            <a:ext cx="834390" cy="931381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71615DCF-45E5-80BF-CED8-6AC55E6383D6}"/>
              </a:ext>
            </a:extLst>
          </p:cNvPr>
          <p:cNvSpPr/>
          <p:nvPr/>
        </p:nvSpPr>
        <p:spPr>
          <a:xfrm>
            <a:off x="1419225" y="788582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E6252706-E24D-ECC3-016C-B1B7670FEF77}"/>
              </a:ext>
            </a:extLst>
          </p:cNvPr>
          <p:cNvSpPr/>
          <p:nvPr/>
        </p:nvSpPr>
        <p:spPr>
          <a:xfrm>
            <a:off x="2529205" y="3861599"/>
            <a:ext cx="19532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Initialization</a:t>
            </a:r>
            <a:endParaRPr lang="en-US" dirty="0">
              <a:latin typeface="Chromatica"/>
            </a:endParaRPr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AB21116B-30B6-218B-3A99-5F09D8A9C3E1}"/>
              </a:ext>
            </a:extLst>
          </p:cNvPr>
          <p:cNvSpPr/>
          <p:nvPr/>
        </p:nvSpPr>
        <p:spPr>
          <a:xfrm>
            <a:off x="9855592" y="3828177"/>
            <a:ext cx="3136508" cy="4906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Forward Propagation</a:t>
            </a:r>
            <a:endParaRPr lang="en-US" dirty="0">
              <a:latin typeface="Chromatica"/>
            </a:endParaRPr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430D514C-65D6-BC12-E3F8-EE1CA8C30942}"/>
              </a:ext>
            </a:extLst>
          </p:cNvPr>
          <p:cNvSpPr/>
          <p:nvPr/>
        </p:nvSpPr>
        <p:spPr>
          <a:xfrm>
            <a:off x="17572113" y="3844888"/>
            <a:ext cx="3136508" cy="4906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Loss Calculation</a:t>
            </a:r>
            <a:endParaRPr lang="en-US" dirty="0">
              <a:latin typeface="Chromatica"/>
            </a:endParaRPr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1D4BCFC8-DA4B-09FB-6862-EF372469F6B3}"/>
              </a:ext>
            </a:extLst>
          </p:cNvPr>
          <p:cNvSpPr/>
          <p:nvPr/>
        </p:nvSpPr>
        <p:spPr>
          <a:xfrm>
            <a:off x="2383399" y="7937697"/>
            <a:ext cx="3136508" cy="4906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Backpropagation</a:t>
            </a:r>
            <a:endParaRPr lang="en-US" dirty="0">
              <a:latin typeface="Chromatica"/>
            </a:endParaRPr>
          </a:p>
        </p:txBody>
      </p: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9E86E7C5-01D9-49CE-A86D-CC6897402F7E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6057900" y="4090200"/>
            <a:ext cx="2440061" cy="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1BFD0289-242B-2C18-9E3A-D08076B5827D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13506450" y="4090200"/>
            <a:ext cx="2440061" cy="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5" name="Verbinder: gewinkelt 44">
            <a:extLst>
              <a:ext uri="{FF2B5EF4-FFF2-40B4-BE49-F238E27FC236}">
                <a16:creationId xmlns:a16="http://schemas.microsoft.com/office/drawing/2014/main" id="{3A6C6399-7D33-C372-AFFD-DF1A25B005B5}"/>
              </a:ext>
            </a:extLst>
          </p:cNvPr>
          <p:cNvCxnSpPr>
            <a:stCxn id="7" idx="3"/>
            <a:endCxn id="8" idx="0"/>
          </p:cNvCxnSpPr>
          <p:nvPr/>
        </p:nvCxnSpPr>
        <p:spPr>
          <a:xfrm flipH="1">
            <a:off x="3553656" y="4090200"/>
            <a:ext cx="17401344" cy="3001406"/>
          </a:xfrm>
          <a:prstGeom prst="bentConnector4">
            <a:avLst>
              <a:gd name="adj1" fmla="val -1314"/>
              <a:gd name="adj2" fmla="val 68181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421932744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78460-D0ED-56F6-5D83-36544EE40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6E50B99A-FB6E-9B28-F43F-DE597CEA0BA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de-DE" dirty="0" err="1"/>
              <a:t>Yapay</a:t>
            </a:r>
            <a:r>
              <a:rPr lang="de-DE" dirty="0"/>
              <a:t> </a:t>
            </a:r>
            <a:r>
              <a:rPr lang="de-DE" dirty="0" err="1"/>
              <a:t>Sinir</a:t>
            </a:r>
            <a:r>
              <a:rPr lang="de-DE" dirty="0"/>
              <a:t> Ağı </a:t>
            </a:r>
            <a:r>
              <a:rPr lang="de-DE" dirty="0" err="1"/>
              <a:t>Nasıl</a:t>
            </a:r>
            <a:r>
              <a:rPr lang="de-DE" dirty="0"/>
              <a:t> </a:t>
            </a:r>
            <a:r>
              <a:rPr lang="de-DE" dirty="0" err="1"/>
              <a:t>Eğitilir</a:t>
            </a:r>
            <a:r>
              <a:rPr lang="de-DE" dirty="0"/>
              <a:t>?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6A1557B8-A232-8665-6238-F45F2F037C86}"/>
              </a:ext>
            </a:extLst>
          </p:cNvPr>
          <p:cNvSpPr/>
          <p:nvPr/>
        </p:nvSpPr>
        <p:spPr>
          <a:xfrm>
            <a:off x="1049411" y="2998799"/>
            <a:ext cx="5008489" cy="2182801"/>
          </a:xfrm>
          <a:prstGeom prst="roundRect">
            <a:avLst>
              <a:gd name="adj" fmla="val 5333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8936969A-4520-BC4F-965C-ADA21C03283B}"/>
              </a:ext>
            </a:extLst>
          </p:cNvPr>
          <p:cNvSpPr/>
          <p:nvPr/>
        </p:nvSpPr>
        <p:spPr>
          <a:xfrm>
            <a:off x="8497961" y="2998799"/>
            <a:ext cx="5008489" cy="2182801"/>
          </a:xfrm>
          <a:prstGeom prst="roundRect">
            <a:avLst>
              <a:gd name="adj" fmla="val 5333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02880234-14C4-2DA2-E1A0-1D99DDD7DF37}"/>
              </a:ext>
            </a:extLst>
          </p:cNvPr>
          <p:cNvSpPr/>
          <p:nvPr/>
        </p:nvSpPr>
        <p:spPr>
          <a:xfrm>
            <a:off x="15946511" y="2998799"/>
            <a:ext cx="5008489" cy="2182801"/>
          </a:xfrm>
          <a:prstGeom prst="roundRect">
            <a:avLst>
              <a:gd name="adj" fmla="val 5333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AB924411-FC2A-42D1-BCFD-98AE4FCE378B}"/>
              </a:ext>
            </a:extLst>
          </p:cNvPr>
          <p:cNvSpPr/>
          <p:nvPr/>
        </p:nvSpPr>
        <p:spPr>
          <a:xfrm>
            <a:off x="1049411" y="7091606"/>
            <a:ext cx="5008489" cy="2182801"/>
          </a:xfrm>
          <a:prstGeom prst="roundRect">
            <a:avLst>
              <a:gd name="adj" fmla="val 5333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78480528-F3D6-9EE3-7368-1C59459B1A11}"/>
              </a:ext>
            </a:extLst>
          </p:cNvPr>
          <p:cNvSpPr/>
          <p:nvPr/>
        </p:nvSpPr>
        <p:spPr>
          <a:xfrm>
            <a:off x="8518943" y="7091606"/>
            <a:ext cx="5008489" cy="2182801"/>
          </a:xfrm>
          <a:prstGeom prst="roundRect">
            <a:avLst>
              <a:gd name="adj" fmla="val 5333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580D564A-3728-7B65-40EE-0A4600DE51BA}"/>
              </a:ext>
            </a:extLst>
          </p:cNvPr>
          <p:cNvSpPr/>
          <p:nvPr/>
        </p:nvSpPr>
        <p:spPr>
          <a:xfrm>
            <a:off x="1299210" y="3659668"/>
            <a:ext cx="834390" cy="931381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2D4B2A88-2C03-827C-35B9-F161F2BBAAD4}"/>
              </a:ext>
            </a:extLst>
          </p:cNvPr>
          <p:cNvSpPr/>
          <p:nvPr/>
        </p:nvSpPr>
        <p:spPr>
          <a:xfrm>
            <a:off x="1419225" y="382817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EE62679E-6432-01DB-3209-9A28B325C997}"/>
              </a:ext>
            </a:extLst>
          </p:cNvPr>
          <p:cNvSpPr/>
          <p:nvPr/>
        </p:nvSpPr>
        <p:spPr>
          <a:xfrm>
            <a:off x="8625596" y="3659668"/>
            <a:ext cx="834390" cy="931381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3D699342-3350-170B-5AE3-7E45E9AF1BCB}"/>
              </a:ext>
            </a:extLst>
          </p:cNvPr>
          <p:cNvSpPr/>
          <p:nvPr/>
        </p:nvSpPr>
        <p:spPr>
          <a:xfrm>
            <a:off x="8745611" y="382817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94330D2A-BFE8-7857-2B87-1A3C162E63B2}"/>
              </a:ext>
            </a:extLst>
          </p:cNvPr>
          <p:cNvSpPr/>
          <p:nvPr/>
        </p:nvSpPr>
        <p:spPr>
          <a:xfrm>
            <a:off x="16342117" y="3659668"/>
            <a:ext cx="834390" cy="931381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8B357D9D-AF88-F2C0-538F-64878BD5E4AC}"/>
              </a:ext>
            </a:extLst>
          </p:cNvPr>
          <p:cNvSpPr/>
          <p:nvPr/>
        </p:nvSpPr>
        <p:spPr>
          <a:xfrm>
            <a:off x="16462132" y="382817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E4039656-DEBC-B435-B765-F5134B312EBD}"/>
              </a:ext>
            </a:extLst>
          </p:cNvPr>
          <p:cNvSpPr/>
          <p:nvPr/>
        </p:nvSpPr>
        <p:spPr>
          <a:xfrm>
            <a:off x="1299210" y="7717318"/>
            <a:ext cx="834390" cy="931381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43172A51-6ABF-5940-776F-FA07EA85784A}"/>
              </a:ext>
            </a:extLst>
          </p:cNvPr>
          <p:cNvSpPr/>
          <p:nvPr/>
        </p:nvSpPr>
        <p:spPr>
          <a:xfrm>
            <a:off x="1419225" y="788582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1" name="Shape 3">
            <a:extLst>
              <a:ext uri="{FF2B5EF4-FFF2-40B4-BE49-F238E27FC236}">
                <a16:creationId xmlns:a16="http://schemas.microsoft.com/office/drawing/2014/main" id="{57D2AE5A-4884-CDEB-A8A6-2C1B966F2E28}"/>
              </a:ext>
            </a:extLst>
          </p:cNvPr>
          <p:cNvSpPr/>
          <p:nvPr/>
        </p:nvSpPr>
        <p:spPr>
          <a:xfrm>
            <a:off x="8614166" y="7717318"/>
            <a:ext cx="834390" cy="931381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77D2B16D-43AE-E53D-264D-7FB3688141F2}"/>
              </a:ext>
            </a:extLst>
          </p:cNvPr>
          <p:cNvSpPr/>
          <p:nvPr/>
        </p:nvSpPr>
        <p:spPr>
          <a:xfrm>
            <a:off x="8734181" y="788582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06B7C83D-9CD5-1CAB-2DAD-047D05FF057C}"/>
              </a:ext>
            </a:extLst>
          </p:cNvPr>
          <p:cNvSpPr/>
          <p:nvPr/>
        </p:nvSpPr>
        <p:spPr>
          <a:xfrm>
            <a:off x="2529205" y="3861599"/>
            <a:ext cx="19532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Initialization</a:t>
            </a:r>
            <a:endParaRPr lang="en-US" dirty="0">
              <a:latin typeface="Chromatica"/>
            </a:endParaRPr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4328E498-99C3-C718-46D7-E0584129B0D5}"/>
              </a:ext>
            </a:extLst>
          </p:cNvPr>
          <p:cNvSpPr/>
          <p:nvPr/>
        </p:nvSpPr>
        <p:spPr>
          <a:xfrm>
            <a:off x="9855592" y="3828177"/>
            <a:ext cx="3136508" cy="4906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Forward Propagation</a:t>
            </a:r>
            <a:endParaRPr lang="en-US" dirty="0">
              <a:latin typeface="Chromatica"/>
            </a:endParaRPr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399E0ABF-A476-8665-2704-EA08EC802450}"/>
              </a:ext>
            </a:extLst>
          </p:cNvPr>
          <p:cNvSpPr/>
          <p:nvPr/>
        </p:nvSpPr>
        <p:spPr>
          <a:xfrm>
            <a:off x="17572113" y="3844888"/>
            <a:ext cx="3136508" cy="4906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Loss Calculation</a:t>
            </a:r>
            <a:endParaRPr lang="en-US" dirty="0">
              <a:latin typeface="Chromatica"/>
            </a:endParaRPr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F9CD7EB9-A6D1-E378-FB28-7F5EE5425301}"/>
              </a:ext>
            </a:extLst>
          </p:cNvPr>
          <p:cNvSpPr/>
          <p:nvPr/>
        </p:nvSpPr>
        <p:spPr>
          <a:xfrm>
            <a:off x="2383399" y="7937697"/>
            <a:ext cx="3136508" cy="4906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Backpropagation</a:t>
            </a:r>
            <a:endParaRPr lang="en-US" dirty="0">
              <a:latin typeface="Chromatica"/>
            </a:endParaRPr>
          </a:p>
        </p:txBody>
      </p:sp>
      <p:sp>
        <p:nvSpPr>
          <p:cNvPr id="33" name="Text 5">
            <a:extLst>
              <a:ext uri="{FF2B5EF4-FFF2-40B4-BE49-F238E27FC236}">
                <a16:creationId xmlns:a16="http://schemas.microsoft.com/office/drawing/2014/main" id="{C5BDE1DC-7A9B-AAD8-7BF6-BFE8D49C8AFA}"/>
              </a:ext>
            </a:extLst>
          </p:cNvPr>
          <p:cNvSpPr/>
          <p:nvPr/>
        </p:nvSpPr>
        <p:spPr>
          <a:xfrm>
            <a:off x="9593729" y="7939766"/>
            <a:ext cx="3136508" cy="4906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Update Weights</a:t>
            </a:r>
            <a:endParaRPr lang="en-US" dirty="0">
              <a:latin typeface="Chromatica"/>
            </a:endParaRPr>
          </a:p>
        </p:txBody>
      </p: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A090717D-190D-6B65-6303-484DEC8DC78D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6057900" y="4090200"/>
            <a:ext cx="2440061" cy="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918447E2-6BD3-2E7E-9649-B40C468460B7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13506450" y="4090200"/>
            <a:ext cx="2440061" cy="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5" name="Verbinder: gewinkelt 44">
            <a:extLst>
              <a:ext uri="{FF2B5EF4-FFF2-40B4-BE49-F238E27FC236}">
                <a16:creationId xmlns:a16="http://schemas.microsoft.com/office/drawing/2014/main" id="{107FC2C5-7847-A8A5-1EC9-5C14C8A3922C}"/>
              </a:ext>
            </a:extLst>
          </p:cNvPr>
          <p:cNvCxnSpPr>
            <a:stCxn id="7" idx="3"/>
            <a:endCxn id="8" idx="0"/>
          </p:cNvCxnSpPr>
          <p:nvPr/>
        </p:nvCxnSpPr>
        <p:spPr>
          <a:xfrm flipH="1">
            <a:off x="3553656" y="4090200"/>
            <a:ext cx="17401344" cy="3001406"/>
          </a:xfrm>
          <a:prstGeom prst="bentConnector4">
            <a:avLst>
              <a:gd name="adj1" fmla="val -1314"/>
              <a:gd name="adj2" fmla="val 68181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F804D40E-4B84-A0D1-43AA-32EAAF10F850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6057900" y="8183007"/>
            <a:ext cx="2461043" cy="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09106884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56CB6-A455-5B01-6448-D9BD01A31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1531B822-1C82-1DD5-1BBD-27FDA475094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de-DE" dirty="0" err="1"/>
              <a:t>Yapay</a:t>
            </a:r>
            <a:r>
              <a:rPr lang="de-DE" dirty="0"/>
              <a:t> </a:t>
            </a:r>
            <a:r>
              <a:rPr lang="de-DE" dirty="0" err="1"/>
              <a:t>Sinir</a:t>
            </a:r>
            <a:r>
              <a:rPr lang="de-DE" dirty="0"/>
              <a:t> Ağı </a:t>
            </a:r>
            <a:r>
              <a:rPr lang="de-DE" dirty="0" err="1"/>
              <a:t>Nasıl</a:t>
            </a:r>
            <a:r>
              <a:rPr lang="de-DE" dirty="0"/>
              <a:t> </a:t>
            </a:r>
            <a:r>
              <a:rPr lang="de-DE" dirty="0" err="1"/>
              <a:t>Eğitilir</a:t>
            </a:r>
            <a:r>
              <a:rPr lang="de-DE" dirty="0"/>
              <a:t>?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52B2F247-031D-1639-A854-65F0FE4A854F}"/>
              </a:ext>
            </a:extLst>
          </p:cNvPr>
          <p:cNvSpPr/>
          <p:nvPr/>
        </p:nvSpPr>
        <p:spPr>
          <a:xfrm>
            <a:off x="1049411" y="2998799"/>
            <a:ext cx="5008489" cy="2182801"/>
          </a:xfrm>
          <a:prstGeom prst="roundRect">
            <a:avLst>
              <a:gd name="adj" fmla="val 5333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E710E9C7-E947-8BED-3B8F-651574E089D8}"/>
              </a:ext>
            </a:extLst>
          </p:cNvPr>
          <p:cNvSpPr/>
          <p:nvPr/>
        </p:nvSpPr>
        <p:spPr>
          <a:xfrm>
            <a:off x="8497961" y="2998799"/>
            <a:ext cx="5008489" cy="2182801"/>
          </a:xfrm>
          <a:prstGeom prst="roundRect">
            <a:avLst>
              <a:gd name="adj" fmla="val 5333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422C4C6C-5EDB-F0F6-913D-B9AE4280B749}"/>
              </a:ext>
            </a:extLst>
          </p:cNvPr>
          <p:cNvSpPr/>
          <p:nvPr/>
        </p:nvSpPr>
        <p:spPr>
          <a:xfrm>
            <a:off x="15946511" y="2998799"/>
            <a:ext cx="5008489" cy="2182801"/>
          </a:xfrm>
          <a:prstGeom prst="roundRect">
            <a:avLst>
              <a:gd name="adj" fmla="val 5333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B93C94FC-F7B8-D49B-BD00-BB1EE20CF0AA}"/>
              </a:ext>
            </a:extLst>
          </p:cNvPr>
          <p:cNvSpPr/>
          <p:nvPr/>
        </p:nvSpPr>
        <p:spPr>
          <a:xfrm>
            <a:off x="1049411" y="7091606"/>
            <a:ext cx="5008489" cy="2182801"/>
          </a:xfrm>
          <a:prstGeom prst="roundRect">
            <a:avLst>
              <a:gd name="adj" fmla="val 5333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9BB55CE5-710B-E03D-CE8A-16651103ED04}"/>
              </a:ext>
            </a:extLst>
          </p:cNvPr>
          <p:cNvSpPr/>
          <p:nvPr/>
        </p:nvSpPr>
        <p:spPr>
          <a:xfrm>
            <a:off x="8518943" y="7091606"/>
            <a:ext cx="5008489" cy="2182801"/>
          </a:xfrm>
          <a:prstGeom prst="roundRect">
            <a:avLst>
              <a:gd name="adj" fmla="val 5333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EA386005-4E4D-3A36-38F8-91A6C16A1A6F}"/>
              </a:ext>
            </a:extLst>
          </p:cNvPr>
          <p:cNvSpPr/>
          <p:nvPr/>
        </p:nvSpPr>
        <p:spPr>
          <a:xfrm>
            <a:off x="15946511" y="7091606"/>
            <a:ext cx="5008489" cy="2182801"/>
          </a:xfrm>
          <a:prstGeom prst="roundRect">
            <a:avLst>
              <a:gd name="adj" fmla="val 5333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838F3EBD-86E5-4D71-38B1-9C8E47A355D6}"/>
              </a:ext>
            </a:extLst>
          </p:cNvPr>
          <p:cNvSpPr/>
          <p:nvPr/>
        </p:nvSpPr>
        <p:spPr>
          <a:xfrm>
            <a:off x="1299210" y="3659668"/>
            <a:ext cx="834390" cy="931381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B45AE4D9-B8ED-D63D-140B-FEF1A8EE0396}"/>
              </a:ext>
            </a:extLst>
          </p:cNvPr>
          <p:cNvSpPr/>
          <p:nvPr/>
        </p:nvSpPr>
        <p:spPr>
          <a:xfrm>
            <a:off x="1419225" y="382817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FEF403DE-663D-8316-5097-79A01EA94952}"/>
              </a:ext>
            </a:extLst>
          </p:cNvPr>
          <p:cNvSpPr/>
          <p:nvPr/>
        </p:nvSpPr>
        <p:spPr>
          <a:xfrm>
            <a:off x="8625596" y="3659668"/>
            <a:ext cx="834390" cy="931381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8EE8D437-6EDC-386F-5542-F1F456D1BEE0}"/>
              </a:ext>
            </a:extLst>
          </p:cNvPr>
          <p:cNvSpPr/>
          <p:nvPr/>
        </p:nvSpPr>
        <p:spPr>
          <a:xfrm>
            <a:off x="8745611" y="382817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75FA666F-CB22-31FE-405A-FB72C119E7A3}"/>
              </a:ext>
            </a:extLst>
          </p:cNvPr>
          <p:cNvSpPr/>
          <p:nvPr/>
        </p:nvSpPr>
        <p:spPr>
          <a:xfrm>
            <a:off x="16342117" y="3659668"/>
            <a:ext cx="834390" cy="931381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A16CB9A1-1D47-67E4-7B08-F830B0DB992E}"/>
              </a:ext>
            </a:extLst>
          </p:cNvPr>
          <p:cNvSpPr/>
          <p:nvPr/>
        </p:nvSpPr>
        <p:spPr>
          <a:xfrm>
            <a:off x="16462132" y="382817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F4965477-F4B5-BCE5-2E3A-F22218D226D9}"/>
              </a:ext>
            </a:extLst>
          </p:cNvPr>
          <p:cNvSpPr/>
          <p:nvPr/>
        </p:nvSpPr>
        <p:spPr>
          <a:xfrm>
            <a:off x="1299210" y="7717318"/>
            <a:ext cx="834390" cy="931381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1C806827-ED22-D0C4-08FC-043929E280BA}"/>
              </a:ext>
            </a:extLst>
          </p:cNvPr>
          <p:cNvSpPr/>
          <p:nvPr/>
        </p:nvSpPr>
        <p:spPr>
          <a:xfrm>
            <a:off x="1419225" y="788582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1" name="Shape 3">
            <a:extLst>
              <a:ext uri="{FF2B5EF4-FFF2-40B4-BE49-F238E27FC236}">
                <a16:creationId xmlns:a16="http://schemas.microsoft.com/office/drawing/2014/main" id="{A6D13C9D-D116-85C2-04AD-201347B9ECD8}"/>
              </a:ext>
            </a:extLst>
          </p:cNvPr>
          <p:cNvSpPr/>
          <p:nvPr/>
        </p:nvSpPr>
        <p:spPr>
          <a:xfrm>
            <a:off x="8614166" y="7717318"/>
            <a:ext cx="834390" cy="931381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CB83F78B-5D4E-7534-9F09-3316D161EDE9}"/>
              </a:ext>
            </a:extLst>
          </p:cNvPr>
          <p:cNvSpPr/>
          <p:nvPr/>
        </p:nvSpPr>
        <p:spPr>
          <a:xfrm>
            <a:off x="8734181" y="788582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23" name="Shape 3">
            <a:extLst>
              <a:ext uri="{FF2B5EF4-FFF2-40B4-BE49-F238E27FC236}">
                <a16:creationId xmlns:a16="http://schemas.microsoft.com/office/drawing/2014/main" id="{9F5FD860-8FA2-8816-E076-008029C398C2}"/>
              </a:ext>
            </a:extLst>
          </p:cNvPr>
          <p:cNvSpPr/>
          <p:nvPr/>
        </p:nvSpPr>
        <p:spPr>
          <a:xfrm>
            <a:off x="16091684" y="7719386"/>
            <a:ext cx="834390" cy="931381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 dirty="0"/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85C596A1-4549-3568-1FE7-E33B39C954AF}"/>
              </a:ext>
            </a:extLst>
          </p:cNvPr>
          <p:cNvSpPr/>
          <p:nvPr/>
        </p:nvSpPr>
        <p:spPr>
          <a:xfrm>
            <a:off x="16211699" y="788789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6</a:t>
            </a:r>
            <a:endParaRPr lang="en-US" sz="2200" dirty="0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D5CC4094-D6E6-0ED8-9982-5B0D94927BA6}"/>
              </a:ext>
            </a:extLst>
          </p:cNvPr>
          <p:cNvSpPr/>
          <p:nvPr/>
        </p:nvSpPr>
        <p:spPr>
          <a:xfrm>
            <a:off x="2529205" y="3861599"/>
            <a:ext cx="19532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Initialization</a:t>
            </a:r>
            <a:endParaRPr lang="en-US" dirty="0">
              <a:latin typeface="Chromatica"/>
            </a:endParaRPr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11239D94-E702-8E8E-494A-B668900D7AC3}"/>
              </a:ext>
            </a:extLst>
          </p:cNvPr>
          <p:cNvSpPr/>
          <p:nvPr/>
        </p:nvSpPr>
        <p:spPr>
          <a:xfrm>
            <a:off x="9855592" y="3828177"/>
            <a:ext cx="3136508" cy="4906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Forward Propagation</a:t>
            </a:r>
            <a:endParaRPr lang="en-US" dirty="0">
              <a:latin typeface="Chromatica"/>
            </a:endParaRPr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A12C56E1-F26D-BA2C-C9A1-91918EDAA976}"/>
              </a:ext>
            </a:extLst>
          </p:cNvPr>
          <p:cNvSpPr/>
          <p:nvPr/>
        </p:nvSpPr>
        <p:spPr>
          <a:xfrm>
            <a:off x="17572113" y="3844888"/>
            <a:ext cx="3136508" cy="4906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Loss Calculation</a:t>
            </a:r>
            <a:endParaRPr lang="en-US" dirty="0">
              <a:latin typeface="Chromatica"/>
            </a:endParaRPr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7EE29B13-999D-6CB8-CC46-94CF1A3512E3}"/>
              </a:ext>
            </a:extLst>
          </p:cNvPr>
          <p:cNvSpPr/>
          <p:nvPr/>
        </p:nvSpPr>
        <p:spPr>
          <a:xfrm>
            <a:off x="2383399" y="7937697"/>
            <a:ext cx="3136508" cy="4906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Backpropagation</a:t>
            </a:r>
            <a:endParaRPr lang="en-US" dirty="0">
              <a:latin typeface="Chromatica"/>
            </a:endParaRPr>
          </a:p>
        </p:txBody>
      </p:sp>
      <p:sp>
        <p:nvSpPr>
          <p:cNvPr id="33" name="Text 5">
            <a:extLst>
              <a:ext uri="{FF2B5EF4-FFF2-40B4-BE49-F238E27FC236}">
                <a16:creationId xmlns:a16="http://schemas.microsoft.com/office/drawing/2014/main" id="{2232D0C5-DF53-3D12-5957-A4960EC48776}"/>
              </a:ext>
            </a:extLst>
          </p:cNvPr>
          <p:cNvSpPr/>
          <p:nvPr/>
        </p:nvSpPr>
        <p:spPr>
          <a:xfrm>
            <a:off x="9593729" y="7939766"/>
            <a:ext cx="3136508" cy="4906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Update Weights</a:t>
            </a:r>
            <a:endParaRPr lang="en-US" dirty="0">
              <a:latin typeface="Chromatica"/>
            </a:endParaRPr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8261142E-1CB3-E996-3172-A3A50BC493E8}"/>
              </a:ext>
            </a:extLst>
          </p:cNvPr>
          <p:cNvSpPr/>
          <p:nvPr/>
        </p:nvSpPr>
        <p:spPr>
          <a:xfrm>
            <a:off x="17372283" y="7939766"/>
            <a:ext cx="3136508" cy="4906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Iteration</a:t>
            </a:r>
            <a:endParaRPr lang="en-US" dirty="0">
              <a:latin typeface="Chromatica"/>
            </a:endParaRPr>
          </a:p>
        </p:txBody>
      </p: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2B59489B-F2AC-5382-4324-B1FA4AC8151B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6057900" y="4090200"/>
            <a:ext cx="2440061" cy="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612F8FED-FD17-FE8D-7307-9772082DC732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13506450" y="4090200"/>
            <a:ext cx="2440061" cy="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5" name="Verbinder: gewinkelt 44">
            <a:extLst>
              <a:ext uri="{FF2B5EF4-FFF2-40B4-BE49-F238E27FC236}">
                <a16:creationId xmlns:a16="http://schemas.microsoft.com/office/drawing/2014/main" id="{58D31512-F53A-CBF1-030D-FA16C632C691}"/>
              </a:ext>
            </a:extLst>
          </p:cNvPr>
          <p:cNvCxnSpPr>
            <a:stCxn id="7" idx="3"/>
            <a:endCxn id="8" idx="0"/>
          </p:cNvCxnSpPr>
          <p:nvPr/>
        </p:nvCxnSpPr>
        <p:spPr>
          <a:xfrm flipH="1">
            <a:off x="3553656" y="4090200"/>
            <a:ext cx="17401344" cy="3001406"/>
          </a:xfrm>
          <a:prstGeom prst="bentConnector4">
            <a:avLst>
              <a:gd name="adj1" fmla="val -1314"/>
              <a:gd name="adj2" fmla="val 68181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D9465B8C-F452-461A-0C43-47493ED5ABDE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6057900" y="8183007"/>
            <a:ext cx="2461043" cy="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3968B5F7-5A3E-73A6-18F6-B70317F6B60E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13527432" y="8183007"/>
            <a:ext cx="2419079" cy="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97761149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80E3F-16FF-A1D3-B06D-50EA20397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66A206F4-3380-7D38-C6BC-E782998EFBB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de-DE" dirty="0" err="1"/>
              <a:t>Yapay</a:t>
            </a:r>
            <a:r>
              <a:rPr lang="de-DE" dirty="0"/>
              <a:t> </a:t>
            </a:r>
            <a:r>
              <a:rPr lang="de-DE" dirty="0" err="1"/>
              <a:t>Sinir</a:t>
            </a:r>
            <a:r>
              <a:rPr lang="de-DE" dirty="0"/>
              <a:t> Ağı </a:t>
            </a:r>
            <a:r>
              <a:rPr lang="de-DE" dirty="0" err="1"/>
              <a:t>Nasıl</a:t>
            </a:r>
            <a:r>
              <a:rPr lang="de-DE" dirty="0"/>
              <a:t> </a:t>
            </a:r>
            <a:r>
              <a:rPr lang="de-DE" dirty="0" err="1"/>
              <a:t>Eğitilir</a:t>
            </a:r>
            <a:r>
              <a:rPr lang="de-DE" dirty="0"/>
              <a:t>?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174BB6A-4762-3211-7331-86763CFB6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450" y="1752979"/>
            <a:ext cx="13684250" cy="1078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231451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 dirty="0">
                <a:solidFill>
                  <a:srgbClr val="1A1A1A"/>
                </a:solidFill>
              </a:rPr>
              <a:t>Hangi </a:t>
            </a:r>
            <a:r>
              <a:rPr sz="3200" dirty="0" err="1">
                <a:solidFill>
                  <a:srgbClr val="1A1A1A"/>
                </a:solidFill>
              </a:rPr>
              <a:t>Mimariler</a:t>
            </a:r>
            <a:r>
              <a:rPr sz="3200" dirty="0">
                <a:solidFill>
                  <a:srgbClr val="1A1A1A"/>
                </a:solidFill>
              </a:rPr>
              <a:t> Var?  ·  ANN</a:t>
            </a:r>
            <a:r>
              <a:rPr lang="tr-TR" sz="3200" dirty="0">
                <a:solidFill>
                  <a:srgbClr val="1A1A1A"/>
                </a:solidFill>
              </a:rPr>
              <a:t> -  </a:t>
            </a:r>
            <a:r>
              <a:rPr lang="tr-TR" dirty="0" err="1"/>
              <a:t>Artificial</a:t>
            </a:r>
            <a:r>
              <a:rPr lang="tr-TR" dirty="0"/>
              <a:t> </a:t>
            </a:r>
            <a:r>
              <a:rPr lang="tr-TR" dirty="0" err="1"/>
              <a:t>Neural</a:t>
            </a:r>
            <a:r>
              <a:rPr lang="tr-TR" dirty="0"/>
              <a:t>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66543" y="1874519"/>
            <a:ext cx="20244816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0">
                <a:solidFill>
                  <a:srgbClr val="1A1A1A"/>
                </a:solidFill>
              </a:rPr>
              <a:t>Her girdi her nörona bağlı. </a:t>
            </a:r>
            <a:r>
              <a:rPr sz="4000" b="1">
                <a:solidFill>
                  <a:srgbClr val="1A1A1A"/>
                </a:solidFill>
              </a:rPr>
              <a:t>Tablo verisinin varsayılan mimarisi.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886200" y="5280659"/>
            <a:ext cx="3200399" cy="708661"/>
          </a:xfrm>
          <a:prstGeom prst="line">
            <a:avLst/>
          </a:prstGeom>
          <a:ln w="15875">
            <a:solidFill>
              <a:srgbClr val="B6C2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886200" y="5280659"/>
            <a:ext cx="3200399" cy="2125981"/>
          </a:xfrm>
          <a:prstGeom prst="line">
            <a:avLst/>
          </a:prstGeom>
          <a:ln w="15875">
            <a:solidFill>
              <a:srgbClr val="B6C2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886200" y="5280659"/>
            <a:ext cx="3200399" cy="3543301"/>
          </a:xfrm>
          <a:prstGeom prst="line">
            <a:avLst/>
          </a:prstGeom>
          <a:ln w="15875">
            <a:solidFill>
              <a:srgbClr val="B6C2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3886200" y="5989320"/>
            <a:ext cx="3200399" cy="708659"/>
          </a:xfrm>
          <a:prstGeom prst="line">
            <a:avLst/>
          </a:prstGeom>
          <a:ln w="15875">
            <a:solidFill>
              <a:srgbClr val="B6C2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886200" y="6697979"/>
            <a:ext cx="3200399" cy="708661"/>
          </a:xfrm>
          <a:prstGeom prst="line">
            <a:avLst/>
          </a:prstGeom>
          <a:ln w="15875">
            <a:solidFill>
              <a:srgbClr val="B6C2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86200" y="6697979"/>
            <a:ext cx="3200399" cy="2125981"/>
          </a:xfrm>
          <a:prstGeom prst="line">
            <a:avLst/>
          </a:prstGeom>
          <a:ln w="15875">
            <a:solidFill>
              <a:srgbClr val="B6C2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3886200" y="5989320"/>
            <a:ext cx="3200399" cy="2125980"/>
          </a:xfrm>
          <a:prstGeom prst="line">
            <a:avLst/>
          </a:prstGeom>
          <a:ln w="15875">
            <a:solidFill>
              <a:srgbClr val="B6C2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3886200" y="7406640"/>
            <a:ext cx="3200399" cy="708660"/>
          </a:xfrm>
          <a:prstGeom prst="line">
            <a:avLst/>
          </a:prstGeom>
          <a:ln w="15875">
            <a:solidFill>
              <a:srgbClr val="B6C2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886200" y="8115300"/>
            <a:ext cx="3200399" cy="708660"/>
          </a:xfrm>
          <a:prstGeom prst="line">
            <a:avLst/>
          </a:prstGeom>
          <a:ln w="15875">
            <a:solidFill>
              <a:srgbClr val="B6C2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886200" y="5989320"/>
            <a:ext cx="3200399" cy="3543300"/>
          </a:xfrm>
          <a:prstGeom prst="line">
            <a:avLst/>
          </a:prstGeom>
          <a:ln w="15875">
            <a:solidFill>
              <a:srgbClr val="B6C2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886200" y="7406640"/>
            <a:ext cx="3200399" cy="2125980"/>
          </a:xfrm>
          <a:prstGeom prst="line">
            <a:avLst/>
          </a:prstGeom>
          <a:ln w="15875">
            <a:solidFill>
              <a:srgbClr val="B6C2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886200" y="8823960"/>
            <a:ext cx="3200399" cy="708660"/>
          </a:xfrm>
          <a:prstGeom prst="line">
            <a:avLst/>
          </a:prstGeom>
          <a:ln w="15875">
            <a:solidFill>
              <a:srgbClr val="B6C2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909559" y="5989320"/>
            <a:ext cx="3200401" cy="1417320"/>
          </a:xfrm>
          <a:prstGeom prst="line">
            <a:avLst/>
          </a:prstGeom>
          <a:ln w="15875">
            <a:solidFill>
              <a:srgbClr val="B6C2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09559" y="7406640"/>
            <a:ext cx="3200401" cy="0"/>
          </a:xfrm>
          <a:prstGeom prst="line">
            <a:avLst/>
          </a:prstGeom>
          <a:ln w="15875">
            <a:solidFill>
              <a:srgbClr val="B6C2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909559" y="7406640"/>
            <a:ext cx="3200401" cy="1417320"/>
          </a:xfrm>
          <a:prstGeom prst="line">
            <a:avLst/>
          </a:prstGeom>
          <a:ln w="15875">
            <a:solidFill>
              <a:srgbClr val="B6C2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3063240" y="4869179"/>
            <a:ext cx="822960" cy="822960"/>
          </a:xfrm>
          <a:prstGeom prst="ellipse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063240" y="6286499"/>
            <a:ext cx="822960" cy="822960"/>
          </a:xfrm>
          <a:prstGeom prst="ellipse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063240" y="7703820"/>
            <a:ext cx="822960" cy="822960"/>
          </a:xfrm>
          <a:prstGeom prst="ellipse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063240" y="9121140"/>
            <a:ext cx="822960" cy="822960"/>
          </a:xfrm>
          <a:prstGeom prst="ellipse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086599" y="5577840"/>
            <a:ext cx="822960" cy="822960"/>
          </a:xfrm>
          <a:prstGeom prst="ellipse">
            <a:avLst/>
          </a:prstGeom>
          <a:solidFill>
            <a:srgbClr val="148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086599" y="6995159"/>
            <a:ext cx="822960" cy="822960"/>
          </a:xfrm>
          <a:prstGeom prst="ellipse">
            <a:avLst/>
          </a:prstGeom>
          <a:solidFill>
            <a:srgbClr val="148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086599" y="8412480"/>
            <a:ext cx="822960" cy="822960"/>
          </a:xfrm>
          <a:prstGeom prst="ellipse">
            <a:avLst/>
          </a:prstGeom>
          <a:solidFill>
            <a:srgbClr val="148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1109960" y="6995159"/>
            <a:ext cx="822960" cy="822960"/>
          </a:xfrm>
          <a:prstGeom prst="ellipse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645920" y="1005840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>
                <a:solidFill>
                  <a:srgbClr val="6E6E6E"/>
                </a:solidFill>
              </a:rPr>
              <a:t>Girdi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79" y="1005840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>
                <a:solidFill>
                  <a:srgbClr val="6E6E6E"/>
                </a:solidFill>
              </a:rPr>
              <a:t>Gizli katman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1005840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>
                <a:solidFill>
                  <a:srgbClr val="6E6E6E"/>
                </a:solidFill>
              </a:rPr>
              <a:t>Çıktı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264640" y="4206240"/>
            <a:ext cx="8659368" cy="640080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4950440" y="4846320"/>
            <a:ext cx="1284732" cy="566928"/>
          </a:xfrm>
          <a:prstGeom prst="roundRect">
            <a:avLst>
              <a:gd name="adj" fmla="val 42000"/>
            </a:avLst>
          </a:prstGeom>
          <a:solidFill>
            <a:srgbClr val="148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900" b="1">
                <a:solidFill>
                  <a:srgbClr val="FFFFFF"/>
                </a:solidFill>
              </a:rPr>
              <a:t>ANN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50440" y="5897879"/>
            <a:ext cx="728776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C08A2E"/>
                </a:solidFill>
              </a:rPr>
              <a:t>NE İÇİN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50440" y="6400799"/>
            <a:ext cx="728776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300" b="0">
                <a:solidFill>
                  <a:srgbClr val="1A1A1A"/>
                </a:solidFill>
              </a:rPr>
              <a:t>Satır–sütun, yani tablo verisi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950440" y="7498079"/>
            <a:ext cx="728776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C08A2E"/>
                </a:solidFill>
              </a:rPr>
              <a:t>ANAHTAR FİKİR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950440" y="8001000"/>
            <a:ext cx="728776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300" b="0">
                <a:solidFill>
                  <a:srgbClr val="1A1A1A"/>
                </a:solidFill>
              </a:rPr>
              <a:t>Tam bağlantılı katmanlar (fully connected)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950440" y="9098280"/>
            <a:ext cx="728776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C08A2E"/>
                </a:solidFill>
              </a:rPr>
              <a:t>SINIRI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950440" y="9601200"/>
            <a:ext cx="728776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300" b="0">
                <a:solidFill>
                  <a:srgbClr val="1A1A1A"/>
                </a:solidFill>
              </a:rPr>
              <a:t>Sıra ve konum bilgisi taşımaz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80160" y="11292840"/>
            <a:ext cx="21826728" cy="11887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011680" y="11292840"/>
            <a:ext cx="20363688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>
                <a:solidFill>
                  <a:srgbClr val="15263F"/>
                </a:solidFill>
              </a:rPr>
              <a:t>Az önce baştan sona kurduğumuz ağ buydu. </a:t>
            </a:r>
            <a:r>
              <a:rPr sz="2300" b="1">
                <a:solidFill>
                  <a:srgbClr val="15263F"/>
                </a:solidFill>
              </a:rPr>
              <a:t>Diğer üçü, bu yapının farklı veri tipleri için özelleşmiş hâli.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</a:rPr>
              <a:t>Hangi Mimariler Var?  ·  CNN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66543" y="1874519"/>
            <a:ext cx="20244816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0">
                <a:solidFill>
                  <a:srgbClr val="1A1A1A"/>
                </a:solidFill>
              </a:rPr>
              <a:t>Görüntüden öznitelikleri </a:t>
            </a:r>
            <a:r>
              <a:rPr sz="4000" b="1">
                <a:solidFill>
                  <a:srgbClr val="1A1A1A"/>
                </a:solidFill>
              </a:rPr>
              <a:t>katman katman kendisi çıkarır</a:t>
            </a:r>
            <a:r>
              <a:rPr sz="4000" b="0">
                <a:solidFill>
                  <a:srgbClr val="1A1A1A"/>
                </a:solidFill>
              </a:rPr>
              <a:t>, sonuna da bir sinir ağı ekler.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1554480" y="5715000"/>
            <a:ext cx="210312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B6C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783080" y="5943600"/>
            <a:ext cx="182880" cy="173736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148840" y="5943600"/>
            <a:ext cx="182880" cy="173736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514600" y="5943600"/>
            <a:ext cx="182880" cy="173736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880360" y="5943600"/>
            <a:ext cx="182880" cy="173736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46120" y="5943600"/>
            <a:ext cx="182880" cy="173736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606040" y="6858000"/>
            <a:ext cx="502920" cy="502920"/>
          </a:xfrm>
          <a:prstGeom prst="rect">
            <a:avLst/>
          </a:prstGeom>
          <a:noFill/>
          <a:ln w="31750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813816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>
                <a:solidFill>
                  <a:srgbClr val="6E6E6E"/>
                </a:solidFill>
              </a:rPr>
              <a:t>Girdi görüntü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859536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0">
                <a:solidFill>
                  <a:srgbClr val="C08A2E"/>
                </a:solidFill>
              </a:rPr>
              <a:t>+ filtre (kernel)</a:t>
            </a:r>
          </a:p>
        </p:txBody>
      </p:sp>
      <p:sp>
        <p:nvSpPr>
          <p:cNvPr id="13" name="Isosceles Triangle 12"/>
          <p:cNvSpPr/>
          <p:nvPr/>
        </p:nvSpPr>
        <p:spPr>
          <a:xfrm rot="5400000">
            <a:off x="3931920" y="6656832"/>
            <a:ext cx="310896" cy="310896"/>
          </a:xfrm>
          <a:prstGeom prst="triangle">
            <a:avLst/>
          </a:prstGeom>
          <a:solidFill>
            <a:srgbClr val="9AA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26280" y="5852160"/>
            <a:ext cx="1920240" cy="1920240"/>
          </a:xfrm>
          <a:prstGeom prst="rect">
            <a:avLst/>
          </a:prstGeom>
          <a:solidFill>
            <a:srgbClr val="148F7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745736" y="6071616"/>
            <a:ext cx="1920240" cy="1920240"/>
          </a:xfrm>
          <a:prstGeom prst="rect">
            <a:avLst/>
          </a:prstGeom>
          <a:solidFill>
            <a:srgbClr val="148F7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965192" y="6291072"/>
            <a:ext cx="1920240" cy="1920240"/>
          </a:xfrm>
          <a:prstGeom prst="rect">
            <a:avLst/>
          </a:prstGeom>
          <a:solidFill>
            <a:srgbClr val="148F7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06240" y="813816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0">
                <a:solidFill>
                  <a:srgbClr val="6E6E6E"/>
                </a:solidFill>
              </a:rPr>
              <a:t>Convolution
+ ReLU</a:t>
            </a:r>
          </a:p>
        </p:txBody>
      </p:sp>
      <p:sp>
        <p:nvSpPr>
          <p:cNvPr id="18" name="Isosceles Triangle 17"/>
          <p:cNvSpPr/>
          <p:nvPr/>
        </p:nvSpPr>
        <p:spPr>
          <a:xfrm rot="5400000">
            <a:off x="7205472" y="6656832"/>
            <a:ext cx="310896" cy="310896"/>
          </a:xfrm>
          <a:prstGeom prst="triangle">
            <a:avLst/>
          </a:prstGeom>
          <a:solidFill>
            <a:srgbClr val="9AA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589520" y="6035040"/>
            <a:ext cx="1554480" cy="1554480"/>
          </a:xfrm>
          <a:prstGeom prst="rect">
            <a:avLst/>
          </a:prstGeom>
          <a:solidFill>
            <a:srgbClr val="148F7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72400" y="6217920"/>
            <a:ext cx="1554480" cy="1554480"/>
          </a:xfrm>
          <a:prstGeom prst="rect">
            <a:avLst/>
          </a:prstGeom>
          <a:solidFill>
            <a:srgbClr val="148F7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955280" y="6400800"/>
            <a:ext cx="1554480" cy="1554480"/>
          </a:xfrm>
          <a:prstGeom prst="rect">
            <a:avLst/>
          </a:prstGeom>
          <a:solidFill>
            <a:srgbClr val="148F7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38160" y="6583680"/>
            <a:ext cx="1554480" cy="1554480"/>
          </a:xfrm>
          <a:prstGeom prst="rect">
            <a:avLst/>
          </a:prstGeom>
          <a:solidFill>
            <a:srgbClr val="148F7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0" y="813816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0">
                <a:solidFill>
                  <a:srgbClr val="6E6E6E"/>
                </a:solidFill>
              </a:rPr>
              <a:t>Pooling
+ Convolution</a:t>
            </a:r>
          </a:p>
        </p:txBody>
      </p:sp>
      <p:sp>
        <p:nvSpPr>
          <p:cNvPr id="24" name="Isosceles Triangle 23"/>
          <p:cNvSpPr/>
          <p:nvPr/>
        </p:nvSpPr>
        <p:spPr>
          <a:xfrm rot="5400000">
            <a:off x="10012680" y="6656832"/>
            <a:ext cx="310896" cy="310896"/>
          </a:xfrm>
          <a:prstGeom prst="triangle">
            <a:avLst/>
          </a:prstGeom>
          <a:solidFill>
            <a:srgbClr val="9AA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0287000" y="6217920"/>
            <a:ext cx="1188720" cy="1188720"/>
          </a:xfrm>
          <a:prstGeom prst="rect">
            <a:avLst/>
          </a:prstGeom>
          <a:solidFill>
            <a:srgbClr val="148F7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0433304" y="6364224"/>
            <a:ext cx="1188720" cy="1188720"/>
          </a:xfrm>
          <a:prstGeom prst="rect">
            <a:avLst/>
          </a:prstGeom>
          <a:solidFill>
            <a:srgbClr val="148F7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579608" y="6510528"/>
            <a:ext cx="1188720" cy="1188720"/>
          </a:xfrm>
          <a:prstGeom prst="rect">
            <a:avLst/>
          </a:prstGeom>
          <a:solidFill>
            <a:srgbClr val="148F7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0725912" y="6656831"/>
            <a:ext cx="1188720" cy="1188720"/>
          </a:xfrm>
          <a:prstGeom prst="rect">
            <a:avLst/>
          </a:prstGeom>
          <a:solidFill>
            <a:srgbClr val="148F7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872216" y="6803136"/>
            <a:ext cx="1188720" cy="1188720"/>
          </a:xfrm>
          <a:prstGeom prst="rect">
            <a:avLst/>
          </a:prstGeom>
          <a:solidFill>
            <a:srgbClr val="148F7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0" y="81381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>
                <a:solidFill>
                  <a:srgbClr val="6E6E6E"/>
                </a:solidFill>
              </a:rPr>
              <a:t>Pooling</a:t>
            </a:r>
          </a:p>
        </p:txBody>
      </p:sp>
      <p:sp>
        <p:nvSpPr>
          <p:cNvPr id="31" name="Isosceles Triangle 30"/>
          <p:cNvSpPr/>
          <p:nvPr/>
        </p:nvSpPr>
        <p:spPr>
          <a:xfrm rot="5400000">
            <a:off x="12380976" y="6656832"/>
            <a:ext cx="310896" cy="310896"/>
          </a:xfrm>
          <a:prstGeom prst="triangle">
            <a:avLst/>
          </a:prstGeom>
          <a:solidFill>
            <a:srgbClr val="9AA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2664440" y="4892040"/>
            <a:ext cx="411480" cy="3840480"/>
          </a:xfrm>
          <a:prstGeom prst="rect">
            <a:avLst/>
          </a:prstGeom>
          <a:solidFill>
            <a:srgbClr val="148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1750040" y="886968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>
                <a:solidFill>
                  <a:srgbClr val="6E6E6E"/>
                </a:solidFill>
              </a:rPr>
              <a:t>Flatten</a:t>
            </a:r>
          </a:p>
        </p:txBody>
      </p:sp>
      <p:sp>
        <p:nvSpPr>
          <p:cNvPr id="34" name="Isosceles Triangle 33"/>
          <p:cNvSpPr/>
          <p:nvPr/>
        </p:nvSpPr>
        <p:spPr>
          <a:xfrm rot="5400000">
            <a:off x="13350240" y="6656832"/>
            <a:ext cx="310896" cy="310896"/>
          </a:xfrm>
          <a:prstGeom prst="triangle">
            <a:avLst/>
          </a:prstGeom>
          <a:solidFill>
            <a:srgbClr val="9AA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cxnSp>
        <p:nvCxnSpPr>
          <p:cNvPr id="35" name="Connector 34"/>
          <p:cNvCxnSpPr/>
          <p:nvPr/>
        </p:nvCxnSpPr>
        <p:spPr>
          <a:xfrm>
            <a:off x="14292072" y="5111496"/>
            <a:ext cx="1499616" cy="566928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4292072" y="5111496"/>
            <a:ext cx="1499616" cy="1133856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4292072" y="5111496"/>
            <a:ext cx="1499616" cy="1700784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4292072" y="5111496"/>
            <a:ext cx="1499616" cy="2267712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4292072" y="5111496"/>
            <a:ext cx="1499616" cy="2834640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4292072" y="5678424"/>
            <a:ext cx="1499616" cy="0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4292072" y="5678424"/>
            <a:ext cx="1499616" cy="566928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4292072" y="5678424"/>
            <a:ext cx="1499616" cy="1133856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4292072" y="5678424"/>
            <a:ext cx="1499616" cy="1700784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4292072" y="5678424"/>
            <a:ext cx="1499616" cy="2267712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4292072" y="5678424"/>
            <a:ext cx="1499616" cy="566928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4292072" y="6245352"/>
            <a:ext cx="1499616" cy="0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4292072" y="6245352"/>
            <a:ext cx="1499616" cy="566928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4292072" y="6245352"/>
            <a:ext cx="1499616" cy="1133856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4292072" y="6245352"/>
            <a:ext cx="1499616" cy="1700784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14292072" y="5678424"/>
            <a:ext cx="1499616" cy="1133855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14292072" y="6245352"/>
            <a:ext cx="1499616" cy="566927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4292072" y="6812279"/>
            <a:ext cx="1499616" cy="1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4292072" y="6812279"/>
            <a:ext cx="1499616" cy="566929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4292072" y="6812279"/>
            <a:ext cx="1499616" cy="1133857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4292072" y="5678424"/>
            <a:ext cx="1499616" cy="1700784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4292072" y="6245352"/>
            <a:ext cx="1499616" cy="1133856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4292072" y="6812280"/>
            <a:ext cx="1499616" cy="566928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4292072" y="7379208"/>
            <a:ext cx="1499616" cy="0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4292072" y="7379208"/>
            <a:ext cx="1499616" cy="566928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14292072" y="5678424"/>
            <a:ext cx="1499616" cy="2267712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14292072" y="6245352"/>
            <a:ext cx="1499616" cy="1700784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14292072" y="6812280"/>
            <a:ext cx="1499616" cy="1133856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14292072" y="7379208"/>
            <a:ext cx="1499616" cy="566928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4292072" y="7946136"/>
            <a:ext cx="1499616" cy="0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14292072" y="5678424"/>
            <a:ext cx="1499616" cy="2834639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14292072" y="6245352"/>
            <a:ext cx="1499616" cy="2267711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4292072" y="6812280"/>
            <a:ext cx="1499616" cy="1700783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4292072" y="7379208"/>
            <a:ext cx="1499616" cy="1133855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4292072" y="7946136"/>
            <a:ext cx="1499616" cy="566927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6120872" y="5678424"/>
            <a:ext cx="1408176" cy="566928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6120872" y="5678424"/>
            <a:ext cx="1408176" cy="1133856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6120872" y="5678424"/>
            <a:ext cx="1408176" cy="1700784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6120872" y="6245352"/>
            <a:ext cx="1408176" cy="0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6120872" y="6245352"/>
            <a:ext cx="1408176" cy="566928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6120872" y="6245352"/>
            <a:ext cx="1408176" cy="1133856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6120872" y="6245352"/>
            <a:ext cx="1408176" cy="566928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6120872" y="6812280"/>
            <a:ext cx="1408176" cy="0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16120872" y="6812280"/>
            <a:ext cx="1408176" cy="566928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6120872" y="6245352"/>
            <a:ext cx="1408176" cy="1133856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6120872" y="6812280"/>
            <a:ext cx="1408176" cy="566928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6120872" y="7379208"/>
            <a:ext cx="1408176" cy="0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6120872" y="6245352"/>
            <a:ext cx="1408176" cy="1700784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6120872" y="6812280"/>
            <a:ext cx="1408176" cy="1133856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16120872" y="7379208"/>
            <a:ext cx="1408176" cy="566928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3075920" y="5111496"/>
            <a:ext cx="886968" cy="1700784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3075920" y="5678424"/>
            <a:ext cx="886968" cy="1133856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3075920" y="6245352"/>
            <a:ext cx="886968" cy="566928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3075920" y="6812279"/>
            <a:ext cx="886968" cy="1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3075920" y="6812280"/>
            <a:ext cx="886968" cy="566928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13075920" y="6812280"/>
            <a:ext cx="886968" cy="1133856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13075920" y="6812280"/>
            <a:ext cx="886968" cy="1700783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Oval 91"/>
          <p:cNvSpPr/>
          <p:nvPr/>
        </p:nvSpPr>
        <p:spPr>
          <a:xfrm>
            <a:off x="13962888" y="4946904"/>
            <a:ext cx="329184" cy="329184"/>
          </a:xfrm>
          <a:prstGeom prst="ellipse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13962888" y="5513832"/>
            <a:ext cx="329184" cy="329184"/>
          </a:xfrm>
          <a:prstGeom prst="ellipse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13962888" y="6080760"/>
            <a:ext cx="329184" cy="329184"/>
          </a:xfrm>
          <a:prstGeom prst="ellipse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13962888" y="6647688"/>
            <a:ext cx="329184" cy="329184"/>
          </a:xfrm>
          <a:prstGeom prst="ellipse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13962888" y="7214616"/>
            <a:ext cx="329184" cy="329184"/>
          </a:xfrm>
          <a:prstGeom prst="ellipse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13962888" y="7781544"/>
            <a:ext cx="329184" cy="329184"/>
          </a:xfrm>
          <a:prstGeom prst="ellipse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13962888" y="8348471"/>
            <a:ext cx="329184" cy="329184"/>
          </a:xfrm>
          <a:prstGeom prst="ellipse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15791688" y="5513832"/>
            <a:ext cx="329184" cy="329184"/>
          </a:xfrm>
          <a:prstGeom prst="ellipse">
            <a:avLst/>
          </a:prstGeom>
          <a:solidFill>
            <a:srgbClr val="148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15791688" y="6080760"/>
            <a:ext cx="329184" cy="329184"/>
          </a:xfrm>
          <a:prstGeom prst="ellipse">
            <a:avLst/>
          </a:prstGeom>
          <a:solidFill>
            <a:srgbClr val="148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15791688" y="6647688"/>
            <a:ext cx="329184" cy="329184"/>
          </a:xfrm>
          <a:prstGeom prst="ellipse">
            <a:avLst/>
          </a:prstGeom>
          <a:solidFill>
            <a:srgbClr val="148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15791688" y="7214616"/>
            <a:ext cx="329184" cy="329184"/>
          </a:xfrm>
          <a:prstGeom prst="ellipse">
            <a:avLst/>
          </a:prstGeom>
          <a:solidFill>
            <a:srgbClr val="148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103" name="Oval 102"/>
          <p:cNvSpPr/>
          <p:nvPr/>
        </p:nvSpPr>
        <p:spPr>
          <a:xfrm>
            <a:off x="15791688" y="7781544"/>
            <a:ext cx="329184" cy="329184"/>
          </a:xfrm>
          <a:prstGeom prst="ellipse">
            <a:avLst/>
          </a:prstGeom>
          <a:solidFill>
            <a:srgbClr val="148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17529048" y="6080760"/>
            <a:ext cx="329184" cy="329184"/>
          </a:xfrm>
          <a:prstGeom prst="ellipse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17529048" y="6647688"/>
            <a:ext cx="329184" cy="329184"/>
          </a:xfrm>
          <a:prstGeom prst="ellipse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17529048" y="7214616"/>
            <a:ext cx="329184" cy="329184"/>
          </a:xfrm>
          <a:prstGeom prst="ellipse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13898880" y="886968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>
                <a:solidFill>
                  <a:srgbClr val="6E6E6E"/>
                </a:solidFill>
              </a:rPr>
              <a:t>Fully Connected Layer</a:t>
            </a:r>
          </a:p>
        </p:txBody>
      </p:sp>
      <p:sp>
        <p:nvSpPr>
          <p:cNvPr id="108" name="Isosceles Triangle 107"/>
          <p:cNvSpPr/>
          <p:nvPr/>
        </p:nvSpPr>
        <p:spPr>
          <a:xfrm rot="5400000">
            <a:off x="18608040" y="6656832"/>
            <a:ext cx="310896" cy="310896"/>
          </a:xfrm>
          <a:prstGeom prst="triangle">
            <a:avLst/>
          </a:prstGeom>
          <a:solidFill>
            <a:srgbClr val="9AA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cxnSp>
        <p:nvCxnSpPr>
          <p:cNvPr id="109" name="Connector 108"/>
          <p:cNvCxnSpPr/>
          <p:nvPr/>
        </p:nvCxnSpPr>
        <p:spPr>
          <a:xfrm flipV="1">
            <a:off x="17858232" y="6044184"/>
            <a:ext cx="1389888" cy="201168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17858232" y="6044184"/>
            <a:ext cx="1389888" cy="768096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17858232" y="6044184"/>
            <a:ext cx="1389888" cy="1335024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Rounded Rectangle 111"/>
          <p:cNvSpPr/>
          <p:nvPr/>
        </p:nvSpPr>
        <p:spPr>
          <a:xfrm>
            <a:off x="19248120" y="5760720"/>
            <a:ext cx="1325880" cy="566928"/>
          </a:xfrm>
          <a:prstGeom prst="roundRect">
            <a:avLst>
              <a:gd name="adj" fmla="val 15000"/>
            </a:avLst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2000" b="0">
                <a:solidFill>
                  <a:srgbClr val="1A1A1A"/>
                </a:solidFill>
              </a:rPr>
              <a:t>0.2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0756880" y="5760720"/>
            <a:ext cx="21945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0">
                <a:solidFill>
                  <a:srgbClr val="6E6E6E"/>
                </a:solidFill>
              </a:rPr>
              <a:t>At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17858232" y="6245352"/>
            <a:ext cx="1389888" cy="850392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17858232" y="6812280"/>
            <a:ext cx="1389888" cy="283464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17858232" y="7095744"/>
            <a:ext cx="1389888" cy="283464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Rounded Rectangle 116"/>
          <p:cNvSpPr/>
          <p:nvPr/>
        </p:nvSpPr>
        <p:spPr>
          <a:xfrm>
            <a:off x="19248120" y="6812280"/>
            <a:ext cx="1325880" cy="566928"/>
          </a:xfrm>
          <a:prstGeom prst="roundRect">
            <a:avLst>
              <a:gd name="adj" fmla="val 15000"/>
            </a:avLst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0.7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0756880" y="6812280"/>
            <a:ext cx="21945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>
                <a:solidFill>
                  <a:srgbClr val="C08A2E"/>
                </a:solidFill>
              </a:rPr>
              <a:t>Zebra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17858232" y="6245352"/>
            <a:ext cx="1389888" cy="1901952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17858232" y="6812280"/>
            <a:ext cx="1389888" cy="1335024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17858232" y="7379208"/>
            <a:ext cx="1389888" cy="768096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Rounded Rectangle 121"/>
          <p:cNvSpPr/>
          <p:nvPr/>
        </p:nvSpPr>
        <p:spPr>
          <a:xfrm>
            <a:off x="19248120" y="7863840"/>
            <a:ext cx="1325880" cy="566928"/>
          </a:xfrm>
          <a:prstGeom prst="roundRect">
            <a:avLst>
              <a:gd name="adj" fmla="val 15000"/>
            </a:avLst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2000" b="0">
                <a:solidFill>
                  <a:srgbClr val="1A1A1A"/>
                </a:solidFill>
              </a:rPr>
              <a:t>0.1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0756880" y="7863840"/>
            <a:ext cx="21945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0">
                <a:solidFill>
                  <a:srgbClr val="6E6E6E"/>
                </a:solidFill>
              </a:rPr>
              <a:t>Köpek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8836640" y="886968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>
                <a:solidFill>
                  <a:srgbClr val="6E6E6E"/>
                </a:solidFill>
              </a:rPr>
              <a:t>Softmax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1463040" y="9829800"/>
            <a:ext cx="10744200" cy="0"/>
          </a:xfrm>
          <a:prstGeom prst="line">
            <a:avLst/>
          </a:prstGeom>
          <a:ln w="19050">
            <a:solidFill>
              <a:srgbClr val="D5D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1463040" y="9628632"/>
            <a:ext cx="0" cy="201168"/>
          </a:xfrm>
          <a:prstGeom prst="line">
            <a:avLst/>
          </a:prstGeom>
          <a:ln w="19050">
            <a:solidFill>
              <a:srgbClr val="D5D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12207240" y="9628632"/>
            <a:ext cx="0" cy="201168"/>
          </a:xfrm>
          <a:prstGeom prst="line">
            <a:avLst/>
          </a:prstGeom>
          <a:ln w="19050">
            <a:solidFill>
              <a:srgbClr val="D5D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1463040" y="9957816"/>
            <a:ext cx="10744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>
                <a:solidFill>
                  <a:srgbClr val="6E6E6E"/>
                </a:solidFill>
              </a:rPr>
              <a:t>Öznitelik çıkarımı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12435840" y="9829800"/>
            <a:ext cx="6035040" cy="0"/>
          </a:xfrm>
          <a:prstGeom prst="line">
            <a:avLst/>
          </a:prstGeom>
          <a:ln w="19050">
            <a:solidFill>
              <a:srgbClr val="D5D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12435840" y="9628632"/>
            <a:ext cx="0" cy="201168"/>
          </a:xfrm>
          <a:prstGeom prst="line">
            <a:avLst/>
          </a:prstGeom>
          <a:ln w="19050">
            <a:solidFill>
              <a:srgbClr val="D5D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18470880" y="9628632"/>
            <a:ext cx="0" cy="201168"/>
          </a:xfrm>
          <a:prstGeom prst="line">
            <a:avLst/>
          </a:prstGeom>
          <a:ln w="19050">
            <a:solidFill>
              <a:srgbClr val="D5D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131"/>
          <p:cNvSpPr txBox="1"/>
          <p:nvPr/>
        </p:nvSpPr>
        <p:spPr>
          <a:xfrm>
            <a:off x="12435840" y="9957816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>
                <a:solidFill>
                  <a:srgbClr val="6E6E6E"/>
                </a:solidFill>
              </a:rPr>
              <a:t>Sınıflandırma</a:t>
            </a:r>
          </a:p>
        </p:txBody>
      </p:sp>
      <p:cxnSp>
        <p:nvCxnSpPr>
          <p:cNvPr id="133" name="Connector 132"/>
          <p:cNvCxnSpPr/>
          <p:nvPr/>
        </p:nvCxnSpPr>
        <p:spPr>
          <a:xfrm>
            <a:off x="18699480" y="9829800"/>
            <a:ext cx="4343400" cy="0"/>
          </a:xfrm>
          <a:prstGeom prst="line">
            <a:avLst/>
          </a:prstGeom>
          <a:ln w="19050">
            <a:solidFill>
              <a:srgbClr val="D5D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18699480" y="9628632"/>
            <a:ext cx="0" cy="201168"/>
          </a:xfrm>
          <a:prstGeom prst="line">
            <a:avLst/>
          </a:prstGeom>
          <a:ln w="19050">
            <a:solidFill>
              <a:srgbClr val="D5D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23042880" y="9628632"/>
            <a:ext cx="0" cy="201168"/>
          </a:xfrm>
          <a:prstGeom prst="line">
            <a:avLst/>
          </a:prstGeom>
          <a:ln w="19050">
            <a:solidFill>
              <a:srgbClr val="D5D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18699480" y="9957816"/>
            <a:ext cx="4343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>
                <a:solidFill>
                  <a:srgbClr val="6E6E6E"/>
                </a:solidFill>
              </a:rPr>
              <a:t>Olasılık dağılımı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280160" y="10607040"/>
            <a:ext cx="727557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C08A2E"/>
                </a:solidFill>
              </a:rPr>
              <a:t>NE İÇİN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645919" y="11082528"/>
            <a:ext cx="654405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100" b="0">
                <a:solidFill>
                  <a:srgbClr val="1A1A1A"/>
                </a:solidFill>
              </a:rPr>
              <a:t>Görüntü, video, ses spektrogramı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555736" y="10607040"/>
            <a:ext cx="727557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C08A2E"/>
                </a:solidFill>
              </a:rPr>
              <a:t>ANAHTAR FİKİR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8921496" y="11082528"/>
            <a:ext cx="654405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100" b="0">
                <a:solidFill>
                  <a:srgbClr val="1A1A1A"/>
                </a:solidFill>
              </a:rPr>
              <a:t>Aynı filtre tüm görüntüde gezer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5831312" y="10607040"/>
            <a:ext cx="727557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C08A2E"/>
                </a:solidFill>
              </a:rPr>
              <a:t>NEREDE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6197071" y="11082528"/>
            <a:ext cx="654405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100" b="0">
                <a:solidFill>
                  <a:srgbClr val="1A1A1A"/>
                </a:solidFill>
              </a:rPr>
              <a:t>Yüz tanıma, tıbbi görüntü, otonom sürüş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280160" y="11795760"/>
            <a:ext cx="21826728" cy="1143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2011680" y="11795760"/>
            <a:ext cx="20363688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>
                <a:solidFill>
                  <a:srgbClr val="15263F"/>
                </a:solidFill>
              </a:rPr>
              <a:t>Sondaki sinir ağı bildiğimiz ANN. </a:t>
            </a:r>
            <a:r>
              <a:rPr sz="2300" b="1">
                <a:solidFill>
                  <a:srgbClr val="15263F"/>
                </a:solidFill>
              </a:rPr>
              <a:t>CNN'in yaptığı iş, o ağa vereceği öznitelikleri kendi çıkarmak.</a:t>
            </a:r>
          </a:p>
        </p:txBody>
      </p:sp>
      <p:pic>
        <p:nvPicPr>
          <p:cNvPr id="146" name="Resim 145">
            <a:extLst>
              <a:ext uri="{FF2B5EF4-FFF2-40B4-BE49-F238E27FC236}">
                <a16:creationId xmlns:a16="http://schemas.microsoft.com/office/drawing/2014/main" id="{FD57DEEE-3943-DAD0-BA21-AC5820E5A5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138" y="4078264"/>
            <a:ext cx="2960283" cy="3877016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</a:rPr>
              <a:t>Hangi Mimariler Var?  ·  RNN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66543" y="1874519"/>
            <a:ext cx="20244816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0">
                <a:solidFill>
                  <a:srgbClr val="1A1A1A"/>
                </a:solidFill>
              </a:rPr>
              <a:t>Zaman serisinde bir sonraki değer </a:t>
            </a:r>
            <a:r>
              <a:rPr sz="4000" b="1">
                <a:solidFill>
                  <a:srgbClr val="1A1A1A"/>
                </a:solidFill>
              </a:rPr>
              <a:t>en çok bir öncekine benzer</a:t>
            </a:r>
            <a:r>
              <a:rPr sz="4000" b="0">
                <a:solidFill>
                  <a:srgbClr val="1A1A1A"/>
                </a:solidFill>
              </a:rPr>
              <a:t> — RNN bu hafızayı taşır.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03120" y="6309360"/>
            <a:ext cx="2377440" cy="1920240"/>
          </a:xfrm>
          <a:prstGeom prst="roundRect">
            <a:avLst>
              <a:gd name="adj" fmla="val 15000"/>
            </a:avLst>
          </a:prstGeom>
          <a:solidFill>
            <a:srgbClr val="148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3400" b="1">
                <a:solidFill>
                  <a:srgbClr val="FFFFFF"/>
                </a:solidFill>
              </a:rPr>
              <a:t>h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3931920" y="5257800"/>
            <a:ext cx="0" cy="1051560"/>
          </a:xfrm>
          <a:prstGeom prst="line">
            <a:avLst/>
          </a:prstGeom>
          <a:ln w="25400">
            <a:solidFill>
              <a:srgbClr val="1526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2651760" y="5257800"/>
            <a:ext cx="1280160" cy="0"/>
          </a:xfrm>
          <a:prstGeom prst="line">
            <a:avLst/>
          </a:prstGeom>
          <a:ln w="25400">
            <a:solidFill>
              <a:srgbClr val="1526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651760" y="5257800"/>
            <a:ext cx="0" cy="1051560"/>
          </a:xfrm>
          <a:prstGeom prst="line">
            <a:avLst/>
          </a:prstGeom>
          <a:ln w="25400">
            <a:solidFill>
              <a:srgbClr val="1526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63039" y="461772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15263F"/>
                </a:solidFill>
              </a:rPr>
              <a:t>kendine geri besleme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845820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>
                <a:solidFill>
                  <a:srgbClr val="6E6E6E"/>
                </a:solidFill>
              </a:rPr>
              <a:t>Tek hücre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6812280"/>
            <a:ext cx="914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00" b="0">
                <a:solidFill>
                  <a:srgbClr val="6E6E6E"/>
                </a:solidFill>
              </a:rPr>
              <a:t>=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6309360"/>
            <a:ext cx="2377440" cy="1920240"/>
          </a:xfrm>
          <a:prstGeom prst="roundRect">
            <a:avLst>
              <a:gd name="adj" fmla="val 15000"/>
            </a:avLst>
          </a:prstGeom>
          <a:solidFill>
            <a:srgbClr val="148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3200" b="1">
                <a:solidFill>
                  <a:srgbClr val="FFFFFF"/>
                </a:solidFill>
              </a:rPr>
              <a:t>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0" y="9189720"/>
            <a:ext cx="1828800" cy="914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B6C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2400" b="1">
                <a:solidFill>
                  <a:srgbClr val="1A1A1A"/>
                </a:solidFill>
              </a:rPr>
              <a:t>21°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024128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>
                <a:solidFill>
                  <a:srgbClr val="6E6E6E"/>
                </a:solidFill>
              </a:rPr>
              <a:t>Pzt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8412480" y="8302752"/>
            <a:ext cx="0" cy="886968"/>
          </a:xfrm>
          <a:prstGeom prst="line">
            <a:avLst/>
          </a:prstGeom>
          <a:ln w="19050">
            <a:solidFill>
              <a:srgbClr val="B6C2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601200" y="7269480"/>
            <a:ext cx="1554480" cy="0"/>
          </a:xfrm>
          <a:prstGeom prst="line">
            <a:avLst/>
          </a:prstGeom>
          <a:ln w="31750">
            <a:solidFill>
              <a:srgbClr val="1526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601200" y="6537960"/>
            <a:ext cx="15544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15263F"/>
                </a:solidFill>
              </a:rPr>
              <a:t>hafıza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155680" y="6309360"/>
            <a:ext cx="2377440" cy="1920240"/>
          </a:xfrm>
          <a:prstGeom prst="roundRect">
            <a:avLst>
              <a:gd name="adj" fmla="val 15000"/>
            </a:avLst>
          </a:prstGeom>
          <a:solidFill>
            <a:srgbClr val="148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3200" b="1">
                <a:solidFill>
                  <a:srgbClr val="FFFFFF"/>
                </a:solidFill>
              </a:rPr>
              <a:t>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0" y="9189720"/>
            <a:ext cx="1828800" cy="914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B6C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2400" b="1">
                <a:solidFill>
                  <a:srgbClr val="1A1A1A"/>
                </a:solidFill>
              </a:rPr>
              <a:t>22°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1024128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>
                <a:solidFill>
                  <a:srgbClr val="6E6E6E"/>
                </a:solidFill>
              </a:rPr>
              <a:t>Sal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12344400" y="8302752"/>
            <a:ext cx="0" cy="886968"/>
          </a:xfrm>
          <a:prstGeom prst="line">
            <a:avLst/>
          </a:prstGeom>
          <a:ln w="19050">
            <a:solidFill>
              <a:srgbClr val="B6C2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3533119" y="7269480"/>
            <a:ext cx="1554481" cy="0"/>
          </a:xfrm>
          <a:prstGeom prst="line">
            <a:avLst/>
          </a:prstGeom>
          <a:ln w="31750">
            <a:solidFill>
              <a:srgbClr val="1526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3533119" y="653796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15263F"/>
                </a:solidFill>
              </a:rPr>
              <a:t>hafıza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5087600" y="6309360"/>
            <a:ext cx="2377440" cy="1920240"/>
          </a:xfrm>
          <a:prstGeom prst="roundRect">
            <a:avLst>
              <a:gd name="adj" fmla="val 15000"/>
            </a:avLst>
          </a:prstGeom>
          <a:solidFill>
            <a:srgbClr val="148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3200" b="1">
                <a:solidFill>
                  <a:srgbClr val="FFFFFF"/>
                </a:solidFill>
              </a:rPr>
              <a:t>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361920" y="9189720"/>
            <a:ext cx="1828800" cy="914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B6C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2400" b="1">
                <a:solidFill>
                  <a:srgbClr val="1A1A1A"/>
                </a:solidFill>
              </a:rPr>
              <a:t>24°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0" y="1024128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>
                <a:solidFill>
                  <a:srgbClr val="6E6E6E"/>
                </a:solidFill>
              </a:rPr>
              <a:t>Çar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16276320" y="8302752"/>
            <a:ext cx="0" cy="886968"/>
          </a:xfrm>
          <a:prstGeom prst="line">
            <a:avLst/>
          </a:prstGeom>
          <a:ln w="19050">
            <a:solidFill>
              <a:srgbClr val="B6C2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7465040" y="7269480"/>
            <a:ext cx="1645920" cy="0"/>
          </a:xfrm>
          <a:prstGeom prst="line">
            <a:avLst/>
          </a:prstGeom>
          <a:ln w="38100">
            <a:solidFill>
              <a:srgbClr val="C08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9110960" y="6629400"/>
            <a:ext cx="3291840" cy="1280160"/>
          </a:xfrm>
          <a:prstGeom prst="roundRect">
            <a:avLst>
              <a:gd name="adj" fmla="val 18000"/>
            </a:avLst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Per  →  25°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110960" y="804672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>
                <a:solidFill>
                  <a:srgbClr val="6E6E6E"/>
                </a:solidFill>
              </a:rPr>
              <a:t>tahmin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39" y="891540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6E6E6E"/>
                </a:solidFill>
              </a:rPr>
              <a:t>aynı ağırlıklar,
her gün tekrar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10607040"/>
            <a:ext cx="727557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C08A2E"/>
                </a:solidFill>
              </a:rPr>
              <a:t>NE İÇİN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19" y="11082528"/>
            <a:ext cx="654405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100" b="0">
                <a:solidFill>
                  <a:srgbClr val="1A1A1A"/>
                </a:solidFill>
              </a:rPr>
              <a:t>Zaman serisi, metin, sensör verisi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55736" y="10607040"/>
            <a:ext cx="727557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C08A2E"/>
                </a:solidFill>
              </a:rPr>
              <a:t>ANAHTAR FİKİR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21496" y="11082528"/>
            <a:ext cx="654405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100" b="0">
                <a:solidFill>
                  <a:srgbClr val="1A1A1A"/>
                </a:solidFill>
              </a:rPr>
              <a:t>Hafızayı bir sonraki adıma taşır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831312" y="10607040"/>
            <a:ext cx="727557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C08A2E"/>
                </a:solidFill>
              </a:rPr>
              <a:t>SINIRI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197071" y="11082528"/>
            <a:ext cx="654405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100" b="0">
                <a:solidFill>
                  <a:srgbClr val="1A1A1A"/>
                </a:solidFill>
              </a:rPr>
              <a:t>Uzun geçmişi unutur, paralelleşmez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80160" y="11795760"/>
            <a:ext cx="21826728" cy="1143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011680" y="11795760"/>
            <a:ext cx="20363688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>
                <a:solidFill>
                  <a:srgbClr val="15263F"/>
                </a:solidFill>
              </a:rPr>
              <a:t>Yarının sıcaklığı en çok bugüne benzer — </a:t>
            </a:r>
            <a:r>
              <a:rPr sz="2300" b="1">
                <a:solidFill>
                  <a:srgbClr val="15263F"/>
                </a:solidFill>
              </a:rPr>
              <a:t>ama geçen ayın bilgisi bugüne ulaşana kadar sönüp gidiyor.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</a:rPr>
              <a:t>Hangi Mimariler Var?  ·  LSTM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66543" y="1874519"/>
            <a:ext cx="20244816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0">
                <a:solidFill>
                  <a:srgbClr val="1A1A1A"/>
                </a:solidFill>
              </a:rPr>
              <a:t>Hücrenin içine bir </a:t>
            </a:r>
            <a:r>
              <a:rPr sz="4000" b="1">
                <a:solidFill>
                  <a:srgbClr val="1A1A1A"/>
                </a:solidFill>
              </a:rPr>
              <a:t>hafıza şeridi</a:t>
            </a:r>
            <a:r>
              <a:rPr sz="4000" b="0">
                <a:solidFill>
                  <a:srgbClr val="1A1A1A"/>
                </a:solidFill>
              </a:rPr>
              <a:t> ve onu yöneten </a:t>
            </a:r>
            <a:r>
              <a:rPr sz="4000" b="1">
                <a:solidFill>
                  <a:srgbClr val="1A1A1A"/>
                </a:solidFill>
              </a:rPr>
              <a:t>üç kapı</a:t>
            </a:r>
            <a:r>
              <a:rPr sz="4000" b="0">
                <a:solidFill>
                  <a:srgbClr val="1A1A1A"/>
                </a:solidFill>
              </a:rPr>
              <a:t> ekler.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06240" y="4846320"/>
            <a:ext cx="14996159" cy="4663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1750">
            <a:solidFill>
              <a:srgbClr val="148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206240" y="9646919"/>
            <a:ext cx="1499615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>
                <a:solidFill>
                  <a:srgbClr val="148F77"/>
                </a:solidFill>
              </a:rPr>
              <a:t>LSTM hücresi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468879" y="5715000"/>
            <a:ext cx="18470881" cy="0"/>
          </a:xfrm>
          <a:prstGeom prst="line">
            <a:avLst/>
          </a:prstGeom>
          <a:ln w="50800">
            <a:solidFill>
              <a:srgbClr val="C08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480559" y="507492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C08A2E"/>
                </a:solidFill>
              </a:rPr>
              <a:t>hücre durumu — uzun vadeli hafıza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79" y="5440680"/>
            <a:ext cx="1188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400" b="1">
                <a:solidFill>
                  <a:srgbClr val="C08A2E"/>
                </a:solidFill>
              </a:rPr>
              <a:t>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985480" y="5440680"/>
            <a:ext cx="1188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C08A2E"/>
                </a:solidFill>
              </a:rPr>
              <a:t>C</a:t>
            </a:r>
          </a:p>
        </p:txBody>
      </p:sp>
      <p:sp>
        <p:nvSpPr>
          <p:cNvPr id="10" name="Oval 9"/>
          <p:cNvSpPr/>
          <p:nvPr/>
        </p:nvSpPr>
        <p:spPr>
          <a:xfrm>
            <a:off x="6931152" y="5330952"/>
            <a:ext cx="768096" cy="7680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2600" b="1">
                <a:solidFill>
                  <a:srgbClr val="C08A2E"/>
                </a:solidFill>
              </a:rPr>
              <a:t>×</a:t>
            </a:r>
          </a:p>
        </p:txBody>
      </p:sp>
      <p:sp>
        <p:nvSpPr>
          <p:cNvPr id="11" name="Oval 10"/>
          <p:cNvSpPr/>
          <p:nvPr/>
        </p:nvSpPr>
        <p:spPr>
          <a:xfrm>
            <a:off x="11686032" y="5330952"/>
            <a:ext cx="768096" cy="7680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2600" b="1">
                <a:solidFill>
                  <a:srgbClr val="C08A2E"/>
                </a:solidFill>
              </a:rPr>
              <a:t>+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199" y="6812279"/>
            <a:ext cx="3840480" cy="224028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5240">
            <a:solidFill>
              <a:srgbClr val="B6C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537959" y="6400799"/>
            <a:ext cx="822960" cy="822960"/>
          </a:xfrm>
          <a:prstGeom prst="ellipse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199" y="7360920"/>
            <a:ext cx="3840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15263F"/>
                </a:solidFill>
              </a:rPr>
              <a:t>Forget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199" y="8046720"/>
            <a:ext cx="38404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0">
                <a:solidFill>
                  <a:srgbClr val="6E6E6E"/>
                </a:solidFill>
              </a:rPr>
              <a:t>Geçen ayın soğuğunu
ne kadar tutayım?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6949439" y="6099048"/>
            <a:ext cx="0" cy="301751"/>
          </a:xfrm>
          <a:prstGeom prst="line">
            <a:avLst/>
          </a:prstGeom>
          <a:ln w="19050">
            <a:solidFill>
              <a:srgbClr val="B6C2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784080" y="6812279"/>
            <a:ext cx="3840480" cy="224028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5240">
            <a:solidFill>
              <a:srgbClr val="B6C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292840" y="6400799"/>
            <a:ext cx="822960" cy="822960"/>
          </a:xfrm>
          <a:prstGeom prst="ellipse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7360920"/>
            <a:ext cx="3840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15263F"/>
                </a:solidFill>
              </a:rPr>
              <a:t>Input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8046720"/>
            <a:ext cx="38404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0">
                <a:solidFill>
                  <a:srgbClr val="6E6E6E"/>
                </a:solidFill>
              </a:rPr>
              <a:t>Bugünün 24°'sini
ne kadar yazayım?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11704319" y="6099048"/>
            <a:ext cx="0" cy="301751"/>
          </a:xfrm>
          <a:prstGeom prst="line">
            <a:avLst/>
          </a:prstGeom>
          <a:ln w="19050">
            <a:solidFill>
              <a:srgbClr val="B6C2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4538959" y="6812279"/>
            <a:ext cx="3840480" cy="224028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5240">
            <a:solidFill>
              <a:srgbClr val="B6C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6047720" y="6400799"/>
            <a:ext cx="822960" cy="822960"/>
          </a:xfrm>
          <a:prstGeom prst="ellipse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538959" y="7360920"/>
            <a:ext cx="3840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15263F"/>
                </a:solidFill>
              </a:rP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38959" y="8046720"/>
            <a:ext cx="38404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0">
                <a:solidFill>
                  <a:srgbClr val="6E6E6E"/>
                </a:solidFill>
              </a:rPr>
              <a:t>Yarın için ne
vereyim?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554480" y="7635240"/>
            <a:ext cx="2194560" cy="914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B6C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2400" b="1">
                <a:solidFill>
                  <a:srgbClr val="1A1A1A"/>
                </a:solidFill>
              </a:rPr>
              <a:t>24°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864108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6E6E6E"/>
                </a:solidFill>
              </a:rPr>
              <a:t>bugünün verisi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749039" y="8092440"/>
            <a:ext cx="457201" cy="0"/>
          </a:xfrm>
          <a:prstGeom prst="line">
            <a:avLst/>
          </a:prstGeom>
          <a:ln w="25400">
            <a:solidFill>
              <a:srgbClr val="B6C2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9202400" y="8092440"/>
            <a:ext cx="548640" cy="0"/>
          </a:xfrm>
          <a:prstGeom prst="line">
            <a:avLst/>
          </a:prstGeom>
          <a:ln w="38100">
            <a:solidFill>
              <a:srgbClr val="C08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9751040" y="7635240"/>
            <a:ext cx="3017520" cy="914400"/>
          </a:xfrm>
          <a:prstGeom prst="roundRect">
            <a:avLst>
              <a:gd name="adj" fmla="val 18000"/>
            </a:avLst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25°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751040" y="864108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6E6E6E"/>
                </a:solidFill>
              </a:rPr>
              <a:t>tahmin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10607040"/>
            <a:ext cx="727557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C08A2E"/>
                </a:solidFill>
              </a:rPr>
              <a:t>NE İÇİN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45919" y="11082528"/>
            <a:ext cx="654405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100" b="0">
                <a:solidFill>
                  <a:srgbClr val="1A1A1A"/>
                </a:solidFill>
              </a:rPr>
              <a:t>Uzun geçmişi olan diziler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55736" y="10607040"/>
            <a:ext cx="727557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C08A2E"/>
                </a:solidFill>
              </a:rPr>
              <a:t>ANAHTAR FİKİR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21496" y="11082528"/>
            <a:ext cx="654405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100" b="0">
                <a:solidFill>
                  <a:srgbClr val="1A1A1A"/>
                </a:solidFill>
              </a:rPr>
              <a:t>Hafıza şeridi + üç kapı (her biri 0–1)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831312" y="10607040"/>
            <a:ext cx="727557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C08A2E"/>
                </a:solidFill>
              </a:rPr>
              <a:t>NEREDE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197071" y="11082528"/>
            <a:ext cx="654405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100" b="0">
                <a:solidFill>
                  <a:srgbClr val="1A1A1A"/>
                </a:solidFill>
              </a:rPr>
              <a:t>Hava tahmini, talep tahmini, konuşma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80160" y="11795760"/>
            <a:ext cx="21826728" cy="1143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011680" y="11795760"/>
            <a:ext cx="20363688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>
                <a:solidFill>
                  <a:srgbClr val="15263F"/>
                </a:solidFill>
              </a:rPr>
              <a:t>Hafıza şeridi bilgiyi bozulmadan uzak mesafeye taşır. </a:t>
            </a:r>
            <a:r>
              <a:rPr sz="2300" b="1">
                <a:solidFill>
                  <a:srgbClr val="15263F"/>
                </a:solidFill>
              </a:rPr>
              <a:t>Ama hâlâ gün gün ilerliyor — paralelleşmiyor.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Yer Tutucusu 1">
            <a:extLst>
              <a:ext uri="{FF2B5EF4-FFF2-40B4-BE49-F238E27FC236}">
                <a16:creationId xmlns:a16="http://schemas.microsoft.com/office/drawing/2014/main" id="{2A1B1BB7-288C-8D6A-04AC-A92BF5B9037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tr-TR" dirty="0"/>
              <a:t>Üretken </a:t>
            </a:r>
            <a:r>
              <a:rPr lang="tr-TR" dirty="0" err="1"/>
              <a:t>vs</a:t>
            </a:r>
            <a:r>
              <a:rPr lang="tr-TR" dirty="0"/>
              <a:t> Klasik Yapay Zeka</a:t>
            </a:r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0693CD6B-5C61-E31D-CFFF-1EEA088268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7840" y="1594338"/>
            <a:ext cx="21433514" cy="1212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287987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Yer Tutucusu 1">
            <a:extLst>
              <a:ext uri="{FF2B5EF4-FFF2-40B4-BE49-F238E27FC236}">
                <a16:creationId xmlns:a16="http://schemas.microsoft.com/office/drawing/2014/main" id="{EFBCA040-1ADE-FD09-6516-636A5786C3B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tr-TR" dirty="0" err="1"/>
              <a:t>Transformer</a:t>
            </a:r>
            <a:r>
              <a:rPr lang="tr-TR" dirty="0"/>
              <a:t> Mimarisi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30EA396D-D5AB-7F33-1FEC-F33A9393B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3134" y="1516251"/>
            <a:ext cx="21154097" cy="12031970"/>
          </a:xfrm>
          <a:prstGeom prst="rect">
            <a:avLst/>
          </a:prstGeom>
        </p:spPr>
      </p:pic>
      <p:sp>
        <p:nvSpPr>
          <p:cNvPr id="5" name="Dikdörtgen 4">
            <a:extLst>
              <a:ext uri="{FF2B5EF4-FFF2-40B4-BE49-F238E27FC236}">
                <a16:creationId xmlns:a16="http://schemas.microsoft.com/office/drawing/2014/main" id="{37818A51-C132-B1D0-EFF9-4FCA4BD8FC0E}"/>
              </a:ext>
            </a:extLst>
          </p:cNvPr>
          <p:cNvSpPr/>
          <p:nvPr/>
        </p:nvSpPr>
        <p:spPr>
          <a:xfrm>
            <a:off x="1823134" y="2203938"/>
            <a:ext cx="6429912" cy="182880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tr-TR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88811729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</a:rPr>
              <a:t>Transformer Mimarisi  ·  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66543" y="1874519"/>
            <a:ext cx="20244816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0">
                <a:solidFill>
                  <a:srgbClr val="1A1A1A"/>
                </a:solidFill>
              </a:rPr>
              <a:t>Aynı kelime, farklı bağlam: </a:t>
            </a:r>
            <a:r>
              <a:rPr sz="3800" b="1">
                <a:solidFill>
                  <a:srgbClr val="1A1A1A"/>
                </a:solidFill>
              </a:rPr>
              <a:t>attention "o"nun kime işaret ettiğini bulur.</a:t>
            </a:r>
          </a:p>
        </p:txBody>
      </p:sp>
      <p:pic>
        <p:nvPicPr>
          <p:cNvPr id="4" name="Picture 3" descr="att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4069080"/>
            <a:ext cx="10352212" cy="6309360"/>
          </a:xfrm>
          <a:prstGeom prst="rect">
            <a:avLst/>
          </a:prstGeom>
          <a:ln w="12700">
            <a:solidFill>
              <a:srgbClr val="E2E2E2"/>
            </a:solidFill>
          </a:ln>
        </p:spPr>
      </p:pic>
      <p:sp>
        <p:nvSpPr>
          <p:cNvPr id="5" name="Rounded Rectangle 4"/>
          <p:cNvSpPr/>
          <p:nvPr/>
        </p:nvSpPr>
        <p:spPr>
          <a:xfrm>
            <a:off x="12435840" y="4069080"/>
            <a:ext cx="10671048" cy="630936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121640" y="4617720"/>
            <a:ext cx="146304" cy="1783080"/>
          </a:xfrm>
          <a:prstGeom prst="rect">
            <a:avLst/>
          </a:prstGeom>
          <a:solidFill>
            <a:srgbClr val="148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533119" y="4617720"/>
            <a:ext cx="8567928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300" b="0">
                <a:solidFill>
                  <a:srgbClr val="1A1A1A"/>
                </a:solidFill>
              </a:rPr>
              <a:t>Çocuk annesiyle konuşunca parka gitmekten vazgeçti çünkü o evde kalmalıydı.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19" y="5943600"/>
            <a:ext cx="856792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48F77"/>
                </a:solidFill>
              </a:rPr>
              <a:t>o  =  Çocuk</a:t>
            </a:r>
          </a:p>
        </p:txBody>
      </p:sp>
      <p:sp>
        <p:nvSpPr>
          <p:cNvPr id="9" name="Rectangle 8"/>
          <p:cNvSpPr/>
          <p:nvPr/>
        </p:nvSpPr>
        <p:spPr>
          <a:xfrm>
            <a:off x="13121640" y="6720840"/>
            <a:ext cx="146304" cy="1783080"/>
          </a:xfrm>
          <a:prstGeom prst="rect">
            <a:avLst/>
          </a:prstGeom>
          <a:solidFill>
            <a:srgbClr val="D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533119" y="6720840"/>
            <a:ext cx="8567928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300" b="0">
                <a:solidFill>
                  <a:srgbClr val="1A1A1A"/>
                </a:solidFill>
              </a:rPr>
              <a:t>Çocuk annesiyle konuşunca parka gitmekten vazgeçti çünkü o izin vermedi.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19" y="8046719"/>
            <a:ext cx="856792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D13F8C"/>
                </a:solidFill>
              </a:rPr>
              <a:t>o  =  annesi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121640" y="8915399"/>
            <a:ext cx="9299448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200" b="0">
                <a:solidFill>
                  <a:srgbClr val="15263F"/>
                </a:solidFill>
              </a:rPr>
              <a:t>Cümlenin geri kalanı aynı. Tek fark son iki kelime — ve "o" bambaşka birine işaret ediyor.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200" b="1">
                <a:solidFill>
                  <a:srgbClr val="15263F"/>
                </a:solidFill>
              </a:rPr>
              <a:t>Attention, her kelimenin hangi kelimeye ne kadar bakacağını veriden öğrenir.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2710160"/>
            <a:ext cx="1280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9A9A9A"/>
                </a:solidFill>
              </a:rPr>
              <a:t>Görsel: 'Klasik vs Üretken Yapay Zekâ' sunumundan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0160" y="11384280"/>
            <a:ext cx="21826728" cy="11887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011680" y="11384280"/>
            <a:ext cx="20363688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>
                <a:solidFill>
                  <a:srgbClr val="15263F"/>
                </a:solidFill>
              </a:rPr>
              <a:t>Kural yazmadık, sözlük vermedik. </a:t>
            </a:r>
            <a:r>
              <a:rPr sz="2300" b="1">
                <a:solidFill>
                  <a:srgbClr val="15263F"/>
                </a:solidFill>
              </a:rPr>
              <a:t>Model bu bağı milyonlarca cümleden kendisi çıkardı.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Yer Tutucusu 1">
            <a:extLst>
              <a:ext uri="{FF2B5EF4-FFF2-40B4-BE49-F238E27FC236}">
                <a16:creationId xmlns:a16="http://schemas.microsoft.com/office/drawing/2014/main" id="{23A66842-34DB-6F16-4BB5-5B82BCB37A7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tr-TR" dirty="0"/>
              <a:t>Word </a:t>
            </a:r>
            <a:r>
              <a:rPr lang="tr-TR" dirty="0" err="1"/>
              <a:t>Embeddings</a:t>
            </a:r>
            <a:endParaRPr lang="tr-TR" dirty="0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14CD67DC-ED54-2D96-18EC-5D725E66E3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345" y="2472532"/>
            <a:ext cx="22609680" cy="11243468"/>
          </a:xfrm>
          <a:prstGeom prst="rect">
            <a:avLst/>
          </a:prstGeom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45D2930D-B5E3-9418-F2DA-E40662D28192}"/>
              </a:ext>
            </a:extLst>
          </p:cNvPr>
          <p:cNvSpPr txBox="1"/>
          <p:nvPr/>
        </p:nvSpPr>
        <p:spPr>
          <a:xfrm>
            <a:off x="2110155" y="1641646"/>
            <a:ext cx="20656060" cy="7076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tr-TR" sz="3800" b="0" dirty="0">
                <a:solidFill>
                  <a:srgbClr val="1A1A1A"/>
                </a:solidFill>
              </a:rPr>
              <a:t>Model kelimeyi değil sayıyı işler: her kelime, </a:t>
            </a:r>
            <a:r>
              <a:rPr lang="tr-TR" sz="3800" b="1" dirty="0">
                <a:solidFill>
                  <a:srgbClr val="1A1A1A"/>
                </a:solidFill>
              </a:rPr>
              <a:t>anlamını taşıyan bir vektöre</a:t>
            </a:r>
            <a:r>
              <a:rPr lang="tr-TR" sz="3800" b="0" dirty="0">
                <a:solidFill>
                  <a:srgbClr val="1A1A1A"/>
                </a:solidFill>
              </a:rPr>
              <a:t> dönüşür.</a:t>
            </a: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1C4C3F83-A316-D124-D62D-A1D1C4B64B32}"/>
              </a:ext>
            </a:extLst>
          </p:cNvPr>
          <p:cNvSpPr txBox="1"/>
          <p:nvPr/>
        </p:nvSpPr>
        <p:spPr>
          <a:xfrm>
            <a:off x="11004025" y="11243468"/>
            <a:ext cx="13379975" cy="4024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dirty="0">
                <a:solidFill>
                  <a:srgbClr val="15263F"/>
                </a:solidFill>
              </a:rPr>
              <a:t>Kral − </a:t>
            </a:r>
            <a:r>
              <a:rPr sz="2400" b="1" dirty="0" err="1">
                <a:solidFill>
                  <a:srgbClr val="15263F"/>
                </a:solidFill>
              </a:rPr>
              <a:t>erkek</a:t>
            </a:r>
            <a:r>
              <a:rPr sz="2400" b="1" dirty="0">
                <a:solidFill>
                  <a:srgbClr val="15263F"/>
                </a:solidFill>
              </a:rPr>
              <a:t> + </a:t>
            </a:r>
            <a:r>
              <a:rPr sz="2400" b="1" dirty="0" err="1">
                <a:solidFill>
                  <a:srgbClr val="15263F"/>
                </a:solidFill>
              </a:rPr>
              <a:t>kadın</a:t>
            </a:r>
            <a:r>
              <a:rPr sz="2400" b="1" dirty="0">
                <a:solidFill>
                  <a:srgbClr val="15263F"/>
                </a:solidFill>
              </a:rPr>
              <a:t> ≈ </a:t>
            </a:r>
            <a:r>
              <a:rPr sz="2400" b="1" dirty="0" err="1">
                <a:solidFill>
                  <a:srgbClr val="15263F"/>
                </a:solidFill>
              </a:rPr>
              <a:t>kraliçe</a:t>
            </a:r>
            <a:r>
              <a:rPr sz="2400" b="1" dirty="0">
                <a:solidFill>
                  <a:srgbClr val="15263F"/>
                </a:solidFill>
              </a:rPr>
              <a:t>. </a:t>
            </a:r>
            <a:r>
              <a:rPr sz="2400" b="0" dirty="0" err="1">
                <a:solidFill>
                  <a:srgbClr val="15263F"/>
                </a:solidFill>
              </a:rPr>
              <a:t>Anlam</a:t>
            </a:r>
            <a:r>
              <a:rPr sz="2400" b="0" dirty="0">
                <a:solidFill>
                  <a:srgbClr val="15263F"/>
                </a:solidFill>
              </a:rPr>
              <a:t> </a:t>
            </a:r>
            <a:r>
              <a:rPr sz="2400" b="0" dirty="0" err="1">
                <a:solidFill>
                  <a:srgbClr val="15263F"/>
                </a:solidFill>
              </a:rPr>
              <a:t>ilişkileri</a:t>
            </a:r>
            <a:r>
              <a:rPr sz="2400" b="0" dirty="0">
                <a:solidFill>
                  <a:srgbClr val="15263F"/>
                </a:solidFill>
              </a:rPr>
              <a:t>, </a:t>
            </a:r>
            <a:r>
              <a:rPr sz="2400" b="0" dirty="0" err="1">
                <a:solidFill>
                  <a:srgbClr val="15263F"/>
                </a:solidFill>
              </a:rPr>
              <a:t>vektörler</a:t>
            </a:r>
            <a:r>
              <a:rPr sz="2400" b="0" dirty="0">
                <a:solidFill>
                  <a:srgbClr val="15263F"/>
                </a:solidFill>
              </a:rPr>
              <a:t> </a:t>
            </a:r>
            <a:r>
              <a:rPr sz="2400" b="0" dirty="0" err="1">
                <a:solidFill>
                  <a:srgbClr val="15263F"/>
                </a:solidFill>
              </a:rPr>
              <a:t>arasındaki</a:t>
            </a:r>
            <a:r>
              <a:rPr sz="2400" b="0" dirty="0">
                <a:solidFill>
                  <a:srgbClr val="15263F"/>
                </a:solidFill>
              </a:rPr>
              <a:t> </a:t>
            </a:r>
            <a:r>
              <a:rPr sz="2400" b="0" dirty="0" err="1">
                <a:solidFill>
                  <a:srgbClr val="15263F"/>
                </a:solidFill>
              </a:rPr>
              <a:t>yönlere</a:t>
            </a:r>
            <a:r>
              <a:rPr sz="2400" b="0" dirty="0">
                <a:solidFill>
                  <a:srgbClr val="15263F"/>
                </a:solidFill>
              </a:rPr>
              <a:t> </a:t>
            </a:r>
            <a:r>
              <a:rPr sz="2400" b="0" dirty="0" err="1">
                <a:solidFill>
                  <a:srgbClr val="15263F"/>
                </a:solidFill>
              </a:rPr>
              <a:t>dönüşüyor</a:t>
            </a:r>
            <a:r>
              <a:rPr sz="2400" b="0" dirty="0">
                <a:solidFill>
                  <a:srgbClr val="15263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72117845"/>
      </p:ext>
    </p:extLst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2B9D7-744D-FA12-27E4-BEE53FD3D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Yer Tutucusu 1">
            <a:extLst>
              <a:ext uri="{FF2B5EF4-FFF2-40B4-BE49-F238E27FC236}">
                <a16:creationId xmlns:a16="http://schemas.microsoft.com/office/drawing/2014/main" id="{710C12C5-E94A-09E2-829E-CA827D98E0E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tr-TR" dirty="0"/>
              <a:t>Word </a:t>
            </a:r>
            <a:r>
              <a:rPr lang="tr-TR" dirty="0" err="1"/>
              <a:t>Embeddings</a:t>
            </a:r>
            <a:endParaRPr lang="tr-TR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11234E4A-AE23-BAF3-EACF-F222AE47CC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6579" y="1580377"/>
            <a:ext cx="21154097" cy="11967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017018"/>
      </p:ext>
    </p:extLst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</a:rPr>
              <a:t>Transformer'dan Büyük Dil Modeline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66543" y="1874519"/>
            <a:ext cx="20244816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0">
                <a:solidFill>
                  <a:srgbClr val="1A1A1A"/>
                </a:solidFill>
              </a:rPr>
              <a:t>GPT = </a:t>
            </a:r>
            <a:r>
              <a:rPr sz="3400" b="1">
                <a:solidFill>
                  <a:srgbClr val="1A1A1A"/>
                </a:solidFill>
              </a:rPr>
              <a:t>G</a:t>
            </a:r>
            <a:r>
              <a:rPr sz="3400" b="0">
                <a:solidFill>
                  <a:srgbClr val="1A1A1A"/>
                </a:solidFill>
              </a:rPr>
              <a:t>enerative </a:t>
            </a:r>
            <a:r>
              <a:rPr sz="3400" b="1">
                <a:solidFill>
                  <a:srgbClr val="1A1A1A"/>
                </a:solidFill>
              </a:rPr>
              <a:t>P</a:t>
            </a:r>
            <a:r>
              <a:rPr sz="3400" b="0">
                <a:solidFill>
                  <a:srgbClr val="1A1A1A"/>
                </a:solidFill>
              </a:rPr>
              <a:t>re-trained </a:t>
            </a:r>
            <a:r>
              <a:rPr sz="3400" b="1">
                <a:solidFill>
                  <a:srgbClr val="1A1A1A"/>
                </a:solidFill>
              </a:rPr>
              <a:t>T</a:t>
            </a:r>
            <a:r>
              <a:rPr sz="3400" b="0">
                <a:solidFill>
                  <a:srgbClr val="1A1A1A"/>
                </a:solidFill>
              </a:rPr>
              <a:t>ransformer — aynı mimari, internet ölçeğinde veriyle eğitilince </a:t>
            </a:r>
            <a:r>
              <a:rPr sz="3400" b="1">
                <a:solidFill>
                  <a:srgbClr val="1A1A1A"/>
                </a:solidFill>
              </a:rPr>
              <a:t>büyük dil modeli</a:t>
            </a:r>
            <a:r>
              <a:rPr sz="3400" b="0">
                <a:solidFill>
                  <a:srgbClr val="1A1A1A"/>
                </a:solidFill>
              </a:rPr>
              <a:t> oluyor.</a:t>
            </a:r>
          </a:p>
        </p:txBody>
      </p:sp>
      <p:pic>
        <p:nvPicPr>
          <p:cNvPr id="4" name="Picture 3" descr="ll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9604" y="4206240"/>
            <a:ext cx="17007840" cy="6903955"/>
          </a:xfrm>
          <a:prstGeom prst="rect">
            <a:avLst/>
          </a:prstGeom>
          <a:ln w="12700">
            <a:solidFill>
              <a:srgbClr val="E2E2E2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1280160" y="12710160"/>
            <a:ext cx="1280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9A9A9A"/>
                </a:solidFill>
              </a:rPr>
              <a:t>Görsel: 'Klasik vs Üretken Yapay Zekâ' sunumundan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11384280"/>
            <a:ext cx="21826728" cy="11887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11680" y="11384280"/>
            <a:ext cx="20363688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</a:rPr>
              <a:t>Ön eğitim dili öğretir, ince ayar işi öğretir, </a:t>
            </a:r>
            <a:r>
              <a:rPr sz="2400" b="1">
                <a:solidFill>
                  <a:srgbClr val="15263F"/>
                </a:solidFill>
              </a:rPr>
              <a:t>RLHF ise nasıl konuşacağını öğretir.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Yer Tutucusu 1">
            <a:extLst>
              <a:ext uri="{FF2B5EF4-FFF2-40B4-BE49-F238E27FC236}">
                <a16:creationId xmlns:a16="http://schemas.microsoft.com/office/drawing/2014/main" id="{017A0868-D031-F8E5-7CAB-27ACF49E7EC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tr-TR" dirty="0" err="1"/>
              <a:t>Taming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Monster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EDB3E636-49EE-8974-BCA5-2AE11ACC35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411" y="1882456"/>
            <a:ext cx="21974712" cy="11752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120570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Eğitim Adı">
  <a:themeElements>
    <a:clrScheme name="Miuul Renk Paleti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Presentation2" id="{888531EB-B80A-DC4E-87AD-AD8478769648}" vid="{6D0E7461-0100-8046-8FFF-5C1D91E67DD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1A34E06-6EF4-0747-BE1A-750CADD77380}">
  <we:reference id="wa200007130" version="1.0.0.1" store="en-GB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Eğitim Adı</Template>
  <TotalTime>36920</TotalTime>
  <Words>6617</Words>
  <Application>Microsoft Office PowerPoint</Application>
  <PresentationFormat>Özel</PresentationFormat>
  <Paragraphs>1544</Paragraphs>
  <Slides>46</Slides>
  <Notes>43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7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46</vt:i4>
      </vt:variant>
    </vt:vector>
  </HeadingPairs>
  <TitlesOfParts>
    <vt:vector size="54" baseType="lpstr">
      <vt:lpstr>Arial</vt:lpstr>
      <vt:lpstr>Cambria</vt:lpstr>
      <vt:lpstr>Cambria Math</vt:lpstr>
      <vt:lpstr>Chromatica</vt:lpstr>
      <vt:lpstr>Chromatica Medium</vt:lpstr>
      <vt:lpstr>Helvetica Neue</vt:lpstr>
      <vt:lpstr>Helvetica Neue Medium</vt:lpstr>
      <vt:lpstr>Eğitim Adı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 Bilimciler için Python Programlama</dc:title>
  <dc:creator>oytun@miuul.com</dc:creator>
  <cp:lastModifiedBy>Veysel GORKEN</cp:lastModifiedBy>
  <cp:revision>911</cp:revision>
  <cp:lastPrinted>2026-07-16T05:32:25Z</cp:lastPrinted>
  <dcterms:created xsi:type="dcterms:W3CDTF">2021-05-22T14:24:12Z</dcterms:created>
  <dcterms:modified xsi:type="dcterms:W3CDTF">2026-08-07T11:58:02Z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aa6781e-fd15-4a75-92c1-1621a66939fe_Enabled">
    <vt:lpwstr>true</vt:lpwstr>
  </property>
  <property fmtid="{D5CDD505-2E9C-101B-9397-08002B2CF9AE}" pid="3" name="MSIP_Label_caa6781e-fd15-4a75-92c1-1621a66939fe_SetDate">
    <vt:lpwstr>2026-08-03T13:20:08Z</vt:lpwstr>
  </property>
  <property fmtid="{D5CDD505-2E9C-101B-9397-08002B2CF9AE}" pid="4" name="MSIP_Label_caa6781e-fd15-4a75-92c1-1621a66939fe_Method">
    <vt:lpwstr>Standard</vt:lpwstr>
  </property>
  <property fmtid="{D5CDD505-2E9C-101B-9397-08002B2CF9AE}" pid="5" name="MSIP_Label_caa6781e-fd15-4a75-92c1-1621a66939fe_Name">
    <vt:lpwstr>Internal</vt:lpwstr>
  </property>
  <property fmtid="{D5CDD505-2E9C-101B-9397-08002B2CF9AE}" pid="6" name="MSIP_Label_caa6781e-fd15-4a75-92c1-1621a66939fe_SiteId">
    <vt:lpwstr>9125c4fe-bdb3-4367-a98f-040efd278531</vt:lpwstr>
  </property>
  <property fmtid="{D5CDD505-2E9C-101B-9397-08002B2CF9AE}" pid="7" name="MSIP_Label_caa6781e-fd15-4a75-92c1-1621a66939fe_ActionId">
    <vt:lpwstr>44a5bbbe-bb31-4696-b358-107658b30da5</vt:lpwstr>
  </property>
  <property fmtid="{D5CDD505-2E9C-101B-9397-08002B2CF9AE}" pid="8" name="MSIP_Label_caa6781e-fd15-4a75-92c1-1621a66939fe_ContentBits">
    <vt:lpwstr>0</vt:lpwstr>
  </property>
  <property fmtid="{D5CDD505-2E9C-101B-9397-08002B2CF9AE}" pid="9" name="MSIP_Label_caa6781e-fd15-4a75-92c1-1621a66939fe_Tag">
    <vt:lpwstr>10, 3, 0, 1</vt:lpwstr>
  </property>
</Properties>
</file>