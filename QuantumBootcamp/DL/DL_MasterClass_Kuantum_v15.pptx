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67" r:id="rId29"/>
    <p:sldId id="286" r:id="rId30"/>
    <p:sldId id="287" r:id="rId31"/>
    <p:sldId id="288" r:id="rId32"/>
    <p:sldId id="289" r:id="rId33"/>
    <p:sldId id="290" r:id="rId34"/>
    <p:sldId id="291" r:id="rId35"/>
    <p:sldId id="292" r:id="rId36"/>
    <p:sldId id="293" r:id="rId37"/>
    <p:sldId id="294" r:id="rId38"/>
    <p:sldId id="295" r:id="rId39"/>
    <p:sldId id="296" r:id="rId40"/>
    <p:sldId id="302" r:id="rId41"/>
    <p:sldId id="303" r:id="rId42"/>
    <p:sldId id="299" r:id="rId43"/>
    <p:sldId id="304" r:id="rId44"/>
    <p:sldId id="305" r:id="rId45"/>
    <p:sldId id="301" r:id="rId46"/>
    <p:sldId id="306" r:id="rId4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FFC7"/>
    <a:srgbClr val="03523C"/>
    <a:srgbClr val="BEBF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897"/>
    <p:restoredTop sz="51090" autoAdjust="0"/>
  </p:normalViewPr>
  <p:slideViewPr>
    <p:cSldViewPr snapToGrid="0" snapToObjects="1">
      <p:cViewPr varScale="1">
        <p:scale>
          <a:sx n="28" d="100"/>
          <a:sy n="28" d="100"/>
        </p:scale>
        <p:origin x="3216" y="9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1143000" y="685800"/>
            <a:ext cx="4572000" cy="3429000"/>
          </a:xfrm>
          <a:prstGeom prst="rect">
            <a:avLst/>
          </a:prstGeom>
        </p:spPr>
        <p:txBody>
          <a:bodyPr/>
          <a:lstStyle/>
          <a:p>
            <a:endParaRPr/>
          </a:p>
        </p:txBody>
      </p:sp>
      <p:sp>
        <p:nvSpPr>
          <p:cNvPr id="149" name="Shape 14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Merhaba, ben Veysel Murat Görken. Biyomedikal mühendisliğinden geliyorum; 2011 2016 arasında MATLAB ile medikal görüntü işleyerek yapay zekaya başladım, yüksek lisansta makine öğrenmesi özellikle ağaç modelleri ile çalıştım. Üç yıl veri bilimci olarak çalıştım, şu an Berlin'de iklim üzerine çalışan bir firmada AI Engineer'ım. Aynı zamanda Miuul Deep Learning Bootcamp'ında mentörlük yapıyorum.</a:t>
            </a:r>
          </a:p>
          <a:p>
            <a:endParaRPr/>
          </a:p>
          <a:p>
            <a:r>
              <a:t>Bugün üç soruya cevap arayacağız: derin öğrenme nedir, nasıl öğrenir, hangi mimariler var. Sonunda Colab'da Face Recognition Yüz tanıma modeli kullanacağız..</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Hikâyeye girmeden önce şu çizelgeye bir bakalım; bugün anlatacağım her şeyin haritası bu.</a:t>
            </a:r>
          </a:p>
          <a:p>
            <a:endParaRPr/>
          </a:p>
          <a:p>
            <a:r>
              <a:t>En solda 1950: Alan Turing'in sorusu — makineler düşünebilir mi? Turing zekâyı tanımlamak yerine ölçmeyi önerdi. 1956'da bu alana yapay zekâ denildi; 1959'da ise dama oynayan program için makine öğrenmesi dendi. Yani bu kavramların hiçbiri son on yılın icadı değil.</a:t>
            </a:r>
          </a:p>
          <a:p>
            <a:endParaRPr/>
          </a:p>
          <a:p>
            <a:r>
              <a:t>1986: Hinton ve Ekibi backpropagation makalesini yayınlıyor. Bir sinir ağını nasıl eğiteceğimizin cevabı bulunuyor. Fikir hazır. Peki sonra ne oluyor? Hiçbir şey. 90'lar geliyor, web geliyor, dot-com çılgınlığı başlıyor; parayı da zekâyı da web çekiyor, sinir ağları terk ediliyor.</a:t>
            </a:r>
          </a:p>
          <a:p>
            <a:endParaRPr/>
          </a:p>
          <a:p>
            <a:r>
              <a:t>Patlama ise 2012'de oluyor. Fikirle patlama arasında yirmi altı yıl var. Peki bu yirmi altı yıl ne bekledi?</a:t>
            </a:r>
          </a:p>
          <a:p>
            <a:endParaRPr/>
          </a:p>
          <a:p>
            <a:r>
              <a:t>[İNTERAKTİF — 1 dk] </a:t>
            </a:r>
            <a:br/>
            <a:br/>
            <a:r>
              <a:t>"Sizce ne eksikti?" → veri ve hesaplama gücü. </a:t>
            </a:r>
            <a:br/>
            <a:r>
              <a:t>"Veri nereden geldi?" → sosyal medya, Web 2.0; 2009'daki mavi etiketleri göster. </a:t>
            </a:r>
            <a:br/>
            <a:br/>
            <a:r>
              <a:t>"Hesaplama gücü nereden geldi?" → NVIDIA, oyun ekran kartları; 2007'deki yeşil etiketi göster. Cevap gelmezse kendin söyle, uzatma.</a:t>
            </a:r>
          </a:p>
          <a:p>
            <a:endParaRPr/>
          </a:p>
          <a:p>
            <a:r>
              <a:t>Bu çizelge bize tarihleri söylüyor ama insanları söylemiyor. Şimdi aynı hikâyeyi bir de insanlarıyla anlatayım.</a:t>
            </a:r>
          </a:p>
          <a:p>
            <a:r>
              <a:t>.</a:t>
            </a:r>
          </a:p>
          <a:p>
            <a:r>
              <a:t>.</a:t>
            </a:r>
          </a:p>
          <a:p>
            <a:r>
              <a:t>.</a:t>
            </a:r>
          </a:p>
          <a:p>
            <a:r>
              <a:t>.</a:t>
            </a:r>
          </a:p>
          <a:p>
            <a:r>
              <a:t>.</a:t>
            </a:r>
          </a:p>
          <a:p>
            <a:r>
              <a:t>.</a:t>
            </a:r>
          </a:p>
          <a:p>
            <a:r>
              <a:t>.</a:t>
            </a:r>
          </a:p>
          <a:p>
            <a:r>
              <a:t>.</a:t>
            </a:r>
          </a:p>
          <a:p>
            <a:r>
              <a:t>.</a:t>
            </a:r>
          </a:p>
          <a:p>
            <a:endParaRPr/>
          </a:p>
          <a:p>
            <a:r>
              <a:t>.</a:t>
            </a:r>
          </a:p>
          <a:p>
            <a:r>
              <a:t>.</a:t>
            </a:r>
          </a:p>
          <a:p>
            <a:r>
              <a:t>.</a:t>
            </a:r>
          </a:p>
          <a:p>
            <a:r>
              <a:t>.</a:t>
            </a:r>
          </a:p>
          <a:p>
            <a:r>
              <a:t>.</a:t>
            </a:r>
          </a:p>
          <a:p>
            <a:r>
              <a:t>.</a:t>
            </a:r>
          </a:p>
          <a:p>
            <a:endParaRPr/>
          </a:p>
          <a:p>
            <a:r>
              <a:t>.</a:t>
            </a:r>
          </a:p>
          <a:p>
            <a:r>
              <a:t>.</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Bazı hikâyeler o kadar birbirine benzer ki sonrasında ne olacağını neredeyse görebilirsiniz. Steve Jobs'ın hikâyesi mesela artık kült. Ama bilenler bilir: Jobs'ın yolu Wozniak'tan ayrı düşünülemez. Tıpkı Frodo'nun yolunu Sam'den ayrı düşünemeyeceğimiz gibi.</a:t>
            </a:r>
          </a:p>
          <a:p>
            <a:endParaRPr/>
          </a:p>
          <a:p>
            <a:r>
              <a:t>Sam Altman'ın hikâyesinde de böyle bir karakter var. OpenAI'ın arkasındaki asıl beyin: Ilya Sutskever. Bir noktada, birlikte kurdukları şirkette Altman'ı etik vizyondan yoksun olmakla ve paranın kölesi olmakla suçlayıp koltuğundan edecek kadar ilkelerine bağlı bir adamdan bahsediyoruz. Altman daha güçlü döndü; Ilya kurdukları yapının bir canavara dönüşmesini hayal kırıklığıyla izledi ve yoluna gitti.</a:t>
            </a:r>
          </a:p>
          <a:p>
            <a:endParaRPr/>
          </a:p>
          <a:p>
            <a:r>
              <a:t>Şuna dikkat edin: Altman ile ezeli düşmanı Elon Musk başta olmak üzere kimse Ilya hakkında kötü konuşmaz. Herkesin hem zekâsına hem vicdanına kefil olduğu bir karakter. İşte o yüzden ona yapay zekâ çağının Oppenheimer'ı diyorlar — insanlığın hayrına yarattığı şeyin mantar bulutuna bakıp pişmanlık duyan adam. Ne de olsa en büyük hataları en büyük zihinler yapar.</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Ilya adeta Birleşmiş Milletler'in vücut bulmuş hâli: Rus, Kanada, Amerika ve İsrail kökenleri aynı bünyede. 1985'te Sovyetler Birliği'nde doğdu; Sovyetler dağılınca aile İsrail'e taşındı, çocukluğu Kudüs'te geçti.</a:t>
            </a:r>
          </a:p>
          <a:p>
            <a:endParaRPr/>
          </a:p>
          <a:p>
            <a:r>
              <a:t>90'ların internet çağı geldiğinde herkes dönemin çılgınlığıyla meşguldü; onun aklında ise düşünen makineler vardı. Okul yıllarını şu soruların peşinde geçirdi: Zekâ nedir? Nasıl çalışır? Beyin örüntüleri nasıl okur? Hafıza nasıl işler? Nöronlar nasıl iletişim kurar? Bunlar bilimin de tıkandığı sorulardı.</a:t>
            </a:r>
          </a:p>
          <a:p>
            <a:endParaRPr/>
          </a:p>
          <a:p>
            <a:r>
              <a:t>Lisedeyken aile Kanada'ya yerleşti. Liseye başladı ama öğretmenleri potansiyeli bir ay içinde gördü ve Toronto Üniversitesi'ne kabul edildi.</a:t>
            </a:r>
          </a:p>
          <a:p>
            <a:endParaRPr/>
          </a:p>
          <a:p>
            <a:r>
              <a:t>Ve orada hayatının yönünü değiştirecek isimle tanıştı: Geoffrey Hinton. Yapay zekânın babası denen, sonradan hem Turing hem Nobel Fizik ödülünü alacak adam. Hinton o zamanlar hâlâ kendi başlattığı sinir ağlarını pratikte kullanılabilir hâle getirmeye çalışıyordu. Ilya'nın yıllardır aradığı sorunun cevabı, aslında Hinton'ın uğraşında gizliydi.</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Ama 2000'lerin başındayız ve birçok kişi bu alanın bir sonu olmadığını düşünüyor. Sinir ağları çöpe atılmak üzere.</a:t>
            </a:r>
          </a:p>
          <a:p>
            <a:endParaRPr/>
          </a:p>
          <a:p>
            <a:r>
              <a:t>Ilya böyle düşünenlerden değildi. Hinton'ın kapısını çaldı ve yaz tatilinde laboratuvarında ücretsiz çalışmak istediğini söyledi. Herkesin tatil yaptığı yaz günlerinde, herkesin ölü dediği alana kendini adayan bir çocuktu.</a:t>
            </a:r>
          </a:p>
          <a:p>
            <a:endParaRPr/>
          </a:p>
          <a:p>
            <a:r>
              <a:t>Peki üzerine çalıştıkları şey neydi? O zamanlar yapay zekâ klasik programlamaya benziyordu: bilgi elle kodlanıyordu. Hinton ve ekibi ise şunu soruyordu: tüm bilgileri kendimiz vermektense, bilgisayara kendi kendine öğrenme yetisi versek daha iyi olmaz mı? </a:t>
            </a:r>
            <a:br/>
            <a:endParaRPr/>
          </a:p>
          <a:p>
            <a:r>
              <a:t>[İNTERAKTİF — 1,5 dk] </a:t>
            </a:r>
            <a:br/>
            <a:r>
              <a:t>Sor: "Bir bilgisayara kediyi nasıl tarif edersiniz? Bana kural yazın." Gelen her kurala bir istisna söyle: bıyığı vardır → ya görünmüyorsa; tüylüdür → Sphynx; sivri kulaklı → Scottish Fold.</a:t>
            </a:r>
          </a:p>
          <a:p>
            <a:endParaRPr/>
          </a:p>
          <a:p>
            <a:r>
              <a:t>Klasik yöntemi uygulayanlar tam da bunu yapıyordu: kedinin bıyıkları vardır, kulakları vardır, tüylüdür. Ama ya kedi arkasını dönmüşse? Ya ışık iyi değilse? Sırf bir kediyi tanıtabilmek için yazmanız gereken kural sayısı on binlere çıkıyordu.</a:t>
            </a:r>
          </a:p>
          <a:p>
            <a:endParaRPr/>
          </a:p>
          <a:p>
            <a:r>
              <a:t>Hinton ve ekibinin fikri ise basitti: bilgisayara milyonlarca kedi fotoğrafı gösterelim, kural koymayalım, örüntüyü kendisi anlasın.</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Ama bunun için çok ama çok veri lazımdı. Peki o nereden gelecekti? Web 2.0'dan. Sosyal medya başta olmak üzere forumlar, Wikipedia ve daha fazlası sayesinde öyle bir veri akışı başladı ki, rüya gibiydi. Formül artık hazırdı.</a:t>
            </a:r>
          </a:p>
          <a:p>
            <a:endParaRPr/>
          </a:p>
          <a:p>
            <a:r>
              <a:t>Tam bu dönemde bunu kanıtlayabilecekleri bir yarışma da vardı: ImageNet. Fei-Fei Li ve ekibinin kurduğu, o dönemin en kapsamlı görsel veri seti. Dünyanın dört bir yanından ekipler modellerini burada yarıştırıyordu.</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Ilya, Hinton'a gidip 2012'deki yarışmaya hazırlanmaları gerektiğini söyledi. Ekipten bir başka mühendis, Alex Krizhevsky, sinir ağlarını kullanarak görselleri tanıyan algoritmayı geliştirdi: AlexNet.</a:t>
            </a:r>
          </a:p>
          <a:p>
            <a:endParaRPr/>
          </a:p>
          <a:p>
            <a:r>
              <a:t>Yarışma günü İtalya'da sonuçlar açıklandığında herkes şok oldu.</a:t>
            </a:r>
          </a:p>
          <a:p>
            <a:endParaRPr/>
          </a:p>
          <a:p>
            <a:r>
              <a:t>O zamana kadar hata payı yüzde 26'larda geziniyor ve her yıl çok az düşüyordu. AlexNet bu oranı bir anda yüzde 15'e çekti.</a:t>
            </a:r>
          </a:p>
          <a:p>
            <a:endParaRPr/>
          </a:p>
          <a:p>
            <a:r>
              <a:t>Tabii herkes önce işin içinde bir hile olduğunu düşündü. Ama analizler asıl devrimi işaret ediyordu: sinir ağları, kısıtlı imkânlarla, milyon dolarlık dev şirketlerin sistemlerini geride bırakmıştı. Grafiğin sağına bakın — bir kez kırıldıktan sonra düşüş hiç durmadı; 2015'te oran yüzde 3,6, yani insan performansının altı.</a:t>
            </a:r>
          </a:p>
          <a:p>
            <a:endParaRPr/>
          </a:p>
          <a:p>
            <a:r>
              <a:t>O gün tarihî bir gündü; bir anlamda ChatGPT'nin de doğum günüydü. O günden sonra klasik yöntemler kenara atıldı, herkes bu yöne baktı.</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Artık soru derin öğrenme işe yarıyor mu değildi. Soru şuydu: bu teknoloji gerçekse, onu kim kontrol edecek?</a:t>
            </a:r>
          </a:p>
          <a:p>
            <a:endParaRPr/>
          </a:p>
          <a:p>
            <a:r>
              <a:t>Google başta olmak üzere devler trene atladı; en kolay yol satın almaktı. Google, Hinton ve ekibinin şirketini bünyesine kattı. Ilya artık Google'daydı ve her şeye sahipti: veri, işlem gücü, kaynak. Ama bazı insanlar yerinde duramaz; ne verirseniz verin en çok özgürlüğü isterler.</a:t>
            </a:r>
          </a:p>
          <a:p>
            <a:endParaRPr/>
          </a:p>
          <a:p>
            <a:r>
              <a:t>Bir gün posta kutusunda bir mesaj gördü: yapay zekâ konusunda önemli bir fırsat var, akşam buluşalım. Sam Altman'dı. O akşam masada Altman, Greg Brockman, Elon Musk ve Ilya vardı. Musk finansmanı, Altman yönetimi, Brockman mühendisliği sağladı; Ilya bilimsel vizyonu üstlendi. O masada OpenAI doğdu — hedef, Google ve DeepMind'a rakip olabilecek kâr amacı gütmeyen açık bir laboratuvardı.</a:t>
            </a:r>
          </a:p>
          <a:p>
            <a:endParaRPr/>
          </a:p>
          <a:p>
            <a:r>
              <a:t>İşin felsefesi Ilya'daydı. Herkes olaya mühendislik problemi olarak bakarken o en baştaki soruya dönüyordu: bir insan nasıl öğrenir? Çocuğa her şeyi tek tek öğretmeyiz; nasıl öğreneceğini öğretiriz.</a:t>
            </a:r>
          </a:p>
          <a:p>
            <a:endParaRPr/>
          </a:p>
          <a:p>
            <a:r>
              <a:t>Onun cümlesi şuydu: yapay zekâya internet kadar büyük bir veri verelim, örüntüleri kendisi öğrensin. Özetle — ölçeklendir ve gerisine karışma. Bu fikrin karşılığını bulduğu mimari 2017'de çıktı: Transformer. Sonrası malum, ChatGPT.</a:t>
            </a:r>
          </a:p>
          <a:p>
            <a:endParaRPr/>
          </a:p>
          <a:p>
            <a:r>
              <a:t>Ama amaç ChatGPT değildi. O masada konuşulan asıl konu AGI'ydı. Ilya bunun bir gün geleceğini biliyordu; kontrolsüz gelişmesinin ne büyük bir tehdit olabileceğinin de farkındaydı.</a:t>
            </a:r>
          </a:p>
          <a:p>
            <a:endParaRPr/>
          </a:p>
          <a:p>
            <a:r>
              <a:t>[GEÇİŞ] "Şimdi geriye dönüp şunu soralım: bu sinir ağları tam olarak ne yapıyor da klasik yöntemlerden bu kadar farklı?" → Bölüm 02'ye geç.</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Bu bölümün tek cümlelik özeti bu slayt. Klasik yaklaşımda araştırmacılar yıllarını 'iyi feature tasarlamaya' harcıyordu — SIFT, HOG gibi. Derin öğrenmede o iş modele devredildi.</a:t>
            </a:r>
          </a:p>
          <a:p>
            <a:r>
              <a:t>Kedi örneğini hatırlat: kural yazmak yerine örnek göstermek.</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Kısa geç. Görüntü, ses, metin, video ise derin öğrenme. Zaman serisinde cevap 'duruma göre': elinde tek ve kısa bir seri varsa klasik yöntemler (ARIMA, gradient boosting + gecikme değişkenleri) genelde yeter; binlerce seri ya da uzun bağlam varsa LSTM ve Transformer öne geçiyor. Tablo verisinde XGBoost hâlâ güçlü. Açıklanabilirlik zorunluysa — banka, sigorta, sağlık — klasik yöntemler tartışmasız.</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Bir sinir ağı üç parçadan oluşur: girdi katmanı, bir veya daha fazla gizli katman, çıktı katmanı. 'Derin' kelimesi buradan geliyor — gizli katman sayısı arttıkça ağ derinleşir. Veri soldan sağa akar. Şimdi bu resmi tek bir nörona indirgeyip parça parça kuralım.</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Girdiler. Tablo verisinde her sütun bir girdi: yaş, tutar, online mı, yurt dışı mı. Görüntüde her piksel bir girdi olurdu.</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Ağırlıklar. Her girdinin bir önem katsayısı var. Öğrenme dediğimiz şey aslında tam olarak bu sayıları bulmak — başka hiçbir şey değil.</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Bias. Sabit bir kaydırma terimi. Kredi başvurusu benzetmesi: ağırlıklar kriterlerin önemi, bias ise bankanın genel eşiği. Girdilerin hepsi sıfır olsa bile nöron bir şey söyleyebilsin diye var.</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Toplama. Her girdiyi ağırlığıyla çarpıp topluyoruz, üstüne bias'ı ekliyoruz. Bu kadar. Bir nöron aslında ağırlıklı bir oylamadır.</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Aktivasyon. Toplamı bir fonksiyondan geçiriyoruz. Az sonra bunun neden şart olduğunu konuşacağız — bir sonraki slayt.</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Ve çıktı. Tek bir nöronun tamamı bu: çarp, topla, bias ekle, aktivasyondan geçir.</a:t>
            </a:r>
          </a:p>
          <a:p>
            <a:endParaRPr/>
          </a:p>
          <a:p>
            <a:r>
              <a:t>[AKTİVASYONU BURADA SÖZLÜ ANLAT]</a:t>
            </a:r>
          </a:p>
          <a:p>
            <a:r>
              <a:t>Aktivasyon neden şart? Olmazsa 100 katmanlı bir ağ, tek katmanlı doğrusal bir modele eşittir — doğrusalın doğrusalı yine doğrusaldır. Katman eklemenin anlamı kalmaz.</a:t>
            </a:r>
          </a:p>
          <a:p>
            <a:r>
              <a:t>Gizli katmanlarda bugünün varsayılanı ReLU: negatifse sıfır, pozitifse aynen geçir. Basit ve hızlı; ayrıca gradyanı sönmüyor. Modern Transformer'larda GELU/SiLU kullanılıyor, ReLU'nun yumuşatılmış hâli.</a:t>
            </a:r>
          </a:p>
          <a:p>
            <a:r>
              <a:t>Sigmoid ve softmax ise çıkış katmanında: sigmoid 0–1 arasına sıkıştırır (evet/hayır), softmax çok sınıflı olasılık üretir. Bizim örneğimiz regresyon olduğu için çıkışta aktivasyon yok — sayı doğrudan tahmin.</a:t>
            </a:r>
          </a:p>
          <a:p>
            <a:r>
              <a:t>Az sonraki hesapta gizli katmanda ReLU kullanacağız.</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Şimdi bu nöronu gerçek sayılarla çalıştıralım. Bir ev fiyatı tahmin edeceğiz: 3 odalı, 120 m², 10 yaşında, merkeze 5 km uzaklıkta bir daire. Gerçek fiyatı 850 bin euro.</a:t>
            </a:r>
          </a:p>
          <a:p>
            <a:r>
              <a:t>Değerleri 0–1 arasına ölçekledik. Neden? Ölçeklemezsek 120 gibi bir sayı diğer her şeyi ezer. Bu, pratikte ilk yapılan işlerden biridir.</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İki gizli nöronumuz var. Önce birincisini hesaplayalım.</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İki gizli nöronumuz var. Önce birincisini hesaplayalım. Gizli katmanda ReLU var: değer pozitifse aynen geçiyor, o yüzden ReLU(0.76) = 0.76.</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Formülü açıyoruz: her girdi kendi ağırlığıyla çarpılıyor, hepsi toplanıyor, bias ekleniyor.</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İkinci nöron için aynı işlem, farklı ağırlıklarla. Dikkat edin: aynı girdiler, farklı ağırlıklar — bu yüzden farklı şeyler öğreniyorlar.</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Şimdi çıktı katmanı. Gizli katmanın ürettiği iki sayı (0.83 ve 0.87) artık yeni girdilerimiz.</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Sonuç: ŷ = 1.10. Model 'bu ev yaklaşık 1 milyon 100 bin euro' diyor; gerçek fiyat 850 bin. Dikkat: çıkışta aktivasyon yok, o yüzden sonuç 1'i aşabiliyor — regresyonda çıktı sınırsızdır.</a:t>
            </a:r>
          </a:p>
          <a:p>
            <a:r>
              <a:t>İlk turda bu sapma normaldir, ağırlıklar rastgele başlatıldı. Peki model ne kadar yanıldığını nasıl ölçecek?</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Neden tek sayı? Çünkü optimizasyon ancak tek bir sayıyı küçültmek üzerine kurulabilir.</a:t>
            </a:r>
          </a:p>
          <a:p>
            <a:r>
              <a:t>Bizim problemimiz regresyon, o yüzden MSE: farkın karesi. 1.10 tahmin ettik, 0.85'ti; fark 0.25, karesi 0.06. Kare alıyoruz ki eksi ve artı hatalar birbirini götürmesin ve büyük hatalar daha ağır cezalansın.</a:t>
            </a:r>
          </a:p>
          <a:p>
            <a:r>
              <a:t>Sınıflandırmada cross-entropy kullanılır; oraya girmiyoruz.</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Initialization. Ağırlıklar rastgele başlatılır. Hepsini sıfır yaparsak bütün nöronlar aynı şeyi öğrenir — o yüzden rastgele.</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Forward propagation. Az önce elle yaptığımız şey: veriyi soldan sağa akıtıp bir tahmin üretmek.</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Loss calculation. Tahminle gerçek arasındaki farkı tek bir sayıya indiriyoruz.</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Backpropagation. Hata geriye doğru yayılıyor ve her ağırlığın hatadan ne kadar sorumlu olduğu hesaplanıyor. Zincir kuralı — matematiğine girmiyoruz.</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Update weights. Her ağırlık, sorumluluğu oranında güncelleniyor. Bir sonraki slayttaki formül tam olarak bunu yapıyor.</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Iteration. Bu döngü binlerce kez tekrarlanıyor. Tüm veri bir kez geçtiğinde buna epoch diyoruz.</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Bütün süreç tek resimde. İleri yayılımda tahmin üretiliyor, hata hesaplanıyor, geri yayılımda ağırlıklar güncelleniyor. Döngü bu.</a:t>
            </a:r>
          </a:p>
          <a:p>
            <a:endParaRPr/>
          </a:p>
          <a:p>
            <a:r>
              <a:t>[GRADIENT DESCENT'İ BURADA SÖZLÜ GEÇ]</a:t>
            </a:r>
          </a:p>
          <a:p>
            <a:r>
              <a:t>Ağırlıklar nasıl güncelleniyor? Tek formül: yeni ağırlık = eski ağırlık − öğrenme oranı × eğim. Sisli bir dağda yokuş aşağı inmek gibi: nerede olduğunu göremiyorsun ama ayağının altındaki eğimi hissediyorsun, en dik iniş yönünde bir adım atıyorsun, tekrarlıyorsun.</a:t>
            </a:r>
          </a:p>
          <a:p>
            <a:r>
              <a:t>Öğrenme oranı çok küçükse öğrenme sürünür, çok büyükse dibi ıskalayıp zıplar. Optimizer dediğimiz şey bu adımı akıllandırır — Colab'da optimizer='adam' yazacağız, bugünün varsayılanı.</a:t>
            </a:r>
          </a:p>
          <a:p>
            <a:endParaRPr/>
          </a:p>
          <a:p>
            <a:r>
              <a:t>[GEÇİŞ] Bu bölüm bitti. Aradan sonra hangi mimariler var ona bakacağız.</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dirty="0" err="1"/>
              <a:t>Hızlı</a:t>
            </a:r>
            <a:r>
              <a:rPr dirty="0"/>
              <a:t> </a:t>
            </a:r>
            <a:r>
              <a:rPr dirty="0" err="1"/>
              <a:t>geç</a:t>
            </a:r>
            <a:r>
              <a:rPr dirty="0"/>
              <a:t> — </a:t>
            </a:r>
            <a:r>
              <a:rPr dirty="0" err="1"/>
              <a:t>bunu</a:t>
            </a:r>
            <a:r>
              <a:rPr dirty="0"/>
              <a:t> </a:t>
            </a:r>
            <a:r>
              <a:rPr dirty="0" err="1"/>
              <a:t>zaten</a:t>
            </a:r>
            <a:r>
              <a:rPr dirty="0"/>
              <a:t> </a:t>
            </a:r>
            <a:r>
              <a:rPr dirty="0" err="1"/>
              <a:t>kurduk</a:t>
            </a:r>
            <a:r>
              <a:rPr dirty="0"/>
              <a:t>. Tek </a:t>
            </a:r>
            <a:r>
              <a:rPr dirty="0" err="1"/>
              <a:t>vurgulanacak</a:t>
            </a:r>
            <a:r>
              <a:rPr dirty="0"/>
              <a:t> </a:t>
            </a:r>
            <a:r>
              <a:rPr dirty="0" err="1"/>
              <a:t>şey</a:t>
            </a:r>
            <a:r>
              <a:rPr dirty="0"/>
              <a:t>: her </a:t>
            </a:r>
            <a:r>
              <a:rPr dirty="0" err="1"/>
              <a:t>girdi</a:t>
            </a:r>
            <a:r>
              <a:rPr dirty="0"/>
              <a:t> her </a:t>
            </a:r>
            <a:r>
              <a:rPr dirty="0" err="1"/>
              <a:t>nörona</a:t>
            </a:r>
            <a:r>
              <a:rPr dirty="0"/>
              <a:t> </a:t>
            </a:r>
            <a:r>
              <a:rPr dirty="0" err="1"/>
              <a:t>bağlı</a:t>
            </a:r>
            <a:r>
              <a:rPr dirty="0"/>
              <a:t>, </a:t>
            </a:r>
            <a:r>
              <a:rPr dirty="0" err="1"/>
              <a:t>yani</a:t>
            </a:r>
            <a:r>
              <a:rPr dirty="0"/>
              <a:t> model </a:t>
            </a:r>
            <a:r>
              <a:rPr dirty="0" err="1"/>
              <a:t>girdilerin</a:t>
            </a:r>
            <a:r>
              <a:rPr dirty="0"/>
              <a:t> </a:t>
            </a:r>
            <a:r>
              <a:rPr dirty="0" err="1"/>
              <a:t>sırasını</a:t>
            </a:r>
            <a:r>
              <a:rPr dirty="0"/>
              <a:t> </a:t>
            </a:r>
            <a:r>
              <a:rPr dirty="0" err="1"/>
              <a:t>umursamaz</a:t>
            </a:r>
            <a:r>
              <a:rPr dirty="0"/>
              <a:t>. Bir </a:t>
            </a:r>
            <a:r>
              <a:rPr dirty="0" err="1"/>
              <a:t>fotoğrafı</a:t>
            </a:r>
            <a:r>
              <a:rPr dirty="0"/>
              <a:t> </a:t>
            </a:r>
            <a:r>
              <a:rPr dirty="0" err="1"/>
              <a:t>bu</a:t>
            </a:r>
            <a:r>
              <a:rPr dirty="0"/>
              <a:t> </a:t>
            </a:r>
            <a:r>
              <a:rPr dirty="0" err="1"/>
              <a:t>ağa</a:t>
            </a:r>
            <a:r>
              <a:rPr dirty="0"/>
              <a:t> </a:t>
            </a:r>
            <a:r>
              <a:rPr dirty="0" err="1"/>
              <a:t>versen</a:t>
            </a:r>
            <a:r>
              <a:rPr dirty="0"/>
              <a:t> </a:t>
            </a:r>
            <a:r>
              <a:rPr dirty="0" err="1"/>
              <a:t>pikselleri</a:t>
            </a:r>
            <a:r>
              <a:rPr dirty="0"/>
              <a:t> </a:t>
            </a:r>
            <a:r>
              <a:rPr dirty="0" err="1"/>
              <a:t>karıştırsan</a:t>
            </a:r>
            <a:r>
              <a:rPr dirty="0"/>
              <a:t> bile </a:t>
            </a:r>
            <a:r>
              <a:rPr dirty="0" err="1"/>
              <a:t>aynı</a:t>
            </a:r>
            <a:r>
              <a:rPr dirty="0"/>
              <a:t> </a:t>
            </a:r>
            <a:r>
              <a:rPr dirty="0" err="1"/>
              <a:t>sonucu</a:t>
            </a:r>
            <a:r>
              <a:rPr dirty="0"/>
              <a:t> </a:t>
            </a:r>
            <a:r>
              <a:rPr dirty="0" err="1"/>
              <a:t>verir</a:t>
            </a:r>
            <a:r>
              <a:rPr dirty="0"/>
              <a:t>; </a:t>
            </a:r>
            <a:r>
              <a:rPr dirty="0" err="1"/>
              <a:t>işte</a:t>
            </a:r>
            <a:r>
              <a:rPr dirty="0"/>
              <a:t> CNN tam </a:t>
            </a:r>
            <a:r>
              <a:rPr dirty="0" err="1"/>
              <a:t>olarak</a:t>
            </a:r>
            <a:r>
              <a:rPr dirty="0"/>
              <a:t> </a:t>
            </a:r>
            <a:r>
              <a:rPr dirty="0" err="1"/>
              <a:t>bu</a:t>
            </a:r>
            <a:r>
              <a:rPr dirty="0"/>
              <a:t> </a:t>
            </a:r>
            <a:r>
              <a:rPr dirty="0" err="1"/>
              <a:t>yüzden</a:t>
            </a:r>
            <a:r>
              <a:rPr dirty="0"/>
              <a:t> var.</a:t>
            </a:r>
          </a:p>
          <a:p>
            <a:endParaRPr dirty="0"/>
          </a:p>
          <a:p>
            <a:endParaRPr dirty="0"/>
          </a:p>
          <a:p>
            <a:endParaRPr dirty="0"/>
          </a:p>
          <a:p>
            <a:endParaRPr dirty="0"/>
          </a:p>
          <a:p>
            <a:endParaRPr dirty="0"/>
          </a:p>
          <a:p>
            <a:endParaRPr dirty="0"/>
          </a:p>
          <a:p>
            <a:endParaRPr dirty="0"/>
          </a:p>
          <a:p>
            <a:endParaRPr dirty="0"/>
          </a:p>
          <a:p>
            <a:endParaRPr dirty="0"/>
          </a:p>
          <a:p>
            <a:endParaRPr dirty="0"/>
          </a:p>
          <a:p>
            <a:endParaRPr dirty="0"/>
          </a:p>
          <a:p>
            <a:endParaRPr dirty="0"/>
          </a:p>
          <a:p>
            <a:endParaRPr dirty="0"/>
          </a:p>
          <a:p>
            <a:endParaRPr dirty="0"/>
          </a:p>
          <a:p>
            <a:endParaRPr dirty="0"/>
          </a:p>
          <a:p>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Soldan sağa oku. Görüntü ham piksel olarak giriyor. Küçük bir filtre — kernel — görüntünün üzerinde gezerek kenarları, sonra dokuları, sonra parçaları yakalıyor. Pooling her adımda boyutu küçültüyor, önemli olanı bırakıyor.</a:t>
            </a:r>
          </a:p>
          <a:p>
            <a:r>
              <a:t>Flatten katmanında bu haritalar tek bir uzun vektöre diziliyor ve işte oradan sonrası bildiğimiz ANN: tam bağlantılı katmanlar. Softmax de olasılığa çeviriyor — bu görüntü %70 zebra.</a:t>
            </a:r>
          </a:p>
          <a:p>
            <a:r>
              <a:t>Vurgulanacak tek şey: klasik yöntemde 'zebra çizgilidir' diye feature'ı biz yazardık; burada filtreleri model kendi öğreniyor.</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Soldaki tek hücre, sağdaki onun zaman içinde açılmış hâli — ikisi aynı şey, aynı ağırlıklar.</a:t>
            </a:r>
          </a:p>
          <a:p>
            <a:r>
              <a:t>Örnek basit: pazartesi 21, salı 22, çarşamba 24 derece. Perşembeyi tahmin et. Modelin işine yarayan ilk sezgi şu: yarın en çok bugüne benzer. RNN bunu 'hafıza' okuyla taşıyor.</a:t>
            </a:r>
          </a:p>
          <a:p>
            <a:r>
              <a:t>Peki geçen ayın soğuk dalgası? O bilgi bu zincirde adım adım çarpıla çarpıla sönüyor. Uzun geçmiş kayboluyor. Buradan LSTM'e geç.</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Aynı hava durumu örneği. RNN'de hafıza her adımda eziliyordu; LSTM hücrenin içinden geçen bir şerit koyuyor: hücre durumu. Bilgi bu şerit üzerinde bozulmadan haftalarca taşınabiliyor.</a:t>
            </a:r>
          </a:p>
          <a:p>
            <a:r>
              <a:t>Üç kapı bu şeridi yönetiyor, her biri 0 ile 1 arasında bir vana: Forget — geçen ayın soğuğunu ne kadar tutayım; Input — bugünün 24 derecesini ne kadar yazayım; Output — yarın için ne vereyim. Bu vanaların değerlerini de model öğreniyor.</a:t>
            </a:r>
          </a:p>
          <a:p>
            <a:r>
              <a:t>Şeritteki × forget kapısının kısması, + input kapısının eklemesi. GRU diye sadeleştirilmiş bir versiyonu var, ismini duyman yeter.</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lang="tr-TR" dirty="0"/>
              <a:t>Şuana </a:t>
            </a:r>
            <a:r>
              <a:rPr dirty="0" err="1"/>
              <a:t>kadar</a:t>
            </a:r>
            <a:r>
              <a:rPr dirty="0"/>
              <a:t> </a:t>
            </a:r>
            <a:r>
              <a:rPr dirty="0" err="1"/>
              <a:t>anlattığımız</a:t>
            </a:r>
            <a:r>
              <a:rPr dirty="0"/>
              <a:t> her </a:t>
            </a:r>
            <a:r>
              <a:rPr dirty="0" err="1"/>
              <a:t>şey</a:t>
            </a:r>
            <a:r>
              <a:rPr dirty="0"/>
              <a:t> </a:t>
            </a:r>
            <a:r>
              <a:rPr dirty="0" err="1"/>
              <a:t>sağ</a:t>
            </a:r>
            <a:r>
              <a:rPr dirty="0"/>
              <a:t> </a:t>
            </a:r>
            <a:r>
              <a:rPr dirty="0" err="1"/>
              <a:t>taraftı</a:t>
            </a:r>
            <a:r>
              <a:rPr dirty="0"/>
              <a:t>.</a:t>
            </a:r>
          </a:p>
          <a:p>
            <a:endParaRPr dirty="0"/>
          </a:p>
          <a:p>
            <a:r>
              <a:rPr dirty="0" err="1"/>
              <a:t>Ortada</a:t>
            </a:r>
            <a:r>
              <a:rPr dirty="0"/>
              <a:t> </a:t>
            </a:r>
            <a:r>
              <a:rPr dirty="0" err="1"/>
              <a:t>bir</a:t>
            </a:r>
            <a:r>
              <a:rPr dirty="0"/>
              <a:t> </a:t>
            </a:r>
            <a:r>
              <a:rPr dirty="0" err="1"/>
              <a:t>kedi</a:t>
            </a:r>
            <a:r>
              <a:rPr dirty="0"/>
              <a:t> </a:t>
            </a:r>
            <a:r>
              <a:rPr dirty="0" err="1"/>
              <a:t>resimleri</a:t>
            </a:r>
            <a:r>
              <a:rPr dirty="0"/>
              <a:t> </a:t>
            </a:r>
            <a:r>
              <a:rPr dirty="0" err="1"/>
              <a:t>veri</a:t>
            </a:r>
            <a:r>
              <a:rPr dirty="0"/>
              <a:t> </a:t>
            </a:r>
            <a:r>
              <a:rPr dirty="0" err="1"/>
              <a:t>seti</a:t>
            </a:r>
            <a:r>
              <a:rPr dirty="0"/>
              <a:t> var. </a:t>
            </a:r>
            <a:r>
              <a:rPr dirty="0" err="1"/>
              <a:t>Aynı</a:t>
            </a:r>
            <a:r>
              <a:rPr dirty="0"/>
              <a:t> </a:t>
            </a:r>
            <a:r>
              <a:rPr dirty="0" err="1"/>
              <a:t>veriyle</a:t>
            </a:r>
            <a:r>
              <a:rPr dirty="0"/>
              <a:t> </a:t>
            </a:r>
            <a:r>
              <a:rPr dirty="0" err="1"/>
              <a:t>iki</a:t>
            </a:r>
            <a:r>
              <a:rPr dirty="0"/>
              <a:t> </a:t>
            </a:r>
            <a:r>
              <a:rPr dirty="0" err="1"/>
              <a:t>bambaşka</a:t>
            </a:r>
            <a:r>
              <a:rPr dirty="0"/>
              <a:t> </a:t>
            </a:r>
            <a:r>
              <a:rPr dirty="0" err="1"/>
              <a:t>şey</a:t>
            </a:r>
            <a:r>
              <a:rPr dirty="0"/>
              <a:t> </a:t>
            </a:r>
            <a:r>
              <a:rPr dirty="0" err="1"/>
              <a:t>yapabilirsiniz</a:t>
            </a:r>
            <a:r>
              <a:rPr dirty="0"/>
              <a:t>.</a:t>
            </a:r>
          </a:p>
          <a:p>
            <a:endParaRPr dirty="0"/>
          </a:p>
          <a:p>
            <a:r>
              <a:rPr dirty="0"/>
              <a:t>SAĞ TARAF — discriminative, </a:t>
            </a:r>
            <a:r>
              <a:rPr dirty="0" err="1"/>
              <a:t>yani</a:t>
            </a:r>
            <a:r>
              <a:rPr dirty="0"/>
              <a:t> </a:t>
            </a:r>
            <a:r>
              <a:rPr dirty="0" err="1"/>
              <a:t>ayırt</a:t>
            </a:r>
            <a:r>
              <a:rPr dirty="0"/>
              <a:t> </a:t>
            </a:r>
            <a:r>
              <a:rPr dirty="0" err="1"/>
              <a:t>edici</a:t>
            </a:r>
            <a:r>
              <a:rPr dirty="0"/>
              <a:t> model. Yeni </a:t>
            </a:r>
            <a:r>
              <a:rPr dirty="0" err="1"/>
              <a:t>bir</a:t>
            </a:r>
            <a:r>
              <a:rPr dirty="0"/>
              <a:t> </a:t>
            </a:r>
            <a:r>
              <a:rPr dirty="0" err="1"/>
              <a:t>kedi</a:t>
            </a:r>
            <a:r>
              <a:rPr dirty="0"/>
              <a:t> </a:t>
            </a:r>
            <a:r>
              <a:rPr dirty="0" err="1"/>
              <a:t>fotoğrafı</a:t>
            </a:r>
            <a:r>
              <a:rPr dirty="0"/>
              <a:t> </a:t>
            </a:r>
            <a:r>
              <a:rPr dirty="0" err="1"/>
              <a:t>verirsiniz</a:t>
            </a:r>
            <a:r>
              <a:rPr dirty="0"/>
              <a:t>, '</a:t>
            </a:r>
            <a:r>
              <a:rPr dirty="0" err="1"/>
              <a:t>bu</a:t>
            </a:r>
            <a:r>
              <a:rPr dirty="0"/>
              <a:t> </a:t>
            </a:r>
            <a:r>
              <a:rPr dirty="0" err="1"/>
              <a:t>bir</a:t>
            </a:r>
            <a:r>
              <a:rPr dirty="0"/>
              <a:t> Ankara </a:t>
            </a:r>
            <a:r>
              <a:rPr dirty="0" err="1"/>
              <a:t>kedisi</a:t>
            </a:r>
            <a:r>
              <a:rPr dirty="0"/>
              <a:t>' der. Bir </a:t>
            </a:r>
            <a:r>
              <a:rPr dirty="0" err="1"/>
              <a:t>etiket</a:t>
            </a:r>
            <a:r>
              <a:rPr dirty="0"/>
              <a:t> </a:t>
            </a:r>
            <a:r>
              <a:rPr dirty="0" err="1"/>
              <a:t>üretir</a:t>
            </a:r>
            <a:r>
              <a:rPr dirty="0"/>
              <a:t>. </a:t>
            </a:r>
            <a:r>
              <a:rPr dirty="0" err="1"/>
              <a:t>Bugün</a:t>
            </a:r>
            <a:r>
              <a:rPr dirty="0"/>
              <a:t> </a:t>
            </a:r>
            <a:r>
              <a:rPr dirty="0" err="1"/>
              <a:t>anlattığımız</a:t>
            </a:r>
            <a:r>
              <a:rPr dirty="0"/>
              <a:t> her </a:t>
            </a:r>
            <a:r>
              <a:rPr dirty="0" err="1"/>
              <a:t>örnek</a:t>
            </a:r>
            <a:r>
              <a:rPr dirty="0"/>
              <a:t> </a:t>
            </a:r>
            <a:r>
              <a:rPr dirty="0" err="1"/>
              <a:t>buydu</a:t>
            </a:r>
            <a:r>
              <a:rPr dirty="0"/>
              <a:t>: </a:t>
            </a:r>
            <a:r>
              <a:rPr dirty="0" err="1"/>
              <a:t>ev</a:t>
            </a:r>
            <a:r>
              <a:rPr dirty="0"/>
              <a:t> </a:t>
            </a:r>
            <a:r>
              <a:rPr dirty="0" err="1"/>
              <a:t>fiyatı</a:t>
            </a:r>
            <a:r>
              <a:rPr dirty="0"/>
              <a:t> </a:t>
            </a:r>
            <a:r>
              <a:rPr dirty="0" err="1"/>
              <a:t>tahmini</a:t>
            </a:r>
            <a:r>
              <a:rPr dirty="0"/>
              <a:t>, </a:t>
            </a:r>
            <a:r>
              <a:rPr dirty="0" err="1"/>
              <a:t>hava</a:t>
            </a:r>
            <a:r>
              <a:rPr dirty="0"/>
              <a:t> </a:t>
            </a:r>
            <a:r>
              <a:rPr dirty="0" err="1"/>
              <a:t>tahmini</a:t>
            </a:r>
            <a:r>
              <a:rPr dirty="0"/>
              <a:t>, </a:t>
            </a:r>
            <a:r>
              <a:rPr dirty="0" err="1"/>
              <a:t>görüntü</a:t>
            </a:r>
            <a:r>
              <a:rPr dirty="0"/>
              <a:t> </a:t>
            </a:r>
            <a:r>
              <a:rPr dirty="0" err="1"/>
              <a:t>sınıflandırma</a:t>
            </a:r>
            <a:r>
              <a:rPr dirty="0"/>
              <a:t>.</a:t>
            </a:r>
          </a:p>
          <a:p>
            <a:endParaRPr dirty="0"/>
          </a:p>
          <a:p>
            <a:r>
              <a:rPr dirty="0"/>
              <a:t>SOL TARAF — generative, </a:t>
            </a:r>
            <a:r>
              <a:rPr dirty="0" err="1"/>
              <a:t>yani</a:t>
            </a:r>
            <a:r>
              <a:rPr dirty="0"/>
              <a:t> </a:t>
            </a:r>
            <a:r>
              <a:rPr dirty="0" err="1"/>
              <a:t>üretken</a:t>
            </a:r>
            <a:r>
              <a:rPr dirty="0"/>
              <a:t> model. </a:t>
            </a:r>
            <a:r>
              <a:rPr dirty="0" err="1"/>
              <a:t>Aynı</a:t>
            </a:r>
            <a:r>
              <a:rPr dirty="0"/>
              <a:t> </a:t>
            </a:r>
            <a:r>
              <a:rPr dirty="0" err="1"/>
              <a:t>veriden</a:t>
            </a:r>
            <a:r>
              <a:rPr dirty="0"/>
              <a:t> </a:t>
            </a:r>
            <a:r>
              <a:rPr dirty="0" err="1"/>
              <a:t>öğrenir</a:t>
            </a:r>
            <a:r>
              <a:rPr dirty="0"/>
              <a:t> ama </a:t>
            </a:r>
            <a:r>
              <a:rPr dirty="0" err="1"/>
              <a:t>etiket</a:t>
            </a:r>
            <a:r>
              <a:rPr dirty="0"/>
              <a:t> </a:t>
            </a:r>
            <a:r>
              <a:rPr dirty="0" err="1"/>
              <a:t>vermez</a:t>
            </a:r>
            <a:r>
              <a:rPr dirty="0"/>
              <a:t>; </a:t>
            </a:r>
            <a:r>
              <a:rPr dirty="0" err="1"/>
              <a:t>daha</a:t>
            </a:r>
            <a:r>
              <a:rPr dirty="0"/>
              <a:t> </a:t>
            </a:r>
            <a:r>
              <a:rPr dirty="0" err="1"/>
              <a:t>önce</a:t>
            </a:r>
            <a:r>
              <a:rPr dirty="0"/>
              <a:t> </a:t>
            </a:r>
            <a:r>
              <a:rPr dirty="0" err="1"/>
              <a:t>hiç</a:t>
            </a:r>
            <a:r>
              <a:rPr dirty="0"/>
              <a:t> var </a:t>
            </a:r>
            <a:r>
              <a:rPr dirty="0" err="1"/>
              <a:t>olmamış</a:t>
            </a:r>
            <a:r>
              <a:rPr dirty="0"/>
              <a:t> yeni </a:t>
            </a:r>
            <a:r>
              <a:rPr dirty="0" err="1"/>
              <a:t>bir</a:t>
            </a:r>
            <a:r>
              <a:rPr dirty="0"/>
              <a:t> </a:t>
            </a:r>
            <a:r>
              <a:rPr dirty="0" err="1"/>
              <a:t>kedi</a:t>
            </a:r>
            <a:r>
              <a:rPr dirty="0"/>
              <a:t> </a:t>
            </a:r>
            <a:r>
              <a:rPr dirty="0" err="1"/>
              <a:t>resmi</a:t>
            </a:r>
            <a:r>
              <a:rPr dirty="0"/>
              <a:t> </a:t>
            </a:r>
            <a:r>
              <a:rPr dirty="0" err="1"/>
              <a:t>üretir</a:t>
            </a:r>
            <a:r>
              <a:rPr dirty="0"/>
              <a:t>. Yeni_Kedi.jpg. O </a:t>
            </a:r>
            <a:r>
              <a:rPr dirty="0" err="1"/>
              <a:t>kedi</a:t>
            </a:r>
            <a:r>
              <a:rPr dirty="0"/>
              <a:t> </a:t>
            </a:r>
            <a:r>
              <a:rPr dirty="0" err="1"/>
              <a:t>gerçekte</a:t>
            </a:r>
            <a:r>
              <a:rPr dirty="0"/>
              <a:t> yok.</a:t>
            </a:r>
          </a:p>
          <a:p>
            <a:endParaRPr lang="tr-TR" dirty="0"/>
          </a:p>
          <a:p>
            <a:r>
              <a:rPr lang="tr-TR" dirty="0"/>
              <a:t>A</a:t>
            </a:r>
            <a:r>
              <a:rPr dirty="0" err="1"/>
              <a:t>yırt</a:t>
            </a:r>
            <a:r>
              <a:rPr dirty="0"/>
              <a:t> </a:t>
            </a:r>
            <a:r>
              <a:rPr dirty="0" err="1"/>
              <a:t>edici</a:t>
            </a:r>
            <a:r>
              <a:rPr dirty="0"/>
              <a:t> model </a:t>
            </a:r>
            <a:r>
              <a:rPr dirty="0" err="1"/>
              <a:t>sınıflar</a:t>
            </a:r>
            <a:r>
              <a:rPr dirty="0"/>
              <a:t> </a:t>
            </a:r>
            <a:r>
              <a:rPr dirty="0" err="1"/>
              <a:t>arasındaki</a:t>
            </a:r>
            <a:r>
              <a:rPr dirty="0"/>
              <a:t> SINIRI </a:t>
            </a:r>
            <a:r>
              <a:rPr dirty="0" err="1"/>
              <a:t>öğrenir</a:t>
            </a:r>
            <a:r>
              <a:rPr dirty="0"/>
              <a:t>, </a:t>
            </a:r>
            <a:r>
              <a:rPr dirty="0" err="1"/>
              <a:t>üretken</a:t>
            </a:r>
            <a:r>
              <a:rPr dirty="0"/>
              <a:t> model </a:t>
            </a:r>
            <a:r>
              <a:rPr dirty="0" err="1"/>
              <a:t>verinin</a:t>
            </a:r>
            <a:r>
              <a:rPr dirty="0"/>
              <a:t> </a:t>
            </a:r>
            <a:r>
              <a:rPr dirty="0" err="1"/>
              <a:t>kendi</a:t>
            </a:r>
            <a:r>
              <a:rPr dirty="0"/>
              <a:t> DAĞILIMINI </a:t>
            </a:r>
            <a:r>
              <a:rPr dirty="0" err="1"/>
              <a:t>öğrenir</a:t>
            </a:r>
            <a:r>
              <a:rPr dirty="0"/>
              <a:t>. </a:t>
            </a:r>
            <a:r>
              <a:rPr dirty="0" err="1"/>
              <a:t>Kedinin</a:t>
            </a:r>
            <a:r>
              <a:rPr dirty="0"/>
              <a:t> </a:t>
            </a:r>
            <a:r>
              <a:rPr dirty="0" err="1"/>
              <a:t>neye</a:t>
            </a:r>
            <a:r>
              <a:rPr dirty="0"/>
              <a:t> </a:t>
            </a:r>
            <a:r>
              <a:rPr dirty="0" err="1"/>
              <a:t>benzediğini</a:t>
            </a:r>
            <a:r>
              <a:rPr dirty="0"/>
              <a:t> </a:t>
            </a:r>
            <a:r>
              <a:rPr dirty="0" err="1"/>
              <a:t>öğrendiği</a:t>
            </a:r>
            <a:r>
              <a:rPr dirty="0"/>
              <a:t> </a:t>
            </a:r>
            <a:r>
              <a:rPr dirty="0" err="1"/>
              <a:t>için</a:t>
            </a:r>
            <a:r>
              <a:rPr dirty="0"/>
              <a:t> </a:t>
            </a:r>
            <a:r>
              <a:rPr dirty="0" err="1"/>
              <a:t>yenisini</a:t>
            </a:r>
            <a:r>
              <a:rPr dirty="0"/>
              <a:t> </a:t>
            </a:r>
            <a:r>
              <a:rPr dirty="0" err="1"/>
              <a:t>çizebiliyor</a:t>
            </a:r>
            <a:r>
              <a:rPr dirty="0"/>
              <a:t>.</a:t>
            </a:r>
          </a:p>
          <a:p>
            <a:endParaRPr dirty="0"/>
          </a:p>
          <a:p>
            <a:r>
              <a:rPr dirty="0"/>
              <a:t>ChatGPT de tam </a:t>
            </a:r>
            <a:r>
              <a:rPr dirty="0" err="1"/>
              <a:t>olarak</a:t>
            </a:r>
            <a:r>
              <a:rPr dirty="0"/>
              <a:t> </a:t>
            </a:r>
            <a:r>
              <a:rPr dirty="0" err="1"/>
              <a:t>bunu</a:t>
            </a:r>
            <a:r>
              <a:rPr dirty="0"/>
              <a:t> </a:t>
            </a:r>
            <a:r>
              <a:rPr dirty="0" err="1"/>
              <a:t>yapıyor</a:t>
            </a:r>
            <a:r>
              <a:rPr dirty="0"/>
              <a:t> — </a:t>
            </a:r>
            <a:r>
              <a:rPr dirty="0" err="1"/>
              <a:t>sadece</a:t>
            </a:r>
            <a:r>
              <a:rPr dirty="0"/>
              <a:t> </a:t>
            </a:r>
            <a:r>
              <a:rPr dirty="0" err="1"/>
              <a:t>piksel</a:t>
            </a:r>
            <a:r>
              <a:rPr dirty="0"/>
              <a:t> </a:t>
            </a:r>
            <a:r>
              <a:rPr dirty="0" err="1"/>
              <a:t>yerine</a:t>
            </a:r>
            <a:r>
              <a:rPr dirty="0"/>
              <a:t> </a:t>
            </a:r>
            <a:r>
              <a:rPr dirty="0" err="1"/>
              <a:t>kelime</a:t>
            </a:r>
            <a:r>
              <a:rPr dirty="0"/>
              <a:t> </a:t>
            </a:r>
            <a:r>
              <a:rPr dirty="0" err="1"/>
              <a:t>üretiyor</a:t>
            </a:r>
            <a:r>
              <a:rPr dirty="0"/>
              <a:t>. </a:t>
            </a:r>
            <a:r>
              <a:rPr dirty="0" err="1"/>
              <a:t>Bundan</a:t>
            </a:r>
            <a:r>
              <a:rPr dirty="0"/>
              <a:t> </a:t>
            </a:r>
            <a:r>
              <a:rPr dirty="0" err="1"/>
              <a:t>sonraki</a:t>
            </a:r>
            <a:r>
              <a:rPr dirty="0"/>
              <a:t> </a:t>
            </a:r>
            <a:r>
              <a:rPr dirty="0" err="1"/>
              <a:t>slaytlar</a:t>
            </a:r>
            <a:r>
              <a:rPr dirty="0"/>
              <a:t> </a:t>
            </a:r>
            <a:r>
              <a:rPr dirty="0" err="1"/>
              <a:t>bu</a:t>
            </a:r>
            <a:r>
              <a:rPr dirty="0"/>
              <a:t> sol </a:t>
            </a:r>
            <a:r>
              <a:rPr dirty="0" err="1"/>
              <a:t>tarafla</a:t>
            </a:r>
            <a:r>
              <a:rPr dirty="0"/>
              <a:t> </a:t>
            </a:r>
            <a:r>
              <a:rPr dirty="0" err="1"/>
              <a:t>ilgili</a:t>
            </a:r>
            <a:r>
              <a:rPr dirty="0"/>
              <a:t>.</a:t>
            </a:r>
          </a:p>
          <a:p>
            <a:endParaRPr dirty="0"/>
          </a:p>
          <a:p>
            <a:endParaRPr dirty="0"/>
          </a:p>
          <a:p>
            <a:endParaRPr dirty="0"/>
          </a:p>
          <a:p>
            <a:endParaRPr dirty="0"/>
          </a:p>
          <a:p>
            <a:endParaRPr dirty="0"/>
          </a:p>
          <a:p>
            <a:endParaRPr dirty="0"/>
          </a:p>
          <a:p>
            <a:endParaRPr dirty="0"/>
          </a:p>
          <a:p>
            <a:endParaRPr dirty="0"/>
          </a:p>
          <a:p>
            <a:endParaRPr dirty="0"/>
          </a:p>
          <a:p>
            <a:endParaRPr dirty="0"/>
          </a:p>
          <a:p>
            <a:endParaRPr dirty="0"/>
          </a:p>
          <a:p>
            <a:endParaRPr dirty="0"/>
          </a:p>
          <a:p>
            <a:endParaRPr dirty="0"/>
          </a:p>
          <a:p>
            <a:endParaRPr dirty="0"/>
          </a:p>
          <a:p>
            <a:endParaRPr dirty="0"/>
          </a:p>
          <a:p>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a:xfrm>
            <a:off x="381000" y="685800"/>
            <a:ext cx="6096000" cy="3429000"/>
          </a:xfrm>
        </p:spPr>
      </p:sp>
      <p:sp>
        <p:nvSpPr>
          <p:cNvPr id="3" name="Not Yer Tutucusu 2"/>
          <p:cNvSpPr>
            <a:spLocks noGrp="1"/>
          </p:cNvSpPr>
          <p:nvPr>
            <p:ph type="body" idx="1"/>
          </p:nvPr>
        </p:nvSpPr>
        <p:spPr/>
        <p:txBody>
          <a:bodyPr/>
          <a:lstStyle/>
          <a:p>
            <a:r>
              <a:t>Şema, Attention Is All You Need makalesinin mimarisi. İki blok var.</a:t>
            </a:r>
          </a:p>
          <a:p>
            <a:endParaRPr/>
          </a:p>
          <a:p>
            <a:r>
              <a:t>Encoder: girdiyi okur, anlamını vektöre çevirir. Decoder: o vektörden çıktıyı kelime kelime üretir.</a:t>
            </a:r>
          </a:p>
          <a:p>
            <a:endParaRPr/>
          </a:p>
          <a:p>
            <a:r>
              <a:t>Alttan yukarı takip et: metin önce embedding'e, yani sayı vektörüne çevriliyor. Sonra positional encoding ekleniyor — çünkü model kelimeleri sırayla okumuyor, hepsini birden okuyor; sırayı ayrıca söylemek gerekiyor. En üstte softmax bir sonraki kelimeyi seçiyor.</a:t>
            </a:r>
          </a:p>
          <a:p>
            <a:endParaRPr/>
          </a:p>
          <a:p>
            <a:r>
              <a:t>Sağdaki örnek çeviri: bu mimari ilk olarak makine çevirisi için tasarlandı. Google Translate ve Gemini bunun üzerine kurulu.</a:t>
            </a:r>
          </a:p>
          <a:p>
            <a:endParaRPr/>
          </a:p>
          <a:p>
            <a:r>
              <a:t>Not olarak söyleyebilirsin: bugün modellerin çoğu bu şemanın yarısını kullanıyor — BERT sadece encoder, GPT sadece decoder.</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extLst>
      <p:ext uri="{BB962C8B-B14F-4D97-AF65-F5344CB8AC3E}">
        <p14:creationId xmlns:p14="http://schemas.microsoft.com/office/powerpoint/2010/main" val="295553889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Bu slaytta yavaşla — Transformer'ı anlatan en iyi örnek bu.</a:t>
            </a:r>
          </a:p>
          <a:p>
            <a:r>
              <a:t>İki cümle neredeyse aynı. Solda 'o evde kalmalıydı' — buradaki 'o' çocuk. Sağda 'o izin vermedi' — buradaki 'o' anne. Cümlenin ilk sekiz kelimesi birebir aynı, ama zamir bambaşka birine işaret ediyor.</a:t>
            </a:r>
          </a:p>
          <a:p>
            <a:r>
              <a:t>Renkli çizgiler attention ağırlıkları: model 'o' kelimesini işlerken en çok hangi kelimeye baktığını gösteriyor. Kalın çizgi = yüksek dikkat.</a:t>
            </a:r>
          </a:p>
          <a:p>
            <a:r>
              <a:t>Sor: 'Bunu kural yazarak nasıl çözerdiniz?' Çözemezsiniz — bağlam sonsuz çeşitlilikte. Model bunu veriden öğrendi.</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Basit bir örnekle başla: iki eksen düşünelim, sosyal sınıf ve cinsiyet.</a:t>
            </a:r>
          </a:p>
          <a:p>
            <a:r>
              <a:t>Kral [1,2], kraliçe [2,2], çiftçi adam [1,1], terzi kadın [2,1]. Her kelime artık bir sayı çifti — yani bir vektör.</a:t>
            </a:r>
          </a:p>
          <a:p>
            <a:endParaRPr/>
          </a:p>
          <a:p>
            <a:r>
              <a:t>Şimdi oklara dikkat edin: kraldan kraliçeye giden ok ile çiftçi adamdan terzi kadına giden ok aynı yönde. Yani 'cinsiyet' kavramı bu uzayda bir YÖNE karşılık geliyor. Meşhur örnek buradan çıkıyor: kral eksi erkek artı kadın, yaklaşık olarak kraliçe.</a:t>
            </a:r>
          </a:p>
          <a:p>
            <a:endParaRPr/>
          </a:p>
          <a:p>
            <a:r>
              <a:t>Sol alttaki grafik gerçek bir embedding uzayının izdüşümü — benzer anlamlı kelimeler birbirine yakın kümeleniyor.</a:t>
            </a:r>
          </a:p>
          <a:p>
            <a:endParaRPr/>
          </a:p>
          <a:p>
            <a:r>
              <a:t>Bağlantıyı kur: bu ilişkileri de kimse elle yazmadı, model veriden çıkardı.</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Peki gerçekte kaç özellik var?</a:t>
            </a:r>
          </a:p>
          <a:p>
            <a:endParaRPr/>
          </a:p>
          <a:p>
            <a:r>
              <a:t>Solda kraliçe için elle tanımlanmış bir vektör düşünelim: sosyal sınıf 2, cinsiyet 2, boy 2, kilo 1, zekâ 2, konuştuğu dil 1, liderlik yetkinliği 2, mensup olduğu aile 1... ve böyle N tane özellik.</a:t>
            </a:r>
          </a:p>
          <a:p>
            <a:endParaRPr/>
          </a:p>
          <a:p>
            <a:r>
              <a:t>Ama gerçek modellerde bu özelliklerin ne olduğunu biz belirlemiyoruz. Ortadaki sütun gerçek bir vektör: 0.023, 0.074, 0.033... Hiçbirinin adı yok, hiçbirini biz tanımlamadık. Model bunları veriden kendi çıkardı; hangi boyutun neyi temsil ettiğini tek tek kimse bilmiyor.</a:t>
            </a:r>
          </a:p>
          <a:p>
            <a:endParaRPr/>
          </a:p>
          <a:p>
            <a:r>
              <a:t>Sağdaki tabloya bak: OpenAI'ın embedding modeli 1536 ya da 3072 boyut üretiyor, Cohere 1024, Hugging Face'teki küçük model 384. Yani her metin parçası bin küsur sayıdan oluşan bir vektöre dönüşüyor.</a:t>
            </a:r>
          </a:p>
          <a:p>
            <a:endParaRPr/>
          </a:p>
          <a:p>
            <a:r>
              <a:t>Ne işe yarıyor? İki metnin anlamca ne kadar yakın olduğunu ölçebiliyoruz. Semantik arama, öneri sistemleri ve RAG mimarisi tamamen bunun üzerine kurulu.</a:t>
            </a:r>
          </a:p>
          <a:p>
            <a:endParaRPr/>
          </a:p>
          <a:p>
            <a:r>
              <a:t>[SORU GELİRSE] 'Neden bu kadar çok boyut?' → Dilin inceliklerini taşımak için. İki boyutla sadece cinsiyet ve sınıfı ayırt edebilirsin; bin boyutla üslup, duygu, alan bilgisi, zaman... hepsi aynı anda kodlanabiliyor.</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GPT'nin açılımı zaten cevabı veriyor: Generative Pre-trained Transformer.</a:t>
            </a:r>
          </a:p>
          <a:p>
            <a:r>
              <a:t>Soldan sağa: Wikipedia, Reddit, arXiv, Stack Overflow, kitaplar — yani internetin büyük bir kısmı. Bu veri Transformer'a veriliyor ve tek bir görev yaptırılıyor: bir sonraki kelimeyi tahmin et. Buna ön eğitim (pre-training) diyoruz; en pahalı kısım budur, aylar ve milyonlarca dolar sürer.</a:t>
            </a:r>
          </a:p>
          <a:p>
            <a:r>
              <a:t>Sonra ince ayar: belirli bir iş için daha küçük, kaliteli veriyle eğitilir. En sonda RLHF — insan geri bildirimiyle pekiştirmeli öğrenme; modelin hangi cevabı tercih edeceğini insanlar puanlar. ChatGPT'yi kullanışlı yapan büyük ölçüde bu son adımdır.</a:t>
            </a:r>
          </a:p>
          <a:p>
            <a:endParaRPr/>
          </a:p>
          <a:p>
            <a:r>
              <a:t>[GEÇİŞ] Şimdi Colab'a geçiyoruz.</a:t>
            </a: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dirty="0"/>
              <a:t>1) PRE-TRAINING (</a:t>
            </a:r>
            <a:r>
              <a:rPr dirty="0" err="1"/>
              <a:t>kırmızı</a:t>
            </a:r>
            <a:r>
              <a:rPr dirty="0"/>
              <a:t>). </a:t>
            </a:r>
            <a:r>
              <a:rPr dirty="0" err="1"/>
              <a:t>Modele</a:t>
            </a:r>
            <a:r>
              <a:rPr dirty="0"/>
              <a:t> ham internet </a:t>
            </a:r>
            <a:r>
              <a:rPr dirty="0" err="1"/>
              <a:t>verisi</a:t>
            </a:r>
            <a:r>
              <a:rPr dirty="0"/>
              <a:t> </a:t>
            </a:r>
            <a:r>
              <a:rPr dirty="0" err="1"/>
              <a:t>veriliyor</a:t>
            </a:r>
            <a:r>
              <a:rPr dirty="0"/>
              <a:t>, </a:t>
            </a:r>
            <a:r>
              <a:rPr dirty="0" err="1"/>
              <a:t>tek</a:t>
            </a:r>
            <a:r>
              <a:rPr dirty="0"/>
              <a:t> </a:t>
            </a:r>
            <a:r>
              <a:rPr dirty="0" err="1"/>
              <a:t>bir</a:t>
            </a:r>
            <a:r>
              <a:rPr dirty="0"/>
              <a:t> </a:t>
            </a:r>
            <a:r>
              <a:rPr dirty="0" err="1"/>
              <a:t>görev</a:t>
            </a:r>
            <a:r>
              <a:rPr dirty="0"/>
              <a:t> var: </a:t>
            </a:r>
            <a:r>
              <a:rPr dirty="0" err="1"/>
              <a:t>sonraki</a:t>
            </a:r>
            <a:r>
              <a:rPr dirty="0"/>
              <a:t> </a:t>
            </a:r>
            <a:r>
              <a:rPr dirty="0" err="1"/>
              <a:t>kelimeyi</a:t>
            </a:r>
            <a:r>
              <a:rPr dirty="0"/>
              <a:t> </a:t>
            </a:r>
            <a:r>
              <a:rPr dirty="0" err="1"/>
              <a:t>tahmin</a:t>
            </a:r>
            <a:r>
              <a:rPr dirty="0"/>
              <a:t> et. </a:t>
            </a:r>
            <a:r>
              <a:rPr dirty="0" err="1"/>
              <a:t>Denetimsiz</a:t>
            </a:r>
            <a:r>
              <a:rPr dirty="0"/>
              <a:t> </a:t>
            </a:r>
            <a:r>
              <a:rPr dirty="0" err="1"/>
              <a:t>öğrenme</a:t>
            </a:r>
            <a:r>
              <a:rPr dirty="0"/>
              <a:t>, </a:t>
            </a:r>
            <a:r>
              <a:rPr dirty="0" err="1"/>
              <a:t>kimse</a:t>
            </a:r>
            <a:r>
              <a:rPr dirty="0"/>
              <a:t> </a:t>
            </a:r>
            <a:r>
              <a:rPr dirty="0" err="1"/>
              <a:t>etiket</a:t>
            </a:r>
            <a:r>
              <a:rPr dirty="0"/>
              <a:t> </a:t>
            </a:r>
            <a:r>
              <a:rPr dirty="0" err="1"/>
              <a:t>vermiyor</a:t>
            </a:r>
            <a:r>
              <a:rPr dirty="0"/>
              <a:t>. </a:t>
            </a:r>
            <a:r>
              <a:rPr dirty="0" err="1"/>
              <a:t>Sonuç</a:t>
            </a:r>
            <a:r>
              <a:rPr dirty="0"/>
              <a:t>: </a:t>
            </a:r>
            <a:r>
              <a:rPr dirty="0" err="1"/>
              <a:t>dili</a:t>
            </a:r>
            <a:r>
              <a:rPr dirty="0"/>
              <a:t> </a:t>
            </a:r>
            <a:r>
              <a:rPr dirty="0" err="1"/>
              <a:t>olağanüstü</a:t>
            </a:r>
            <a:r>
              <a:rPr dirty="0"/>
              <a:t> iyi </a:t>
            </a:r>
            <a:r>
              <a:rPr dirty="0" err="1"/>
              <a:t>bilen</a:t>
            </a:r>
            <a:r>
              <a:rPr dirty="0"/>
              <a:t> ama </a:t>
            </a:r>
            <a:r>
              <a:rPr dirty="0" err="1"/>
              <a:t>zararlı</a:t>
            </a:r>
            <a:r>
              <a:rPr dirty="0"/>
              <a:t> </a:t>
            </a:r>
            <a:r>
              <a:rPr dirty="0" err="1"/>
              <a:t>içeriği</a:t>
            </a:r>
            <a:r>
              <a:rPr dirty="0"/>
              <a:t>, </a:t>
            </a:r>
            <a:r>
              <a:rPr dirty="0" err="1"/>
              <a:t>suç</a:t>
            </a:r>
            <a:r>
              <a:rPr dirty="0"/>
              <a:t> </a:t>
            </a:r>
            <a:r>
              <a:rPr dirty="0" err="1"/>
              <a:t>teşkil</a:t>
            </a:r>
            <a:r>
              <a:rPr dirty="0"/>
              <a:t> </a:t>
            </a:r>
            <a:r>
              <a:rPr dirty="0" err="1"/>
              <a:t>eden</a:t>
            </a:r>
            <a:r>
              <a:rPr dirty="0"/>
              <a:t> </a:t>
            </a:r>
            <a:r>
              <a:rPr dirty="0" err="1"/>
              <a:t>bilgiyi</a:t>
            </a:r>
            <a:r>
              <a:rPr dirty="0"/>
              <a:t>, </a:t>
            </a:r>
            <a:r>
              <a:rPr dirty="0" err="1"/>
              <a:t>yanlış</a:t>
            </a:r>
            <a:r>
              <a:rPr dirty="0"/>
              <a:t> </a:t>
            </a:r>
            <a:r>
              <a:rPr dirty="0" err="1"/>
              <a:t>bilgiyi</a:t>
            </a:r>
            <a:r>
              <a:rPr dirty="0"/>
              <a:t>, </a:t>
            </a:r>
            <a:r>
              <a:rPr dirty="0" err="1"/>
              <a:t>propagandayı</a:t>
            </a:r>
            <a:r>
              <a:rPr dirty="0"/>
              <a:t> </a:t>
            </a:r>
            <a:r>
              <a:rPr dirty="0" err="1"/>
              <a:t>ve</a:t>
            </a:r>
            <a:r>
              <a:rPr dirty="0"/>
              <a:t> </a:t>
            </a:r>
            <a:r>
              <a:rPr dirty="0" err="1"/>
              <a:t>hakareti</a:t>
            </a:r>
            <a:r>
              <a:rPr dirty="0"/>
              <a:t> de </a:t>
            </a:r>
            <a:r>
              <a:rPr dirty="0" err="1"/>
              <a:t>öğrenmiş</a:t>
            </a:r>
            <a:r>
              <a:rPr dirty="0"/>
              <a:t> </a:t>
            </a:r>
            <a:r>
              <a:rPr dirty="0" err="1"/>
              <a:t>bir</a:t>
            </a:r>
            <a:r>
              <a:rPr dirty="0"/>
              <a:t> model. </a:t>
            </a:r>
            <a:r>
              <a:rPr dirty="0" err="1"/>
              <a:t>Soldaki</a:t>
            </a:r>
            <a:r>
              <a:rPr dirty="0"/>
              <a:t> </a:t>
            </a:r>
            <a:r>
              <a:rPr dirty="0" err="1"/>
              <a:t>canavar</a:t>
            </a:r>
            <a:r>
              <a:rPr dirty="0"/>
              <a:t> bu.</a:t>
            </a:r>
          </a:p>
          <a:p>
            <a:endParaRPr dirty="0"/>
          </a:p>
          <a:p>
            <a:r>
              <a:rPr dirty="0"/>
              <a:t>2) INSTRUCTION FINE-TUNING (</a:t>
            </a:r>
            <a:r>
              <a:rPr dirty="0" err="1"/>
              <a:t>sarı</a:t>
            </a:r>
            <a:r>
              <a:rPr dirty="0"/>
              <a:t>). Bu </a:t>
            </a:r>
            <a:r>
              <a:rPr dirty="0" err="1"/>
              <a:t>sefer</a:t>
            </a:r>
            <a:r>
              <a:rPr dirty="0"/>
              <a:t> </a:t>
            </a:r>
            <a:r>
              <a:rPr dirty="0" err="1"/>
              <a:t>yapılandırılmış</a:t>
            </a:r>
            <a:r>
              <a:rPr dirty="0"/>
              <a:t>, </a:t>
            </a:r>
            <a:r>
              <a:rPr dirty="0" err="1"/>
              <a:t>kaliteli</a:t>
            </a:r>
            <a:r>
              <a:rPr dirty="0"/>
              <a:t> </a:t>
            </a:r>
            <a:r>
              <a:rPr dirty="0" err="1"/>
              <a:t>veri</a:t>
            </a:r>
            <a:r>
              <a:rPr dirty="0"/>
              <a:t>: Stack Overflow, Reddit, Quora </a:t>
            </a:r>
            <a:r>
              <a:rPr dirty="0" err="1"/>
              <a:t>gibi</a:t>
            </a:r>
            <a:r>
              <a:rPr dirty="0"/>
              <a:t> </a:t>
            </a:r>
            <a:r>
              <a:rPr dirty="0" err="1"/>
              <a:t>insanların</a:t>
            </a:r>
            <a:r>
              <a:rPr dirty="0"/>
              <a:t> </a:t>
            </a:r>
            <a:r>
              <a:rPr dirty="0" err="1"/>
              <a:t>diyaloğa</a:t>
            </a:r>
            <a:r>
              <a:rPr dirty="0"/>
              <a:t> </a:t>
            </a:r>
            <a:r>
              <a:rPr dirty="0" err="1"/>
              <a:t>girdiği</a:t>
            </a:r>
            <a:r>
              <a:rPr dirty="0"/>
              <a:t> </a:t>
            </a:r>
            <a:r>
              <a:rPr dirty="0" err="1"/>
              <a:t>platformlar</a:t>
            </a:r>
            <a:r>
              <a:rPr dirty="0"/>
              <a:t>. Model </a:t>
            </a:r>
            <a:r>
              <a:rPr dirty="0" err="1"/>
              <a:t>anlamlı</a:t>
            </a:r>
            <a:r>
              <a:rPr dirty="0"/>
              <a:t> </a:t>
            </a:r>
            <a:r>
              <a:rPr dirty="0" err="1"/>
              <a:t>diyalog</a:t>
            </a:r>
            <a:r>
              <a:rPr dirty="0"/>
              <a:t> </a:t>
            </a:r>
            <a:r>
              <a:rPr dirty="0" err="1"/>
              <a:t>kurmayı</a:t>
            </a:r>
            <a:r>
              <a:rPr dirty="0"/>
              <a:t> </a:t>
            </a:r>
            <a:r>
              <a:rPr dirty="0" err="1"/>
              <a:t>öğreniyor</a:t>
            </a:r>
            <a:r>
              <a:rPr dirty="0"/>
              <a:t>. </a:t>
            </a:r>
            <a:r>
              <a:rPr dirty="0" err="1"/>
              <a:t>Canavar</a:t>
            </a:r>
            <a:r>
              <a:rPr dirty="0"/>
              <a:t> </a:t>
            </a:r>
            <a:r>
              <a:rPr dirty="0" err="1"/>
              <a:t>sakinleşiyor</a:t>
            </a:r>
            <a:r>
              <a:rPr dirty="0"/>
              <a:t>.</a:t>
            </a:r>
          </a:p>
          <a:p>
            <a:endParaRPr dirty="0"/>
          </a:p>
          <a:p>
            <a:r>
              <a:rPr dirty="0"/>
              <a:t>3) RLHF (</a:t>
            </a:r>
            <a:r>
              <a:rPr dirty="0" err="1"/>
              <a:t>yeşil</a:t>
            </a:r>
            <a:r>
              <a:rPr dirty="0"/>
              <a:t>). </a:t>
            </a:r>
            <a:r>
              <a:rPr dirty="0" err="1"/>
              <a:t>İnsanlar</a:t>
            </a:r>
            <a:r>
              <a:rPr dirty="0"/>
              <a:t> </a:t>
            </a:r>
            <a:r>
              <a:rPr dirty="0" err="1"/>
              <a:t>modelin</a:t>
            </a:r>
            <a:r>
              <a:rPr dirty="0"/>
              <a:t> </a:t>
            </a:r>
            <a:r>
              <a:rPr dirty="0" err="1"/>
              <a:t>verdiği</a:t>
            </a:r>
            <a:r>
              <a:rPr dirty="0"/>
              <a:t> </a:t>
            </a:r>
            <a:r>
              <a:rPr dirty="0" err="1"/>
              <a:t>yanıtları</a:t>
            </a:r>
            <a:r>
              <a:rPr dirty="0"/>
              <a:t> </a:t>
            </a:r>
            <a:r>
              <a:rPr dirty="0" err="1"/>
              <a:t>puanlıyor</a:t>
            </a:r>
            <a:r>
              <a:rPr dirty="0"/>
              <a:t>, model </a:t>
            </a:r>
            <a:r>
              <a:rPr dirty="0" err="1"/>
              <a:t>bu</a:t>
            </a:r>
            <a:r>
              <a:rPr dirty="0"/>
              <a:t> </a:t>
            </a:r>
            <a:r>
              <a:rPr dirty="0" err="1"/>
              <a:t>geri</a:t>
            </a:r>
            <a:r>
              <a:rPr dirty="0"/>
              <a:t> </a:t>
            </a:r>
            <a:r>
              <a:rPr dirty="0" err="1"/>
              <a:t>bildirimle</a:t>
            </a:r>
            <a:r>
              <a:rPr dirty="0"/>
              <a:t> </a:t>
            </a:r>
            <a:r>
              <a:rPr dirty="0" err="1"/>
              <a:t>pekiştirmeli</a:t>
            </a:r>
            <a:r>
              <a:rPr dirty="0"/>
              <a:t> </a:t>
            </a:r>
            <a:r>
              <a:rPr dirty="0" err="1"/>
              <a:t>öğrenme</a:t>
            </a:r>
            <a:r>
              <a:rPr dirty="0"/>
              <a:t> </a:t>
            </a:r>
            <a:r>
              <a:rPr dirty="0" err="1"/>
              <a:t>yapıyor</a:t>
            </a:r>
            <a:r>
              <a:rPr dirty="0"/>
              <a:t>. </a:t>
            </a:r>
            <a:r>
              <a:rPr dirty="0" err="1"/>
              <a:t>Artık</a:t>
            </a:r>
            <a:r>
              <a:rPr dirty="0"/>
              <a:t> </a:t>
            </a:r>
            <a:r>
              <a:rPr dirty="0" err="1"/>
              <a:t>insan</a:t>
            </a:r>
            <a:r>
              <a:rPr dirty="0"/>
              <a:t> </a:t>
            </a:r>
            <a:r>
              <a:rPr dirty="0" err="1"/>
              <a:t>beklenti</a:t>
            </a:r>
            <a:r>
              <a:rPr dirty="0"/>
              <a:t> </a:t>
            </a:r>
            <a:r>
              <a:rPr dirty="0" err="1"/>
              <a:t>ve</a:t>
            </a:r>
            <a:r>
              <a:rPr dirty="0"/>
              <a:t> </a:t>
            </a:r>
            <a:r>
              <a:rPr dirty="0" err="1"/>
              <a:t>tercihleriyle</a:t>
            </a:r>
            <a:r>
              <a:rPr dirty="0"/>
              <a:t> </a:t>
            </a:r>
            <a:r>
              <a:rPr dirty="0" err="1"/>
              <a:t>uyumlu</a:t>
            </a:r>
            <a:r>
              <a:rPr dirty="0"/>
              <a:t> </a:t>
            </a:r>
            <a:r>
              <a:rPr dirty="0" err="1"/>
              <a:t>davranıyor</a:t>
            </a:r>
            <a:r>
              <a:rPr dirty="0"/>
              <a:t>. </a:t>
            </a:r>
            <a:r>
              <a:rPr dirty="0" err="1"/>
              <a:t>Canavar</a:t>
            </a:r>
            <a:r>
              <a:rPr dirty="0"/>
              <a:t> </a:t>
            </a:r>
            <a:r>
              <a:rPr dirty="0" err="1"/>
              <a:t>insan</a:t>
            </a:r>
            <a:r>
              <a:rPr dirty="0"/>
              <a:t> </a:t>
            </a:r>
            <a:r>
              <a:rPr dirty="0" err="1"/>
              <a:t>oluyor</a:t>
            </a:r>
            <a:r>
              <a:rPr dirty="0"/>
              <a:t>.</a:t>
            </a:r>
          </a:p>
          <a:p>
            <a:endParaRPr dirty="0"/>
          </a:p>
          <a:p>
            <a:r>
              <a:rPr dirty="0" err="1"/>
              <a:t>Sonuçta</a:t>
            </a:r>
            <a:r>
              <a:rPr dirty="0"/>
              <a:t> </a:t>
            </a:r>
            <a:r>
              <a:rPr dirty="0" err="1"/>
              <a:t>elde</a:t>
            </a:r>
            <a:r>
              <a:rPr dirty="0"/>
              <a:t> </a:t>
            </a:r>
            <a:r>
              <a:rPr dirty="0" err="1"/>
              <a:t>edilen</a:t>
            </a:r>
            <a:r>
              <a:rPr dirty="0"/>
              <a:t>: </a:t>
            </a:r>
            <a:r>
              <a:rPr dirty="0" err="1"/>
              <a:t>metin</a:t>
            </a:r>
            <a:r>
              <a:rPr dirty="0"/>
              <a:t>, </a:t>
            </a:r>
            <a:r>
              <a:rPr dirty="0" err="1"/>
              <a:t>görsel</a:t>
            </a:r>
            <a:r>
              <a:rPr dirty="0"/>
              <a:t>, </a:t>
            </a:r>
            <a:r>
              <a:rPr dirty="0" err="1"/>
              <a:t>ses</a:t>
            </a:r>
            <a:r>
              <a:rPr dirty="0"/>
              <a:t> </a:t>
            </a:r>
            <a:r>
              <a:rPr dirty="0" err="1"/>
              <a:t>ve</a:t>
            </a:r>
            <a:r>
              <a:rPr dirty="0"/>
              <a:t> </a:t>
            </a:r>
            <a:r>
              <a:rPr dirty="0" err="1"/>
              <a:t>kod</a:t>
            </a:r>
            <a:r>
              <a:rPr dirty="0"/>
              <a:t> </a:t>
            </a:r>
            <a:r>
              <a:rPr dirty="0" err="1"/>
              <a:t>üretebilen</a:t>
            </a:r>
            <a:r>
              <a:rPr dirty="0"/>
              <a:t>, </a:t>
            </a:r>
            <a:r>
              <a:rPr dirty="0" err="1"/>
              <a:t>çoklu</a:t>
            </a:r>
            <a:r>
              <a:rPr dirty="0"/>
              <a:t> </a:t>
            </a:r>
            <a:r>
              <a:rPr dirty="0" err="1"/>
              <a:t>formla</a:t>
            </a:r>
            <a:r>
              <a:rPr dirty="0"/>
              <a:t> </a:t>
            </a:r>
            <a:r>
              <a:rPr dirty="0" err="1"/>
              <a:t>çalışabilen</a:t>
            </a:r>
            <a:r>
              <a:rPr dirty="0"/>
              <a:t> </a:t>
            </a:r>
            <a:r>
              <a:rPr dirty="0" err="1"/>
              <a:t>bir</a:t>
            </a:r>
            <a:r>
              <a:rPr dirty="0"/>
              <a:t> </a:t>
            </a:r>
            <a:r>
              <a:rPr dirty="0" err="1"/>
              <a:t>sistem</a:t>
            </a:r>
            <a:r>
              <a:rPr dirty="0"/>
              <a:t>.</a:t>
            </a:r>
          </a:p>
          <a:p>
            <a:endParaRPr dirty="0"/>
          </a:p>
          <a:p>
            <a:r>
              <a:rPr dirty="0"/>
              <a:t>VURGU: </a:t>
            </a:r>
            <a:r>
              <a:rPr dirty="0" err="1"/>
              <a:t>ChatGPT'yi</a:t>
            </a:r>
            <a:r>
              <a:rPr dirty="0"/>
              <a:t> ChatGPT </a:t>
            </a:r>
            <a:r>
              <a:rPr dirty="0" err="1"/>
              <a:t>yapan</a:t>
            </a:r>
            <a:r>
              <a:rPr dirty="0"/>
              <a:t> </a:t>
            </a:r>
            <a:r>
              <a:rPr dirty="0" err="1"/>
              <a:t>şey</a:t>
            </a:r>
            <a:r>
              <a:rPr dirty="0"/>
              <a:t> ham model </a:t>
            </a:r>
            <a:r>
              <a:rPr dirty="0" err="1"/>
              <a:t>değil</a:t>
            </a:r>
            <a:r>
              <a:rPr dirty="0"/>
              <a:t>, </a:t>
            </a:r>
            <a:r>
              <a:rPr dirty="0" err="1"/>
              <a:t>bu</a:t>
            </a:r>
            <a:r>
              <a:rPr dirty="0"/>
              <a:t> </a:t>
            </a:r>
            <a:r>
              <a:rPr dirty="0" err="1"/>
              <a:t>evcilleştirme</a:t>
            </a:r>
            <a:r>
              <a:rPr dirty="0"/>
              <a:t> </a:t>
            </a:r>
            <a:r>
              <a:rPr dirty="0" err="1"/>
              <a:t>süreci</a:t>
            </a:r>
            <a:r>
              <a:rPr dirty="0"/>
              <a:t>. </a:t>
            </a:r>
            <a:r>
              <a:rPr dirty="0" err="1"/>
              <a:t>Aynı</a:t>
            </a:r>
            <a:r>
              <a:rPr dirty="0"/>
              <a:t> </a:t>
            </a:r>
            <a:r>
              <a:rPr dirty="0" err="1"/>
              <a:t>temel</a:t>
            </a:r>
            <a:r>
              <a:rPr dirty="0"/>
              <a:t> model RLHF </a:t>
            </a:r>
            <a:r>
              <a:rPr dirty="0" err="1"/>
              <a:t>olmadan</a:t>
            </a:r>
            <a:r>
              <a:rPr dirty="0"/>
              <a:t> </a:t>
            </a:r>
            <a:r>
              <a:rPr dirty="0" err="1"/>
              <a:t>tamamen</a:t>
            </a:r>
            <a:r>
              <a:rPr dirty="0"/>
              <a:t> </a:t>
            </a:r>
            <a:r>
              <a:rPr dirty="0" err="1"/>
              <a:t>farklı</a:t>
            </a:r>
            <a:r>
              <a:rPr dirty="0"/>
              <a:t> </a:t>
            </a:r>
            <a:r>
              <a:rPr dirty="0" err="1"/>
              <a:t>davranır</a:t>
            </a:r>
            <a:r>
              <a:rPr dirty="0"/>
              <a:t> — </a:t>
            </a:r>
            <a:r>
              <a:rPr dirty="0" err="1"/>
              <a:t>ve</a:t>
            </a:r>
            <a:r>
              <a:rPr dirty="0"/>
              <a:t> </a:t>
            </a:r>
            <a:r>
              <a:rPr dirty="0" err="1"/>
              <a:t>bu</a:t>
            </a:r>
            <a:r>
              <a:rPr dirty="0"/>
              <a:t> </a:t>
            </a:r>
            <a:r>
              <a:rPr dirty="0" err="1"/>
              <a:t>adım</a:t>
            </a:r>
            <a:r>
              <a:rPr dirty="0"/>
              <a:t> </a:t>
            </a:r>
            <a:r>
              <a:rPr dirty="0" err="1"/>
              <a:t>tamamen</a:t>
            </a:r>
            <a:r>
              <a:rPr dirty="0"/>
              <a:t> </a:t>
            </a:r>
            <a:r>
              <a:rPr dirty="0" err="1"/>
              <a:t>insan</a:t>
            </a:r>
            <a:r>
              <a:rPr dirty="0"/>
              <a:t> </a:t>
            </a:r>
            <a:r>
              <a:rPr dirty="0" err="1"/>
              <a:t>emeğine</a:t>
            </a:r>
            <a:r>
              <a:rPr dirty="0"/>
              <a:t> </a:t>
            </a:r>
            <a:r>
              <a:rPr dirty="0" err="1"/>
              <a:t>dayanıyor</a:t>
            </a:r>
            <a:r>
              <a:rPr dirty="0"/>
              <a:t>.</a:t>
            </a:r>
          </a:p>
          <a:p>
            <a:endParaRPr dirty="0"/>
          </a:p>
          <a:p>
            <a:r>
              <a:rPr dirty="0"/>
              <a:t>[GEÇİŞ] Bu </a:t>
            </a:r>
            <a:r>
              <a:rPr dirty="0" err="1"/>
              <a:t>bölüm</a:t>
            </a:r>
            <a:r>
              <a:rPr dirty="0"/>
              <a:t> </a:t>
            </a:r>
            <a:r>
              <a:rPr dirty="0" err="1"/>
              <a:t>bitti</a:t>
            </a:r>
            <a:r>
              <a:rPr dirty="0"/>
              <a:t>. </a:t>
            </a:r>
            <a:r>
              <a:rPr dirty="0" err="1"/>
              <a:t>Şimdi</a:t>
            </a:r>
            <a:r>
              <a:rPr dirty="0"/>
              <a:t> </a:t>
            </a:r>
            <a:r>
              <a:rPr dirty="0" err="1"/>
              <a:t>Colab'a</a:t>
            </a:r>
            <a:r>
              <a:rPr dirty="0"/>
              <a:t> </a:t>
            </a:r>
            <a:r>
              <a:rPr dirty="0" err="1"/>
              <a:t>geçiyoruz</a:t>
            </a:r>
            <a:r>
              <a:rPr dirty="0"/>
              <a:t>.</a:t>
            </a:r>
          </a:p>
          <a:p>
            <a:endParaRPr dirty="0"/>
          </a:p>
          <a:p>
            <a:endParaRPr dirty="0"/>
          </a:p>
          <a:p>
            <a:endParaRPr dirty="0"/>
          </a:p>
          <a:p>
            <a:endParaRPr dirty="0"/>
          </a:p>
          <a:p>
            <a:endParaRPr dirty="0"/>
          </a:p>
          <a:p>
            <a:endParaRPr dirty="0"/>
          </a:p>
          <a:p>
            <a:endParaRPr dirty="0"/>
          </a:p>
          <a:p>
            <a:endParaRPr dirty="0"/>
          </a:p>
          <a:p>
            <a:endParaRPr dirty="0"/>
          </a:p>
          <a:p>
            <a:endParaRPr dirty="0"/>
          </a:p>
          <a:p>
            <a:endParaRPr dirty="0"/>
          </a:p>
          <a:p>
            <a:endParaRPr dirty="0"/>
          </a:p>
          <a:p>
            <a:endParaRPr dirty="0"/>
          </a:p>
          <a:p>
            <a:endParaRPr dirty="0"/>
          </a:p>
          <a:p>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çılış Ekranı ">
    <p:spTree>
      <p:nvGrpSpPr>
        <p:cNvPr id="1" name=""/>
        <p:cNvGrpSpPr/>
        <p:nvPr/>
      </p:nvGrpSpPr>
      <p:grpSpPr>
        <a:xfrm>
          <a:off x="0" y="0"/>
          <a:ext cx="0" cy="0"/>
          <a:chOff x="0" y="0"/>
          <a:chExt cx="0" cy="0"/>
        </a:xfrm>
      </p:grpSpPr>
      <p:sp>
        <p:nvSpPr>
          <p:cNvPr id="4" name="Slide Title">
            <a:extLst>
              <a:ext uri="{FF2B5EF4-FFF2-40B4-BE49-F238E27FC236}">
                <a16:creationId xmlns:a16="http://schemas.microsoft.com/office/drawing/2014/main" id="{0623C506-61A1-A34E-B1DD-A0DD7D141873}"/>
              </a:ext>
            </a:extLst>
          </p:cNvPr>
          <p:cNvSpPr txBox="1">
            <a:spLocks noGrp="1"/>
          </p:cNvSpPr>
          <p:nvPr>
            <p:ph type="title" hasCustomPrompt="1"/>
          </p:nvPr>
        </p:nvSpPr>
        <p:spPr>
          <a:xfrm>
            <a:off x="1206500" y="5572609"/>
            <a:ext cx="21971000" cy="25707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lvl1pPr>
              <a:lnSpc>
                <a:spcPct val="100000"/>
              </a:lnSpc>
              <a:spcBef>
                <a:spcPts val="1200"/>
              </a:spcBef>
              <a:spcAft>
                <a:spcPts val="1200"/>
              </a:spcAft>
              <a:defRPr/>
            </a:lvl1pPr>
          </a:lstStyle>
          <a:p>
            <a:r>
              <a:rPr lang="tr-TR" dirty="0"/>
              <a:t>Eğitim/Bölüm/Ders Adı</a:t>
            </a:r>
            <a:endParaRPr dirty="0"/>
          </a:p>
        </p:txBody>
      </p:sp>
    </p:spTree>
    <p:extLst>
      <p:ext uri="{BB962C8B-B14F-4D97-AF65-F5344CB8AC3E}">
        <p14:creationId xmlns:p14="http://schemas.microsoft.com/office/powerpoint/2010/main" val="308607076"/>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rs Anlatımı">
    <p:spTree>
      <p:nvGrpSpPr>
        <p:cNvPr id="1" name=""/>
        <p:cNvGrpSpPr/>
        <p:nvPr/>
      </p:nvGrpSpPr>
      <p:grpSpPr>
        <a:xfrm>
          <a:off x="0" y="0"/>
          <a:ext cx="0" cy="0"/>
          <a:chOff x="0" y="0"/>
          <a:chExt cx="0" cy="0"/>
        </a:xfrm>
      </p:grpSpPr>
      <p:sp>
        <p:nvSpPr>
          <p:cNvPr id="3" name="Author and Date">
            <a:extLst>
              <a:ext uri="{FF2B5EF4-FFF2-40B4-BE49-F238E27FC236}">
                <a16:creationId xmlns:a16="http://schemas.microsoft.com/office/drawing/2014/main" id="{E5E2BDF8-0349-334B-BF6A-D7072B112F49}"/>
              </a:ext>
            </a:extLst>
          </p:cNvPr>
          <p:cNvSpPr txBox="1">
            <a:spLocks noGrp="1"/>
          </p:cNvSpPr>
          <p:nvPr>
            <p:ph type="body" sz="quarter" idx="22" hasCustomPrompt="1"/>
          </p:nvPr>
        </p:nvSpPr>
        <p:spPr>
          <a:xfrm>
            <a:off x="1049411" y="167779"/>
            <a:ext cx="15709901" cy="1169999"/>
          </a:xfrm>
          <a:prstGeom prst="rect">
            <a:avLst/>
          </a:prstGeom>
        </p:spPr>
        <p:txBody>
          <a:bodyPr lIns="45719" tIns="45719" rIns="45719" bIns="45719" anchor="ctr"/>
          <a:lstStyle>
            <a:lvl1pPr marL="0" indent="0" algn="l" defTabSz="825500">
              <a:lnSpc>
                <a:spcPct val="100000"/>
              </a:lnSpc>
              <a:spcBef>
                <a:spcPts val="0"/>
              </a:spcBef>
              <a:buSzTx/>
              <a:buNone/>
              <a:defRPr sz="3200" b="0" i="0">
                <a:latin typeface="Chromatica Medium" pitchFamily="2" charset="77"/>
              </a:defRPr>
            </a:lvl1pPr>
          </a:lstStyle>
          <a:p>
            <a:r>
              <a:rPr lang="tr-TR" dirty="0"/>
              <a:t>Dersin adını buraya yazın</a:t>
            </a:r>
          </a:p>
        </p:txBody>
      </p:sp>
      <p:cxnSp>
        <p:nvCxnSpPr>
          <p:cNvPr id="14" name="Straight Connector 13">
            <a:extLst>
              <a:ext uri="{FF2B5EF4-FFF2-40B4-BE49-F238E27FC236}">
                <a16:creationId xmlns:a16="http://schemas.microsoft.com/office/drawing/2014/main" id="{60B40B19-566E-A743-BF82-7FDFA5614D83}"/>
              </a:ext>
            </a:extLst>
          </p:cNvPr>
          <p:cNvCxnSpPr>
            <a:cxnSpLocks/>
          </p:cNvCxnSpPr>
          <p:nvPr userDrawn="1"/>
        </p:nvCxnSpPr>
        <p:spPr>
          <a:xfrm>
            <a:off x="1104900" y="1481652"/>
            <a:ext cx="22174200" cy="0"/>
          </a:xfrm>
          <a:prstGeom prst="line">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7" name="TextBox 16">
            <a:extLst>
              <a:ext uri="{FF2B5EF4-FFF2-40B4-BE49-F238E27FC236}">
                <a16:creationId xmlns:a16="http://schemas.microsoft.com/office/drawing/2014/main" id="{201E5980-45BA-614F-AC8B-C106D2EB33A8}"/>
              </a:ext>
            </a:extLst>
          </p:cNvPr>
          <p:cNvSpPr txBox="1"/>
          <p:nvPr userDrawn="1"/>
        </p:nvSpPr>
        <p:spPr>
          <a:xfrm>
            <a:off x="6160286" y="631141"/>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19" name="TextBox 18">
            <a:extLst>
              <a:ext uri="{FF2B5EF4-FFF2-40B4-BE49-F238E27FC236}">
                <a16:creationId xmlns:a16="http://schemas.microsoft.com/office/drawing/2014/main" id="{746EF5B0-9520-1A41-8DBD-9F983BCFBB0F}"/>
              </a:ext>
            </a:extLst>
          </p:cNvPr>
          <p:cNvSpPr txBox="1"/>
          <p:nvPr userDrawn="1"/>
        </p:nvSpPr>
        <p:spPr>
          <a:xfrm>
            <a:off x="22320369" y="231769"/>
            <a:ext cx="912109"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1800" b="0" i="0" u="none" strike="noStrike" kern="100" cap="none" spc="110" normalizeH="0" baseline="0" dirty="0">
                <a:ln>
                  <a:noFill/>
                </a:ln>
                <a:solidFill>
                  <a:schemeClr val="bg2">
                    <a:lumMod val="10000"/>
                  </a:schemeClr>
                </a:solidFill>
                <a:effectLst/>
                <a:uFillTx/>
                <a:latin typeface="Chromatica Medium" pitchFamily="2" charset="77"/>
                <a:ea typeface="+mn-ea"/>
                <a:cs typeface="+mn-cs"/>
                <a:sym typeface="Helvetica Neue"/>
              </a:rPr>
              <a:t>MIUUL</a:t>
            </a:r>
          </a:p>
        </p:txBody>
      </p:sp>
      <p:sp>
        <p:nvSpPr>
          <p:cNvPr id="20" name="TextBox 19">
            <a:extLst>
              <a:ext uri="{FF2B5EF4-FFF2-40B4-BE49-F238E27FC236}">
                <a16:creationId xmlns:a16="http://schemas.microsoft.com/office/drawing/2014/main" id="{525CF718-ACE3-2946-B725-C3C12C26870E}"/>
              </a:ext>
            </a:extLst>
          </p:cNvPr>
          <p:cNvSpPr txBox="1"/>
          <p:nvPr userDrawn="1"/>
        </p:nvSpPr>
        <p:spPr>
          <a:xfrm>
            <a:off x="23133892" y="279950"/>
            <a:ext cx="197170" cy="1795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5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TM</a:t>
            </a:r>
          </a:p>
        </p:txBody>
      </p:sp>
      <p:sp>
        <p:nvSpPr>
          <p:cNvPr id="21" name="TextBox 20">
            <a:extLst>
              <a:ext uri="{FF2B5EF4-FFF2-40B4-BE49-F238E27FC236}">
                <a16:creationId xmlns:a16="http://schemas.microsoft.com/office/drawing/2014/main" id="{CD8CEC82-FA21-5D4B-8318-FE278F38F3F6}"/>
              </a:ext>
            </a:extLst>
          </p:cNvPr>
          <p:cNvSpPr txBox="1"/>
          <p:nvPr userDrawn="1"/>
        </p:nvSpPr>
        <p:spPr>
          <a:xfrm>
            <a:off x="19365581" y="857221"/>
            <a:ext cx="3970924"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www.miuul.com</a:t>
            </a:r>
          </a:p>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Copyright </a:t>
            </a:r>
            <a:r>
              <a:rPr kumimoji="0" lang="en-TR" sz="1300" b="0" i="0" u="none" strike="noStrike" cap="none" spc="0" normalizeH="0" baseline="0">
                <a:ln>
                  <a:noFill/>
                </a:ln>
                <a:solidFill>
                  <a:schemeClr val="bg2">
                    <a:lumMod val="10000"/>
                  </a:schemeClr>
                </a:solidFill>
                <a:effectLst/>
                <a:uFillTx/>
                <a:latin typeface="Chromatica" pitchFamily="2" charset="77"/>
                <a:ea typeface="+mn-ea"/>
                <a:cs typeface="+mn-cs"/>
                <a:sym typeface="Helvetica Neue"/>
              </a:rPr>
              <a:t>© Miuul. </a:t>
            </a: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All Rights Reserved</a:t>
            </a:r>
          </a:p>
        </p:txBody>
      </p:sp>
      <p:sp>
        <p:nvSpPr>
          <p:cNvPr id="22" name="TextBox 21">
            <a:extLst>
              <a:ext uri="{FF2B5EF4-FFF2-40B4-BE49-F238E27FC236}">
                <a16:creationId xmlns:a16="http://schemas.microsoft.com/office/drawing/2014/main" id="{5750CEEE-A67E-6A49-B778-7AAC10C70C22}"/>
              </a:ext>
            </a:extLst>
          </p:cNvPr>
          <p:cNvSpPr txBox="1"/>
          <p:nvPr userDrawn="1"/>
        </p:nvSpPr>
        <p:spPr>
          <a:xfrm>
            <a:off x="22922972" y="-172462"/>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23" name="Author and Date">
            <a:extLst>
              <a:ext uri="{FF2B5EF4-FFF2-40B4-BE49-F238E27FC236}">
                <a16:creationId xmlns:a16="http://schemas.microsoft.com/office/drawing/2014/main" id="{EE642577-6C65-AC44-8B45-E9CBE07C539A}"/>
              </a:ext>
            </a:extLst>
          </p:cNvPr>
          <p:cNvSpPr txBox="1">
            <a:spLocks noGrp="1"/>
          </p:cNvSpPr>
          <p:nvPr>
            <p:ph type="body" sz="quarter" idx="23" hasCustomPrompt="1"/>
          </p:nvPr>
        </p:nvSpPr>
        <p:spPr>
          <a:xfrm>
            <a:off x="1049411" y="2393941"/>
            <a:ext cx="22229689" cy="10350448"/>
          </a:xfrm>
          <a:prstGeom prst="rect">
            <a:avLst/>
          </a:prstGeom>
        </p:spPr>
        <p:txBody>
          <a:bodyPr lIns="45719" tIns="45719" rIns="45719" bIns="45719" anchor="t"/>
          <a:lstStyle>
            <a:lvl1pPr marL="0" indent="0" algn="l" defTabSz="825500">
              <a:lnSpc>
                <a:spcPct val="100000"/>
              </a:lnSpc>
              <a:spcBef>
                <a:spcPts val="0"/>
              </a:spcBef>
              <a:buSzTx/>
              <a:buNone/>
              <a:defRPr sz="3200" b="0" i="0">
                <a:latin typeface="Chromatica" pitchFamily="2" charset="77"/>
              </a:defRPr>
            </a:lvl1pPr>
          </a:lstStyle>
          <a:p>
            <a:r>
              <a:rPr lang="tr-TR" dirty="0"/>
              <a:t>Sayfa içine eklenecek yazıları ve görselleri bu çerçeve sınırları içerisinde tutuyoruz. </a:t>
            </a:r>
            <a:br>
              <a:rPr lang="tr-TR" dirty="0"/>
            </a:br>
            <a:endParaRPr lang="tr-TR" dirty="0"/>
          </a:p>
        </p:txBody>
      </p:sp>
    </p:spTree>
    <p:extLst>
      <p:ext uri="{BB962C8B-B14F-4D97-AF65-F5344CB8AC3E}">
        <p14:creationId xmlns:p14="http://schemas.microsoft.com/office/powerpoint/2010/main" val="158593886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Uygulama/Proje">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BA3E2F-7310-664B-8F7C-BCAA61B43015}"/>
              </a:ext>
            </a:extLst>
          </p:cNvPr>
          <p:cNvSpPr txBox="1"/>
          <p:nvPr userDrawn="1"/>
        </p:nvSpPr>
        <p:spPr>
          <a:xfrm>
            <a:off x="1020437" y="445773"/>
            <a:ext cx="3970924"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TR" sz="32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Uygulama:</a:t>
            </a:r>
          </a:p>
        </p:txBody>
      </p:sp>
      <p:cxnSp>
        <p:nvCxnSpPr>
          <p:cNvPr id="4" name="Straight Connector 3">
            <a:extLst>
              <a:ext uri="{FF2B5EF4-FFF2-40B4-BE49-F238E27FC236}">
                <a16:creationId xmlns:a16="http://schemas.microsoft.com/office/drawing/2014/main" id="{5D29AF0C-F761-0D48-B6EA-493695665B97}"/>
              </a:ext>
            </a:extLst>
          </p:cNvPr>
          <p:cNvCxnSpPr>
            <a:cxnSpLocks/>
          </p:cNvCxnSpPr>
          <p:nvPr userDrawn="1"/>
        </p:nvCxnSpPr>
        <p:spPr>
          <a:xfrm>
            <a:off x="1104900" y="1481652"/>
            <a:ext cx="22174200" cy="0"/>
          </a:xfrm>
          <a:prstGeom prst="line">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 name="TextBox 4">
            <a:extLst>
              <a:ext uri="{FF2B5EF4-FFF2-40B4-BE49-F238E27FC236}">
                <a16:creationId xmlns:a16="http://schemas.microsoft.com/office/drawing/2014/main" id="{D843065F-7CF2-7246-8CC0-F1495A4666C3}"/>
              </a:ext>
            </a:extLst>
          </p:cNvPr>
          <p:cNvSpPr txBox="1"/>
          <p:nvPr userDrawn="1"/>
        </p:nvSpPr>
        <p:spPr>
          <a:xfrm>
            <a:off x="22320369" y="231769"/>
            <a:ext cx="912109"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1800" b="0" i="0" u="none" strike="noStrike" kern="100" cap="none" spc="110" normalizeH="0" baseline="0" dirty="0">
                <a:ln>
                  <a:noFill/>
                </a:ln>
                <a:solidFill>
                  <a:schemeClr val="bg2">
                    <a:lumMod val="10000"/>
                  </a:schemeClr>
                </a:solidFill>
                <a:effectLst/>
                <a:uFillTx/>
                <a:latin typeface="Chromatica Medium" pitchFamily="2" charset="77"/>
                <a:ea typeface="+mn-ea"/>
                <a:cs typeface="+mn-cs"/>
                <a:sym typeface="Helvetica Neue"/>
              </a:rPr>
              <a:t>MIUUL</a:t>
            </a:r>
          </a:p>
        </p:txBody>
      </p:sp>
      <p:sp>
        <p:nvSpPr>
          <p:cNvPr id="6" name="TextBox 5">
            <a:extLst>
              <a:ext uri="{FF2B5EF4-FFF2-40B4-BE49-F238E27FC236}">
                <a16:creationId xmlns:a16="http://schemas.microsoft.com/office/drawing/2014/main" id="{696F1535-6CBA-3E42-8BE4-22718C21AF32}"/>
              </a:ext>
            </a:extLst>
          </p:cNvPr>
          <p:cNvSpPr txBox="1"/>
          <p:nvPr userDrawn="1"/>
        </p:nvSpPr>
        <p:spPr>
          <a:xfrm>
            <a:off x="23133892" y="275554"/>
            <a:ext cx="197170" cy="1795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5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TM</a:t>
            </a:r>
          </a:p>
        </p:txBody>
      </p:sp>
      <p:sp>
        <p:nvSpPr>
          <p:cNvPr id="7" name="TextBox 6">
            <a:extLst>
              <a:ext uri="{FF2B5EF4-FFF2-40B4-BE49-F238E27FC236}">
                <a16:creationId xmlns:a16="http://schemas.microsoft.com/office/drawing/2014/main" id="{83896031-03CB-FC42-8AC2-462CCE101649}"/>
              </a:ext>
            </a:extLst>
          </p:cNvPr>
          <p:cNvSpPr txBox="1"/>
          <p:nvPr userDrawn="1"/>
        </p:nvSpPr>
        <p:spPr>
          <a:xfrm>
            <a:off x="19365581" y="857221"/>
            <a:ext cx="3970924"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www.miuul.com</a:t>
            </a:r>
          </a:p>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Copyright </a:t>
            </a:r>
            <a:r>
              <a:rPr kumimoji="0" lang="en-TR" sz="1300" b="0" i="0" u="none" strike="noStrike" cap="none" spc="0" normalizeH="0" baseline="0">
                <a:ln>
                  <a:noFill/>
                </a:ln>
                <a:solidFill>
                  <a:schemeClr val="bg2">
                    <a:lumMod val="10000"/>
                  </a:schemeClr>
                </a:solidFill>
                <a:effectLst/>
                <a:uFillTx/>
                <a:latin typeface="Chromatica" pitchFamily="2" charset="77"/>
                <a:ea typeface="+mn-ea"/>
                <a:cs typeface="+mn-cs"/>
                <a:sym typeface="Helvetica Neue"/>
              </a:rPr>
              <a:t>© Miuul. </a:t>
            </a: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All Rights Reserved</a:t>
            </a:r>
          </a:p>
        </p:txBody>
      </p:sp>
      <p:sp>
        <p:nvSpPr>
          <p:cNvPr id="8" name="TextBox 7">
            <a:extLst>
              <a:ext uri="{FF2B5EF4-FFF2-40B4-BE49-F238E27FC236}">
                <a16:creationId xmlns:a16="http://schemas.microsoft.com/office/drawing/2014/main" id="{D7928544-B5DB-ED48-90E0-26946CC9B600}"/>
              </a:ext>
            </a:extLst>
          </p:cNvPr>
          <p:cNvSpPr txBox="1"/>
          <p:nvPr userDrawn="1"/>
        </p:nvSpPr>
        <p:spPr>
          <a:xfrm>
            <a:off x="22922972" y="-172462"/>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9" name="Author and Date">
            <a:extLst>
              <a:ext uri="{FF2B5EF4-FFF2-40B4-BE49-F238E27FC236}">
                <a16:creationId xmlns:a16="http://schemas.microsoft.com/office/drawing/2014/main" id="{715D275F-DFDA-D245-9BDB-996B1F6EC6BD}"/>
              </a:ext>
            </a:extLst>
          </p:cNvPr>
          <p:cNvSpPr txBox="1">
            <a:spLocks noGrp="1"/>
          </p:cNvSpPr>
          <p:nvPr>
            <p:ph type="body" sz="quarter" idx="22" hasCustomPrompt="1"/>
          </p:nvPr>
        </p:nvSpPr>
        <p:spPr>
          <a:xfrm>
            <a:off x="3529146" y="167779"/>
            <a:ext cx="13742854" cy="1169999"/>
          </a:xfrm>
          <a:prstGeom prst="rect">
            <a:avLst/>
          </a:prstGeom>
        </p:spPr>
        <p:txBody>
          <a:bodyPr lIns="45719" tIns="45719" rIns="45719" bIns="45719" anchor="ctr"/>
          <a:lstStyle>
            <a:lvl1pPr marL="0" indent="0" algn="l" defTabSz="825500">
              <a:lnSpc>
                <a:spcPct val="100000"/>
              </a:lnSpc>
              <a:spcBef>
                <a:spcPts val="0"/>
              </a:spcBef>
              <a:buSzTx/>
              <a:buNone/>
              <a:defRPr sz="3200" b="0" i="0">
                <a:latin typeface="Chromatica Medium" pitchFamily="2" charset="77"/>
              </a:defRPr>
            </a:lvl1pPr>
          </a:lstStyle>
          <a:p>
            <a:r>
              <a:rPr lang="tr-TR" dirty="0"/>
              <a:t>‘Projenin adını buraya yazın’</a:t>
            </a:r>
          </a:p>
        </p:txBody>
      </p:sp>
      <p:sp>
        <p:nvSpPr>
          <p:cNvPr id="10" name="Author and Date">
            <a:extLst>
              <a:ext uri="{FF2B5EF4-FFF2-40B4-BE49-F238E27FC236}">
                <a16:creationId xmlns:a16="http://schemas.microsoft.com/office/drawing/2014/main" id="{0F3C4248-EB51-CF40-BD7E-040A2460A589}"/>
              </a:ext>
            </a:extLst>
          </p:cNvPr>
          <p:cNvSpPr txBox="1">
            <a:spLocks noGrp="1"/>
          </p:cNvSpPr>
          <p:nvPr>
            <p:ph type="body" sz="quarter" idx="23" hasCustomPrompt="1"/>
          </p:nvPr>
        </p:nvSpPr>
        <p:spPr>
          <a:xfrm>
            <a:off x="1049411" y="2393941"/>
            <a:ext cx="22229689" cy="10350448"/>
          </a:xfrm>
          <a:prstGeom prst="rect">
            <a:avLst/>
          </a:prstGeom>
        </p:spPr>
        <p:txBody>
          <a:bodyPr lIns="45719" tIns="45719" rIns="45719" bIns="45719" anchor="t"/>
          <a:lstStyle>
            <a:lvl1pPr marL="0" indent="0" algn="l" defTabSz="825500">
              <a:lnSpc>
                <a:spcPct val="100000"/>
              </a:lnSpc>
              <a:spcBef>
                <a:spcPts val="0"/>
              </a:spcBef>
              <a:buSzTx/>
              <a:buNone/>
              <a:defRPr sz="3200" b="0" i="0">
                <a:latin typeface="Chromatica" pitchFamily="2" charset="77"/>
              </a:defRPr>
            </a:lvl1pPr>
          </a:lstStyle>
          <a:p>
            <a:r>
              <a:rPr lang="tr-TR" dirty="0"/>
              <a:t>Sayfa içine eklenecek yazıları ve görselleri bu çerçeve sınırları içerisinde tutuyoruz</a:t>
            </a:r>
          </a:p>
        </p:txBody>
      </p:sp>
    </p:spTree>
    <p:extLst>
      <p:ext uri="{BB962C8B-B14F-4D97-AF65-F5344CB8AC3E}">
        <p14:creationId xmlns:p14="http://schemas.microsoft.com/office/powerpoint/2010/main" val="3027570292"/>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ölüm Özeti">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A31EE74-3E9F-4D4B-B3CB-FBB357DA2DF9}"/>
              </a:ext>
            </a:extLst>
          </p:cNvPr>
          <p:cNvSpPr/>
          <p:nvPr userDrawn="1"/>
        </p:nvSpPr>
        <p:spPr>
          <a:xfrm>
            <a:off x="1104899" y="2393941"/>
            <a:ext cx="10820397" cy="10350453"/>
          </a:xfrm>
          <a:prstGeom prst="rect">
            <a:avLst/>
          </a:prstGeom>
          <a:solidFill>
            <a:srgbClr val="03523C"/>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TR"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4" name="TextBox 3">
            <a:extLst>
              <a:ext uri="{FF2B5EF4-FFF2-40B4-BE49-F238E27FC236}">
                <a16:creationId xmlns:a16="http://schemas.microsoft.com/office/drawing/2014/main" id="{4F539120-26FA-9341-962C-7F435C73C35B}"/>
              </a:ext>
            </a:extLst>
          </p:cNvPr>
          <p:cNvSpPr txBox="1"/>
          <p:nvPr userDrawn="1"/>
        </p:nvSpPr>
        <p:spPr>
          <a:xfrm>
            <a:off x="1020437" y="445773"/>
            <a:ext cx="3970924"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TR" sz="32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Bölüm Özeti</a:t>
            </a:r>
          </a:p>
        </p:txBody>
      </p:sp>
      <p:cxnSp>
        <p:nvCxnSpPr>
          <p:cNvPr id="5" name="Straight Connector 4">
            <a:extLst>
              <a:ext uri="{FF2B5EF4-FFF2-40B4-BE49-F238E27FC236}">
                <a16:creationId xmlns:a16="http://schemas.microsoft.com/office/drawing/2014/main" id="{D8C12F33-0B8E-BC43-B871-1EA5470A9927}"/>
              </a:ext>
            </a:extLst>
          </p:cNvPr>
          <p:cNvCxnSpPr>
            <a:cxnSpLocks/>
          </p:cNvCxnSpPr>
          <p:nvPr userDrawn="1"/>
        </p:nvCxnSpPr>
        <p:spPr>
          <a:xfrm>
            <a:off x="1104900" y="1481652"/>
            <a:ext cx="22174200" cy="0"/>
          </a:xfrm>
          <a:prstGeom prst="line">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9FA109C9-B7D5-DB4E-850C-7A5E9DB5B35C}"/>
              </a:ext>
            </a:extLst>
          </p:cNvPr>
          <p:cNvSpPr txBox="1"/>
          <p:nvPr userDrawn="1"/>
        </p:nvSpPr>
        <p:spPr>
          <a:xfrm>
            <a:off x="22320369" y="231769"/>
            <a:ext cx="912109"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1800" b="0" i="0" u="none" strike="noStrike" kern="100" cap="none" spc="110" normalizeH="0" baseline="0" dirty="0">
                <a:ln>
                  <a:noFill/>
                </a:ln>
                <a:solidFill>
                  <a:schemeClr val="bg2">
                    <a:lumMod val="10000"/>
                  </a:schemeClr>
                </a:solidFill>
                <a:effectLst/>
                <a:uFillTx/>
                <a:latin typeface="Chromatica Medium" pitchFamily="2" charset="77"/>
                <a:ea typeface="+mn-ea"/>
                <a:cs typeface="+mn-cs"/>
                <a:sym typeface="Helvetica Neue"/>
              </a:rPr>
              <a:t>MIUUL</a:t>
            </a:r>
          </a:p>
        </p:txBody>
      </p:sp>
      <p:sp>
        <p:nvSpPr>
          <p:cNvPr id="7" name="TextBox 6">
            <a:extLst>
              <a:ext uri="{FF2B5EF4-FFF2-40B4-BE49-F238E27FC236}">
                <a16:creationId xmlns:a16="http://schemas.microsoft.com/office/drawing/2014/main" id="{BB8A04EF-CF2A-4A4F-A9F2-EBBBD1E4DE2B}"/>
              </a:ext>
            </a:extLst>
          </p:cNvPr>
          <p:cNvSpPr txBox="1"/>
          <p:nvPr userDrawn="1"/>
        </p:nvSpPr>
        <p:spPr>
          <a:xfrm>
            <a:off x="23133892" y="275554"/>
            <a:ext cx="197170" cy="1795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5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TM</a:t>
            </a:r>
          </a:p>
        </p:txBody>
      </p:sp>
      <p:sp>
        <p:nvSpPr>
          <p:cNvPr id="8" name="TextBox 7">
            <a:extLst>
              <a:ext uri="{FF2B5EF4-FFF2-40B4-BE49-F238E27FC236}">
                <a16:creationId xmlns:a16="http://schemas.microsoft.com/office/drawing/2014/main" id="{36347171-6DE6-5548-A5D2-656F5E929FC1}"/>
              </a:ext>
            </a:extLst>
          </p:cNvPr>
          <p:cNvSpPr txBox="1"/>
          <p:nvPr userDrawn="1"/>
        </p:nvSpPr>
        <p:spPr>
          <a:xfrm>
            <a:off x="19365581" y="857221"/>
            <a:ext cx="3970924"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www.miuul.com</a:t>
            </a:r>
          </a:p>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Copyright </a:t>
            </a:r>
            <a:r>
              <a:rPr kumimoji="0" lang="en-TR" sz="1300" b="0" i="0" u="none" strike="noStrike" cap="none" spc="0" normalizeH="0" baseline="0">
                <a:ln>
                  <a:noFill/>
                </a:ln>
                <a:solidFill>
                  <a:schemeClr val="bg2">
                    <a:lumMod val="10000"/>
                  </a:schemeClr>
                </a:solidFill>
                <a:effectLst/>
                <a:uFillTx/>
                <a:latin typeface="Chromatica" pitchFamily="2" charset="77"/>
                <a:ea typeface="+mn-ea"/>
                <a:cs typeface="+mn-cs"/>
                <a:sym typeface="Helvetica Neue"/>
              </a:rPr>
              <a:t>© Miuul. </a:t>
            </a: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All Rights Reserved</a:t>
            </a:r>
          </a:p>
        </p:txBody>
      </p:sp>
      <p:sp>
        <p:nvSpPr>
          <p:cNvPr id="9" name="TextBox 8">
            <a:extLst>
              <a:ext uri="{FF2B5EF4-FFF2-40B4-BE49-F238E27FC236}">
                <a16:creationId xmlns:a16="http://schemas.microsoft.com/office/drawing/2014/main" id="{BCAD83E3-93BE-A248-92F5-A6089CE21B46}"/>
              </a:ext>
            </a:extLst>
          </p:cNvPr>
          <p:cNvSpPr txBox="1"/>
          <p:nvPr userDrawn="1"/>
        </p:nvSpPr>
        <p:spPr>
          <a:xfrm>
            <a:off x="22922972" y="-172462"/>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10" name="Title 10">
            <a:extLst>
              <a:ext uri="{FF2B5EF4-FFF2-40B4-BE49-F238E27FC236}">
                <a16:creationId xmlns:a16="http://schemas.microsoft.com/office/drawing/2014/main" id="{54354A9F-DFCA-2E49-B4AA-AD78CA9ACE13}"/>
              </a:ext>
            </a:extLst>
          </p:cNvPr>
          <p:cNvSpPr>
            <a:spLocks noGrp="1"/>
          </p:cNvSpPr>
          <p:nvPr>
            <p:ph type="title" hasCustomPrompt="1"/>
          </p:nvPr>
        </p:nvSpPr>
        <p:spPr>
          <a:xfrm>
            <a:off x="1676397" y="6753904"/>
            <a:ext cx="9677400" cy="1433163"/>
          </a:xfrm>
        </p:spPr>
        <p:txBody>
          <a:bodyPr>
            <a:normAutofit/>
          </a:bodyPr>
          <a:lstStyle>
            <a:lvl1pPr>
              <a:lnSpc>
                <a:spcPct val="150000"/>
              </a:lnSpc>
              <a:spcBef>
                <a:spcPts val="0"/>
              </a:spcBef>
              <a:spcAft>
                <a:spcPts val="600"/>
              </a:spcAft>
              <a:defRPr sz="3200" b="0" i="0" spc="0">
                <a:solidFill>
                  <a:srgbClr val="C9FFC7"/>
                </a:solidFill>
                <a:latin typeface="Chromatica" pitchFamily="2" charset="77"/>
              </a:defRPr>
            </a:lvl1pPr>
          </a:lstStyle>
          <a:p>
            <a:r>
              <a:rPr lang="en-US" dirty="0" err="1"/>
              <a:t>Bölüm</a:t>
            </a:r>
            <a:r>
              <a:rPr lang="en-US" dirty="0"/>
              <a:t> </a:t>
            </a:r>
            <a:r>
              <a:rPr lang="en-US" dirty="0" err="1"/>
              <a:t>adını</a:t>
            </a:r>
            <a:r>
              <a:rPr lang="en-US" dirty="0"/>
              <a:t> </a:t>
            </a:r>
            <a:r>
              <a:rPr lang="en-US" dirty="0" err="1"/>
              <a:t>buraya</a:t>
            </a:r>
            <a:r>
              <a:rPr lang="en-US" dirty="0"/>
              <a:t> </a:t>
            </a:r>
            <a:r>
              <a:rPr lang="en-US" dirty="0" err="1"/>
              <a:t>yazın</a:t>
            </a:r>
            <a:endParaRPr lang="en-TR" dirty="0"/>
          </a:p>
        </p:txBody>
      </p:sp>
      <p:sp>
        <p:nvSpPr>
          <p:cNvPr id="13" name="Text Placeholder 12">
            <a:extLst>
              <a:ext uri="{FF2B5EF4-FFF2-40B4-BE49-F238E27FC236}">
                <a16:creationId xmlns:a16="http://schemas.microsoft.com/office/drawing/2014/main" id="{870CC902-E0D0-8F48-8054-775921E13ECC}"/>
              </a:ext>
            </a:extLst>
          </p:cNvPr>
          <p:cNvSpPr>
            <a:spLocks noGrp="1"/>
          </p:cNvSpPr>
          <p:nvPr>
            <p:ph type="body" sz="quarter" idx="10" hasCustomPrompt="1"/>
          </p:nvPr>
        </p:nvSpPr>
        <p:spPr>
          <a:xfrm>
            <a:off x="12458706" y="2393942"/>
            <a:ext cx="10820394" cy="10350452"/>
          </a:xfrm>
          <a:prstGeom prst="rect">
            <a:avLst/>
          </a:prstGeom>
        </p:spPr>
        <p:txBody>
          <a:bodyPr anchor="ctr"/>
          <a:lstStyle>
            <a:lvl1pPr algn="l">
              <a:defRPr sz="3200" b="0" i="0">
                <a:latin typeface="Chromatica" pitchFamily="2" charset="77"/>
              </a:defRPr>
            </a:lvl1pPr>
          </a:lstStyle>
          <a:p>
            <a:pPr lvl="0"/>
            <a:r>
              <a:rPr lang="en-US" dirty="0"/>
              <a:t>’</a:t>
            </a:r>
            <a:r>
              <a:rPr lang="en-US" dirty="0" err="1"/>
              <a:t>Neler</a:t>
            </a:r>
            <a:r>
              <a:rPr lang="en-US" dirty="0"/>
              <a:t> </a:t>
            </a:r>
            <a:r>
              <a:rPr lang="en-US" dirty="0" err="1"/>
              <a:t>Öğrendik</a:t>
            </a:r>
            <a:r>
              <a:rPr lang="en-US" dirty="0"/>
              <a:t>?’ </a:t>
            </a:r>
            <a:r>
              <a:rPr lang="en-US" dirty="0" err="1"/>
              <a:t>kısa</a:t>
            </a:r>
            <a:r>
              <a:rPr lang="en-US" dirty="0"/>
              <a:t> </a:t>
            </a:r>
            <a:r>
              <a:rPr lang="en-US" dirty="0" err="1"/>
              <a:t>maddeler</a:t>
            </a:r>
            <a:r>
              <a:rPr lang="en-US" dirty="0"/>
              <a:t> </a:t>
            </a:r>
            <a:r>
              <a:rPr lang="en-US" dirty="0" err="1"/>
              <a:t>ile</a:t>
            </a:r>
            <a:r>
              <a:rPr lang="en-US" dirty="0"/>
              <a:t> </a:t>
            </a:r>
            <a:r>
              <a:rPr lang="en-US" dirty="0" err="1"/>
              <a:t>listeleyelim</a:t>
            </a:r>
            <a:endParaRPr lang="en-US" dirty="0"/>
          </a:p>
        </p:txBody>
      </p:sp>
    </p:spTree>
    <p:extLst>
      <p:ext uri="{BB962C8B-B14F-4D97-AF65-F5344CB8AC3E}">
        <p14:creationId xmlns:p14="http://schemas.microsoft.com/office/powerpoint/2010/main" val="391225771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Ders Anlatımı">
    <p:spTree>
      <p:nvGrpSpPr>
        <p:cNvPr id="1" name=""/>
        <p:cNvGrpSpPr/>
        <p:nvPr/>
      </p:nvGrpSpPr>
      <p:grpSpPr>
        <a:xfrm>
          <a:off x="0" y="0"/>
          <a:ext cx="0" cy="0"/>
          <a:chOff x="0" y="0"/>
          <a:chExt cx="0" cy="0"/>
        </a:xfrm>
      </p:grpSpPr>
      <p:sp>
        <p:nvSpPr>
          <p:cNvPr id="3" name="Author and Date">
            <a:extLst>
              <a:ext uri="{FF2B5EF4-FFF2-40B4-BE49-F238E27FC236}">
                <a16:creationId xmlns:a16="http://schemas.microsoft.com/office/drawing/2014/main" id="{E5E2BDF8-0349-334B-BF6A-D7072B112F49}"/>
              </a:ext>
            </a:extLst>
          </p:cNvPr>
          <p:cNvSpPr txBox="1">
            <a:spLocks noGrp="1"/>
          </p:cNvSpPr>
          <p:nvPr>
            <p:ph type="body" sz="quarter" idx="22" hasCustomPrompt="1"/>
          </p:nvPr>
        </p:nvSpPr>
        <p:spPr>
          <a:xfrm>
            <a:off x="1049411" y="167779"/>
            <a:ext cx="15709901" cy="1169999"/>
          </a:xfrm>
          <a:prstGeom prst="rect">
            <a:avLst/>
          </a:prstGeom>
        </p:spPr>
        <p:txBody>
          <a:bodyPr lIns="45719" tIns="45719" rIns="45719" bIns="45719" anchor="ctr"/>
          <a:lstStyle>
            <a:lvl1pPr marL="0" indent="0" algn="l" defTabSz="825500">
              <a:lnSpc>
                <a:spcPct val="100000"/>
              </a:lnSpc>
              <a:spcBef>
                <a:spcPts val="0"/>
              </a:spcBef>
              <a:buSzTx/>
              <a:buNone/>
              <a:defRPr sz="3200" b="0" i="0">
                <a:latin typeface="Chromatica Medium" pitchFamily="2" charset="77"/>
              </a:defRPr>
            </a:lvl1pPr>
          </a:lstStyle>
          <a:p>
            <a:r>
              <a:rPr lang="tr-TR" dirty="0"/>
              <a:t>Dersin adını buraya yazın</a:t>
            </a:r>
          </a:p>
        </p:txBody>
      </p:sp>
      <p:cxnSp>
        <p:nvCxnSpPr>
          <p:cNvPr id="14" name="Straight Connector 13">
            <a:extLst>
              <a:ext uri="{FF2B5EF4-FFF2-40B4-BE49-F238E27FC236}">
                <a16:creationId xmlns:a16="http://schemas.microsoft.com/office/drawing/2014/main" id="{60B40B19-566E-A743-BF82-7FDFA5614D83}"/>
              </a:ext>
            </a:extLst>
          </p:cNvPr>
          <p:cNvCxnSpPr>
            <a:cxnSpLocks/>
          </p:cNvCxnSpPr>
          <p:nvPr userDrawn="1"/>
        </p:nvCxnSpPr>
        <p:spPr>
          <a:xfrm>
            <a:off x="1104900" y="1481652"/>
            <a:ext cx="22174200" cy="0"/>
          </a:xfrm>
          <a:prstGeom prst="line">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7" name="TextBox 16">
            <a:extLst>
              <a:ext uri="{FF2B5EF4-FFF2-40B4-BE49-F238E27FC236}">
                <a16:creationId xmlns:a16="http://schemas.microsoft.com/office/drawing/2014/main" id="{201E5980-45BA-614F-AC8B-C106D2EB33A8}"/>
              </a:ext>
            </a:extLst>
          </p:cNvPr>
          <p:cNvSpPr txBox="1"/>
          <p:nvPr userDrawn="1"/>
        </p:nvSpPr>
        <p:spPr>
          <a:xfrm>
            <a:off x="6160286" y="631141"/>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19" name="TextBox 18">
            <a:extLst>
              <a:ext uri="{FF2B5EF4-FFF2-40B4-BE49-F238E27FC236}">
                <a16:creationId xmlns:a16="http://schemas.microsoft.com/office/drawing/2014/main" id="{746EF5B0-9520-1A41-8DBD-9F983BCFBB0F}"/>
              </a:ext>
            </a:extLst>
          </p:cNvPr>
          <p:cNvSpPr txBox="1"/>
          <p:nvPr userDrawn="1"/>
        </p:nvSpPr>
        <p:spPr>
          <a:xfrm>
            <a:off x="22320369" y="231769"/>
            <a:ext cx="912109"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1800" b="0" i="0" u="none" strike="noStrike" kern="100" cap="none" spc="110" normalizeH="0" baseline="0" dirty="0">
                <a:ln>
                  <a:noFill/>
                </a:ln>
                <a:solidFill>
                  <a:schemeClr val="bg2">
                    <a:lumMod val="10000"/>
                  </a:schemeClr>
                </a:solidFill>
                <a:effectLst/>
                <a:uFillTx/>
                <a:latin typeface="Chromatica Medium" pitchFamily="2" charset="77"/>
                <a:ea typeface="+mn-ea"/>
                <a:cs typeface="+mn-cs"/>
                <a:sym typeface="Helvetica Neue"/>
              </a:rPr>
              <a:t>MIUUL</a:t>
            </a:r>
          </a:p>
        </p:txBody>
      </p:sp>
      <p:sp>
        <p:nvSpPr>
          <p:cNvPr id="20" name="TextBox 19">
            <a:extLst>
              <a:ext uri="{FF2B5EF4-FFF2-40B4-BE49-F238E27FC236}">
                <a16:creationId xmlns:a16="http://schemas.microsoft.com/office/drawing/2014/main" id="{525CF718-ACE3-2946-B725-C3C12C26870E}"/>
              </a:ext>
            </a:extLst>
          </p:cNvPr>
          <p:cNvSpPr txBox="1"/>
          <p:nvPr userDrawn="1"/>
        </p:nvSpPr>
        <p:spPr>
          <a:xfrm>
            <a:off x="23133892" y="279950"/>
            <a:ext cx="197170" cy="1795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5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TM</a:t>
            </a:r>
          </a:p>
        </p:txBody>
      </p:sp>
      <p:sp>
        <p:nvSpPr>
          <p:cNvPr id="21" name="TextBox 20">
            <a:extLst>
              <a:ext uri="{FF2B5EF4-FFF2-40B4-BE49-F238E27FC236}">
                <a16:creationId xmlns:a16="http://schemas.microsoft.com/office/drawing/2014/main" id="{CD8CEC82-FA21-5D4B-8318-FE278F38F3F6}"/>
              </a:ext>
            </a:extLst>
          </p:cNvPr>
          <p:cNvSpPr txBox="1"/>
          <p:nvPr userDrawn="1"/>
        </p:nvSpPr>
        <p:spPr>
          <a:xfrm>
            <a:off x="19365581" y="857221"/>
            <a:ext cx="3970924"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www.miuul.com</a:t>
            </a:r>
          </a:p>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Copyright </a:t>
            </a:r>
            <a:r>
              <a:rPr kumimoji="0" lang="en-TR" sz="1300" b="0" i="0" u="none" strike="noStrike" cap="none" spc="0" normalizeH="0" baseline="0">
                <a:ln>
                  <a:noFill/>
                </a:ln>
                <a:solidFill>
                  <a:schemeClr val="bg2">
                    <a:lumMod val="10000"/>
                  </a:schemeClr>
                </a:solidFill>
                <a:effectLst/>
                <a:uFillTx/>
                <a:latin typeface="Chromatica" pitchFamily="2" charset="77"/>
                <a:ea typeface="+mn-ea"/>
                <a:cs typeface="+mn-cs"/>
                <a:sym typeface="Helvetica Neue"/>
              </a:rPr>
              <a:t>© Miuul. </a:t>
            </a: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All Rights Reserved</a:t>
            </a:r>
          </a:p>
        </p:txBody>
      </p:sp>
      <p:sp>
        <p:nvSpPr>
          <p:cNvPr id="22" name="TextBox 21">
            <a:extLst>
              <a:ext uri="{FF2B5EF4-FFF2-40B4-BE49-F238E27FC236}">
                <a16:creationId xmlns:a16="http://schemas.microsoft.com/office/drawing/2014/main" id="{5750CEEE-A67E-6A49-B778-7AAC10C70C22}"/>
              </a:ext>
            </a:extLst>
          </p:cNvPr>
          <p:cNvSpPr txBox="1"/>
          <p:nvPr userDrawn="1"/>
        </p:nvSpPr>
        <p:spPr>
          <a:xfrm>
            <a:off x="22922972" y="-172462"/>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Tree>
    <p:extLst>
      <p:ext uri="{BB962C8B-B14F-4D97-AF65-F5344CB8AC3E}">
        <p14:creationId xmlns:p14="http://schemas.microsoft.com/office/powerpoint/2010/main" val="1022315224"/>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5572609"/>
            <a:ext cx="21971000" cy="25707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rPr lang="tr-TR" dirty="0"/>
              <a:t>Eğitim/Bölüm/Ders Adı</a:t>
            </a:r>
            <a:endParaRPr dirty="0"/>
          </a:p>
        </p:txBody>
      </p:sp>
    </p:spTree>
  </p:cSld>
  <p:clrMap bg1="lt1" tx1="dk1" bg2="lt2" tx2="dk2" accent1="accent1" accent2="accent2" accent3="accent3" accent4="accent4" accent5="accent5" accent6="accent6" hlink="hlink" folHlink="folHlink"/>
  <p:sldLayoutIdLst>
    <p:sldLayoutId id="2147483653" r:id="rId1"/>
    <p:sldLayoutId id="2147483651" r:id="rId2"/>
    <p:sldLayoutId id="2147483654" r:id="rId3"/>
    <p:sldLayoutId id="2147483656" r:id="rId4"/>
    <p:sldLayoutId id="2147483657" r:id="rId5"/>
  </p:sldLayoutIdLst>
  <p:transition spd="med"/>
  <p:txStyles>
    <p:titleStyle>
      <a:lvl1pPr marL="0" marR="0" indent="0" algn="ctr" defTabSz="2438338" rtl="0" eaLnBrk="1" latinLnBrk="0" hangingPunct="1">
        <a:lnSpc>
          <a:spcPct val="100000"/>
        </a:lnSpc>
        <a:spcBef>
          <a:spcPts val="1200"/>
        </a:spcBef>
        <a:spcAft>
          <a:spcPts val="1200"/>
        </a:spcAft>
        <a:buClrTx/>
        <a:buSzTx/>
        <a:buFontTx/>
        <a:buNone/>
        <a:tabLst/>
        <a:defRPr sz="7200" b="0" i="0" u="none" strike="noStrike" cap="none" spc="-170" baseline="0">
          <a:solidFill>
            <a:srgbClr val="000000"/>
          </a:solidFill>
          <a:uFillTx/>
          <a:latin typeface="Chromatica" pitchFamily="2" charset="77"/>
          <a:ea typeface="+mn-ea"/>
          <a:cs typeface="+mn-cs"/>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ann_image18.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ann_image20.png"/><Relationship Id="rId4" Type="http://schemas.openxmlformats.org/officeDocument/2006/relationships/image" Target="../media/ann_image19.png"/></Relationships>
</file>

<file path=ppt/slides/_rels/slide19.xml.rels><?xml version="1.0" encoding="UTF-8" standalone="yes"?>
<Relationships xmlns="http://schemas.openxmlformats.org/package/2006/relationships"><Relationship Id="rId3" Type="http://schemas.openxmlformats.org/officeDocument/2006/relationships/image" Target="../media/ann_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ann_image20.png"/><Relationship Id="rId4" Type="http://schemas.openxmlformats.org/officeDocument/2006/relationships/image" Target="../media/ann_image19.png"/></Relationships>
</file>

<file path=ppt/slides/_rels/slide20.xml.rels><?xml version="1.0" encoding="UTF-8" standalone="yes"?>
<Relationships xmlns="http://schemas.openxmlformats.org/package/2006/relationships"><Relationship Id="rId3" Type="http://schemas.openxmlformats.org/officeDocument/2006/relationships/image" Target="../media/ann_image22.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ann_image20.png"/><Relationship Id="rId4" Type="http://schemas.openxmlformats.org/officeDocument/2006/relationships/image" Target="../media/ann_image19.png"/></Relationships>
</file>

<file path=ppt/slides/_rels/slide21.xml.rels><?xml version="1.0" encoding="UTF-8" standalone="yes"?>
<Relationships xmlns="http://schemas.openxmlformats.org/package/2006/relationships"><Relationship Id="rId3" Type="http://schemas.openxmlformats.org/officeDocument/2006/relationships/image" Target="../media/ann_image19.png"/><Relationship Id="rId2" Type="http://schemas.openxmlformats.org/officeDocument/2006/relationships/image" Target="../media/ann_image23.png"/><Relationship Id="rId1" Type="http://schemas.openxmlformats.org/officeDocument/2006/relationships/slideLayout" Target="../slideLayouts/slideLayout2.xml"/><Relationship Id="rId4" Type="http://schemas.openxmlformats.org/officeDocument/2006/relationships/image" Target="../media/ann_image20.png"/></Relationships>
</file>

<file path=ppt/slides/_rels/slide22.xml.rels><?xml version="1.0" encoding="UTF-8" standalone="yes"?>
<Relationships xmlns="http://schemas.openxmlformats.org/package/2006/relationships"><Relationship Id="rId3" Type="http://schemas.openxmlformats.org/officeDocument/2006/relationships/image" Target="../media/ann_image23.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ann_image24.png"/><Relationship Id="rId5" Type="http://schemas.openxmlformats.org/officeDocument/2006/relationships/image" Target="../media/ann_image20.png"/><Relationship Id="rId4" Type="http://schemas.openxmlformats.org/officeDocument/2006/relationships/image" Target="../media/ann_image19.png"/></Relationships>
</file>

<file path=ppt/slides/_rels/slide23.xml.rels><?xml version="1.0" encoding="UTF-8" standalone="yes"?>
<Relationships xmlns="http://schemas.openxmlformats.org/package/2006/relationships"><Relationship Id="rId3" Type="http://schemas.openxmlformats.org/officeDocument/2006/relationships/image" Target="../media/ann_image19.png"/><Relationship Id="rId2" Type="http://schemas.openxmlformats.org/officeDocument/2006/relationships/image" Target="../media/ann_image23.png"/><Relationship Id="rId1" Type="http://schemas.openxmlformats.org/officeDocument/2006/relationships/slideLayout" Target="../slideLayouts/slideLayout2.xml"/><Relationship Id="rId5" Type="http://schemas.openxmlformats.org/officeDocument/2006/relationships/image" Target="../media/ann_image25.png"/><Relationship Id="rId4" Type="http://schemas.openxmlformats.org/officeDocument/2006/relationships/image" Target="../media/ann_image20.png"/></Relationships>
</file>

<file path=ppt/slides/_rels/slide24.xml.rels><?xml version="1.0" encoding="UTF-8" standalone="yes"?>
<Relationships xmlns="http://schemas.openxmlformats.org/package/2006/relationships"><Relationship Id="rId3" Type="http://schemas.openxmlformats.org/officeDocument/2006/relationships/image" Target="../media/ann_image19.png"/><Relationship Id="rId2" Type="http://schemas.openxmlformats.org/officeDocument/2006/relationships/image" Target="../media/ann_image23.png"/><Relationship Id="rId1" Type="http://schemas.openxmlformats.org/officeDocument/2006/relationships/slideLayout" Target="../slideLayouts/slideLayout2.xml"/><Relationship Id="rId5" Type="http://schemas.openxmlformats.org/officeDocument/2006/relationships/image" Target="../media/ann_image26.png"/><Relationship Id="rId4" Type="http://schemas.openxmlformats.org/officeDocument/2006/relationships/image" Target="../media/ann_image20.png"/></Relationships>
</file>

<file path=ppt/slides/_rels/slide25.xml.rels><?xml version="1.0" encoding="UTF-8" standalone="yes"?>
<Relationships xmlns="http://schemas.openxmlformats.org/package/2006/relationships"><Relationship Id="rId3" Type="http://schemas.openxmlformats.org/officeDocument/2006/relationships/image" Target="../media/ann_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ann_image27.png"/><Relationship Id="rId5" Type="http://schemas.openxmlformats.org/officeDocument/2006/relationships/image" Target="../media/ann_image20.png"/><Relationship Id="rId4" Type="http://schemas.openxmlformats.org/officeDocument/2006/relationships/image" Target="../media/ann_image19.png"/></Relationships>
</file>

<file path=ppt/slides/_rels/slide26.xml.rels><?xml version="1.0" encoding="UTF-8" standalone="yes"?>
<Relationships xmlns="http://schemas.openxmlformats.org/package/2006/relationships"><Relationship Id="rId3" Type="http://schemas.openxmlformats.org/officeDocument/2006/relationships/image" Target="../media/ann_image28.png"/><Relationship Id="rId7" Type="http://schemas.openxmlformats.org/officeDocument/2006/relationships/image" Target="../media/ann_image32.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ann_image31.png"/><Relationship Id="rId5" Type="http://schemas.openxmlformats.org/officeDocument/2006/relationships/image" Target="../media/ann_image30.png"/><Relationship Id="rId4" Type="http://schemas.openxmlformats.org/officeDocument/2006/relationships/image" Target="../media/ann_image29.png"/></Relationships>
</file>

<file path=ppt/slides/_rels/slide27.xml.rels><?xml version="1.0" encoding="UTF-8" standalone="yes"?>
<Relationships xmlns="http://schemas.openxmlformats.org/package/2006/relationships"><Relationship Id="rId3" Type="http://schemas.openxmlformats.org/officeDocument/2006/relationships/image" Target="../media/ann_image28.png"/><Relationship Id="rId7" Type="http://schemas.openxmlformats.org/officeDocument/2006/relationships/image" Target="../media/ann_image32.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ann_image31.png"/><Relationship Id="rId5" Type="http://schemas.openxmlformats.org/officeDocument/2006/relationships/image" Target="../media/ann_image33.png"/><Relationship Id="rId4" Type="http://schemas.openxmlformats.org/officeDocument/2006/relationships/image" Target="../media/ann_image2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Rectangle 2"/>
          <p:cNvSpPr/>
          <p:nvPr/>
        </p:nvSpPr>
        <p:spPr>
          <a:xfrm>
            <a:off x="0" y="0"/>
            <a:ext cx="24387048" cy="13716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2743200" y="1417320"/>
            <a:ext cx="18900648" cy="1737360"/>
          </a:xfrm>
          <a:prstGeom prst="rect">
            <a:avLst/>
          </a:prstGeom>
          <a:noFill/>
        </p:spPr>
        <p:txBody>
          <a:bodyPr wrap="square" lIns="0" tIns="0" rIns="0" bIns="0" anchor="t">
            <a:spAutoFit/>
          </a:bodyPr>
          <a:lstStyle/>
          <a:p>
            <a:pPr algn="l">
              <a:lnSpc>
                <a:spcPct val="95000"/>
              </a:lnSpc>
            </a:pPr>
            <a:r>
              <a:rPr sz="9200" b="1">
                <a:solidFill>
                  <a:srgbClr val="FFFFFF"/>
                </a:solidFill>
              </a:rPr>
              <a:t>Deep Learning</a:t>
            </a:r>
          </a:p>
        </p:txBody>
      </p:sp>
      <p:sp>
        <p:nvSpPr>
          <p:cNvPr id="5" name="TextBox 4"/>
          <p:cNvSpPr txBox="1"/>
          <p:nvPr/>
        </p:nvSpPr>
        <p:spPr>
          <a:xfrm>
            <a:off x="2743200" y="4206240"/>
            <a:ext cx="1188720" cy="548640"/>
          </a:xfrm>
          <a:prstGeom prst="rect">
            <a:avLst/>
          </a:prstGeom>
          <a:noFill/>
        </p:spPr>
        <p:txBody>
          <a:bodyPr wrap="square" lIns="0" tIns="0" rIns="0" bIns="0" anchor="t">
            <a:spAutoFit/>
          </a:bodyPr>
          <a:lstStyle/>
          <a:p>
            <a:pPr algn="l"/>
            <a:r>
              <a:rPr sz="2600" b="1">
                <a:solidFill>
                  <a:srgbClr val="C08A2E"/>
                </a:solidFill>
              </a:rPr>
              <a:t>01</a:t>
            </a:r>
          </a:p>
        </p:txBody>
      </p:sp>
      <p:sp>
        <p:nvSpPr>
          <p:cNvPr id="6" name="TextBox 5"/>
          <p:cNvSpPr txBox="1"/>
          <p:nvPr/>
        </p:nvSpPr>
        <p:spPr>
          <a:xfrm>
            <a:off x="4114800" y="4160520"/>
            <a:ext cx="14264640" cy="685800"/>
          </a:xfrm>
          <a:prstGeom prst="rect">
            <a:avLst/>
          </a:prstGeom>
          <a:noFill/>
        </p:spPr>
        <p:txBody>
          <a:bodyPr wrap="square" lIns="0" tIns="0" rIns="0" bIns="0" anchor="t">
            <a:spAutoFit/>
          </a:bodyPr>
          <a:lstStyle/>
          <a:p>
            <a:pPr algn="l"/>
            <a:r>
              <a:rPr sz="3400" b="1">
                <a:solidFill>
                  <a:srgbClr val="FFFFFF"/>
                </a:solidFill>
              </a:rPr>
              <a:t>Derin Öğrenmenin Hikâyesi</a:t>
            </a:r>
          </a:p>
        </p:txBody>
      </p:sp>
      <p:sp>
        <p:nvSpPr>
          <p:cNvPr id="8" name="TextBox 7"/>
          <p:cNvSpPr txBox="1"/>
          <p:nvPr/>
        </p:nvSpPr>
        <p:spPr>
          <a:xfrm>
            <a:off x="2743200" y="5248655"/>
            <a:ext cx="1188720" cy="548640"/>
          </a:xfrm>
          <a:prstGeom prst="rect">
            <a:avLst/>
          </a:prstGeom>
          <a:noFill/>
        </p:spPr>
        <p:txBody>
          <a:bodyPr wrap="square" lIns="0" tIns="0" rIns="0" bIns="0" anchor="t">
            <a:spAutoFit/>
          </a:bodyPr>
          <a:lstStyle/>
          <a:p>
            <a:pPr algn="l"/>
            <a:r>
              <a:rPr sz="2600" b="1">
                <a:solidFill>
                  <a:srgbClr val="C08A2E"/>
                </a:solidFill>
              </a:rPr>
              <a:t>02</a:t>
            </a:r>
          </a:p>
        </p:txBody>
      </p:sp>
      <p:sp>
        <p:nvSpPr>
          <p:cNvPr id="9" name="TextBox 8"/>
          <p:cNvSpPr txBox="1"/>
          <p:nvPr/>
        </p:nvSpPr>
        <p:spPr>
          <a:xfrm>
            <a:off x="4114800" y="5202936"/>
            <a:ext cx="14264640" cy="685800"/>
          </a:xfrm>
          <a:prstGeom prst="rect">
            <a:avLst/>
          </a:prstGeom>
          <a:noFill/>
        </p:spPr>
        <p:txBody>
          <a:bodyPr wrap="square" lIns="0" tIns="0" rIns="0" bIns="0" anchor="t">
            <a:spAutoFit/>
          </a:bodyPr>
          <a:lstStyle/>
          <a:p>
            <a:pPr algn="l"/>
            <a:r>
              <a:rPr sz="3400" b="1">
                <a:solidFill>
                  <a:srgbClr val="FFFFFF"/>
                </a:solidFill>
              </a:rPr>
              <a:t>Neden Deep Learning?</a:t>
            </a:r>
          </a:p>
        </p:txBody>
      </p:sp>
      <p:sp>
        <p:nvSpPr>
          <p:cNvPr id="11" name="TextBox 10"/>
          <p:cNvSpPr txBox="1"/>
          <p:nvPr/>
        </p:nvSpPr>
        <p:spPr>
          <a:xfrm>
            <a:off x="2743200" y="6291072"/>
            <a:ext cx="1188720" cy="548640"/>
          </a:xfrm>
          <a:prstGeom prst="rect">
            <a:avLst/>
          </a:prstGeom>
          <a:noFill/>
        </p:spPr>
        <p:txBody>
          <a:bodyPr wrap="square" lIns="0" tIns="0" rIns="0" bIns="0" anchor="t">
            <a:spAutoFit/>
          </a:bodyPr>
          <a:lstStyle/>
          <a:p>
            <a:pPr algn="l"/>
            <a:r>
              <a:rPr sz="2600" b="1">
                <a:solidFill>
                  <a:srgbClr val="C08A2E"/>
                </a:solidFill>
              </a:rPr>
              <a:t>03</a:t>
            </a:r>
          </a:p>
        </p:txBody>
      </p:sp>
      <p:sp>
        <p:nvSpPr>
          <p:cNvPr id="12" name="TextBox 11"/>
          <p:cNvSpPr txBox="1"/>
          <p:nvPr/>
        </p:nvSpPr>
        <p:spPr>
          <a:xfrm>
            <a:off x="4114800" y="6245352"/>
            <a:ext cx="14264640" cy="685800"/>
          </a:xfrm>
          <a:prstGeom prst="rect">
            <a:avLst/>
          </a:prstGeom>
          <a:noFill/>
        </p:spPr>
        <p:txBody>
          <a:bodyPr wrap="square" lIns="0" tIns="0" rIns="0" bIns="0" anchor="t">
            <a:spAutoFit/>
          </a:bodyPr>
          <a:lstStyle/>
          <a:p>
            <a:pPr algn="l"/>
            <a:r>
              <a:rPr sz="3400" b="1">
                <a:solidFill>
                  <a:srgbClr val="FFFFFF"/>
                </a:solidFill>
              </a:rPr>
              <a:t>Nasıl Öğreniyor? Nöron, Loss, Gradient Descent</a:t>
            </a:r>
          </a:p>
        </p:txBody>
      </p:sp>
      <p:sp>
        <p:nvSpPr>
          <p:cNvPr id="14" name="TextBox 13"/>
          <p:cNvSpPr txBox="1"/>
          <p:nvPr/>
        </p:nvSpPr>
        <p:spPr>
          <a:xfrm>
            <a:off x="4114800" y="7287768"/>
            <a:ext cx="14264640" cy="685800"/>
          </a:xfrm>
          <a:prstGeom prst="rect">
            <a:avLst/>
          </a:prstGeom>
          <a:noFill/>
        </p:spPr>
        <p:txBody>
          <a:bodyPr wrap="square" lIns="0" tIns="0" rIns="0" bIns="0" anchor="t">
            <a:spAutoFit/>
          </a:bodyPr>
          <a:lstStyle/>
          <a:p>
            <a:pPr algn="l"/>
            <a:r>
              <a:rPr sz="3400" b="0">
                <a:solidFill>
                  <a:srgbClr val="8A8A8A"/>
                </a:solidFill>
              </a:rPr>
              <a:t>Ara</a:t>
            </a:r>
          </a:p>
        </p:txBody>
      </p:sp>
      <p:sp>
        <p:nvSpPr>
          <p:cNvPr id="15" name="TextBox 14"/>
          <p:cNvSpPr txBox="1"/>
          <p:nvPr/>
        </p:nvSpPr>
        <p:spPr>
          <a:xfrm>
            <a:off x="18470880" y="7342631"/>
            <a:ext cx="3200400" cy="548640"/>
          </a:xfrm>
          <a:prstGeom prst="rect">
            <a:avLst/>
          </a:prstGeom>
          <a:noFill/>
        </p:spPr>
        <p:txBody>
          <a:bodyPr wrap="square" lIns="0" tIns="0" rIns="0" bIns="0" anchor="t">
            <a:spAutoFit/>
          </a:bodyPr>
          <a:lstStyle/>
          <a:p>
            <a:pPr algn="r"/>
            <a:r>
              <a:rPr sz="2600" b="1">
                <a:solidFill>
                  <a:srgbClr val="8A8A8A"/>
                </a:solidFill>
              </a:rPr>
              <a:t>10 dk</a:t>
            </a:r>
          </a:p>
        </p:txBody>
      </p:sp>
      <p:sp>
        <p:nvSpPr>
          <p:cNvPr id="16" name="TextBox 15"/>
          <p:cNvSpPr txBox="1"/>
          <p:nvPr/>
        </p:nvSpPr>
        <p:spPr>
          <a:xfrm>
            <a:off x="2743200" y="8375904"/>
            <a:ext cx="1188720" cy="548640"/>
          </a:xfrm>
          <a:prstGeom prst="rect">
            <a:avLst/>
          </a:prstGeom>
          <a:noFill/>
        </p:spPr>
        <p:txBody>
          <a:bodyPr wrap="square" lIns="0" tIns="0" rIns="0" bIns="0" anchor="t">
            <a:spAutoFit/>
          </a:bodyPr>
          <a:lstStyle/>
          <a:p>
            <a:pPr algn="l"/>
            <a:r>
              <a:rPr sz="2600" b="1">
                <a:solidFill>
                  <a:srgbClr val="C08A2E"/>
                </a:solidFill>
              </a:rPr>
              <a:t>04</a:t>
            </a:r>
          </a:p>
        </p:txBody>
      </p:sp>
      <p:sp>
        <p:nvSpPr>
          <p:cNvPr id="17" name="TextBox 16"/>
          <p:cNvSpPr txBox="1"/>
          <p:nvPr/>
        </p:nvSpPr>
        <p:spPr>
          <a:xfrm>
            <a:off x="4114800" y="8330183"/>
            <a:ext cx="14264640" cy="685800"/>
          </a:xfrm>
          <a:prstGeom prst="rect">
            <a:avLst/>
          </a:prstGeom>
          <a:noFill/>
        </p:spPr>
        <p:txBody>
          <a:bodyPr wrap="square" lIns="0" tIns="0" rIns="0" bIns="0" anchor="t">
            <a:spAutoFit/>
          </a:bodyPr>
          <a:lstStyle/>
          <a:p>
            <a:pPr algn="l"/>
            <a:r>
              <a:rPr sz="3400" b="1" dirty="0">
                <a:solidFill>
                  <a:srgbClr val="FFFFFF"/>
                </a:solidFill>
              </a:rPr>
              <a:t>Hangi </a:t>
            </a:r>
            <a:r>
              <a:rPr sz="3400" b="1" dirty="0" err="1">
                <a:solidFill>
                  <a:srgbClr val="FFFFFF"/>
                </a:solidFill>
              </a:rPr>
              <a:t>Mimariler</a:t>
            </a:r>
            <a:r>
              <a:rPr sz="3400" b="1" dirty="0">
                <a:solidFill>
                  <a:srgbClr val="FFFFFF"/>
                </a:solidFill>
              </a:rPr>
              <a:t> Var? ANN, CNN, RNN / LSTM, Transformer</a:t>
            </a:r>
          </a:p>
        </p:txBody>
      </p:sp>
      <p:sp>
        <p:nvSpPr>
          <p:cNvPr id="19" name="TextBox 18"/>
          <p:cNvSpPr txBox="1"/>
          <p:nvPr/>
        </p:nvSpPr>
        <p:spPr>
          <a:xfrm>
            <a:off x="2743200" y="9418320"/>
            <a:ext cx="1188720" cy="548640"/>
          </a:xfrm>
          <a:prstGeom prst="rect">
            <a:avLst/>
          </a:prstGeom>
          <a:noFill/>
        </p:spPr>
        <p:txBody>
          <a:bodyPr wrap="square" lIns="0" tIns="0" rIns="0" bIns="0" anchor="t">
            <a:spAutoFit/>
          </a:bodyPr>
          <a:lstStyle/>
          <a:p>
            <a:pPr algn="l"/>
            <a:r>
              <a:rPr sz="2600" b="1">
                <a:solidFill>
                  <a:srgbClr val="C08A2E"/>
                </a:solidFill>
              </a:rPr>
              <a:t>05</a:t>
            </a:r>
          </a:p>
        </p:txBody>
      </p:sp>
      <p:sp>
        <p:nvSpPr>
          <p:cNvPr id="20" name="TextBox 19"/>
          <p:cNvSpPr txBox="1"/>
          <p:nvPr/>
        </p:nvSpPr>
        <p:spPr>
          <a:xfrm>
            <a:off x="4114800" y="9372600"/>
            <a:ext cx="14264640" cy="685800"/>
          </a:xfrm>
          <a:prstGeom prst="rect">
            <a:avLst/>
          </a:prstGeom>
          <a:noFill/>
        </p:spPr>
        <p:txBody>
          <a:bodyPr wrap="square" lIns="0" tIns="0" rIns="0" bIns="0" anchor="t">
            <a:spAutoFit/>
          </a:bodyPr>
          <a:lstStyle/>
          <a:p>
            <a:pPr algn="l"/>
            <a:r>
              <a:rPr sz="3400" b="1">
                <a:solidFill>
                  <a:srgbClr val="FFFFFF"/>
                </a:solidFill>
              </a:rPr>
              <a:t>Colab Uygulaması</a:t>
            </a:r>
          </a:p>
        </p:txBody>
      </p:sp>
      <p:sp>
        <p:nvSpPr>
          <p:cNvPr id="22" name="TextBox 21"/>
          <p:cNvSpPr txBox="1"/>
          <p:nvPr/>
        </p:nvSpPr>
        <p:spPr>
          <a:xfrm>
            <a:off x="2743200" y="10460736"/>
            <a:ext cx="1188720" cy="548640"/>
          </a:xfrm>
          <a:prstGeom prst="rect">
            <a:avLst/>
          </a:prstGeom>
          <a:noFill/>
        </p:spPr>
        <p:txBody>
          <a:bodyPr wrap="square" lIns="0" tIns="0" rIns="0" bIns="0" anchor="t">
            <a:spAutoFit/>
          </a:bodyPr>
          <a:lstStyle/>
          <a:p>
            <a:pPr algn="l"/>
            <a:r>
              <a:rPr sz="2600" b="1">
                <a:solidFill>
                  <a:srgbClr val="C08A2E"/>
                </a:solidFill>
              </a:rPr>
              <a:t>06</a:t>
            </a:r>
          </a:p>
        </p:txBody>
      </p:sp>
      <p:sp>
        <p:nvSpPr>
          <p:cNvPr id="23" name="TextBox 22"/>
          <p:cNvSpPr txBox="1"/>
          <p:nvPr/>
        </p:nvSpPr>
        <p:spPr>
          <a:xfrm>
            <a:off x="4114800" y="10415016"/>
            <a:ext cx="14264640" cy="685800"/>
          </a:xfrm>
          <a:prstGeom prst="rect">
            <a:avLst/>
          </a:prstGeom>
          <a:noFill/>
        </p:spPr>
        <p:txBody>
          <a:bodyPr wrap="square" lIns="0" tIns="0" rIns="0" bIns="0" anchor="t">
            <a:spAutoFit/>
          </a:bodyPr>
          <a:lstStyle/>
          <a:p>
            <a:pPr algn="l"/>
            <a:r>
              <a:rPr sz="3400" b="1">
                <a:solidFill>
                  <a:srgbClr val="FFFFFF"/>
                </a:solidFill>
              </a:rPr>
              <a:t>Özet &amp; Ödev</a:t>
            </a:r>
          </a:p>
        </p:txBody>
      </p:sp>
      <p:cxnSp>
        <p:nvCxnSpPr>
          <p:cNvPr id="25" name="Connector 24"/>
          <p:cNvCxnSpPr/>
          <p:nvPr/>
        </p:nvCxnSpPr>
        <p:spPr>
          <a:xfrm>
            <a:off x="2743200" y="11978640"/>
            <a:ext cx="1892808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743200" y="12252960"/>
            <a:ext cx="18900648" cy="731520"/>
          </a:xfrm>
          <a:prstGeom prst="rect">
            <a:avLst/>
          </a:prstGeom>
          <a:noFill/>
        </p:spPr>
        <p:txBody>
          <a:bodyPr wrap="square" lIns="0" tIns="0" rIns="0" bIns="0" anchor="t">
            <a:spAutoFit/>
          </a:bodyPr>
          <a:lstStyle/>
          <a:p>
            <a:pPr algn="l"/>
            <a:r>
              <a:rPr sz="3600" b="1">
                <a:solidFill>
                  <a:srgbClr val="FFFFFF"/>
                </a:solidFill>
              </a:rPr>
              <a:t>Veysel Murat Görken</a:t>
            </a:r>
          </a:p>
        </p:txBody>
      </p:sp>
      <p:sp>
        <p:nvSpPr>
          <p:cNvPr id="27" name="TextBox 26"/>
          <p:cNvSpPr txBox="1"/>
          <p:nvPr/>
        </p:nvSpPr>
        <p:spPr>
          <a:xfrm>
            <a:off x="2743200" y="12938760"/>
            <a:ext cx="18900648" cy="548640"/>
          </a:xfrm>
          <a:prstGeom prst="rect">
            <a:avLst/>
          </a:prstGeom>
          <a:noFill/>
        </p:spPr>
        <p:txBody>
          <a:bodyPr wrap="square" lIns="0" tIns="0" rIns="0" bIns="0" anchor="t">
            <a:spAutoFit/>
          </a:bodyPr>
          <a:lstStyle/>
          <a:p>
            <a:pPr algn="l"/>
            <a:r>
              <a:rPr sz="2600" b="0">
                <a:solidFill>
                  <a:srgbClr val="C08A2E"/>
                </a:solidFill>
              </a:rPr>
              <a:t>Data Scientist / AI Engineer</a:t>
            </a:r>
          </a:p>
        </p:txBody>
      </p:sp>
      <p:sp>
        <p:nvSpPr>
          <p:cNvPr id="28" name="Rectangle 27"/>
          <p:cNvSpPr/>
          <p:nvPr/>
        </p:nvSpPr>
        <p:spPr>
          <a:xfrm>
            <a:off x="91440" y="127284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29" name="Picture 28" descr="logo_miuul.png"/>
          <p:cNvPicPr>
            <a:picLocks noChangeAspect="1"/>
          </p:cNvPicPr>
          <p:nvPr/>
        </p:nvPicPr>
        <p:blipFill>
          <a:blip r:embed="rId3"/>
          <a:stretch>
            <a:fillRect/>
          </a:stretch>
        </p:blipFill>
        <p:spPr>
          <a:xfrm>
            <a:off x="210312" y="12527280"/>
            <a:ext cx="1984248" cy="12161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rPr>
              <a:t>Derin Öğrenmenin Hikâyesi</a:t>
            </a:r>
          </a:p>
        </p:txBody>
      </p:sp>
      <p:sp>
        <p:nvSpPr>
          <p:cNvPr id="3" name="TextBox 2"/>
          <p:cNvSpPr txBox="1"/>
          <p:nvPr/>
        </p:nvSpPr>
        <p:spPr>
          <a:xfrm>
            <a:off x="2066543" y="1874519"/>
            <a:ext cx="20244816" cy="1920240"/>
          </a:xfrm>
          <a:prstGeom prst="rect">
            <a:avLst/>
          </a:prstGeom>
          <a:noFill/>
        </p:spPr>
        <p:txBody>
          <a:bodyPr wrap="square" lIns="0" tIns="0" rIns="0" bIns="0" anchor="t">
            <a:spAutoFit/>
          </a:bodyPr>
          <a:lstStyle/>
          <a:p>
            <a:pPr algn="ctr">
              <a:lnSpc>
                <a:spcPct val="115000"/>
              </a:lnSpc>
            </a:pPr>
            <a:r>
              <a:rPr sz="4000" b="0">
                <a:solidFill>
                  <a:srgbClr val="1A1A1A"/>
                </a:solidFill>
              </a:rPr>
              <a:t>Fikir 1986'da hazırdı. Patlama için </a:t>
            </a:r>
            <a:r>
              <a:rPr sz="4000" b="1">
                <a:solidFill>
                  <a:srgbClr val="1A1A1A"/>
                </a:solidFill>
              </a:rPr>
              <a:t>veri, hesaplama gücü ve pes etmeyen birkaç kişinin</a:t>
            </a:r>
            <a:r>
              <a:rPr sz="4000" b="0">
                <a:solidFill>
                  <a:srgbClr val="1A1A1A"/>
                </a:solidFill>
              </a:rPr>
              <a:t> aynı anda olgunlaşması gerekti.</a:t>
            </a:r>
          </a:p>
        </p:txBody>
      </p:sp>
      <p:cxnSp>
        <p:nvCxnSpPr>
          <p:cNvPr id="4" name="Connector 3"/>
          <p:cNvCxnSpPr/>
          <p:nvPr/>
        </p:nvCxnSpPr>
        <p:spPr>
          <a:xfrm>
            <a:off x="1280160" y="4069080"/>
            <a:ext cx="21826728" cy="0"/>
          </a:xfrm>
          <a:prstGeom prst="line">
            <a:avLst/>
          </a:prstGeom>
          <a:ln w="31750">
            <a:solidFill>
              <a:srgbClr val="D5D5D5"/>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2926080" y="3931920"/>
            <a:ext cx="274320" cy="27432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cxnSp>
        <p:nvCxnSpPr>
          <p:cNvPr id="6" name="Connector 5"/>
          <p:cNvCxnSpPr/>
          <p:nvPr/>
        </p:nvCxnSpPr>
        <p:spPr>
          <a:xfrm>
            <a:off x="3063240" y="4206240"/>
            <a:ext cx="0" cy="246888"/>
          </a:xfrm>
          <a:prstGeom prst="line">
            <a:avLst/>
          </a:prstGeom>
          <a:ln w="25400">
            <a:solidFill>
              <a:srgbClr val="D5D5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280160" y="4507992"/>
            <a:ext cx="3566160" cy="530352"/>
          </a:xfrm>
          <a:prstGeom prst="rect">
            <a:avLst/>
          </a:prstGeom>
          <a:noFill/>
        </p:spPr>
        <p:txBody>
          <a:bodyPr wrap="square" lIns="0" tIns="0" rIns="0" bIns="0" anchor="t">
            <a:spAutoFit/>
          </a:bodyPr>
          <a:lstStyle/>
          <a:p>
            <a:pPr algn="ctr"/>
            <a:r>
              <a:rPr sz="2600" b="1">
                <a:solidFill>
                  <a:srgbClr val="15263F"/>
                </a:solidFill>
              </a:rPr>
              <a:t>1950</a:t>
            </a:r>
          </a:p>
        </p:txBody>
      </p:sp>
      <p:sp>
        <p:nvSpPr>
          <p:cNvPr id="8" name="TextBox 7"/>
          <p:cNvSpPr txBox="1"/>
          <p:nvPr/>
        </p:nvSpPr>
        <p:spPr>
          <a:xfrm>
            <a:off x="1280160" y="5111496"/>
            <a:ext cx="3566160" cy="566928"/>
          </a:xfrm>
          <a:prstGeom prst="rect">
            <a:avLst/>
          </a:prstGeom>
          <a:noFill/>
        </p:spPr>
        <p:txBody>
          <a:bodyPr wrap="square" lIns="0" tIns="0" rIns="0" bIns="0" anchor="t">
            <a:spAutoFit/>
          </a:bodyPr>
          <a:lstStyle/>
          <a:p>
            <a:pPr algn="ctr"/>
            <a:r>
              <a:rPr sz="2100" b="1">
                <a:solidFill>
                  <a:srgbClr val="1A1A1A"/>
                </a:solidFill>
              </a:rPr>
              <a:t>Turing'in sorusu</a:t>
            </a:r>
          </a:p>
        </p:txBody>
      </p:sp>
      <p:sp>
        <p:nvSpPr>
          <p:cNvPr id="9" name="Rounded Rectangle 8"/>
          <p:cNvSpPr/>
          <p:nvPr/>
        </p:nvSpPr>
        <p:spPr>
          <a:xfrm>
            <a:off x="2176272" y="5788152"/>
            <a:ext cx="1773936" cy="384048"/>
          </a:xfrm>
          <a:prstGeom prst="roundRect">
            <a:avLst>
              <a:gd name="adj" fmla="val 42000"/>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500" b="1">
                <a:solidFill>
                  <a:srgbClr val="FFFFFF"/>
                </a:solidFill>
              </a:rPr>
              <a:t>Turing Testi</a:t>
            </a:r>
          </a:p>
        </p:txBody>
      </p:sp>
      <p:sp>
        <p:nvSpPr>
          <p:cNvPr id="10" name="TextBox 9"/>
          <p:cNvSpPr txBox="1"/>
          <p:nvPr/>
        </p:nvSpPr>
        <p:spPr>
          <a:xfrm>
            <a:off x="1280160" y="6291072"/>
            <a:ext cx="3566160" cy="1280160"/>
          </a:xfrm>
          <a:prstGeom prst="rect">
            <a:avLst/>
          </a:prstGeom>
          <a:noFill/>
        </p:spPr>
        <p:txBody>
          <a:bodyPr wrap="square" lIns="0" tIns="0" rIns="0" bIns="0" anchor="t">
            <a:spAutoFit/>
          </a:bodyPr>
          <a:lstStyle/>
          <a:p>
            <a:pPr algn="ctr">
              <a:lnSpc>
                <a:spcPct val="125000"/>
              </a:lnSpc>
            </a:pPr>
            <a:r>
              <a:rPr sz="1600" b="0">
                <a:solidFill>
                  <a:srgbClr val="6E6E6E"/>
                </a:solidFill>
              </a:rPr>
              <a:t>Turing zekâyı tanımlamak yerine ölçmeyi önerdi: taklit oyunu.</a:t>
            </a:r>
          </a:p>
        </p:txBody>
      </p:sp>
      <p:sp>
        <p:nvSpPr>
          <p:cNvPr id="11" name="Oval 10"/>
          <p:cNvSpPr/>
          <p:nvPr/>
        </p:nvSpPr>
        <p:spPr>
          <a:xfrm>
            <a:off x="6583679" y="3931920"/>
            <a:ext cx="274320" cy="27432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cxnSp>
        <p:nvCxnSpPr>
          <p:cNvPr id="12" name="Connector 11"/>
          <p:cNvCxnSpPr/>
          <p:nvPr/>
        </p:nvCxnSpPr>
        <p:spPr>
          <a:xfrm>
            <a:off x="6720840" y="4206240"/>
            <a:ext cx="0" cy="246888"/>
          </a:xfrm>
          <a:prstGeom prst="line">
            <a:avLst/>
          </a:prstGeom>
          <a:ln w="25400">
            <a:solidFill>
              <a:srgbClr val="D5D5D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937759" y="4507992"/>
            <a:ext cx="3566160" cy="530352"/>
          </a:xfrm>
          <a:prstGeom prst="rect">
            <a:avLst/>
          </a:prstGeom>
          <a:noFill/>
        </p:spPr>
        <p:txBody>
          <a:bodyPr wrap="square" lIns="0" tIns="0" rIns="0" bIns="0" anchor="t">
            <a:spAutoFit/>
          </a:bodyPr>
          <a:lstStyle/>
          <a:p>
            <a:pPr algn="ctr"/>
            <a:r>
              <a:rPr sz="2600" b="1">
                <a:solidFill>
                  <a:srgbClr val="15263F"/>
                </a:solidFill>
              </a:rPr>
              <a:t>1956–1959</a:t>
            </a:r>
          </a:p>
        </p:txBody>
      </p:sp>
      <p:sp>
        <p:nvSpPr>
          <p:cNvPr id="14" name="TextBox 13"/>
          <p:cNvSpPr txBox="1"/>
          <p:nvPr/>
        </p:nvSpPr>
        <p:spPr>
          <a:xfrm>
            <a:off x="4937759" y="5111496"/>
            <a:ext cx="3566160" cy="566928"/>
          </a:xfrm>
          <a:prstGeom prst="rect">
            <a:avLst/>
          </a:prstGeom>
          <a:noFill/>
        </p:spPr>
        <p:txBody>
          <a:bodyPr wrap="square" lIns="0" tIns="0" rIns="0" bIns="0" anchor="t">
            <a:spAutoFit/>
          </a:bodyPr>
          <a:lstStyle/>
          <a:p>
            <a:pPr algn="ctr"/>
            <a:r>
              <a:rPr sz="2100" b="1">
                <a:solidFill>
                  <a:srgbClr val="1A1A1A"/>
                </a:solidFill>
              </a:rPr>
              <a:t>İki terim doğuyor</a:t>
            </a:r>
          </a:p>
        </p:txBody>
      </p:sp>
      <p:sp>
        <p:nvSpPr>
          <p:cNvPr id="15" name="Rounded Rectangle 14"/>
          <p:cNvSpPr/>
          <p:nvPr/>
        </p:nvSpPr>
        <p:spPr>
          <a:xfrm>
            <a:off x="5669279" y="5788152"/>
            <a:ext cx="2103120" cy="384048"/>
          </a:xfrm>
          <a:prstGeom prst="roundRect">
            <a:avLst>
              <a:gd name="adj" fmla="val 42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500" b="1">
                <a:solidFill>
                  <a:srgbClr val="FFFFFF"/>
                </a:solidFill>
              </a:rPr>
              <a:t>Perceptron 1957</a:t>
            </a:r>
          </a:p>
        </p:txBody>
      </p:sp>
      <p:sp>
        <p:nvSpPr>
          <p:cNvPr id="16" name="TextBox 15"/>
          <p:cNvSpPr txBox="1"/>
          <p:nvPr/>
        </p:nvSpPr>
        <p:spPr>
          <a:xfrm>
            <a:off x="4937759" y="6291072"/>
            <a:ext cx="3566160" cy="1280160"/>
          </a:xfrm>
          <a:prstGeom prst="rect">
            <a:avLst/>
          </a:prstGeom>
          <a:noFill/>
        </p:spPr>
        <p:txBody>
          <a:bodyPr wrap="square" lIns="0" tIns="0" rIns="0" bIns="0" anchor="t">
            <a:spAutoFit/>
          </a:bodyPr>
          <a:lstStyle/>
          <a:p>
            <a:pPr algn="ctr">
              <a:lnSpc>
                <a:spcPct val="125000"/>
              </a:lnSpc>
            </a:pPr>
            <a:r>
              <a:rPr sz="1600" b="0">
                <a:solidFill>
                  <a:srgbClr val="6E6E6E"/>
                </a:solidFill>
              </a:rPr>
              <a:t>Dartmouth'ta "artificial intelligence", 1959'da Arthur Samuel'in dama programıyla "machine learning".</a:t>
            </a:r>
          </a:p>
        </p:txBody>
      </p:sp>
      <p:sp>
        <p:nvSpPr>
          <p:cNvPr id="17" name="Oval 16"/>
          <p:cNvSpPr/>
          <p:nvPr/>
        </p:nvSpPr>
        <p:spPr>
          <a:xfrm>
            <a:off x="10241280" y="3931920"/>
            <a:ext cx="274320" cy="27432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cxnSp>
        <p:nvCxnSpPr>
          <p:cNvPr id="18" name="Connector 17"/>
          <p:cNvCxnSpPr/>
          <p:nvPr/>
        </p:nvCxnSpPr>
        <p:spPr>
          <a:xfrm>
            <a:off x="10378440" y="4206240"/>
            <a:ext cx="0" cy="246888"/>
          </a:xfrm>
          <a:prstGeom prst="line">
            <a:avLst/>
          </a:prstGeom>
          <a:ln w="25400">
            <a:solidFill>
              <a:srgbClr val="D5D5D5"/>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595360" y="4507992"/>
            <a:ext cx="3566160" cy="530352"/>
          </a:xfrm>
          <a:prstGeom prst="rect">
            <a:avLst/>
          </a:prstGeom>
          <a:noFill/>
        </p:spPr>
        <p:txBody>
          <a:bodyPr wrap="square" lIns="0" tIns="0" rIns="0" bIns="0" anchor="t">
            <a:spAutoFit/>
          </a:bodyPr>
          <a:lstStyle/>
          <a:p>
            <a:pPr algn="ctr"/>
            <a:r>
              <a:rPr sz="2600" b="1">
                <a:solidFill>
                  <a:srgbClr val="15263F"/>
                </a:solidFill>
              </a:rPr>
              <a:t>1986</a:t>
            </a:r>
          </a:p>
        </p:txBody>
      </p:sp>
      <p:sp>
        <p:nvSpPr>
          <p:cNvPr id="20" name="TextBox 19"/>
          <p:cNvSpPr txBox="1"/>
          <p:nvPr/>
        </p:nvSpPr>
        <p:spPr>
          <a:xfrm>
            <a:off x="8595360" y="5111496"/>
            <a:ext cx="3566160" cy="566928"/>
          </a:xfrm>
          <a:prstGeom prst="rect">
            <a:avLst/>
          </a:prstGeom>
          <a:noFill/>
        </p:spPr>
        <p:txBody>
          <a:bodyPr wrap="square" lIns="0" tIns="0" rIns="0" bIns="0" anchor="t">
            <a:spAutoFit/>
          </a:bodyPr>
          <a:lstStyle/>
          <a:p>
            <a:pPr algn="ctr"/>
            <a:r>
              <a:rPr sz="2100" b="1">
                <a:solidFill>
                  <a:srgbClr val="1A1A1A"/>
                </a:solidFill>
              </a:rPr>
              <a:t>Backpropagation</a:t>
            </a:r>
          </a:p>
        </p:txBody>
      </p:sp>
      <p:sp>
        <p:nvSpPr>
          <p:cNvPr id="21" name="TextBox 20"/>
          <p:cNvSpPr txBox="1"/>
          <p:nvPr/>
        </p:nvSpPr>
        <p:spPr>
          <a:xfrm>
            <a:off x="8595360" y="6291072"/>
            <a:ext cx="3566160" cy="1280160"/>
          </a:xfrm>
          <a:prstGeom prst="rect">
            <a:avLst/>
          </a:prstGeom>
          <a:noFill/>
        </p:spPr>
        <p:txBody>
          <a:bodyPr wrap="square" lIns="0" tIns="0" rIns="0" bIns="0" anchor="t">
            <a:spAutoFit/>
          </a:bodyPr>
          <a:lstStyle/>
          <a:p>
            <a:pPr algn="ctr">
              <a:lnSpc>
                <a:spcPct val="125000"/>
              </a:lnSpc>
            </a:pPr>
            <a:r>
              <a:rPr sz="1600" b="0">
                <a:solidFill>
                  <a:srgbClr val="6E6E6E"/>
                </a:solidFill>
              </a:rPr>
              <a:t>Rumelhart, Hinton &amp; Williams. Ağı eğitmenin yolu bulundu, ama alan yine gözden düştü.</a:t>
            </a:r>
          </a:p>
        </p:txBody>
      </p:sp>
      <p:sp>
        <p:nvSpPr>
          <p:cNvPr id="22" name="Oval 21"/>
          <p:cNvSpPr/>
          <p:nvPr/>
        </p:nvSpPr>
        <p:spPr>
          <a:xfrm>
            <a:off x="13898880" y="3931920"/>
            <a:ext cx="274320" cy="27432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cxnSp>
        <p:nvCxnSpPr>
          <p:cNvPr id="23" name="Connector 22"/>
          <p:cNvCxnSpPr/>
          <p:nvPr/>
        </p:nvCxnSpPr>
        <p:spPr>
          <a:xfrm>
            <a:off x="14036040" y="4206240"/>
            <a:ext cx="0" cy="246888"/>
          </a:xfrm>
          <a:prstGeom prst="line">
            <a:avLst/>
          </a:prstGeom>
          <a:ln w="25400">
            <a:solidFill>
              <a:srgbClr val="D5D5D5"/>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2252960" y="4507992"/>
            <a:ext cx="3566160" cy="530352"/>
          </a:xfrm>
          <a:prstGeom prst="rect">
            <a:avLst/>
          </a:prstGeom>
          <a:noFill/>
        </p:spPr>
        <p:txBody>
          <a:bodyPr wrap="square" lIns="0" tIns="0" rIns="0" bIns="0" anchor="t">
            <a:spAutoFit/>
          </a:bodyPr>
          <a:lstStyle/>
          <a:p>
            <a:pPr algn="ctr"/>
            <a:r>
              <a:rPr sz="2600" b="1">
                <a:solidFill>
                  <a:srgbClr val="15263F"/>
                </a:solidFill>
              </a:rPr>
              <a:t>1991–1999</a:t>
            </a:r>
          </a:p>
        </p:txBody>
      </p:sp>
      <p:sp>
        <p:nvSpPr>
          <p:cNvPr id="25" name="TextBox 24"/>
          <p:cNvSpPr txBox="1"/>
          <p:nvPr/>
        </p:nvSpPr>
        <p:spPr>
          <a:xfrm>
            <a:off x="12252960" y="5111496"/>
            <a:ext cx="3566160" cy="566928"/>
          </a:xfrm>
          <a:prstGeom prst="rect">
            <a:avLst/>
          </a:prstGeom>
          <a:noFill/>
        </p:spPr>
        <p:txBody>
          <a:bodyPr wrap="square" lIns="0" tIns="0" rIns="0" bIns="0" anchor="t">
            <a:spAutoFit/>
          </a:bodyPr>
          <a:lstStyle/>
          <a:p>
            <a:pPr algn="ctr"/>
            <a:r>
              <a:rPr sz="2100" b="1">
                <a:solidFill>
                  <a:srgbClr val="1A1A1A"/>
                </a:solidFill>
              </a:rPr>
              <a:t>Herkes web'e koşuyor</a:t>
            </a:r>
          </a:p>
        </p:txBody>
      </p:sp>
      <p:sp>
        <p:nvSpPr>
          <p:cNvPr id="26" name="Rounded Rectangle 25"/>
          <p:cNvSpPr/>
          <p:nvPr/>
        </p:nvSpPr>
        <p:spPr>
          <a:xfrm>
            <a:off x="13642848" y="5788152"/>
            <a:ext cx="786384" cy="384048"/>
          </a:xfrm>
          <a:prstGeom prst="roundRect">
            <a:avLst>
              <a:gd name="adj" fmla="val 42000"/>
            </a:avLst>
          </a:prstGeom>
          <a:solidFill>
            <a:srgbClr val="2B579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500" b="1">
                <a:solidFill>
                  <a:srgbClr val="FFFFFF"/>
                </a:solidFill>
              </a:rPr>
              <a:t>WWW</a:t>
            </a:r>
          </a:p>
        </p:txBody>
      </p:sp>
      <p:sp>
        <p:nvSpPr>
          <p:cNvPr id="27" name="TextBox 26"/>
          <p:cNvSpPr txBox="1"/>
          <p:nvPr/>
        </p:nvSpPr>
        <p:spPr>
          <a:xfrm>
            <a:off x="12252960" y="6291072"/>
            <a:ext cx="3566160" cy="1280160"/>
          </a:xfrm>
          <a:prstGeom prst="rect">
            <a:avLst/>
          </a:prstGeom>
          <a:noFill/>
        </p:spPr>
        <p:txBody>
          <a:bodyPr wrap="square" lIns="0" tIns="0" rIns="0" bIns="0" anchor="t">
            <a:spAutoFit/>
          </a:bodyPr>
          <a:lstStyle/>
          <a:p>
            <a:pPr algn="ctr">
              <a:lnSpc>
                <a:spcPct val="125000"/>
              </a:lnSpc>
            </a:pPr>
            <a:r>
              <a:rPr sz="1600" b="0">
                <a:solidFill>
                  <a:srgbClr val="6E6E6E"/>
                </a:solidFill>
              </a:rPr>
              <a:t>WWW halka açıldı, dot-com çılgınlığı başladı. Zekâ da para da web'e aktı.</a:t>
            </a:r>
          </a:p>
        </p:txBody>
      </p:sp>
      <p:sp>
        <p:nvSpPr>
          <p:cNvPr id="28" name="Oval 27"/>
          <p:cNvSpPr/>
          <p:nvPr/>
        </p:nvSpPr>
        <p:spPr>
          <a:xfrm>
            <a:off x="17556480" y="3931920"/>
            <a:ext cx="274320" cy="27432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cxnSp>
        <p:nvCxnSpPr>
          <p:cNvPr id="29" name="Connector 28"/>
          <p:cNvCxnSpPr/>
          <p:nvPr/>
        </p:nvCxnSpPr>
        <p:spPr>
          <a:xfrm>
            <a:off x="17693640" y="4206240"/>
            <a:ext cx="0" cy="246888"/>
          </a:xfrm>
          <a:prstGeom prst="line">
            <a:avLst/>
          </a:prstGeom>
          <a:ln w="25400">
            <a:solidFill>
              <a:srgbClr val="D5D5D5"/>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5910560" y="4507992"/>
            <a:ext cx="3566160" cy="530352"/>
          </a:xfrm>
          <a:prstGeom prst="rect">
            <a:avLst/>
          </a:prstGeom>
          <a:noFill/>
        </p:spPr>
        <p:txBody>
          <a:bodyPr wrap="square" lIns="0" tIns="0" rIns="0" bIns="0" anchor="t">
            <a:spAutoFit/>
          </a:bodyPr>
          <a:lstStyle/>
          <a:p>
            <a:pPr algn="ctr"/>
            <a:r>
              <a:rPr sz="2600" b="1">
                <a:solidFill>
                  <a:srgbClr val="15263F"/>
                </a:solidFill>
              </a:rPr>
              <a:t>2000'ler</a:t>
            </a:r>
          </a:p>
        </p:txBody>
      </p:sp>
      <p:sp>
        <p:nvSpPr>
          <p:cNvPr id="31" name="TextBox 30"/>
          <p:cNvSpPr txBox="1"/>
          <p:nvPr/>
        </p:nvSpPr>
        <p:spPr>
          <a:xfrm>
            <a:off x="15910560" y="5111496"/>
            <a:ext cx="3566160" cy="566928"/>
          </a:xfrm>
          <a:prstGeom prst="rect">
            <a:avLst/>
          </a:prstGeom>
          <a:noFill/>
        </p:spPr>
        <p:txBody>
          <a:bodyPr wrap="square" lIns="0" tIns="0" rIns="0" bIns="0" anchor="t">
            <a:spAutoFit/>
          </a:bodyPr>
          <a:lstStyle/>
          <a:p>
            <a:pPr algn="ctr"/>
            <a:r>
              <a:rPr sz="2100" b="1">
                <a:solidFill>
                  <a:srgbClr val="1A1A1A"/>
                </a:solidFill>
              </a:rPr>
              <a:t>Ilya, Hinton'ın kapısında</a:t>
            </a:r>
          </a:p>
        </p:txBody>
      </p:sp>
      <p:sp>
        <p:nvSpPr>
          <p:cNvPr id="32" name="TextBox 31"/>
          <p:cNvSpPr txBox="1"/>
          <p:nvPr/>
        </p:nvSpPr>
        <p:spPr>
          <a:xfrm>
            <a:off x="15910560" y="6291072"/>
            <a:ext cx="3566160" cy="1280160"/>
          </a:xfrm>
          <a:prstGeom prst="rect">
            <a:avLst/>
          </a:prstGeom>
          <a:noFill/>
        </p:spPr>
        <p:txBody>
          <a:bodyPr wrap="square" lIns="0" tIns="0" rIns="0" bIns="0" anchor="t">
            <a:spAutoFit/>
          </a:bodyPr>
          <a:lstStyle/>
          <a:p>
            <a:pPr algn="ctr">
              <a:lnSpc>
                <a:spcPct val="125000"/>
              </a:lnSpc>
            </a:pPr>
            <a:r>
              <a:rPr sz="1600" b="0">
                <a:solidFill>
                  <a:srgbClr val="6E6E6E"/>
                </a:solidFill>
              </a:rPr>
              <a:t>Toronto'da bir öğrenci, yaz tatilinde bedava çalışmak için "ölü" denen alanı seçti.</a:t>
            </a:r>
          </a:p>
        </p:txBody>
      </p:sp>
      <p:sp>
        <p:nvSpPr>
          <p:cNvPr id="33" name="Oval 32"/>
          <p:cNvSpPr/>
          <p:nvPr/>
        </p:nvSpPr>
        <p:spPr>
          <a:xfrm>
            <a:off x="21214080" y="3931920"/>
            <a:ext cx="274320" cy="27432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cxnSp>
        <p:nvCxnSpPr>
          <p:cNvPr id="34" name="Connector 33"/>
          <p:cNvCxnSpPr/>
          <p:nvPr/>
        </p:nvCxnSpPr>
        <p:spPr>
          <a:xfrm>
            <a:off x="21351240" y="4206240"/>
            <a:ext cx="0" cy="246888"/>
          </a:xfrm>
          <a:prstGeom prst="line">
            <a:avLst/>
          </a:prstGeom>
          <a:ln w="25400">
            <a:solidFill>
              <a:srgbClr val="D5D5D5"/>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9568160" y="4507992"/>
            <a:ext cx="3566160" cy="530352"/>
          </a:xfrm>
          <a:prstGeom prst="rect">
            <a:avLst/>
          </a:prstGeom>
          <a:noFill/>
        </p:spPr>
        <p:txBody>
          <a:bodyPr wrap="square" lIns="0" tIns="0" rIns="0" bIns="0" anchor="t">
            <a:spAutoFit/>
          </a:bodyPr>
          <a:lstStyle/>
          <a:p>
            <a:pPr algn="ctr"/>
            <a:r>
              <a:rPr sz="2600" b="1">
                <a:solidFill>
                  <a:srgbClr val="15263F"/>
                </a:solidFill>
              </a:rPr>
              <a:t>2007</a:t>
            </a:r>
          </a:p>
        </p:txBody>
      </p:sp>
      <p:sp>
        <p:nvSpPr>
          <p:cNvPr id="36" name="TextBox 35"/>
          <p:cNvSpPr txBox="1"/>
          <p:nvPr/>
        </p:nvSpPr>
        <p:spPr>
          <a:xfrm>
            <a:off x="19568160" y="5111496"/>
            <a:ext cx="3566160" cy="566928"/>
          </a:xfrm>
          <a:prstGeom prst="rect">
            <a:avLst/>
          </a:prstGeom>
          <a:noFill/>
        </p:spPr>
        <p:txBody>
          <a:bodyPr wrap="square" lIns="0" tIns="0" rIns="0" bIns="0" anchor="t">
            <a:spAutoFit/>
          </a:bodyPr>
          <a:lstStyle/>
          <a:p>
            <a:pPr algn="ctr"/>
            <a:r>
              <a:rPr sz="2100" b="1">
                <a:solidFill>
                  <a:srgbClr val="1A1A1A"/>
                </a:solidFill>
              </a:rPr>
              <a:t>Hesaplama gücü geldi</a:t>
            </a:r>
          </a:p>
        </p:txBody>
      </p:sp>
      <p:sp>
        <p:nvSpPr>
          <p:cNvPr id="37" name="Rounded Rectangle 36"/>
          <p:cNvSpPr/>
          <p:nvPr/>
        </p:nvSpPr>
        <p:spPr>
          <a:xfrm>
            <a:off x="20519136" y="5788152"/>
            <a:ext cx="1664207" cy="384048"/>
          </a:xfrm>
          <a:prstGeom prst="roundRect">
            <a:avLst>
              <a:gd name="adj" fmla="val 42000"/>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500" b="1">
                <a:solidFill>
                  <a:srgbClr val="FFFFFF"/>
                </a:solidFill>
              </a:rPr>
              <a:t>NVIDIA CUDA</a:t>
            </a:r>
          </a:p>
        </p:txBody>
      </p:sp>
      <p:sp>
        <p:nvSpPr>
          <p:cNvPr id="38" name="TextBox 37"/>
          <p:cNvSpPr txBox="1"/>
          <p:nvPr/>
        </p:nvSpPr>
        <p:spPr>
          <a:xfrm>
            <a:off x="19568160" y="6291072"/>
            <a:ext cx="3566160" cy="1280160"/>
          </a:xfrm>
          <a:prstGeom prst="rect">
            <a:avLst/>
          </a:prstGeom>
          <a:noFill/>
        </p:spPr>
        <p:txBody>
          <a:bodyPr wrap="square" lIns="0" tIns="0" rIns="0" bIns="0" anchor="t">
            <a:spAutoFit/>
          </a:bodyPr>
          <a:lstStyle/>
          <a:p>
            <a:pPr algn="ctr">
              <a:lnSpc>
                <a:spcPct val="125000"/>
              </a:lnSpc>
            </a:pPr>
            <a:r>
              <a:rPr sz="1600" b="0">
                <a:solidFill>
                  <a:srgbClr val="6E6E6E"/>
                </a:solidFill>
              </a:rPr>
              <a:t>CUDA ile oyun ekran kartı bilim aletine dönüştü; eğitim haftalardan günlere indi.</a:t>
            </a:r>
          </a:p>
        </p:txBody>
      </p:sp>
      <p:cxnSp>
        <p:nvCxnSpPr>
          <p:cNvPr id="39" name="Connector 38"/>
          <p:cNvCxnSpPr/>
          <p:nvPr/>
        </p:nvCxnSpPr>
        <p:spPr>
          <a:xfrm>
            <a:off x="1280160" y="8275320"/>
            <a:ext cx="21826728" cy="0"/>
          </a:xfrm>
          <a:prstGeom prst="line">
            <a:avLst/>
          </a:prstGeom>
          <a:ln w="31750">
            <a:solidFill>
              <a:srgbClr val="D5D5D5"/>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2926080" y="8138160"/>
            <a:ext cx="274320" cy="27432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cxnSp>
        <p:nvCxnSpPr>
          <p:cNvPr id="41" name="Connector 40"/>
          <p:cNvCxnSpPr/>
          <p:nvPr/>
        </p:nvCxnSpPr>
        <p:spPr>
          <a:xfrm>
            <a:off x="3063240" y="8412480"/>
            <a:ext cx="0" cy="246888"/>
          </a:xfrm>
          <a:prstGeom prst="line">
            <a:avLst/>
          </a:prstGeom>
          <a:ln w="25400">
            <a:solidFill>
              <a:srgbClr val="D5D5D5"/>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280160" y="8714232"/>
            <a:ext cx="3566160" cy="530352"/>
          </a:xfrm>
          <a:prstGeom prst="rect">
            <a:avLst/>
          </a:prstGeom>
          <a:noFill/>
        </p:spPr>
        <p:txBody>
          <a:bodyPr wrap="square" lIns="0" tIns="0" rIns="0" bIns="0" anchor="t">
            <a:spAutoFit/>
          </a:bodyPr>
          <a:lstStyle/>
          <a:p>
            <a:pPr algn="ctr"/>
            <a:r>
              <a:rPr sz="2600" b="1">
                <a:solidFill>
                  <a:srgbClr val="15263F"/>
                </a:solidFill>
              </a:rPr>
              <a:t>2009</a:t>
            </a:r>
          </a:p>
        </p:txBody>
      </p:sp>
      <p:sp>
        <p:nvSpPr>
          <p:cNvPr id="43" name="TextBox 42"/>
          <p:cNvSpPr txBox="1"/>
          <p:nvPr/>
        </p:nvSpPr>
        <p:spPr>
          <a:xfrm>
            <a:off x="1280160" y="9317736"/>
            <a:ext cx="3566160" cy="566928"/>
          </a:xfrm>
          <a:prstGeom prst="rect">
            <a:avLst/>
          </a:prstGeom>
          <a:noFill/>
        </p:spPr>
        <p:txBody>
          <a:bodyPr wrap="square" lIns="0" tIns="0" rIns="0" bIns="0" anchor="t">
            <a:spAutoFit/>
          </a:bodyPr>
          <a:lstStyle/>
          <a:p>
            <a:pPr algn="ctr"/>
            <a:r>
              <a:rPr sz="2100" b="1">
                <a:solidFill>
                  <a:srgbClr val="1A1A1A"/>
                </a:solidFill>
              </a:rPr>
              <a:t>Veri geldi</a:t>
            </a:r>
          </a:p>
        </p:txBody>
      </p:sp>
      <p:sp>
        <p:nvSpPr>
          <p:cNvPr id="44" name="Rounded Rectangle 43"/>
          <p:cNvSpPr/>
          <p:nvPr/>
        </p:nvSpPr>
        <p:spPr>
          <a:xfrm>
            <a:off x="1389888" y="9994392"/>
            <a:ext cx="1773936" cy="384048"/>
          </a:xfrm>
          <a:prstGeom prst="roundRect">
            <a:avLst>
              <a:gd name="adj" fmla="val 42000"/>
            </a:avLst>
          </a:prstGeom>
          <a:solidFill>
            <a:srgbClr val="1877F2"/>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500" b="1">
                <a:solidFill>
                  <a:srgbClr val="FFFFFF"/>
                </a:solidFill>
              </a:rPr>
              <a:t>Sosyal medya</a:t>
            </a:r>
          </a:p>
        </p:txBody>
      </p:sp>
      <p:sp>
        <p:nvSpPr>
          <p:cNvPr id="45" name="Rounded Rectangle 44"/>
          <p:cNvSpPr/>
          <p:nvPr/>
        </p:nvSpPr>
        <p:spPr>
          <a:xfrm>
            <a:off x="3291840" y="9994392"/>
            <a:ext cx="1444752" cy="384048"/>
          </a:xfrm>
          <a:prstGeom prst="roundRect">
            <a:avLst>
              <a:gd name="adj" fmla="val 42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500" b="1">
                <a:solidFill>
                  <a:srgbClr val="FFFFFF"/>
                </a:solidFill>
              </a:rPr>
              <a:t>Wikipedia</a:t>
            </a:r>
          </a:p>
        </p:txBody>
      </p:sp>
      <p:sp>
        <p:nvSpPr>
          <p:cNvPr id="46" name="TextBox 45"/>
          <p:cNvSpPr txBox="1"/>
          <p:nvPr/>
        </p:nvSpPr>
        <p:spPr>
          <a:xfrm>
            <a:off x="1280160" y="10497312"/>
            <a:ext cx="3566160" cy="1280160"/>
          </a:xfrm>
          <a:prstGeom prst="rect">
            <a:avLst/>
          </a:prstGeom>
          <a:noFill/>
        </p:spPr>
        <p:txBody>
          <a:bodyPr wrap="square" lIns="0" tIns="0" rIns="0" bIns="0" anchor="t">
            <a:spAutoFit/>
          </a:bodyPr>
          <a:lstStyle/>
          <a:p>
            <a:pPr algn="ctr">
              <a:lnSpc>
                <a:spcPct val="125000"/>
              </a:lnSpc>
            </a:pPr>
            <a:r>
              <a:rPr sz="1600" b="0">
                <a:solidFill>
                  <a:srgbClr val="6E6E6E"/>
                </a:solidFill>
              </a:rPr>
              <a:t>Web 2.0 kullanıcıyı üretici yaptı. ImageNet: milyonlarca etiketli görsel, tek yerde.</a:t>
            </a:r>
          </a:p>
        </p:txBody>
      </p:sp>
      <p:sp>
        <p:nvSpPr>
          <p:cNvPr id="47" name="Oval 46"/>
          <p:cNvSpPr/>
          <p:nvPr/>
        </p:nvSpPr>
        <p:spPr>
          <a:xfrm>
            <a:off x="6510527" y="8065008"/>
            <a:ext cx="420624" cy="420624"/>
          </a:xfrm>
          <a:prstGeom prst="ellipse">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cxnSp>
        <p:nvCxnSpPr>
          <p:cNvPr id="48" name="Connector 47"/>
          <p:cNvCxnSpPr/>
          <p:nvPr/>
        </p:nvCxnSpPr>
        <p:spPr>
          <a:xfrm>
            <a:off x="6720840" y="8485632"/>
            <a:ext cx="0" cy="173736"/>
          </a:xfrm>
          <a:prstGeom prst="line">
            <a:avLst/>
          </a:prstGeom>
          <a:ln w="25400">
            <a:solidFill>
              <a:srgbClr val="D5D5D5"/>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937759" y="8714232"/>
            <a:ext cx="3566160" cy="530352"/>
          </a:xfrm>
          <a:prstGeom prst="rect">
            <a:avLst/>
          </a:prstGeom>
          <a:noFill/>
        </p:spPr>
        <p:txBody>
          <a:bodyPr wrap="square" lIns="0" tIns="0" rIns="0" bIns="0" anchor="t">
            <a:spAutoFit/>
          </a:bodyPr>
          <a:lstStyle/>
          <a:p>
            <a:pPr algn="ctr"/>
            <a:r>
              <a:rPr sz="2600" b="1">
                <a:solidFill>
                  <a:srgbClr val="C08A2E"/>
                </a:solidFill>
              </a:rPr>
              <a:t>17 Ekim 2012</a:t>
            </a:r>
          </a:p>
        </p:txBody>
      </p:sp>
      <p:sp>
        <p:nvSpPr>
          <p:cNvPr id="50" name="TextBox 49"/>
          <p:cNvSpPr txBox="1"/>
          <p:nvPr/>
        </p:nvSpPr>
        <p:spPr>
          <a:xfrm>
            <a:off x="4937759" y="9317736"/>
            <a:ext cx="3566160" cy="566928"/>
          </a:xfrm>
          <a:prstGeom prst="rect">
            <a:avLst/>
          </a:prstGeom>
          <a:noFill/>
        </p:spPr>
        <p:txBody>
          <a:bodyPr wrap="square" lIns="0" tIns="0" rIns="0" bIns="0" anchor="t">
            <a:spAutoFit/>
          </a:bodyPr>
          <a:lstStyle/>
          <a:p>
            <a:pPr algn="ctr"/>
            <a:r>
              <a:rPr sz="2100" b="1">
                <a:solidFill>
                  <a:srgbClr val="1A1A1A"/>
                </a:solidFill>
              </a:rPr>
              <a:t>AlexNet — kırılma anı</a:t>
            </a:r>
          </a:p>
        </p:txBody>
      </p:sp>
      <p:sp>
        <p:nvSpPr>
          <p:cNvPr id="51" name="Rounded Rectangle 50"/>
          <p:cNvSpPr/>
          <p:nvPr/>
        </p:nvSpPr>
        <p:spPr>
          <a:xfrm>
            <a:off x="6108192" y="9994392"/>
            <a:ext cx="1225295" cy="384048"/>
          </a:xfrm>
          <a:prstGeom prst="roundRect">
            <a:avLst>
              <a:gd name="adj" fmla="val 42000"/>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500" b="1">
                <a:solidFill>
                  <a:srgbClr val="FFFFFF"/>
                </a:solidFill>
              </a:rPr>
              <a:t>2 × GPU</a:t>
            </a:r>
          </a:p>
        </p:txBody>
      </p:sp>
      <p:sp>
        <p:nvSpPr>
          <p:cNvPr id="52" name="TextBox 51"/>
          <p:cNvSpPr txBox="1"/>
          <p:nvPr/>
        </p:nvSpPr>
        <p:spPr>
          <a:xfrm>
            <a:off x="4937759" y="10497312"/>
            <a:ext cx="3566160" cy="1280160"/>
          </a:xfrm>
          <a:prstGeom prst="rect">
            <a:avLst/>
          </a:prstGeom>
          <a:noFill/>
        </p:spPr>
        <p:txBody>
          <a:bodyPr wrap="square" lIns="0" tIns="0" rIns="0" bIns="0" anchor="t">
            <a:spAutoFit/>
          </a:bodyPr>
          <a:lstStyle/>
          <a:p>
            <a:pPr algn="ctr">
              <a:lnSpc>
                <a:spcPct val="125000"/>
              </a:lnSpc>
            </a:pPr>
            <a:r>
              <a:rPr sz="1600" b="0">
                <a:solidFill>
                  <a:srgbClr val="6E6E6E"/>
                </a:solidFill>
              </a:rPr>
              <a:t>Krizhevsky, Sutskever &amp; Hinton. Top-5 hatası %26'dan %15'e düştü; herkes önce hile sandı.</a:t>
            </a:r>
          </a:p>
        </p:txBody>
      </p:sp>
      <p:sp>
        <p:nvSpPr>
          <p:cNvPr id="53" name="Oval 52"/>
          <p:cNvSpPr/>
          <p:nvPr/>
        </p:nvSpPr>
        <p:spPr>
          <a:xfrm>
            <a:off x="10241280" y="8138160"/>
            <a:ext cx="274320" cy="27432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cxnSp>
        <p:nvCxnSpPr>
          <p:cNvPr id="54" name="Connector 53"/>
          <p:cNvCxnSpPr/>
          <p:nvPr/>
        </p:nvCxnSpPr>
        <p:spPr>
          <a:xfrm>
            <a:off x="10378440" y="8412480"/>
            <a:ext cx="0" cy="246888"/>
          </a:xfrm>
          <a:prstGeom prst="line">
            <a:avLst/>
          </a:prstGeom>
          <a:ln w="25400">
            <a:solidFill>
              <a:srgbClr val="D5D5D5"/>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8595360" y="8714232"/>
            <a:ext cx="3566160" cy="530352"/>
          </a:xfrm>
          <a:prstGeom prst="rect">
            <a:avLst/>
          </a:prstGeom>
          <a:noFill/>
        </p:spPr>
        <p:txBody>
          <a:bodyPr wrap="square" lIns="0" tIns="0" rIns="0" bIns="0" anchor="t">
            <a:spAutoFit/>
          </a:bodyPr>
          <a:lstStyle/>
          <a:p>
            <a:pPr algn="ctr"/>
            <a:r>
              <a:rPr sz="2600" b="1">
                <a:solidFill>
                  <a:srgbClr val="15263F"/>
                </a:solidFill>
              </a:rPr>
              <a:t>2013–2015</a:t>
            </a:r>
          </a:p>
        </p:txBody>
      </p:sp>
      <p:sp>
        <p:nvSpPr>
          <p:cNvPr id="56" name="TextBox 55"/>
          <p:cNvSpPr txBox="1"/>
          <p:nvPr/>
        </p:nvSpPr>
        <p:spPr>
          <a:xfrm>
            <a:off x="8595360" y="9317736"/>
            <a:ext cx="3566160" cy="566928"/>
          </a:xfrm>
          <a:prstGeom prst="rect">
            <a:avLst/>
          </a:prstGeom>
          <a:noFill/>
        </p:spPr>
        <p:txBody>
          <a:bodyPr wrap="square" lIns="0" tIns="0" rIns="0" bIns="0" anchor="t">
            <a:spAutoFit/>
          </a:bodyPr>
          <a:lstStyle/>
          <a:p>
            <a:pPr algn="ctr"/>
            <a:r>
              <a:rPr sz="2100" b="1">
                <a:solidFill>
                  <a:srgbClr val="1A1A1A"/>
                </a:solidFill>
              </a:rPr>
              <a:t>Önce Google, sonra OpenAI</a:t>
            </a:r>
          </a:p>
        </p:txBody>
      </p:sp>
      <p:sp>
        <p:nvSpPr>
          <p:cNvPr id="57" name="TextBox 56"/>
          <p:cNvSpPr txBox="1"/>
          <p:nvPr/>
        </p:nvSpPr>
        <p:spPr>
          <a:xfrm>
            <a:off x="8595360" y="10497312"/>
            <a:ext cx="3566160" cy="1280160"/>
          </a:xfrm>
          <a:prstGeom prst="rect">
            <a:avLst/>
          </a:prstGeom>
          <a:noFill/>
        </p:spPr>
        <p:txBody>
          <a:bodyPr wrap="square" lIns="0" tIns="0" rIns="0" bIns="0" anchor="t">
            <a:spAutoFit/>
          </a:bodyPr>
          <a:lstStyle/>
          <a:p>
            <a:pPr algn="ctr">
              <a:lnSpc>
                <a:spcPct val="125000"/>
              </a:lnSpc>
            </a:pPr>
            <a:r>
              <a:rPr sz="1600" b="0">
                <a:solidFill>
                  <a:srgbClr val="6E6E6E"/>
                </a:solidFill>
              </a:rPr>
              <a:t>Google Ilya'yı aldı. 2015'te Musk, Altman, Brockman ve Ilya OpenAI'ı kurdu.</a:t>
            </a:r>
          </a:p>
        </p:txBody>
      </p:sp>
      <p:sp>
        <p:nvSpPr>
          <p:cNvPr id="58" name="Oval 57"/>
          <p:cNvSpPr/>
          <p:nvPr/>
        </p:nvSpPr>
        <p:spPr>
          <a:xfrm>
            <a:off x="13898880" y="8138160"/>
            <a:ext cx="274320" cy="27432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cxnSp>
        <p:nvCxnSpPr>
          <p:cNvPr id="59" name="Connector 58"/>
          <p:cNvCxnSpPr/>
          <p:nvPr/>
        </p:nvCxnSpPr>
        <p:spPr>
          <a:xfrm>
            <a:off x="14036040" y="8412480"/>
            <a:ext cx="0" cy="246888"/>
          </a:xfrm>
          <a:prstGeom prst="line">
            <a:avLst/>
          </a:prstGeom>
          <a:ln w="25400">
            <a:solidFill>
              <a:srgbClr val="D5D5D5"/>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2252960" y="8714232"/>
            <a:ext cx="3566160" cy="530352"/>
          </a:xfrm>
          <a:prstGeom prst="rect">
            <a:avLst/>
          </a:prstGeom>
          <a:noFill/>
        </p:spPr>
        <p:txBody>
          <a:bodyPr wrap="square" lIns="0" tIns="0" rIns="0" bIns="0" anchor="t">
            <a:spAutoFit/>
          </a:bodyPr>
          <a:lstStyle/>
          <a:p>
            <a:pPr algn="ctr"/>
            <a:r>
              <a:rPr sz="2600" b="1">
                <a:solidFill>
                  <a:srgbClr val="15263F"/>
                </a:solidFill>
              </a:rPr>
              <a:t>2017</a:t>
            </a:r>
          </a:p>
        </p:txBody>
      </p:sp>
      <p:sp>
        <p:nvSpPr>
          <p:cNvPr id="61" name="TextBox 60"/>
          <p:cNvSpPr txBox="1"/>
          <p:nvPr/>
        </p:nvSpPr>
        <p:spPr>
          <a:xfrm>
            <a:off x="12252960" y="9317736"/>
            <a:ext cx="3566160" cy="566928"/>
          </a:xfrm>
          <a:prstGeom prst="rect">
            <a:avLst/>
          </a:prstGeom>
          <a:noFill/>
        </p:spPr>
        <p:txBody>
          <a:bodyPr wrap="square" lIns="0" tIns="0" rIns="0" bIns="0" anchor="t">
            <a:spAutoFit/>
          </a:bodyPr>
          <a:lstStyle/>
          <a:p>
            <a:pPr algn="ctr"/>
            <a:r>
              <a:rPr sz="2100" b="1">
                <a:solidFill>
                  <a:srgbClr val="1A1A1A"/>
                </a:solidFill>
              </a:rPr>
              <a:t>Transformer</a:t>
            </a:r>
          </a:p>
        </p:txBody>
      </p:sp>
      <p:sp>
        <p:nvSpPr>
          <p:cNvPr id="62" name="TextBox 61"/>
          <p:cNvSpPr txBox="1"/>
          <p:nvPr/>
        </p:nvSpPr>
        <p:spPr>
          <a:xfrm>
            <a:off x="12252960" y="10497312"/>
            <a:ext cx="3566160" cy="1280160"/>
          </a:xfrm>
          <a:prstGeom prst="rect">
            <a:avLst/>
          </a:prstGeom>
          <a:noFill/>
        </p:spPr>
        <p:txBody>
          <a:bodyPr wrap="square" lIns="0" tIns="0" rIns="0" bIns="0" anchor="t">
            <a:spAutoFit/>
          </a:bodyPr>
          <a:lstStyle/>
          <a:p>
            <a:pPr algn="ctr">
              <a:lnSpc>
                <a:spcPct val="125000"/>
              </a:lnSpc>
            </a:pPr>
            <a:r>
              <a:rPr sz="1600" b="0">
                <a:solidFill>
                  <a:srgbClr val="6E6E6E"/>
                </a:solidFill>
              </a:rPr>
              <a:t>"Attention Is All You Need". Ölçeklenebilir mimari, tüm alanların ortak dili oldu.</a:t>
            </a:r>
          </a:p>
        </p:txBody>
      </p:sp>
      <p:sp>
        <p:nvSpPr>
          <p:cNvPr id="63" name="Oval 62"/>
          <p:cNvSpPr/>
          <p:nvPr/>
        </p:nvSpPr>
        <p:spPr>
          <a:xfrm>
            <a:off x="17556480" y="8138160"/>
            <a:ext cx="274320" cy="27432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cxnSp>
        <p:nvCxnSpPr>
          <p:cNvPr id="64" name="Connector 63"/>
          <p:cNvCxnSpPr/>
          <p:nvPr/>
        </p:nvCxnSpPr>
        <p:spPr>
          <a:xfrm>
            <a:off x="17693640" y="8412480"/>
            <a:ext cx="0" cy="246888"/>
          </a:xfrm>
          <a:prstGeom prst="line">
            <a:avLst/>
          </a:prstGeom>
          <a:ln w="25400">
            <a:solidFill>
              <a:srgbClr val="D5D5D5"/>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15910560" y="8714232"/>
            <a:ext cx="3566160" cy="530352"/>
          </a:xfrm>
          <a:prstGeom prst="rect">
            <a:avLst/>
          </a:prstGeom>
          <a:noFill/>
        </p:spPr>
        <p:txBody>
          <a:bodyPr wrap="square" lIns="0" tIns="0" rIns="0" bIns="0" anchor="t">
            <a:spAutoFit/>
          </a:bodyPr>
          <a:lstStyle/>
          <a:p>
            <a:pPr algn="ctr"/>
            <a:r>
              <a:rPr sz="2600" b="1">
                <a:solidFill>
                  <a:srgbClr val="15263F"/>
                </a:solidFill>
              </a:rPr>
              <a:t>2022</a:t>
            </a:r>
          </a:p>
        </p:txBody>
      </p:sp>
      <p:sp>
        <p:nvSpPr>
          <p:cNvPr id="66" name="TextBox 65"/>
          <p:cNvSpPr txBox="1"/>
          <p:nvPr/>
        </p:nvSpPr>
        <p:spPr>
          <a:xfrm>
            <a:off x="15910560" y="9317736"/>
            <a:ext cx="3566160" cy="566928"/>
          </a:xfrm>
          <a:prstGeom prst="rect">
            <a:avLst/>
          </a:prstGeom>
          <a:noFill/>
        </p:spPr>
        <p:txBody>
          <a:bodyPr wrap="square" lIns="0" tIns="0" rIns="0" bIns="0" anchor="t">
            <a:spAutoFit/>
          </a:bodyPr>
          <a:lstStyle/>
          <a:p>
            <a:pPr algn="ctr"/>
            <a:r>
              <a:rPr sz="2100" b="1">
                <a:solidFill>
                  <a:srgbClr val="1A1A1A"/>
                </a:solidFill>
              </a:rPr>
              <a:t>ChatGPT</a:t>
            </a:r>
          </a:p>
        </p:txBody>
      </p:sp>
      <p:sp>
        <p:nvSpPr>
          <p:cNvPr id="67" name="TextBox 66"/>
          <p:cNvSpPr txBox="1"/>
          <p:nvPr/>
        </p:nvSpPr>
        <p:spPr>
          <a:xfrm>
            <a:off x="15910560" y="10497312"/>
            <a:ext cx="3566160" cy="1280160"/>
          </a:xfrm>
          <a:prstGeom prst="rect">
            <a:avLst/>
          </a:prstGeom>
          <a:noFill/>
        </p:spPr>
        <p:txBody>
          <a:bodyPr wrap="square" lIns="0" tIns="0" rIns="0" bIns="0" anchor="t">
            <a:spAutoFit/>
          </a:bodyPr>
          <a:lstStyle/>
          <a:p>
            <a:pPr algn="ctr">
              <a:lnSpc>
                <a:spcPct val="125000"/>
              </a:lnSpc>
            </a:pPr>
            <a:r>
              <a:rPr sz="1600" b="0">
                <a:solidFill>
                  <a:srgbClr val="6E6E6E"/>
                </a:solidFill>
              </a:rPr>
              <a:t>Ilya'nın tezi: ölçekle, gerisine karışma. Model büyüdükçe beklenmedik yetenekler belirdi.</a:t>
            </a:r>
          </a:p>
        </p:txBody>
      </p:sp>
      <p:sp>
        <p:nvSpPr>
          <p:cNvPr id="68" name="Oval 67"/>
          <p:cNvSpPr/>
          <p:nvPr/>
        </p:nvSpPr>
        <p:spPr>
          <a:xfrm>
            <a:off x="21214080" y="8138160"/>
            <a:ext cx="274320" cy="27432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cxnSp>
        <p:nvCxnSpPr>
          <p:cNvPr id="69" name="Connector 68"/>
          <p:cNvCxnSpPr/>
          <p:nvPr/>
        </p:nvCxnSpPr>
        <p:spPr>
          <a:xfrm>
            <a:off x="21351240" y="8412480"/>
            <a:ext cx="0" cy="246888"/>
          </a:xfrm>
          <a:prstGeom prst="line">
            <a:avLst/>
          </a:prstGeom>
          <a:ln w="25400">
            <a:solidFill>
              <a:srgbClr val="D5D5D5"/>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19568160" y="8714232"/>
            <a:ext cx="3566160" cy="530352"/>
          </a:xfrm>
          <a:prstGeom prst="rect">
            <a:avLst/>
          </a:prstGeom>
          <a:noFill/>
        </p:spPr>
        <p:txBody>
          <a:bodyPr wrap="square" lIns="0" tIns="0" rIns="0" bIns="0" anchor="t">
            <a:spAutoFit/>
          </a:bodyPr>
          <a:lstStyle/>
          <a:p>
            <a:pPr algn="ctr"/>
            <a:r>
              <a:rPr sz="2600" b="1">
                <a:solidFill>
                  <a:srgbClr val="15263F"/>
                </a:solidFill>
              </a:rPr>
              <a:t>2024</a:t>
            </a:r>
          </a:p>
        </p:txBody>
      </p:sp>
      <p:sp>
        <p:nvSpPr>
          <p:cNvPr id="71" name="TextBox 70"/>
          <p:cNvSpPr txBox="1"/>
          <p:nvPr/>
        </p:nvSpPr>
        <p:spPr>
          <a:xfrm>
            <a:off x="19568160" y="9317736"/>
            <a:ext cx="3566160" cy="566928"/>
          </a:xfrm>
          <a:prstGeom prst="rect">
            <a:avLst/>
          </a:prstGeom>
          <a:noFill/>
        </p:spPr>
        <p:txBody>
          <a:bodyPr wrap="square" lIns="0" tIns="0" rIns="0" bIns="0" anchor="t">
            <a:spAutoFit/>
          </a:bodyPr>
          <a:lstStyle/>
          <a:p>
            <a:pPr algn="ctr"/>
            <a:r>
              <a:rPr sz="2100" b="1">
                <a:solidFill>
                  <a:srgbClr val="1A1A1A"/>
                </a:solidFill>
              </a:rPr>
              <a:t>Nobel Ödülleri</a:t>
            </a:r>
          </a:p>
        </p:txBody>
      </p:sp>
      <p:sp>
        <p:nvSpPr>
          <p:cNvPr id="72" name="TextBox 71"/>
          <p:cNvSpPr txBox="1"/>
          <p:nvPr/>
        </p:nvSpPr>
        <p:spPr>
          <a:xfrm>
            <a:off x="19568160" y="10497312"/>
            <a:ext cx="3566160" cy="1280160"/>
          </a:xfrm>
          <a:prstGeom prst="rect">
            <a:avLst/>
          </a:prstGeom>
          <a:noFill/>
        </p:spPr>
        <p:txBody>
          <a:bodyPr wrap="square" lIns="0" tIns="0" rIns="0" bIns="0" anchor="t">
            <a:spAutoFit/>
          </a:bodyPr>
          <a:lstStyle/>
          <a:p>
            <a:pPr algn="ctr">
              <a:lnSpc>
                <a:spcPct val="125000"/>
              </a:lnSpc>
            </a:pPr>
            <a:r>
              <a:rPr sz="1600" b="0">
                <a:solidFill>
                  <a:srgbClr val="6E6E6E"/>
                </a:solidFill>
              </a:rPr>
              <a:t>Hinton'a Fizik (Hopfield ile), Hassabis &amp; Jumper'a Kimya (AlphaFold).</a:t>
            </a:r>
          </a:p>
        </p:txBody>
      </p:sp>
      <p:sp>
        <p:nvSpPr>
          <p:cNvPr id="73" name="Rectangle 72"/>
          <p:cNvSpPr/>
          <p:nvPr/>
        </p:nvSpPr>
        <p:spPr>
          <a:xfrm>
            <a:off x="1280160" y="12070080"/>
            <a:ext cx="21826728" cy="1005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4" name="TextBox 73"/>
          <p:cNvSpPr txBox="1"/>
          <p:nvPr/>
        </p:nvSpPr>
        <p:spPr>
          <a:xfrm>
            <a:off x="1920240" y="12344400"/>
            <a:ext cx="20546568" cy="640080"/>
          </a:xfrm>
          <a:prstGeom prst="rect">
            <a:avLst/>
          </a:prstGeom>
          <a:noFill/>
        </p:spPr>
        <p:txBody>
          <a:bodyPr wrap="square" lIns="0" tIns="0" rIns="0" bIns="0" anchor="t">
            <a:spAutoFit/>
          </a:bodyPr>
          <a:lstStyle/>
          <a:p>
            <a:pPr algn="ctr"/>
            <a:r>
              <a:rPr sz="2200" b="0">
                <a:solidFill>
                  <a:srgbClr val="15263F"/>
                </a:solidFill>
              </a:rPr>
              <a:t>Veri sosyal medyadan, hesaplama gücü oyun kartlarından geldi. </a:t>
            </a:r>
            <a:r>
              <a:rPr sz="2200" b="1">
                <a:solidFill>
                  <a:srgbClr val="15263F"/>
                </a:solidFill>
              </a:rPr>
              <a:t>Herkes web'e koşarken Ilya, kimsenin bakmadığı yere gitti.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rPr>
              <a:t>Derin Öğrenmenin Hikâyesi</a:t>
            </a:r>
          </a:p>
        </p:txBody>
      </p:sp>
      <p:cxnSp>
        <p:nvCxnSpPr>
          <p:cNvPr id="3" name="Connector 2"/>
          <p:cNvCxnSpPr/>
          <p:nvPr/>
        </p:nvCxnSpPr>
        <p:spPr>
          <a:xfrm>
            <a:off x="1280160" y="2148840"/>
            <a:ext cx="21826728" cy="0"/>
          </a:xfrm>
          <a:prstGeom prst="line">
            <a:avLst/>
          </a:prstGeom>
          <a:ln w="25400">
            <a:solidFill>
              <a:srgbClr val="D5D5D5"/>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1920240"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1005840" y="2423160"/>
            <a:ext cx="2011680" cy="411480"/>
          </a:xfrm>
          <a:prstGeom prst="rect">
            <a:avLst/>
          </a:prstGeom>
          <a:noFill/>
        </p:spPr>
        <p:txBody>
          <a:bodyPr wrap="square" lIns="0" tIns="0" rIns="0" bIns="0" anchor="t">
            <a:spAutoFit/>
          </a:bodyPr>
          <a:lstStyle/>
          <a:p>
            <a:pPr algn="ctr"/>
            <a:r>
              <a:rPr sz="1500" b="0">
                <a:solidFill>
                  <a:srgbClr val="9A9A9A"/>
                </a:solidFill>
              </a:rPr>
              <a:t>1950</a:t>
            </a:r>
          </a:p>
        </p:txBody>
      </p:sp>
      <p:sp>
        <p:nvSpPr>
          <p:cNvPr id="6" name="Oval 5"/>
          <p:cNvSpPr/>
          <p:nvPr/>
        </p:nvSpPr>
        <p:spPr>
          <a:xfrm>
            <a:off x="3771484"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2857084" y="2423160"/>
            <a:ext cx="2011680" cy="411480"/>
          </a:xfrm>
          <a:prstGeom prst="rect">
            <a:avLst/>
          </a:prstGeom>
          <a:noFill/>
        </p:spPr>
        <p:txBody>
          <a:bodyPr wrap="square" lIns="0" tIns="0" rIns="0" bIns="0" anchor="t">
            <a:spAutoFit/>
          </a:bodyPr>
          <a:lstStyle/>
          <a:p>
            <a:pPr algn="ctr"/>
            <a:r>
              <a:rPr sz="1500" b="0">
                <a:solidFill>
                  <a:srgbClr val="9A9A9A"/>
                </a:solidFill>
              </a:rPr>
              <a:t>1956</a:t>
            </a:r>
          </a:p>
        </p:txBody>
      </p:sp>
      <p:sp>
        <p:nvSpPr>
          <p:cNvPr id="8" name="Oval 7"/>
          <p:cNvSpPr/>
          <p:nvPr/>
        </p:nvSpPr>
        <p:spPr>
          <a:xfrm>
            <a:off x="5622728"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708328" y="2423160"/>
            <a:ext cx="2011680" cy="411480"/>
          </a:xfrm>
          <a:prstGeom prst="rect">
            <a:avLst/>
          </a:prstGeom>
          <a:noFill/>
        </p:spPr>
        <p:txBody>
          <a:bodyPr wrap="square" lIns="0" tIns="0" rIns="0" bIns="0" anchor="t">
            <a:spAutoFit/>
          </a:bodyPr>
          <a:lstStyle/>
          <a:p>
            <a:pPr algn="ctr"/>
            <a:r>
              <a:rPr sz="1500" b="0">
                <a:solidFill>
                  <a:srgbClr val="9A9A9A"/>
                </a:solidFill>
              </a:rPr>
              <a:t>1986</a:t>
            </a:r>
          </a:p>
        </p:txBody>
      </p:sp>
      <p:sp>
        <p:nvSpPr>
          <p:cNvPr id="10" name="Oval 9"/>
          <p:cNvSpPr/>
          <p:nvPr/>
        </p:nvSpPr>
        <p:spPr>
          <a:xfrm>
            <a:off x="7473973"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559573" y="2423160"/>
            <a:ext cx="2011680" cy="411480"/>
          </a:xfrm>
          <a:prstGeom prst="rect">
            <a:avLst/>
          </a:prstGeom>
          <a:noFill/>
        </p:spPr>
        <p:txBody>
          <a:bodyPr wrap="square" lIns="0" tIns="0" rIns="0" bIns="0" anchor="t">
            <a:spAutoFit/>
          </a:bodyPr>
          <a:lstStyle/>
          <a:p>
            <a:pPr algn="ctr"/>
            <a:r>
              <a:rPr sz="1500" b="0">
                <a:solidFill>
                  <a:srgbClr val="9A9A9A"/>
                </a:solidFill>
              </a:rPr>
              <a:t>1991</a:t>
            </a:r>
          </a:p>
        </p:txBody>
      </p:sp>
      <p:sp>
        <p:nvSpPr>
          <p:cNvPr id="12" name="Oval 11"/>
          <p:cNvSpPr/>
          <p:nvPr/>
        </p:nvSpPr>
        <p:spPr>
          <a:xfrm>
            <a:off x="9325217"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10817" y="2423160"/>
            <a:ext cx="2011680" cy="411480"/>
          </a:xfrm>
          <a:prstGeom prst="rect">
            <a:avLst/>
          </a:prstGeom>
          <a:noFill/>
        </p:spPr>
        <p:txBody>
          <a:bodyPr wrap="square" lIns="0" tIns="0" rIns="0" bIns="0" anchor="t">
            <a:spAutoFit/>
          </a:bodyPr>
          <a:lstStyle/>
          <a:p>
            <a:pPr algn="ctr"/>
            <a:r>
              <a:rPr sz="1500" b="0">
                <a:solidFill>
                  <a:srgbClr val="9A9A9A"/>
                </a:solidFill>
              </a:rPr>
              <a:t>2000'ler</a:t>
            </a:r>
          </a:p>
        </p:txBody>
      </p:sp>
      <p:sp>
        <p:nvSpPr>
          <p:cNvPr id="14" name="Oval 13"/>
          <p:cNvSpPr/>
          <p:nvPr/>
        </p:nvSpPr>
        <p:spPr>
          <a:xfrm>
            <a:off x="11176461"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10262061" y="2423160"/>
            <a:ext cx="2011680" cy="411480"/>
          </a:xfrm>
          <a:prstGeom prst="rect">
            <a:avLst/>
          </a:prstGeom>
          <a:noFill/>
        </p:spPr>
        <p:txBody>
          <a:bodyPr wrap="square" lIns="0" tIns="0" rIns="0" bIns="0" anchor="t">
            <a:spAutoFit/>
          </a:bodyPr>
          <a:lstStyle/>
          <a:p>
            <a:pPr algn="ctr"/>
            <a:r>
              <a:rPr sz="1500" b="0">
                <a:solidFill>
                  <a:srgbClr val="9A9A9A"/>
                </a:solidFill>
              </a:rPr>
              <a:t>2007</a:t>
            </a:r>
          </a:p>
        </p:txBody>
      </p:sp>
      <p:sp>
        <p:nvSpPr>
          <p:cNvPr id="16" name="Oval 15"/>
          <p:cNvSpPr/>
          <p:nvPr/>
        </p:nvSpPr>
        <p:spPr>
          <a:xfrm>
            <a:off x="13027706"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12113306" y="2423160"/>
            <a:ext cx="2011680" cy="411480"/>
          </a:xfrm>
          <a:prstGeom prst="rect">
            <a:avLst/>
          </a:prstGeom>
          <a:noFill/>
        </p:spPr>
        <p:txBody>
          <a:bodyPr wrap="square" lIns="0" tIns="0" rIns="0" bIns="0" anchor="t">
            <a:spAutoFit/>
          </a:bodyPr>
          <a:lstStyle/>
          <a:p>
            <a:pPr algn="ctr"/>
            <a:r>
              <a:rPr sz="1500" b="0">
                <a:solidFill>
                  <a:srgbClr val="9A9A9A"/>
                </a:solidFill>
              </a:rPr>
              <a:t>2009</a:t>
            </a:r>
          </a:p>
        </p:txBody>
      </p:sp>
      <p:sp>
        <p:nvSpPr>
          <p:cNvPr id="18" name="Oval 17"/>
          <p:cNvSpPr/>
          <p:nvPr/>
        </p:nvSpPr>
        <p:spPr>
          <a:xfrm>
            <a:off x="14878950"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13964550" y="2423160"/>
            <a:ext cx="2011680" cy="411480"/>
          </a:xfrm>
          <a:prstGeom prst="rect">
            <a:avLst/>
          </a:prstGeom>
          <a:noFill/>
        </p:spPr>
        <p:txBody>
          <a:bodyPr wrap="square" lIns="0" tIns="0" rIns="0" bIns="0" anchor="t">
            <a:spAutoFit/>
          </a:bodyPr>
          <a:lstStyle/>
          <a:p>
            <a:pPr algn="ctr"/>
            <a:r>
              <a:rPr sz="1500" b="0">
                <a:solidFill>
                  <a:srgbClr val="9A9A9A"/>
                </a:solidFill>
              </a:rPr>
              <a:t>2012</a:t>
            </a:r>
          </a:p>
        </p:txBody>
      </p:sp>
      <p:sp>
        <p:nvSpPr>
          <p:cNvPr id="20" name="Oval 19"/>
          <p:cNvSpPr/>
          <p:nvPr/>
        </p:nvSpPr>
        <p:spPr>
          <a:xfrm>
            <a:off x="16730194"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15815794" y="2423160"/>
            <a:ext cx="2011680" cy="411480"/>
          </a:xfrm>
          <a:prstGeom prst="rect">
            <a:avLst/>
          </a:prstGeom>
          <a:noFill/>
        </p:spPr>
        <p:txBody>
          <a:bodyPr wrap="square" lIns="0" tIns="0" rIns="0" bIns="0" anchor="t">
            <a:spAutoFit/>
          </a:bodyPr>
          <a:lstStyle/>
          <a:p>
            <a:pPr algn="ctr"/>
            <a:r>
              <a:rPr sz="1500" b="0">
                <a:solidFill>
                  <a:srgbClr val="9A9A9A"/>
                </a:solidFill>
              </a:rPr>
              <a:t>2015</a:t>
            </a:r>
          </a:p>
        </p:txBody>
      </p:sp>
      <p:sp>
        <p:nvSpPr>
          <p:cNvPr id="22" name="Oval 21"/>
          <p:cNvSpPr/>
          <p:nvPr/>
        </p:nvSpPr>
        <p:spPr>
          <a:xfrm>
            <a:off x="18581439"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17667039" y="2423160"/>
            <a:ext cx="2011680" cy="411480"/>
          </a:xfrm>
          <a:prstGeom prst="rect">
            <a:avLst/>
          </a:prstGeom>
          <a:noFill/>
        </p:spPr>
        <p:txBody>
          <a:bodyPr wrap="square" lIns="0" tIns="0" rIns="0" bIns="0" anchor="t">
            <a:spAutoFit/>
          </a:bodyPr>
          <a:lstStyle/>
          <a:p>
            <a:pPr algn="ctr"/>
            <a:r>
              <a:rPr sz="1500" b="0">
                <a:solidFill>
                  <a:srgbClr val="9A9A9A"/>
                </a:solidFill>
              </a:rPr>
              <a:t>2017</a:t>
            </a:r>
          </a:p>
        </p:txBody>
      </p:sp>
      <p:sp>
        <p:nvSpPr>
          <p:cNvPr id="24" name="Oval 23"/>
          <p:cNvSpPr/>
          <p:nvPr/>
        </p:nvSpPr>
        <p:spPr>
          <a:xfrm>
            <a:off x="20432683"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19518283" y="2423160"/>
            <a:ext cx="2011680" cy="411480"/>
          </a:xfrm>
          <a:prstGeom prst="rect">
            <a:avLst/>
          </a:prstGeom>
          <a:noFill/>
        </p:spPr>
        <p:txBody>
          <a:bodyPr wrap="square" lIns="0" tIns="0" rIns="0" bIns="0" anchor="t">
            <a:spAutoFit/>
          </a:bodyPr>
          <a:lstStyle/>
          <a:p>
            <a:pPr algn="ctr"/>
            <a:r>
              <a:rPr sz="1500" b="0">
                <a:solidFill>
                  <a:srgbClr val="9A9A9A"/>
                </a:solidFill>
              </a:rPr>
              <a:t>2022</a:t>
            </a:r>
          </a:p>
        </p:txBody>
      </p:sp>
      <p:sp>
        <p:nvSpPr>
          <p:cNvPr id="26" name="Oval 25"/>
          <p:cNvSpPr/>
          <p:nvPr/>
        </p:nvSpPr>
        <p:spPr>
          <a:xfrm>
            <a:off x="22283927"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21369527" y="2423160"/>
            <a:ext cx="2011680" cy="411480"/>
          </a:xfrm>
          <a:prstGeom prst="rect">
            <a:avLst/>
          </a:prstGeom>
          <a:noFill/>
        </p:spPr>
        <p:txBody>
          <a:bodyPr wrap="square" lIns="0" tIns="0" rIns="0" bIns="0" anchor="t">
            <a:spAutoFit/>
          </a:bodyPr>
          <a:lstStyle/>
          <a:p>
            <a:pPr algn="ctr"/>
            <a:r>
              <a:rPr sz="1500" b="0">
                <a:solidFill>
                  <a:srgbClr val="9A9A9A"/>
                </a:solidFill>
              </a:rPr>
              <a:t>2024</a:t>
            </a:r>
          </a:p>
        </p:txBody>
      </p:sp>
      <p:sp>
        <p:nvSpPr>
          <p:cNvPr id="28" name="TextBox 27"/>
          <p:cNvSpPr txBox="1"/>
          <p:nvPr/>
        </p:nvSpPr>
        <p:spPr>
          <a:xfrm>
            <a:off x="2066543" y="3063240"/>
            <a:ext cx="20244816" cy="1737360"/>
          </a:xfrm>
          <a:prstGeom prst="rect">
            <a:avLst/>
          </a:prstGeom>
          <a:noFill/>
        </p:spPr>
        <p:txBody>
          <a:bodyPr wrap="square" lIns="0" tIns="0" rIns="0" bIns="0" anchor="t">
            <a:spAutoFit/>
          </a:bodyPr>
          <a:lstStyle/>
          <a:p>
            <a:pPr algn="ctr">
              <a:lnSpc>
                <a:spcPct val="115000"/>
              </a:lnSpc>
            </a:pPr>
            <a:r>
              <a:rPr sz="3800" b="0">
                <a:solidFill>
                  <a:srgbClr val="1A1A1A"/>
                </a:solidFill>
              </a:rPr>
              <a:t>Jobs'ın yanında Wozniak, Frodo'nun yanında Sam vardı. </a:t>
            </a:r>
            <a:r>
              <a:rPr sz="3800" b="1">
                <a:solidFill>
                  <a:srgbClr val="1A1A1A"/>
                </a:solidFill>
              </a:rPr>
              <a:t>Sam Altman'ın yanındaki isim: Ilya Sutskever.</a:t>
            </a:r>
          </a:p>
        </p:txBody>
      </p:sp>
      <p:pic>
        <p:nvPicPr>
          <p:cNvPr id="29" name="Picture 28" descr="stevejobs.png"/>
          <p:cNvPicPr>
            <a:picLocks noChangeAspect="1"/>
          </p:cNvPicPr>
          <p:nvPr/>
        </p:nvPicPr>
        <p:blipFill>
          <a:blip r:embed="rId3"/>
          <a:stretch>
            <a:fillRect/>
          </a:stretch>
        </p:blipFill>
        <p:spPr>
          <a:xfrm>
            <a:off x="1776042" y="5074920"/>
            <a:ext cx="6478882" cy="4160520"/>
          </a:xfrm>
          <a:prstGeom prst="rect">
            <a:avLst/>
          </a:prstGeom>
          <a:ln w="12700">
            <a:solidFill>
              <a:srgbClr val="DDDDDD"/>
            </a:solidFill>
          </a:ln>
        </p:spPr>
      </p:pic>
      <p:sp>
        <p:nvSpPr>
          <p:cNvPr id="30" name="TextBox 29"/>
          <p:cNvSpPr txBox="1"/>
          <p:nvPr/>
        </p:nvSpPr>
        <p:spPr>
          <a:xfrm>
            <a:off x="1677924" y="9436608"/>
            <a:ext cx="6675120" cy="502920"/>
          </a:xfrm>
          <a:prstGeom prst="rect">
            <a:avLst/>
          </a:prstGeom>
          <a:noFill/>
        </p:spPr>
        <p:txBody>
          <a:bodyPr wrap="square" lIns="0" tIns="0" rIns="0" bIns="0" anchor="t">
            <a:spAutoFit/>
          </a:bodyPr>
          <a:lstStyle/>
          <a:p>
            <a:pPr algn="ctr"/>
            <a:r>
              <a:rPr sz="1800" b="0">
                <a:solidFill>
                  <a:srgbClr val="6E6E6E"/>
                </a:solidFill>
              </a:rPr>
              <a:t>Steve Jobs &amp; Steve Wozniak</a:t>
            </a:r>
          </a:p>
        </p:txBody>
      </p:sp>
      <p:pic>
        <p:nvPicPr>
          <p:cNvPr id="31" name="Picture 30" descr="frodo.png"/>
          <p:cNvPicPr>
            <a:picLocks noChangeAspect="1"/>
          </p:cNvPicPr>
          <p:nvPr/>
        </p:nvPicPr>
        <p:blipFill>
          <a:blip r:embed="rId4"/>
          <a:stretch>
            <a:fillRect/>
          </a:stretch>
        </p:blipFill>
        <p:spPr>
          <a:xfrm>
            <a:off x="8947438" y="5074920"/>
            <a:ext cx="6492170" cy="4160520"/>
          </a:xfrm>
          <a:prstGeom prst="rect">
            <a:avLst/>
          </a:prstGeom>
          <a:ln w="12700">
            <a:solidFill>
              <a:srgbClr val="DDDDDD"/>
            </a:solidFill>
          </a:ln>
        </p:spPr>
      </p:pic>
      <p:sp>
        <p:nvSpPr>
          <p:cNvPr id="32" name="TextBox 31"/>
          <p:cNvSpPr txBox="1"/>
          <p:nvPr/>
        </p:nvSpPr>
        <p:spPr>
          <a:xfrm>
            <a:off x="8855964" y="9436608"/>
            <a:ext cx="6675120" cy="502920"/>
          </a:xfrm>
          <a:prstGeom prst="rect">
            <a:avLst/>
          </a:prstGeom>
          <a:noFill/>
        </p:spPr>
        <p:txBody>
          <a:bodyPr wrap="square" lIns="0" tIns="0" rIns="0" bIns="0" anchor="t">
            <a:spAutoFit/>
          </a:bodyPr>
          <a:lstStyle/>
          <a:p>
            <a:pPr algn="ctr"/>
            <a:r>
              <a:rPr sz="1800" b="0">
                <a:solidFill>
                  <a:srgbClr val="6E6E6E"/>
                </a:solidFill>
              </a:rPr>
              <a:t>Frodo &amp; Sam</a:t>
            </a:r>
          </a:p>
        </p:txBody>
      </p:sp>
      <p:pic>
        <p:nvPicPr>
          <p:cNvPr id="33" name="Picture 32" descr="altmanvesustkever.png"/>
          <p:cNvPicPr>
            <a:picLocks noChangeAspect="1"/>
          </p:cNvPicPr>
          <p:nvPr/>
        </p:nvPicPr>
        <p:blipFill>
          <a:blip r:embed="rId5"/>
          <a:stretch>
            <a:fillRect/>
          </a:stretch>
        </p:blipFill>
        <p:spPr>
          <a:xfrm>
            <a:off x="16111036" y="5074920"/>
            <a:ext cx="6521054" cy="4160520"/>
          </a:xfrm>
          <a:prstGeom prst="rect">
            <a:avLst/>
          </a:prstGeom>
          <a:ln w="12700">
            <a:solidFill>
              <a:srgbClr val="DDDDDD"/>
            </a:solidFill>
          </a:ln>
        </p:spPr>
      </p:pic>
      <p:sp>
        <p:nvSpPr>
          <p:cNvPr id="34" name="TextBox 33"/>
          <p:cNvSpPr txBox="1"/>
          <p:nvPr/>
        </p:nvSpPr>
        <p:spPr>
          <a:xfrm>
            <a:off x="16034004" y="9436608"/>
            <a:ext cx="6675120" cy="502920"/>
          </a:xfrm>
          <a:prstGeom prst="rect">
            <a:avLst/>
          </a:prstGeom>
          <a:noFill/>
        </p:spPr>
        <p:txBody>
          <a:bodyPr wrap="square" lIns="0" tIns="0" rIns="0" bIns="0" anchor="t">
            <a:spAutoFit/>
          </a:bodyPr>
          <a:lstStyle/>
          <a:p>
            <a:pPr algn="ctr"/>
            <a:r>
              <a:rPr sz="1800" b="0">
                <a:solidFill>
                  <a:srgbClr val="6E6E6E"/>
                </a:solidFill>
              </a:rPr>
              <a:t>Sam Altman &amp; Ilya Sutskever</a:t>
            </a:r>
          </a:p>
        </p:txBody>
      </p:sp>
      <p:sp>
        <p:nvSpPr>
          <p:cNvPr id="35" name="Rectangle 34"/>
          <p:cNvSpPr/>
          <p:nvPr/>
        </p:nvSpPr>
        <p:spPr>
          <a:xfrm>
            <a:off x="1280160" y="10561320"/>
            <a:ext cx="21826728" cy="14173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TextBox 35"/>
          <p:cNvSpPr txBox="1"/>
          <p:nvPr/>
        </p:nvSpPr>
        <p:spPr>
          <a:xfrm>
            <a:off x="2011680" y="10561320"/>
            <a:ext cx="20363688" cy="1417320"/>
          </a:xfrm>
          <a:prstGeom prst="rect">
            <a:avLst/>
          </a:prstGeom>
          <a:noFill/>
        </p:spPr>
        <p:txBody>
          <a:bodyPr wrap="square" lIns="0" tIns="0" rIns="0" bIns="0" anchor="ctr">
            <a:spAutoFit/>
          </a:bodyPr>
          <a:lstStyle/>
          <a:p>
            <a:pPr algn="ctr">
              <a:lnSpc>
                <a:spcPct val="120000"/>
              </a:lnSpc>
            </a:pPr>
            <a:r>
              <a:rPr sz="2400" b="0">
                <a:solidFill>
                  <a:srgbClr val="15263F"/>
                </a:solidFill>
              </a:rPr>
              <a:t>OpenAI'ın arkasındaki asıl beyin. Kurduğu yapıya sonradan cephe alması yüzünden ona </a:t>
            </a:r>
            <a:r>
              <a:rPr sz="2400" b="1">
                <a:solidFill>
                  <a:srgbClr val="15263F"/>
                </a:solidFill>
              </a:rPr>
              <a:t>"yapay zekâ çağının Oppenheimer'ı"</a:t>
            </a:r>
            <a:r>
              <a:rPr sz="2400" b="0">
                <a:solidFill>
                  <a:srgbClr val="15263F"/>
                </a:solidFill>
              </a:rPr>
              <a:t> deniyor — en büyük hataları en büyük zihinler yapar.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rPr>
              <a:t>Ilya Sutskever kimdir?</a:t>
            </a:r>
          </a:p>
        </p:txBody>
      </p:sp>
      <p:cxnSp>
        <p:nvCxnSpPr>
          <p:cNvPr id="3" name="Connector 2"/>
          <p:cNvCxnSpPr/>
          <p:nvPr/>
        </p:nvCxnSpPr>
        <p:spPr>
          <a:xfrm>
            <a:off x="1280160" y="2148840"/>
            <a:ext cx="21826728" cy="0"/>
          </a:xfrm>
          <a:prstGeom prst="line">
            <a:avLst/>
          </a:prstGeom>
          <a:ln w="25400">
            <a:solidFill>
              <a:srgbClr val="D5D5D5"/>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1920240"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1005840" y="2423160"/>
            <a:ext cx="2011680" cy="411480"/>
          </a:xfrm>
          <a:prstGeom prst="rect">
            <a:avLst/>
          </a:prstGeom>
          <a:noFill/>
        </p:spPr>
        <p:txBody>
          <a:bodyPr wrap="square" lIns="0" tIns="0" rIns="0" bIns="0" anchor="t">
            <a:spAutoFit/>
          </a:bodyPr>
          <a:lstStyle/>
          <a:p>
            <a:pPr algn="ctr"/>
            <a:r>
              <a:rPr sz="1500" b="0">
                <a:solidFill>
                  <a:srgbClr val="9A9A9A"/>
                </a:solidFill>
              </a:rPr>
              <a:t>1950</a:t>
            </a:r>
          </a:p>
        </p:txBody>
      </p:sp>
      <p:sp>
        <p:nvSpPr>
          <p:cNvPr id="6" name="Oval 5"/>
          <p:cNvSpPr/>
          <p:nvPr/>
        </p:nvSpPr>
        <p:spPr>
          <a:xfrm>
            <a:off x="3771484"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2857084" y="2423160"/>
            <a:ext cx="2011680" cy="411480"/>
          </a:xfrm>
          <a:prstGeom prst="rect">
            <a:avLst/>
          </a:prstGeom>
          <a:noFill/>
        </p:spPr>
        <p:txBody>
          <a:bodyPr wrap="square" lIns="0" tIns="0" rIns="0" bIns="0" anchor="t">
            <a:spAutoFit/>
          </a:bodyPr>
          <a:lstStyle/>
          <a:p>
            <a:pPr algn="ctr"/>
            <a:r>
              <a:rPr sz="1500" b="0">
                <a:solidFill>
                  <a:srgbClr val="9A9A9A"/>
                </a:solidFill>
              </a:rPr>
              <a:t>1956</a:t>
            </a:r>
          </a:p>
        </p:txBody>
      </p:sp>
      <p:sp>
        <p:nvSpPr>
          <p:cNvPr id="8" name="Oval 7"/>
          <p:cNvSpPr/>
          <p:nvPr/>
        </p:nvSpPr>
        <p:spPr>
          <a:xfrm>
            <a:off x="5622728"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708328" y="2423160"/>
            <a:ext cx="2011680" cy="411480"/>
          </a:xfrm>
          <a:prstGeom prst="rect">
            <a:avLst/>
          </a:prstGeom>
          <a:noFill/>
        </p:spPr>
        <p:txBody>
          <a:bodyPr wrap="square" lIns="0" tIns="0" rIns="0" bIns="0" anchor="t">
            <a:spAutoFit/>
          </a:bodyPr>
          <a:lstStyle/>
          <a:p>
            <a:pPr algn="ctr"/>
            <a:r>
              <a:rPr sz="1500" b="0">
                <a:solidFill>
                  <a:srgbClr val="9A9A9A"/>
                </a:solidFill>
              </a:rPr>
              <a:t>1986</a:t>
            </a:r>
          </a:p>
        </p:txBody>
      </p:sp>
      <p:sp>
        <p:nvSpPr>
          <p:cNvPr id="10" name="Oval 9"/>
          <p:cNvSpPr/>
          <p:nvPr/>
        </p:nvSpPr>
        <p:spPr>
          <a:xfrm>
            <a:off x="7473973"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559573" y="2423160"/>
            <a:ext cx="2011680" cy="411480"/>
          </a:xfrm>
          <a:prstGeom prst="rect">
            <a:avLst/>
          </a:prstGeom>
          <a:noFill/>
        </p:spPr>
        <p:txBody>
          <a:bodyPr wrap="square" lIns="0" tIns="0" rIns="0" bIns="0" anchor="t">
            <a:spAutoFit/>
          </a:bodyPr>
          <a:lstStyle/>
          <a:p>
            <a:pPr algn="ctr"/>
            <a:r>
              <a:rPr sz="1500" b="0">
                <a:solidFill>
                  <a:srgbClr val="9A9A9A"/>
                </a:solidFill>
              </a:rPr>
              <a:t>1991</a:t>
            </a:r>
          </a:p>
        </p:txBody>
      </p:sp>
      <p:sp>
        <p:nvSpPr>
          <p:cNvPr id="12" name="Oval 11"/>
          <p:cNvSpPr/>
          <p:nvPr/>
        </p:nvSpPr>
        <p:spPr>
          <a:xfrm>
            <a:off x="9261209" y="1993392"/>
            <a:ext cx="310896" cy="310896"/>
          </a:xfrm>
          <a:prstGeom prst="ellipse">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10817" y="2423160"/>
            <a:ext cx="2011680" cy="411480"/>
          </a:xfrm>
          <a:prstGeom prst="rect">
            <a:avLst/>
          </a:prstGeom>
          <a:noFill/>
        </p:spPr>
        <p:txBody>
          <a:bodyPr wrap="square" lIns="0" tIns="0" rIns="0" bIns="0" anchor="t">
            <a:spAutoFit/>
          </a:bodyPr>
          <a:lstStyle/>
          <a:p>
            <a:pPr algn="ctr"/>
            <a:r>
              <a:rPr sz="1500" b="1">
                <a:solidFill>
                  <a:srgbClr val="C08A2E"/>
                </a:solidFill>
              </a:rPr>
              <a:t>2000'ler</a:t>
            </a:r>
          </a:p>
        </p:txBody>
      </p:sp>
      <p:sp>
        <p:nvSpPr>
          <p:cNvPr id="14" name="Oval 13"/>
          <p:cNvSpPr/>
          <p:nvPr/>
        </p:nvSpPr>
        <p:spPr>
          <a:xfrm>
            <a:off x="11176461"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10262061" y="2423160"/>
            <a:ext cx="2011680" cy="411480"/>
          </a:xfrm>
          <a:prstGeom prst="rect">
            <a:avLst/>
          </a:prstGeom>
          <a:noFill/>
        </p:spPr>
        <p:txBody>
          <a:bodyPr wrap="square" lIns="0" tIns="0" rIns="0" bIns="0" anchor="t">
            <a:spAutoFit/>
          </a:bodyPr>
          <a:lstStyle/>
          <a:p>
            <a:pPr algn="ctr"/>
            <a:r>
              <a:rPr sz="1500" b="0">
                <a:solidFill>
                  <a:srgbClr val="9A9A9A"/>
                </a:solidFill>
              </a:rPr>
              <a:t>2007</a:t>
            </a:r>
          </a:p>
        </p:txBody>
      </p:sp>
      <p:sp>
        <p:nvSpPr>
          <p:cNvPr id="16" name="Oval 15"/>
          <p:cNvSpPr/>
          <p:nvPr/>
        </p:nvSpPr>
        <p:spPr>
          <a:xfrm>
            <a:off x="13027706"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12113306" y="2423160"/>
            <a:ext cx="2011680" cy="411480"/>
          </a:xfrm>
          <a:prstGeom prst="rect">
            <a:avLst/>
          </a:prstGeom>
          <a:noFill/>
        </p:spPr>
        <p:txBody>
          <a:bodyPr wrap="square" lIns="0" tIns="0" rIns="0" bIns="0" anchor="t">
            <a:spAutoFit/>
          </a:bodyPr>
          <a:lstStyle/>
          <a:p>
            <a:pPr algn="ctr"/>
            <a:r>
              <a:rPr sz="1500" b="0">
                <a:solidFill>
                  <a:srgbClr val="9A9A9A"/>
                </a:solidFill>
              </a:rPr>
              <a:t>2009</a:t>
            </a:r>
          </a:p>
        </p:txBody>
      </p:sp>
      <p:sp>
        <p:nvSpPr>
          <p:cNvPr id="18" name="Oval 17"/>
          <p:cNvSpPr/>
          <p:nvPr/>
        </p:nvSpPr>
        <p:spPr>
          <a:xfrm>
            <a:off x="14878950"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13964550" y="2423160"/>
            <a:ext cx="2011680" cy="411480"/>
          </a:xfrm>
          <a:prstGeom prst="rect">
            <a:avLst/>
          </a:prstGeom>
          <a:noFill/>
        </p:spPr>
        <p:txBody>
          <a:bodyPr wrap="square" lIns="0" tIns="0" rIns="0" bIns="0" anchor="t">
            <a:spAutoFit/>
          </a:bodyPr>
          <a:lstStyle/>
          <a:p>
            <a:pPr algn="ctr"/>
            <a:r>
              <a:rPr sz="1500" b="0">
                <a:solidFill>
                  <a:srgbClr val="9A9A9A"/>
                </a:solidFill>
              </a:rPr>
              <a:t>2012</a:t>
            </a:r>
          </a:p>
        </p:txBody>
      </p:sp>
      <p:sp>
        <p:nvSpPr>
          <p:cNvPr id="20" name="Oval 19"/>
          <p:cNvSpPr/>
          <p:nvPr/>
        </p:nvSpPr>
        <p:spPr>
          <a:xfrm>
            <a:off x="16730194"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15815794" y="2423160"/>
            <a:ext cx="2011680" cy="411480"/>
          </a:xfrm>
          <a:prstGeom prst="rect">
            <a:avLst/>
          </a:prstGeom>
          <a:noFill/>
        </p:spPr>
        <p:txBody>
          <a:bodyPr wrap="square" lIns="0" tIns="0" rIns="0" bIns="0" anchor="t">
            <a:spAutoFit/>
          </a:bodyPr>
          <a:lstStyle/>
          <a:p>
            <a:pPr algn="ctr"/>
            <a:r>
              <a:rPr sz="1500" b="0">
                <a:solidFill>
                  <a:srgbClr val="9A9A9A"/>
                </a:solidFill>
              </a:rPr>
              <a:t>2015</a:t>
            </a:r>
          </a:p>
        </p:txBody>
      </p:sp>
      <p:sp>
        <p:nvSpPr>
          <p:cNvPr id="22" name="Oval 21"/>
          <p:cNvSpPr/>
          <p:nvPr/>
        </p:nvSpPr>
        <p:spPr>
          <a:xfrm>
            <a:off x="18581439"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17667039" y="2423160"/>
            <a:ext cx="2011680" cy="411480"/>
          </a:xfrm>
          <a:prstGeom prst="rect">
            <a:avLst/>
          </a:prstGeom>
          <a:noFill/>
        </p:spPr>
        <p:txBody>
          <a:bodyPr wrap="square" lIns="0" tIns="0" rIns="0" bIns="0" anchor="t">
            <a:spAutoFit/>
          </a:bodyPr>
          <a:lstStyle/>
          <a:p>
            <a:pPr algn="ctr"/>
            <a:r>
              <a:rPr sz="1500" b="0">
                <a:solidFill>
                  <a:srgbClr val="9A9A9A"/>
                </a:solidFill>
              </a:rPr>
              <a:t>2017</a:t>
            </a:r>
          </a:p>
        </p:txBody>
      </p:sp>
      <p:sp>
        <p:nvSpPr>
          <p:cNvPr id="24" name="Oval 23"/>
          <p:cNvSpPr/>
          <p:nvPr/>
        </p:nvSpPr>
        <p:spPr>
          <a:xfrm>
            <a:off x="20432683"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19518283" y="2423160"/>
            <a:ext cx="2011680" cy="411480"/>
          </a:xfrm>
          <a:prstGeom prst="rect">
            <a:avLst/>
          </a:prstGeom>
          <a:noFill/>
        </p:spPr>
        <p:txBody>
          <a:bodyPr wrap="square" lIns="0" tIns="0" rIns="0" bIns="0" anchor="t">
            <a:spAutoFit/>
          </a:bodyPr>
          <a:lstStyle/>
          <a:p>
            <a:pPr algn="ctr"/>
            <a:r>
              <a:rPr sz="1500" b="0">
                <a:solidFill>
                  <a:srgbClr val="9A9A9A"/>
                </a:solidFill>
              </a:rPr>
              <a:t>2022</a:t>
            </a:r>
          </a:p>
        </p:txBody>
      </p:sp>
      <p:sp>
        <p:nvSpPr>
          <p:cNvPr id="26" name="Oval 25"/>
          <p:cNvSpPr/>
          <p:nvPr/>
        </p:nvSpPr>
        <p:spPr>
          <a:xfrm>
            <a:off x="22283927"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21369527" y="2423160"/>
            <a:ext cx="2011680" cy="411480"/>
          </a:xfrm>
          <a:prstGeom prst="rect">
            <a:avLst/>
          </a:prstGeom>
          <a:noFill/>
        </p:spPr>
        <p:txBody>
          <a:bodyPr wrap="square" lIns="0" tIns="0" rIns="0" bIns="0" anchor="t">
            <a:spAutoFit/>
          </a:bodyPr>
          <a:lstStyle/>
          <a:p>
            <a:pPr algn="ctr"/>
            <a:r>
              <a:rPr sz="1500" b="0">
                <a:solidFill>
                  <a:srgbClr val="9A9A9A"/>
                </a:solidFill>
              </a:rPr>
              <a:t>2024</a:t>
            </a:r>
          </a:p>
        </p:txBody>
      </p:sp>
      <p:sp>
        <p:nvSpPr>
          <p:cNvPr id="28" name="TextBox 27"/>
          <p:cNvSpPr txBox="1"/>
          <p:nvPr/>
        </p:nvSpPr>
        <p:spPr>
          <a:xfrm>
            <a:off x="2066543" y="3063240"/>
            <a:ext cx="20244816" cy="1737360"/>
          </a:xfrm>
          <a:prstGeom prst="rect">
            <a:avLst/>
          </a:prstGeom>
          <a:noFill/>
        </p:spPr>
        <p:txBody>
          <a:bodyPr wrap="square" lIns="0" tIns="0" rIns="0" bIns="0" anchor="t">
            <a:spAutoFit/>
          </a:bodyPr>
          <a:lstStyle/>
          <a:p>
            <a:pPr algn="ctr">
              <a:lnSpc>
                <a:spcPct val="115000"/>
              </a:lnSpc>
            </a:pPr>
            <a:r>
              <a:rPr sz="3800" b="0">
                <a:solidFill>
                  <a:srgbClr val="1A1A1A"/>
                </a:solidFill>
              </a:rPr>
              <a:t>1985'te Sovyetler'de doğdu, Kudüs'te büyüdü, lisede Kanada'ya taşındı — </a:t>
            </a:r>
            <a:r>
              <a:rPr sz="3800" b="1">
                <a:solidFill>
                  <a:srgbClr val="1A1A1A"/>
                </a:solidFill>
              </a:rPr>
              <a:t>bir ay sonra Toronto Üniversitesi'ne alındı.</a:t>
            </a:r>
          </a:p>
        </p:txBody>
      </p:sp>
      <p:pic>
        <p:nvPicPr>
          <p:cNvPr id="29" name="Picture 28" descr="ilyadogum.png"/>
          <p:cNvPicPr>
            <a:picLocks noChangeAspect="1"/>
          </p:cNvPicPr>
          <p:nvPr/>
        </p:nvPicPr>
        <p:blipFill>
          <a:blip r:embed="rId3"/>
          <a:stretch>
            <a:fillRect/>
          </a:stretch>
        </p:blipFill>
        <p:spPr>
          <a:xfrm>
            <a:off x="1463040" y="5120640"/>
            <a:ext cx="11434572" cy="5623560"/>
          </a:xfrm>
          <a:prstGeom prst="rect">
            <a:avLst/>
          </a:prstGeom>
          <a:ln w="12700">
            <a:solidFill>
              <a:srgbClr val="DDDDDD"/>
            </a:solidFill>
          </a:ln>
        </p:spPr>
      </p:pic>
      <p:sp>
        <p:nvSpPr>
          <p:cNvPr id="30" name="TextBox 29"/>
          <p:cNvSpPr txBox="1"/>
          <p:nvPr/>
        </p:nvSpPr>
        <p:spPr>
          <a:xfrm>
            <a:off x="1463040" y="10908792"/>
            <a:ext cx="11434572" cy="502920"/>
          </a:xfrm>
          <a:prstGeom prst="rect">
            <a:avLst/>
          </a:prstGeom>
          <a:noFill/>
        </p:spPr>
        <p:txBody>
          <a:bodyPr wrap="square" lIns="0" tIns="0" rIns="0" bIns="0" anchor="t">
            <a:spAutoFit/>
          </a:bodyPr>
          <a:lstStyle/>
          <a:p>
            <a:pPr algn="ctr"/>
            <a:r>
              <a:rPr sz="1700" b="0">
                <a:solidFill>
                  <a:srgbClr val="6E6E6E"/>
                </a:solidFill>
              </a:rPr>
              <a:t>Kudüs, 1990 — Sovyetler dağıldıktan sonra ailesiyle İsrail'e taşınmıştı.</a:t>
            </a:r>
          </a:p>
        </p:txBody>
      </p:sp>
      <p:sp>
        <p:nvSpPr>
          <p:cNvPr id="31" name="Rounded Rectangle 30"/>
          <p:cNvSpPr/>
          <p:nvPr/>
        </p:nvSpPr>
        <p:spPr>
          <a:xfrm>
            <a:off x="13761720" y="5120640"/>
            <a:ext cx="9144000" cy="5623560"/>
          </a:xfrm>
          <a:prstGeom prst="roundRect">
            <a:avLst>
              <a:gd name="adj" fmla="val 5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TextBox 31"/>
          <p:cNvSpPr txBox="1"/>
          <p:nvPr/>
        </p:nvSpPr>
        <p:spPr>
          <a:xfrm>
            <a:off x="14401800" y="5669279"/>
            <a:ext cx="7863840" cy="731520"/>
          </a:xfrm>
          <a:prstGeom prst="rect">
            <a:avLst/>
          </a:prstGeom>
          <a:noFill/>
        </p:spPr>
        <p:txBody>
          <a:bodyPr wrap="square" lIns="0" tIns="0" rIns="0" bIns="0" anchor="t">
            <a:spAutoFit/>
          </a:bodyPr>
          <a:lstStyle/>
          <a:p>
            <a:pPr algn="l"/>
            <a:r>
              <a:rPr sz="2700" b="1">
                <a:solidFill>
                  <a:srgbClr val="15263F"/>
                </a:solidFill>
              </a:rPr>
              <a:t>Okul yıllarını bu soruların peşinde geçirdi</a:t>
            </a:r>
          </a:p>
        </p:txBody>
      </p:sp>
      <p:sp>
        <p:nvSpPr>
          <p:cNvPr id="33" name="TextBox 32"/>
          <p:cNvSpPr txBox="1"/>
          <p:nvPr/>
        </p:nvSpPr>
        <p:spPr>
          <a:xfrm>
            <a:off x="14401800" y="6720840"/>
            <a:ext cx="7863840" cy="3429000"/>
          </a:xfrm>
          <a:prstGeom prst="rect">
            <a:avLst/>
          </a:prstGeom>
          <a:noFill/>
        </p:spPr>
        <p:txBody>
          <a:bodyPr wrap="square" lIns="0" tIns="0" rIns="0" bIns="0" anchor="t">
            <a:spAutoFit/>
          </a:bodyPr>
          <a:lstStyle/>
          <a:p>
            <a:pPr algn="l">
              <a:lnSpc>
                <a:spcPct val="130000"/>
              </a:lnSpc>
              <a:spcAft>
                <a:spcPts val="1200"/>
              </a:spcAft>
            </a:pPr>
            <a:r>
              <a:rPr sz="2300" b="0">
                <a:solidFill>
                  <a:srgbClr val="1A1A1A"/>
                </a:solidFill>
              </a:rPr>
              <a:t>•  Zekâ nedir?</a:t>
            </a:r>
          </a:p>
          <a:p>
            <a:pPr algn="l">
              <a:lnSpc>
                <a:spcPct val="130000"/>
              </a:lnSpc>
              <a:spcAft>
                <a:spcPts val="1200"/>
              </a:spcAft>
            </a:pPr>
            <a:r>
              <a:rPr sz="2300" b="0">
                <a:solidFill>
                  <a:srgbClr val="1A1A1A"/>
                </a:solidFill>
              </a:rPr>
              <a:t>•  Zekâ nasıl çalışır?</a:t>
            </a:r>
          </a:p>
          <a:p>
            <a:pPr algn="l">
              <a:lnSpc>
                <a:spcPct val="130000"/>
              </a:lnSpc>
              <a:spcAft>
                <a:spcPts val="1200"/>
              </a:spcAft>
            </a:pPr>
            <a:r>
              <a:rPr sz="2300" b="0">
                <a:solidFill>
                  <a:srgbClr val="1A1A1A"/>
                </a:solidFill>
              </a:rPr>
              <a:t>•  Beyin örüntüleri nasıl okur?</a:t>
            </a:r>
          </a:p>
          <a:p>
            <a:pPr algn="l">
              <a:lnSpc>
                <a:spcPct val="130000"/>
              </a:lnSpc>
              <a:spcAft>
                <a:spcPts val="1200"/>
              </a:spcAft>
            </a:pPr>
            <a:r>
              <a:rPr sz="2300" b="0">
                <a:solidFill>
                  <a:srgbClr val="1A1A1A"/>
                </a:solidFill>
              </a:rPr>
              <a:t>•  Hafıza dediğimiz şey nasıl çalışır?</a:t>
            </a:r>
          </a:p>
          <a:p>
            <a:pPr algn="l">
              <a:lnSpc>
                <a:spcPct val="130000"/>
              </a:lnSpc>
              <a:spcAft>
                <a:spcPts val="1200"/>
              </a:spcAft>
            </a:pPr>
            <a:r>
              <a:rPr sz="2300" b="0">
                <a:solidFill>
                  <a:srgbClr val="1A1A1A"/>
                </a:solidFill>
              </a:rPr>
              <a:t>•  Nöronlar nasıl iletişim kurar?</a:t>
            </a:r>
          </a:p>
        </p:txBody>
      </p:sp>
      <p:sp>
        <p:nvSpPr>
          <p:cNvPr id="34" name="Rectangle 3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TextBox 3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rPr>
              <a:t>Herkes 90'ların internet çılgınlığıyla meşgulken </a:t>
            </a:r>
            <a:r>
              <a:rPr sz="2400" b="1">
                <a:solidFill>
                  <a:srgbClr val="15263F"/>
                </a:solidFill>
              </a:rPr>
              <a:t>onun aklında düşünen makineler vardı.</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rPr>
              <a:t>Çöpten geleceğe: sinir ağları</a:t>
            </a:r>
          </a:p>
        </p:txBody>
      </p:sp>
      <p:cxnSp>
        <p:nvCxnSpPr>
          <p:cNvPr id="3" name="Connector 2"/>
          <p:cNvCxnSpPr/>
          <p:nvPr/>
        </p:nvCxnSpPr>
        <p:spPr>
          <a:xfrm>
            <a:off x="1280160" y="2148840"/>
            <a:ext cx="21826728" cy="0"/>
          </a:xfrm>
          <a:prstGeom prst="line">
            <a:avLst/>
          </a:prstGeom>
          <a:ln w="25400">
            <a:solidFill>
              <a:srgbClr val="D5D5D5"/>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1920240"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1005840" y="2423160"/>
            <a:ext cx="2011680" cy="411480"/>
          </a:xfrm>
          <a:prstGeom prst="rect">
            <a:avLst/>
          </a:prstGeom>
          <a:noFill/>
        </p:spPr>
        <p:txBody>
          <a:bodyPr wrap="square" lIns="0" tIns="0" rIns="0" bIns="0" anchor="t">
            <a:spAutoFit/>
          </a:bodyPr>
          <a:lstStyle/>
          <a:p>
            <a:pPr algn="ctr"/>
            <a:r>
              <a:rPr sz="1500" b="0">
                <a:solidFill>
                  <a:srgbClr val="9A9A9A"/>
                </a:solidFill>
              </a:rPr>
              <a:t>1950</a:t>
            </a:r>
          </a:p>
        </p:txBody>
      </p:sp>
      <p:sp>
        <p:nvSpPr>
          <p:cNvPr id="6" name="Oval 5"/>
          <p:cNvSpPr/>
          <p:nvPr/>
        </p:nvSpPr>
        <p:spPr>
          <a:xfrm>
            <a:off x="3771484"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2857084" y="2423160"/>
            <a:ext cx="2011680" cy="411480"/>
          </a:xfrm>
          <a:prstGeom prst="rect">
            <a:avLst/>
          </a:prstGeom>
          <a:noFill/>
        </p:spPr>
        <p:txBody>
          <a:bodyPr wrap="square" lIns="0" tIns="0" rIns="0" bIns="0" anchor="t">
            <a:spAutoFit/>
          </a:bodyPr>
          <a:lstStyle/>
          <a:p>
            <a:pPr algn="ctr"/>
            <a:r>
              <a:rPr sz="1500" b="0">
                <a:solidFill>
                  <a:srgbClr val="9A9A9A"/>
                </a:solidFill>
              </a:rPr>
              <a:t>1956</a:t>
            </a:r>
          </a:p>
        </p:txBody>
      </p:sp>
      <p:sp>
        <p:nvSpPr>
          <p:cNvPr id="8" name="Oval 7"/>
          <p:cNvSpPr/>
          <p:nvPr/>
        </p:nvSpPr>
        <p:spPr>
          <a:xfrm>
            <a:off x="5622728"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708328" y="2423160"/>
            <a:ext cx="2011680" cy="411480"/>
          </a:xfrm>
          <a:prstGeom prst="rect">
            <a:avLst/>
          </a:prstGeom>
          <a:noFill/>
        </p:spPr>
        <p:txBody>
          <a:bodyPr wrap="square" lIns="0" tIns="0" rIns="0" bIns="0" anchor="t">
            <a:spAutoFit/>
          </a:bodyPr>
          <a:lstStyle/>
          <a:p>
            <a:pPr algn="ctr"/>
            <a:r>
              <a:rPr sz="1500" b="0">
                <a:solidFill>
                  <a:srgbClr val="9A9A9A"/>
                </a:solidFill>
              </a:rPr>
              <a:t>1986</a:t>
            </a:r>
          </a:p>
        </p:txBody>
      </p:sp>
      <p:sp>
        <p:nvSpPr>
          <p:cNvPr id="10" name="Oval 9"/>
          <p:cNvSpPr/>
          <p:nvPr/>
        </p:nvSpPr>
        <p:spPr>
          <a:xfrm>
            <a:off x="7473973"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559573" y="2423160"/>
            <a:ext cx="2011680" cy="411480"/>
          </a:xfrm>
          <a:prstGeom prst="rect">
            <a:avLst/>
          </a:prstGeom>
          <a:noFill/>
        </p:spPr>
        <p:txBody>
          <a:bodyPr wrap="square" lIns="0" tIns="0" rIns="0" bIns="0" anchor="t">
            <a:spAutoFit/>
          </a:bodyPr>
          <a:lstStyle/>
          <a:p>
            <a:pPr algn="ctr"/>
            <a:r>
              <a:rPr sz="1500" b="0">
                <a:solidFill>
                  <a:srgbClr val="9A9A9A"/>
                </a:solidFill>
              </a:rPr>
              <a:t>1991</a:t>
            </a:r>
          </a:p>
        </p:txBody>
      </p:sp>
      <p:sp>
        <p:nvSpPr>
          <p:cNvPr id="12" name="Oval 11"/>
          <p:cNvSpPr/>
          <p:nvPr/>
        </p:nvSpPr>
        <p:spPr>
          <a:xfrm>
            <a:off x="9261209" y="1993392"/>
            <a:ext cx="310896" cy="310896"/>
          </a:xfrm>
          <a:prstGeom prst="ellipse">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10817" y="2423160"/>
            <a:ext cx="2011680" cy="411480"/>
          </a:xfrm>
          <a:prstGeom prst="rect">
            <a:avLst/>
          </a:prstGeom>
          <a:noFill/>
        </p:spPr>
        <p:txBody>
          <a:bodyPr wrap="square" lIns="0" tIns="0" rIns="0" bIns="0" anchor="t">
            <a:spAutoFit/>
          </a:bodyPr>
          <a:lstStyle/>
          <a:p>
            <a:pPr algn="ctr"/>
            <a:r>
              <a:rPr sz="1500" b="1">
                <a:solidFill>
                  <a:srgbClr val="C08A2E"/>
                </a:solidFill>
              </a:rPr>
              <a:t>2000'ler</a:t>
            </a:r>
          </a:p>
        </p:txBody>
      </p:sp>
      <p:sp>
        <p:nvSpPr>
          <p:cNvPr id="14" name="Oval 13"/>
          <p:cNvSpPr/>
          <p:nvPr/>
        </p:nvSpPr>
        <p:spPr>
          <a:xfrm>
            <a:off x="11176461"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10262061" y="2423160"/>
            <a:ext cx="2011680" cy="411480"/>
          </a:xfrm>
          <a:prstGeom prst="rect">
            <a:avLst/>
          </a:prstGeom>
          <a:noFill/>
        </p:spPr>
        <p:txBody>
          <a:bodyPr wrap="square" lIns="0" tIns="0" rIns="0" bIns="0" anchor="t">
            <a:spAutoFit/>
          </a:bodyPr>
          <a:lstStyle/>
          <a:p>
            <a:pPr algn="ctr"/>
            <a:r>
              <a:rPr sz="1500" b="0">
                <a:solidFill>
                  <a:srgbClr val="9A9A9A"/>
                </a:solidFill>
              </a:rPr>
              <a:t>2007</a:t>
            </a:r>
          </a:p>
        </p:txBody>
      </p:sp>
      <p:sp>
        <p:nvSpPr>
          <p:cNvPr id="16" name="Oval 15"/>
          <p:cNvSpPr/>
          <p:nvPr/>
        </p:nvSpPr>
        <p:spPr>
          <a:xfrm>
            <a:off x="13027706"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12113306" y="2423160"/>
            <a:ext cx="2011680" cy="411480"/>
          </a:xfrm>
          <a:prstGeom prst="rect">
            <a:avLst/>
          </a:prstGeom>
          <a:noFill/>
        </p:spPr>
        <p:txBody>
          <a:bodyPr wrap="square" lIns="0" tIns="0" rIns="0" bIns="0" anchor="t">
            <a:spAutoFit/>
          </a:bodyPr>
          <a:lstStyle/>
          <a:p>
            <a:pPr algn="ctr"/>
            <a:r>
              <a:rPr sz="1500" b="0">
                <a:solidFill>
                  <a:srgbClr val="9A9A9A"/>
                </a:solidFill>
              </a:rPr>
              <a:t>2009</a:t>
            </a:r>
          </a:p>
        </p:txBody>
      </p:sp>
      <p:sp>
        <p:nvSpPr>
          <p:cNvPr id="18" name="Oval 17"/>
          <p:cNvSpPr/>
          <p:nvPr/>
        </p:nvSpPr>
        <p:spPr>
          <a:xfrm>
            <a:off x="14878950"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13964550" y="2423160"/>
            <a:ext cx="2011680" cy="411480"/>
          </a:xfrm>
          <a:prstGeom prst="rect">
            <a:avLst/>
          </a:prstGeom>
          <a:noFill/>
        </p:spPr>
        <p:txBody>
          <a:bodyPr wrap="square" lIns="0" tIns="0" rIns="0" bIns="0" anchor="t">
            <a:spAutoFit/>
          </a:bodyPr>
          <a:lstStyle/>
          <a:p>
            <a:pPr algn="ctr"/>
            <a:r>
              <a:rPr sz="1500" b="0">
                <a:solidFill>
                  <a:srgbClr val="9A9A9A"/>
                </a:solidFill>
              </a:rPr>
              <a:t>2012</a:t>
            </a:r>
          </a:p>
        </p:txBody>
      </p:sp>
      <p:sp>
        <p:nvSpPr>
          <p:cNvPr id="20" name="Oval 19"/>
          <p:cNvSpPr/>
          <p:nvPr/>
        </p:nvSpPr>
        <p:spPr>
          <a:xfrm>
            <a:off x="16730194"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15815794" y="2423160"/>
            <a:ext cx="2011680" cy="411480"/>
          </a:xfrm>
          <a:prstGeom prst="rect">
            <a:avLst/>
          </a:prstGeom>
          <a:noFill/>
        </p:spPr>
        <p:txBody>
          <a:bodyPr wrap="square" lIns="0" tIns="0" rIns="0" bIns="0" anchor="t">
            <a:spAutoFit/>
          </a:bodyPr>
          <a:lstStyle/>
          <a:p>
            <a:pPr algn="ctr"/>
            <a:r>
              <a:rPr sz="1500" b="0">
                <a:solidFill>
                  <a:srgbClr val="9A9A9A"/>
                </a:solidFill>
              </a:rPr>
              <a:t>2015</a:t>
            </a:r>
          </a:p>
        </p:txBody>
      </p:sp>
      <p:sp>
        <p:nvSpPr>
          <p:cNvPr id="22" name="Oval 21"/>
          <p:cNvSpPr/>
          <p:nvPr/>
        </p:nvSpPr>
        <p:spPr>
          <a:xfrm>
            <a:off x="18581439"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17667039" y="2423160"/>
            <a:ext cx="2011680" cy="411480"/>
          </a:xfrm>
          <a:prstGeom prst="rect">
            <a:avLst/>
          </a:prstGeom>
          <a:noFill/>
        </p:spPr>
        <p:txBody>
          <a:bodyPr wrap="square" lIns="0" tIns="0" rIns="0" bIns="0" anchor="t">
            <a:spAutoFit/>
          </a:bodyPr>
          <a:lstStyle/>
          <a:p>
            <a:pPr algn="ctr"/>
            <a:r>
              <a:rPr sz="1500" b="0">
                <a:solidFill>
                  <a:srgbClr val="9A9A9A"/>
                </a:solidFill>
              </a:rPr>
              <a:t>2017</a:t>
            </a:r>
          </a:p>
        </p:txBody>
      </p:sp>
      <p:sp>
        <p:nvSpPr>
          <p:cNvPr id="24" name="Oval 23"/>
          <p:cNvSpPr/>
          <p:nvPr/>
        </p:nvSpPr>
        <p:spPr>
          <a:xfrm>
            <a:off x="20432683"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19518283" y="2423160"/>
            <a:ext cx="2011680" cy="411480"/>
          </a:xfrm>
          <a:prstGeom prst="rect">
            <a:avLst/>
          </a:prstGeom>
          <a:noFill/>
        </p:spPr>
        <p:txBody>
          <a:bodyPr wrap="square" lIns="0" tIns="0" rIns="0" bIns="0" anchor="t">
            <a:spAutoFit/>
          </a:bodyPr>
          <a:lstStyle/>
          <a:p>
            <a:pPr algn="ctr"/>
            <a:r>
              <a:rPr sz="1500" b="0">
                <a:solidFill>
                  <a:srgbClr val="9A9A9A"/>
                </a:solidFill>
              </a:rPr>
              <a:t>2022</a:t>
            </a:r>
          </a:p>
        </p:txBody>
      </p:sp>
      <p:sp>
        <p:nvSpPr>
          <p:cNvPr id="26" name="Oval 25"/>
          <p:cNvSpPr/>
          <p:nvPr/>
        </p:nvSpPr>
        <p:spPr>
          <a:xfrm>
            <a:off x="22283927"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21369527" y="2423160"/>
            <a:ext cx="2011680" cy="411480"/>
          </a:xfrm>
          <a:prstGeom prst="rect">
            <a:avLst/>
          </a:prstGeom>
          <a:noFill/>
        </p:spPr>
        <p:txBody>
          <a:bodyPr wrap="square" lIns="0" tIns="0" rIns="0" bIns="0" anchor="t">
            <a:spAutoFit/>
          </a:bodyPr>
          <a:lstStyle/>
          <a:p>
            <a:pPr algn="ctr"/>
            <a:r>
              <a:rPr sz="1500" b="0">
                <a:solidFill>
                  <a:srgbClr val="9A9A9A"/>
                </a:solidFill>
              </a:rPr>
              <a:t>2024</a:t>
            </a:r>
          </a:p>
        </p:txBody>
      </p:sp>
      <p:sp>
        <p:nvSpPr>
          <p:cNvPr id="28" name="TextBox 27"/>
          <p:cNvSpPr txBox="1"/>
          <p:nvPr/>
        </p:nvSpPr>
        <p:spPr>
          <a:xfrm>
            <a:off x="2066543" y="3063240"/>
            <a:ext cx="20244816" cy="1737360"/>
          </a:xfrm>
          <a:prstGeom prst="rect">
            <a:avLst/>
          </a:prstGeom>
          <a:noFill/>
        </p:spPr>
        <p:txBody>
          <a:bodyPr wrap="square" lIns="0" tIns="0" rIns="0" bIns="0" anchor="t">
            <a:spAutoFit/>
          </a:bodyPr>
          <a:lstStyle/>
          <a:p>
            <a:pPr algn="ctr">
              <a:lnSpc>
                <a:spcPct val="115000"/>
              </a:lnSpc>
            </a:pPr>
            <a:r>
              <a:rPr sz="3800" b="0">
                <a:solidFill>
                  <a:srgbClr val="1A1A1A"/>
                </a:solidFill>
              </a:rPr>
              <a:t>Ilya, Hinton'ın kapısını çaldı: </a:t>
            </a:r>
            <a:r>
              <a:rPr sz="3800" b="1">
                <a:solidFill>
                  <a:srgbClr val="1A1A1A"/>
                </a:solidFill>
              </a:rPr>
              <a:t>yaz tatilinde, ücretsiz çalışmak için.</a:t>
            </a:r>
            <a:r>
              <a:rPr sz="3800" b="0">
                <a:solidFill>
                  <a:srgbClr val="1A1A1A"/>
                </a:solidFill>
              </a:rPr>
              <a:t> Herkesin "ölü" dediği alanı seçmişti.</a:t>
            </a:r>
          </a:p>
        </p:txBody>
      </p:sp>
      <p:sp>
        <p:nvSpPr>
          <p:cNvPr id="29" name="Rounded Rectangle 28"/>
          <p:cNvSpPr/>
          <p:nvPr/>
        </p:nvSpPr>
        <p:spPr>
          <a:xfrm>
            <a:off x="1540764" y="5120640"/>
            <a:ext cx="10241280" cy="5212080"/>
          </a:xfrm>
          <a:prstGeom prst="roundRect">
            <a:avLst>
              <a:gd name="adj" fmla="val 5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p:cNvSpPr txBox="1"/>
          <p:nvPr/>
        </p:nvSpPr>
        <p:spPr>
          <a:xfrm>
            <a:off x="2180844" y="5669279"/>
            <a:ext cx="8961119" cy="731520"/>
          </a:xfrm>
          <a:prstGeom prst="rect">
            <a:avLst/>
          </a:prstGeom>
          <a:noFill/>
        </p:spPr>
        <p:txBody>
          <a:bodyPr wrap="square" lIns="0" tIns="0" rIns="0" bIns="0" anchor="t">
            <a:spAutoFit/>
          </a:bodyPr>
          <a:lstStyle/>
          <a:p>
            <a:pPr algn="l"/>
            <a:r>
              <a:rPr sz="2700" b="1">
                <a:solidFill>
                  <a:srgbClr val="8A3B2F"/>
                </a:solidFill>
              </a:rPr>
              <a:t>Klasik yöntem: kuralı sen yaz</a:t>
            </a:r>
          </a:p>
        </p:txBody>
      </p:sp>
      <p:sp>
        <p:nvSpPr>
          <p:cNvPr id="31" name="TextBox 30"/>
          <p:cNvSpPr txBox="1"/>
          <p:nvPr/>
        </p:nvSpPr>
        <p:spPr>
          <a:xfrm>
            <a:off x="2180844" y="6720840"/>
            <a:ext cx="8961119" cy="3017520"/>
          </a:xfrm>
          <a:prstGeom prst="rect">
            <a:avLst/>
          </a:prstGeom>
          <a:noFill/>
        </p:spPr>
        <p:txBody>
          <a:bodyPr wrap="square" lIns="0" tIns="0" rIns="0" bIns="0" anchor="t">
            <a:spAutoFit/>
          </a:bodyPr>
          <a:lstStyle/>
          <a:p>
            <a:pPr algn="l">
              <a:lnSpc>
                <a:spcPct val="130000"/>
              </a:lnSpc>
              <a:spcAft>
                <a:spcPts val="1200"/>
              </a:spcAft>
            </a:pPr>
            <a:r>
              <a:rPr sz="2200" b="0">
                <a:solidFill>
                  <a:srgbClr val="1A1A1A"/>
                </a:solidFill>
              </a:rPr>
              <a:t>•  "Bıyığı vardır, kulakları vardır, tüylüdür."</a:t>
            </a:r>
          </a:p>
          <a:p>
            <a:pPr algn="l">
              <a:lnSpc>
                <a:spcPct val="130000"/>
              </a:lnSpc>
              <a:spcAft>
                <a:spcPts val="1200"/>
              </a:spcAft>
            </a:pPr>
            <a:r>
              <a:rPr sz="2200" b="0">
                <a:solidFill>
                  <a:srgbClr val="1A1A1A"/>
                </a:solidFill>
              </a:rPr>
              <a:t>•  Ya kedi arkasını dönmüşse?</a:t>
            </a:r>
          </a:p>
          <a:p>
            <a:pPr algn="l">
              <a:lnSpc>
                <a:spcPct val="130000"/>
              </a:lnSpc>
              <a:spcAft>
                <a:spcPts val="1200"/>
              </a:spcAft>
            </a:pPr>
            <a:r>
              <a:rPr sz="2200" b="0">
                <a:solidFill>
                  <a:srgbClr val="1A1A1A"/>
                </a:solidFill>
              </a:rPr>
              <a:t>•  Ya fotoğrafta yarısı görünmüyorsa?</a:t>
            </a:r>
          </a:p>
          <a:p>
            <a:pPr algn="l">
              <a:lnSpc>
                <a:spcPct val="130000"/>
              </a:lnSpc>
              <a:spcAft>
                <a:spcPts val="1200"/>
              </a:spcAft>
            </a:pPr>
            <a:r>
              <a:rPr sz="2200" b="0">
                <a:solidFill>
                  <a:srgbClr val="1A1A1A"/>
                </a:solidFill>
              </a:rPr>
              <a:t>•  Ya ışık iyi değilse?</a:t>
            </a:r>
          </a:p>
          <a:p>
            <a:pPr algn="l">
              <a:lnSpc>
                <a:spcPct val="130000"/>
              </a:lnSpc>
              <a:spcAft>
                <a:spcPts val="1200"/>
              </a:spcAft>
            </a:pPr>
            <a:r>
              <a:rPr sz="2200" b="0">
                <a:solidFill>
                  <a:srgbClr val="1A1A1A"/>
                </a:solidFill>
              </a:rPr>
              <a:t>•  Tek bir kedi için on binlerce kural.</a:t>
            </a:r>
          </a:p>
        </p:txBody>
      </p:sp>
      <p:sp>
        <p:nvSpPr>
          <p:cNvPr id="32" name="Rounded Rectangle 31"/>
          <p:cNvSpPr/>
          <p:nvPr/>
        </p:nvSpPr>
        <p:spPr>
          <a:xfrm>
            <a:off x="12605004" y="5120640"/>
            <a:ext cx="10241280" cy="5212080"/>
          </a:xfrm>
          <a:prstGeom prst="roundRect">
            <a:avLst>
              <a:gd name="adj" fmla="val 5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TextBox 32"/>
          <p:cNvSpPr txBox="1"/>
          <p:nvPr/>
        </p:nvSpPr>
        <p:spPr>
          <a:xfrm>
            <a:off x="13245084" y="5669279"/>
            <a:ext cx="8961119" cy="731520"/>
          </a:xfrm>
          <a:prstGeom prst="rect">
            <a:avLst/>
          </a:prstGeom>
          <a:noFill/>
        </p:spPr>
        <p:txBody>
          <a:bodyPr wrap="square" lIns="0" tIns="0" rIns="0" bIns="0" anchor="t">
            <a:spAutoFit/>
          </a:bodyPr>
          <a:lstStyle/>
          <a:p>
            <a:pPr algn="l"/>
            <a:r>
              <a:rPr sz="2700" b="1">
                <a:solidFill>
                  <a:srgbClr val="15263F"/>
                </a:solidFill>
              </a:rPr>
              <a:t>Hinton'ın fikri: örüntüyü o bulsun</a:t>
            </a:r>
          </a:p>
        </p:txBody>
      </p:sp>
      <p:sp>
        <p:nvSpPr>
          <p:cNvPr id="34" name="TextBox 33"/>
          <p:cNvSpPr txBox="1"/>
          <p:nvPr/>
        </p:nvSpPr>
        <p:spPr>
          <a:xfrm>
            <a:off x="13245084" y="6720840"/>
            <a:ext cx="8961119" cy="3017520"/>
          </a:xfrm>
          <a:prstGeom prst="rect">
            <a:avLst/>
          </a:prstGeom>
          <a:noFill/>
        </p:spPr>
        <p:txBody>
          <a:bodyPr wrap="square" lIns="0" tIns="0" rIns="0" bIns="0" anchor="t">
            <a:spAutoFit/>
          </a:bodyPr>
          <a:lstStyle/>
          <a:p>
            <a:pPr algn="l">
              <a:lnSpc>
                <a:spcPct val="130000"/>
              </a:lnSpc>
              <a:spcAft>
                <a:spcPts val="1200"/>
              </a:spcAft>
            </a:pPr>
            <a:r>
              <a:rPr sz="2200" b="0">
                <a:solidFill>
                  <a:srgbClr val="1A1A1A"/>
                </a:solidFill>
              </a:rPr>
              <a:t>•  Milyonlarca kedi fotoğrafı göster.</a:t>
            </a:r>
          </a:p>
          <a:p>
            <a:pPr algn="l">
              <a:lnSpc>
                <a:spcPct val="130000"/>
              </a:lnSpc>
              <a:spcAft>
                <a:spcPts val="1200"/>
              </a:spcAft>
            </a:pPr>
            <a:r>
              <a:rPr sz="2200" b="0">
                <a:solidFill>
                  <a:srgbClr val="1A1A1A"/>
                </a:solidFill>
              </a:rPr>
              <a:t>•  Hiç kural koyma.</a:t>
            </a:r>
          </a:p>
          <a:p>
            <a:pPr algn="l">
              <a:lnSpc>
                <a:spcPct val="130000"/>
              </a:lnSpc>
              <a:spcAft>
                <a:spcPts val="1200"/>
              </a:spcAft>
            </a:pPr>
            <a:r>
              <a:rPr sz="2200" b="0">
                <a:solidFill>
                  <a:srgbClr val="1A1A1A"/>
                </a:solidFill>
              </a:rPr>
              <a:t>•  Ağırlıkları veriden kendisi ayarlasın.</a:t>
            </a:r>
          </a:p>
          <a:p>
            <a:pPr algn="l">
              <a:lnSpc>
                <a:spcPct val="130000"/>
              </a:lnSpc>
              <a:spcAft>
                <a:spcPts val="1200"/>
              </a:spcAft>
            </a:pPr>
            <a:r>
              <a:rPr sz="2200" b="0">
                <a:solidFill>
                  <a:srgbClr val="1A1A1A"/>
                </a:solidFill>
              </a:rPr>
              <a:t>•  Gereken tek şey: çok veri ve çok hesap.</a:t>
            </a:r>
          </a:p>
          <a:p>
            <a:pPr algn="l">
              <a:lnSpc>
                <a:spcPct val="130000"/>
              </a:lnSpc>
              <a:spcAft>
                <a:spcPts val="1200"/>
              </a:spcAft>
            </a:pPr>
            <a:r>
              <a:rPr sz="2200" b="0">
                <a:solidFill>
                  <a:srgbClr val="1A1A1A"/>
                </a:solidFill>
              </a:rPr>
              <a:t>•  O dönem ikisi de yoktu.</a:t>
            </a:r>
          </a:p>
        </p:txBody>
      </p:sp>
      <p:sp>
        <p:nvSpPr>
          <p:cNvPr id="35" name="Rectangle 34"/>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TextBox 35"/>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rPr>
              <a:t>Amaç bilgisayara balık vermek değildi — </a:t>
            </a:r>
            <a:r>
              <a:rPr sz="2400" b="1">
                <a:solidFill>
                  <a:srgbClr val="15263F"/>
                </a:solidFill>
              </a:rPr>
              <a:t>balık tutmayı öğretmekti.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rPr>
              <a:t>Eksik parça: veri</a:t>
            </a:r>
          </a:p>
        </p:txBody>
      </p:sp>
      <p:cxnSp>
        <p:nvCxnSpPr>
          <p:cNvPr id="3" name="Connector 2"/>
          <p:cNvCxnSpPr/>
          <p:nvPr/>
        </p:nvCxnSpPr>
        <p:spPr>
          <a:xfrm>
            <a:off x="1280160" y="2148840"/>
            <a:ext cx="21826728" cy="0"/>
          </a:xfrm>
          <a:prstGeom prst="line">
            <a:avLst/>
          </a:prstGeom>
          <a:ln w="25400">
            <a:solidFill>
              <a:srgbClr val="D5D5D5"/>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1920240"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1005840" y="2423160"/>
            <a:ext cx="2011680" cy="411480"/>
          </a:xfrm>
          <a:prstGeom prst="rect">
            <a:avLst/>
          </a:prstGeom>
          <a:noFill/>
        </p:spPr>
        <p:txBody>
          <a:bodyPr wrap="square" lIns="0" tIns="0" rIns="0" bIns="0" anchor="t">
            <a:spAutoFit/>
          </a:bodyPr>
          <a:lstStyle/>
          <a:p>
            <a:pPr algn="ctr"/>
            <a:r>
              <a:rPr sz="1500" b="0">
                <a:solidFill>
                  <a:srgbClr val="9A9A9A"/>
                </a:solidFill>
              </a:rPr>
              <a:t>1950</a:t>
            </a:r>
          </a:p>
        </p:txBody>
      </p:sp>
      <p:sp>
        <p:nvSpPr>
          <p:cNvPr id="6" name="Oval 5"/>
          <p:cNvSpPr/>
          <p:nvPr/>
        </p:nvSpPr>
        <p:spPr>
          <a:xfrm>
            <a:off x="3771484"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2857084" y="2423160"/>
            <a:ext cx="2011680" cy="411480"/>
          </a:xfrm>
          <a:prstGeom prst="rect">
            <a:avLst/>
          </a:prstGeom>
          <a:noFill/>
        </p:spPr>
        <p:txBody>
          <a:bodyPr wrap="square" lIns="0" tIns="0" rIns="0" bIns="0" anchor="t">
            <a:spAutoFit/>
          </a:bodyPr>
          <a:lstStyle/>
          <a:p>
            <a:pPr algn="ctr"/>
            <a:r>
              <a:rPr sz="1500" b="0">
                <a:solidFill>
                  <a:srgbClr val="9A9A9A"/>
                </a:solidFill>
              </a:rPr>
              <a:t>1956</a:t>
            </a:r>
          </a:p>
        </p:txBody>
      </p:sp>
      <p:sp>
        <p:nvSpPr>
          <p:cNvPr id="8" name="Oval 7"/>
          <p:cNvSpPr/>
          <p:nvPr/>
        </p:nvSpPr>
        <p:spPr>
          <a:xfrm>
            <a:off x="5622728"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708328" y="2423160"/>
            <a:ext cx="2011680" cy="411480"/>
          </a:xfrm>
          <a:prstGeom prst="rect">
            <a:avLst/>
          </a:prstGeom>
          <a:noFill/>
        </p:spPr>
        <p:txBody>
          <a:bodyPr wrap="square" lIns="0" tIns="0" rIns="0" bIns="0" anchor="t">
            <a:spAutoFit/>
          </a:bodyPr>
          <a:lstStyle/>
          <a:p>
            <a:pPr algn="ctr"/>
            <a:r>
              <a:rPr sz="1500" b="0">
                <a:solidFill>
                  <a:srgbClr val="9A9A9A"/>
                </a:solidFill>
              </a:rPr>
              <a:t>1986</a:t>
            </a:r>
          </a:p>
        </p:txBody>
      </p:sp>
      <p:sp>
        <p:nvSpPr>
          <p:cNvPr id="10" name="Oval 9"/>
          <p:cNvSpPr/>
          <p:nvPr/>
        </p:nvSpPr>
        <p:spPr>
          <a:xfrm>
            <a:off x="7473973"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559573" y="2423160"/>
            <a:ext cx="2011680" cy="411480"/>
          </a:xfrm>
          <a:prstGeom prst="rect">
            <a:avLst/>
          </a:prstGeom>
          <a:noFill/>
        </p:spPr>
        <p:txBody>
          <a:bodyPr wrap="square" lIns="0" tIns="0" rIns="0" bIns="0" anchor="t">
            <a:spAutoFit/>
          </a:bodyPr>
          <a:lstStyle/>
          <a:p>
            <a:pPr algn="ctr"/>
            <a:r>
              <a:rPr sz="1500" b="0">
                <a:solidFill>
                  <a:srgbClr val="9A9A9A"/>
                </a:solidFill>
              </a:rPr>
              <a:t>1991</a:t>
            </a:r>
          </a:p>
        </p:txBody>
      </p:sp>
      <p:sp>
        <p:nvSpPr>
          <p:cNvPr id="12" name="Oval 11"/>
          <p:cNvSpPr/>
          <p:nvPr/>
        </p:nvSpPr>
        <p:spPr>
          <a:xfrm>
            <a:off x="9325217"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10817" y="2423160"/>
            <a:ext cx="2011680" cy="411480"/>
          </a:xfrm>
          <a:prstGeom prst="rect">
            <a:avLst/>
          </a:prstGeom>
          <a:noFill/>
        </p:spPr>
        <p:txBody>
          <a:bodyPr wrap="square" lIns="0" tIns="0" rIns="0" bIns="0" anchor="t">
            <a:spAutoFit/>
          </a:bodyPr>
          <a:lstStyle/>
          <a:p>
            <a:pPr algn="ctr"/>
            <a:r>
              <a:rPr sz="1500" b="0">
                <a:solidFill>
                  <a:srgbClr val="9A9A9A"/>
                </a:solidFill>
              </a:rPr>
              <a:t>2000'ler</a:t>
            </a:r>
          </a:p>
        </p:txBody>
      </p:sp>
      <p:sp>
        <p:nvSpPr>
          <p:cNvPr id="14" name="Oval 13"/>
          <p:cNvSpPr/>
          <p:nvPr/>
        </p:nvSpPr>
        <p:spPr>
          <a:xfrm>
            <a:off x="11176461"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10262061" y="2423160"/>
            <a:ext cx="2011680" cy="411480"/>
          </a:xfrm>
          <a:prstGeom prst="rect">
            <a:avLst/>
          </a:prstGeom>
          <a:noFill/>
        </p:spPr>
        <p:txBody>
          <a:bodyPr wrap="square" lIns="0" tIns="0" rIns="0" bIns="0" anchor="t">
            <a:spAutoFit/>
          </a:bodyPr>
          <a:lstStyle/>
          <a:p>
            <a:pPr algn="ctr"/>
            <a:r>
              <a:rPr sz="1500" b="0">
                <a:solidFill>
                  <a:srgbClr val="9A9A9A"/>
                </a:solidFill>
              </a:rPr>
              <a:t>2007</a:t>
            </a:r>
          </a:p>
        </p:txBody>
      </p:sp>
      <p:sp>
        <p:nvSpPr>
          <p:cNvPr id="16" name="Oval 15"/>
          <p:cNvSpPr/>
          <p:nvPr/>
        </p:nvSpPr>
        <p:spPr>
          <a:xfrm>
            <a:off x="12963698" y="1993392"/>
            <a:ext cx="310896" cy="310896"/>
          </a:xfrm>
          <a:prstGeom prst="ellipse">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12113306" y="2423160"/>
            <a:ext cx="2011680" cy="411480"/>
          </a:xfrm>
          <a:prstGeom prst="rect">
            <a:avLst/>
          </a:prstGeom>
          <a:noFill/>
        </p:spPr>
        <p:txBody>
          <a:bodyPr wrap="square" lIns="0" tIns="0" rIns="0" bIns="0" anchor="t">
            <a:spAutoFit/>
          </a:bodyPr>
          <a:lstStyle/>
          <a:p>
            <a:pPr algn="ctr"/>
            <a:r>
              <a:rPr sz="1500" b="1">
                <a:solidFill>
                  <a:srgbClr val="C08A2E"/>
                </a:solidFill>
              </a:rPr>
              <a:t>2009</a:t>
            </a:r>
          </a:p>
        </p:txBody>
      </p:sp>
      <p:sp>
        <p:nvSpPr>
          <p:cNvPr id="18" name="Oval 17"/>
          <p:cNvSpPr/>
          <p:nvPr/>
        </p:nvSpPr>
        <p:spPr>
          <a:xfrm>
            <a:off x="14878950"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13964550" y="2423160"/>
            <a:ext cx="2011680" cy="411480"/>
          </a:xfrm>
          <a:prstGeom prst="rect">
            <a:avLst/>
          </a:prstGeom>
          <a:noFill/>
        </p:spPr>
        <p:txBody>
          <a:bodyPr wrap="square" lIns="0" tIns="0" rIns="0" bIns="0" anchor="t">
            <a:spAutoFit/>
          </a:bodyPr>
          <a:lstStyle/>
          <a:p>
            <a:pPr algn="ctr"/>
            <a:r>
              <a:rPr sz="1500" b="0">
                <a:solidFill>
                  <a:srgbClr val="9A9A9A"/>
                </a:solidFill>
              </a:rPr>
              <a:t>2012</a:t>
            </a:r>
          </a:p>
        </p:txBody>
      </p:sp>
      <p:sp>
        <p:nvSpPr>
          <p:cNvPr id="20" name="Oval 19"/>
          <p:cNvSpPr/>
          <p:nvPr/>
        </p:nvSpPr>
        <p:spPr>
          <a:xfrm>
            <a:off x="16730194"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15815794" y="2423160"/>
            <a:ext cx="2011680" cy="411480"/>
          </a:xfrm>
          <a:prstGeom prst="rect">
            <a:avLst/>
          </a:prstGeom>
          <a:noFill/>
        </p:spPr>
        <p:txBody>
          <a:bodyPr wrap="square" lIns="0" tIns="0" rIns="0" bIns="0" anchor="t">
            <a:spAutoFit/>
          </a:bodyPr>
          <a:lstStyle/>
          <a:p>
            <a:pPr algn="ctr"/>
            <a:r>
              <a:rPr sz="1500" b="0">
                <a:solidFill>
                  <a:srgbClr val="9A9A9A"/>
                </a:solidFill>
              </a:rPr>
              <a:t>2015</a:t>
            </a:r>
          </a:p>
        </p:txBody>
      </p:sp>
      <p:sp>
        <p:nvSpPr>
          <p:cNvPr id="22" name="Oval 21"/>
          <p:cNvSpPr/>
          <p:nvPr/>
        </p:nvSpPr>
        <p:spPr>
          <a:xfrm>
            <a:off x="18581439"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17667039" y="2423160"/>
            <a:ext cx="2011680" cy="411480"/>
          </a:xfrm>
          <a:prstGeom prst="rect">
            <a:avLst/>
          </a:prstGeom>
          <a:noFill/>
        </p:spPr>
        <p:txBody>
          <a:bodyPr wrap="square" lIns="0" tIns="0" rIns="0" bIns="0" anchor="t">
            <a:spAutoFit/>
          </a:bodyPr>
          <a:lstStyle/>
          <a:p>
            <a:pPr algn="ctr"/>
            <a:r>
              <a:rPr sz="1500" b="0">
                <a:solidFill>
                  <a:srgbClr val="9A9A9A"/>
                </a:solidFill>
              </a:rPr>
              <a:t>2017</a:t>
            </a:r>
          </a:p>
        </p:txBody>
      </p:sp>
      <p:sp>
        <p:nvSpPr>
          <p:cNvPr id="24" name="Oval 23"/>
          <p:cNvSpPr/>
          <p:nvPr/>
        </p:nvSpPr>
        <p:spPr>
          <a:xfrm>
            <a:off x="20432683"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19518283" y="2423160"/>
            <a:ext cx="2011680" cy="411480"/>
          </a:xfrm>
          <a:prstGeom prst="rect">
            <a:avLst/>
          </a:prstGeom>
          <a:noFill/>
        </p:spPr>
        <p:txBody>
          <a:bodyPr wrap="square" lIns="0" tIns="0" rIns="0" bIns="0" anchor="t">
            <a:spAutoFit/>
          </a:bodyPr>
          <a:lstStyle/>
          <a:p>
            <a:pPr algn="ctr"/>
            <a:r>
              <a:rPr sz="1500" b="0">
                <a:solidFill>
                  <a:srgbClr val="9A9A9A"/>
                </a:solidFill>
              </a:rPr>
              <a:t>2022</a:t>
            </a:r>
          </a:p>
        </p:txBody>
      </p:sp>
      <p:sp>
        <p:nvSpPr>
          <p:cNvPr id="26" name="Oval 25"/>
          <p:cNvSpPr/>
          <p:nvPr/>
        </p:nvSpPr>
        <p:spPr>
          <a:xfrm>
            <a:off x="22283927"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21369527" y="2423160"/>
            <a:ext cx="2011680" cy="411480"/>
          </a:xfrm>
          <a:prstGeom prst="rect">
            <a:avLst/>
          </a:prstGeom>
          <a:noFill/>
        </p:spPr>
        <p:txBody>
          <a:bodyPr wrap="square" lIns="0" tIns="0" rIns="0" bIns="0" anchor="t">
            <a:spAutoFit/>
          </a:bodyPr>
          <a:lstStyle/>
          <a:p>
            <a:pPr algn="ctr"/>
            <a:r>
              <a:rPr sz="1500" b="0">
                <a:solidFill>
                  <a:srgbClr val="9A9A9A"/>
                </a:solidFill>
              </a:rPr>
              <a:t>2024</a:t>
            </a:r>
          </a:p>
        </p:txBody>
      </p:sp>
      <p:sp>
        <p:nvSpPr>
          <p:cNvPr id="28" name="TextBox 27"/>
          <p:cNvSpPr txBox="1"/>
          <p:nvPr/>
        </p:nvSpPr>
        <p:spPr>
          <a:xfrm>
            <a:off x="2066543" y="3063240"/>
            <a:ext cx="20244816" cy="1737360"/>
          </a:xfrm>
          <a:prstGeom prst="rect">
            <a:avLst/>
          </a:prstGeom>
          <a:noFill/>
        </p:spPr>
        <p:txBody>
          <a:bodyPr wrap="square" lIns="0" tIns="0" rIns="0" bIns="0" anchor="t">
            <a:spAutoFit/>
          </a:bodyPr>
          <a:lstStyle/>
          <a:p>
            <a:pPr algn="ctr">
              <a:lnSpc>
                <a:spcPct val="115000"/>
              </a:lnSpc>
            </a:pPr>
            <a:r>
              <a:rPr sz="3800" b="0">
                <a:solidFill>
                  <a:srgbClr val="1A1A1A"/>
                </a:solidFill>
              </a:rPr>
              <a:t>Web 2.0 kullanıcıyı üretici yaptı; </a:t>
            </a:r>
            <a:r>
              <a:rPr sz="3800" b="1">
                <a:solidFill>
                  <a:srgbClr val="1A1A1A"/>
                </a:solidFill>
              </a:rPr>
              <a:t>ImageNet bu yığını etiketleyip tek çatı altında topladı.</a:t>
            </a:r>
          </a:p>
        </p:txBody>
      </p:sp>
      <p:pic>
        <p:nvPicPr>
          <p:cNvPr id="29" name="Picture 28" descr="imagenet.png"/>
          <p:cNvPicPr>
            <a:picLocks noChangeAspect="1"/>
          </p:cNvPicPr>
          <p:nvPr/>
        </p:nvPicPr>
        <p:blipFill>
          <a:blip r:embed="rId3"/>
          <a:stretch>
            <a:fillRect/>
          </a:stretch>
        </p:blipFill>
        <p:spPr>
          <a:xfrm>
            <a:off x="3801850" y="5074920"/>
            <a:ext cx="8025913" cy="5120640"/>
          </a:xfrm>
          <a:prstGeom prst="rect">
            <a:avLst/>
          </a:prstGeom>
          <a:ln w="12700">
            <a:solidFill>
              <a:srgbClr val="DDDDDD"/>
            </a:solidFill>
          </a:ln>
        </p:spPr>
      </p:pic>
      <p:sp>
        <p:nvSpPr>
          <p:cNvPr id="30" name="TextBox 29"/>
          <p:cNvSpPr txBox="1"/>
          <p:nvPr/>
        </p:nvSpPr>
        <p:spPr>
          <a:xfrm>
            <a:off x="3801850" y="10360151"/>
            <a:ext cx="8025913" cy="502920"/>
          </a:xfrm>
          <a:prstGeom prst="rect">
            <a:avLst/>
          </a:prstGeom>
          <a:noFill/>
        </p:spPr>
        <p:txBody>
          <a:bodyPr wrap="square" lIns="0" tIns="0" rIns="0" bIns="0" anchor="t">
            <a:spAutoFit/>
          </a:bodyPr>
          <a:lstStyle/>
          <a:p>
            <a:pPr algn="ctr"/>
            <a:r>
              <a:rPr sz="1700" b="0">
                <a:solidFill>
                  <a:srgbClr val="6E6E6E"/>
                </a:solidFill>
              </a:rPr>
              <a:t>ImageNet (2009) — Fei-Fei Li ve ekibi, Princeton</a:t>
            </a:r>
          </a:p>
        </p:txBody>
      </p:sp>
      <p:pic>
        <p:nvPicPr>
          <p:cNvPr id="31" name="Picture 30" descr="imagenet_data.png"/>
          <p:cNvPicPr>
            <a:picLocks noChangeAspect="1"/>
          </p:cNvPicPr>
          <p:nvPr/>
        </p:nvPicPr>
        <p:blipFill>
          <a:blip r:embed="rId4"/>
          <a:stretch>
            <a:fillRect/>
          </a:stretch>
        </p:blipFill>
        <p:spPr>
          <a:xfrm>
            <a:off x="12559284" y="5074920"/>
            <a:ext cx="8025913" cy="5120640"/>
          </a:xfrm>
          <a:prstGeom prst="rect">
            <a:avLst/>
          </a:prstGeom>
          <a:ln w="12700">
            <a:solidFill>
              <a:srgbClr val="DDDDDD"/>
            </a:solidFill>
          </a:ln>
        </p:spPr>
      </p:pic>
      <p:sp>
        <p:nvSpPr>
          <p:cNvPr id="32" name="TextBox 31"/>
          <p:cNvSpPr txBox="1"/>
          <p:nvPr/>
        </p:nvSpPr>
        <p:spPr>
          <a:xfrm>
            <a:off x="12559284" y="10360151"/>
            <a:ext cx="8025913" cy="502920"/>
          </a:xfrm>
          <a:prstGeom prst="rect">
            <a:avLst/>
          </a:prstGeom>
          <a:noFill/>
        </p:spPr>
        <p:txBody>
          <a:bodyPr wrap="square" lIns="0" tIns="0" rIns="0" bIns="0" anchor="t">
            <a:spAutoFit/>
          </a:bodyPr>
          <a:lstStyle/>
          <a:p>
            <a:pPr algn="ctr"/>
            <a:r>
              <a:rPr sz="1700" b="0">
                <a:solidFill>
                  <a:srgbClr val="6E6E6E"/>
                </a:solidFill>
              </a:rPr>
              <a:t>Milyonlarca etiketli görsel, hiyerarşik sınıflarla</a:t>
            </a:r>
          </a:p>
        </p:txBody>
      </p:sp>
      <p:sp>
        <p:nvSpPr>
          <p:cNvPr id="33" name="Rectangle 32"/>
          <p:cNvSpPr/>
          <p:nvPr/>
        </p:nvSpPr>
        <p:spPr>
          <a:xfrm>
            <a:off x="1280160" y="1147572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2011680" y="1147572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rPr>
              <a:t>Sosyal medya, forumlar, Wikipedia... </a:t>
            </a:r>
            <a:r>
              <a:rPr sz="2400" b="1">
                <a:solidFill>
                  <a:srgbClr val="15263F"/>
                </a:solidFill>
              </a:rPr>
              <a:t>Rüya gibiydi ve formül hazırdı: veri + hesaplama gücü + sinir ağı.</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rPr>
              <a:t>AlexNet devrimi</a:t>
            </a:r>
          </a:p>
        </p:txBody>
      </p:sp>
      <p:cxnSp>
        <p:nvCxnSpPr>
          <p:cNvPr id="3" name="Connector 2"/>
          <p:cNvCxnSpPr/>
          <p:nvPr/>
        </p:nvCxnSpPr>
        <p:spPr>
          <a:xfrm>
            <a:off x="1280160" y="2148840"/>
            <a:ext cx="21826728" cy="0"/>
          </a:xfrm>
          <a:prstGeom prst="line">
            <a:avLst/>
          </a:prstGeom>
          <a:ln w="25400">
            <a:solidFill>
              <a:srgbClr val="D5D5D5"/>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1920240"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1005840" y="2423160"/>
            <a:ext cx="2011680" cy="411480"/>
          </a:xfrm>
          <a:prstGeom prst="rect">
            <a:avLst/>
          </a:prstGeom>
          <a:noFill/>
        </p:spPr>
        <p:txBody>
          <a:bodyPr wrap="square" lIns="0" tIns="0" rIns="0" bIns="0" anchor="t">
            <a:spAutoFit/>
          </a:bodyPr>
          <a:lstStyle/>
          <a:p>
            <a:pPr algn="ctr"/>
            <a:r>
              <a:rPr sz="1500" b="0">
                <a:solidFill>
                  <a:srgbClr val="9A9A9A"/>
                </a:solidFill>
              </a:rPr>
              <a:t>1950</a:t>
            </a:r>
          </a:p>
        </p:txBody>
      </p:sp>
      <p:sp>
        <p:nvSpPr>
          <p:cNvPr id="6" name="Oval 5"/>
          <p:cNvSpPr/>
          <p:nvPr/>
        </p:nvSpPr>
        <p:spPr>
          <a:xfrm>
            <a:off x="3771484"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2857084" y="2423160"/>
            <a:ext cx="2011680" cy="411480"/>
          </a:xfrm>
          <a:prstGeom prst="rect">
            <a:avLst/>
          </a:prstGeom>
          <a:noFill/>
        </p:spPr>
        <p:txBody>
          <a:bodyPr wrap="square" lIns="0" tIns="0" rIns="0" bIns="0" anchor="t">
            <a:spAutoFit/>
          </a:bodyPr>
          <a:lstStyle/>
          <a:p>
            <a:pPr algn="ctr"/>
            <a:r>
              <a:rPr sz="1500" b="0">
                <a:solidFill>
                  <a:srgbClr val="9A9A9A"/>
                </a:solidFill>
              </a:rPr>
              <a:t>1956</a:t>
            </a:r>
          </a:p>
        </p:txBody>
      </p:sp>
      <p:sp>
        <p:nvSpPr>
          <p:cNvPr id="8" name="Oval 7"/>
          <p:cNvSpPr/>
          <p:nvPr/>
        </p:nvSpPr>
        <p:spPr>
          <a:xfrm>
            <a:off x="5622728"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708328" y="2423160"/>
            <a:ext cx="2011680" cy="411480"/>
          </a:xfrm>
          <a:prstGeom prst="rect">
            <a:avLst/>
          </a:prstGeom>
          <a:noFill/>
        </p:spPr>
        <p:txBody>
          <a:bodyPr wrap="square" lIns="0" tIns="0" rIns="0" bIns="0" anchor="t">
            <a:spAutoFit/>
          </a:bodyPr>
          <a:lstStyle/>
          <a:p>
            <a:pPr algn="ctr"/>
            <a:r>
              <a:rPr sz="1500" b="0">
                <a:solidFill>
                  <a:srgbClr val="9A9A9A"/>
                </a:solidFill>
              </a:rPr>
              <a:t>1986</a:t>
            </a:r>
          </a:p>
        </p:txBody>
      </p:sp>
      <p:sp>
        <p:nvSpPr>
          <p:cNvPr id="10" name="Oval 9"/>
          <p:cNvSpPr/>
          <p:nvPr/>
        </p:nvSpPr>
        <p:spPr>
          <a:xfrm>
            <a:off x="7473973"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559573" y="2423160"/>
            <a:ext cx="2011680" cy="411480"/>
          </a:xfrm>
          <a:prstGeom prst="rect">
            <a:avLst/>
          </a:prstGeom>
          <a:noFill/>
        </p:spPr>
        <p:txBody>
          <a:bodyPr wrap="square" lIns="0" tIns="0" rIns="0" bIns="0" anchor="t">
            <a:spAutoFit/>
          </a:bodyPr>
          <a:lstStyle/>
          <a:p>
            <a:pPr algn="ctr"/>
            <a:r>
              <a:rPr sz="1500" b="0">
                <a:solidFill>
                  <a:srgbClr val="9A9A9A"/>
                </a:solidFill>
              </a:rPr>
              <a:t>1991</a:t>
            </a:r>
          </a:p>
        </p:txBody>
      </p:sp>
      <p:sp>
        <p:nvSpPr>
          <p:cNvPr id="12" name="Oval 11"/>
          <p:cNvSpPr/>
          <p:nvPr/>
        </p:nvSpPr>
        <p:spPr>
          <a:xfrm>
            <a:off x="9325217"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10817" y="2423160"/>
            <a:ext cx="2011680" cy="411480"/>
          </a:xfrm>
          <a:prstGeom prst="rect">
            <a:avLst/>
          </a:prstGeom>
          <a:noFill/>
        </p:spPr>
        <p:txBody>
          <a:bodyPr wrap="square" lIns="0" tIns="0" rIns="0" bIns="0" anchor="t">
            <a:spAutoFit/>
          </a:bodyPr>
          <a:lstStyle/>
          <a:p>
            <a:pPr algn="ctr"/>
            <a:r>
              <a:rPr sz="1500" b="0">
                <a:solidFill>
                  <a:srgbClr val="9A9A9A"/>
                </a:solidFill>
              </a:rPr>
              <a:t>2000'ler</a:t>
            </a:r>
          </a:p>
        </p:txBody>
      </p:sp>
      <p:sp>
        <p:nvSpPr>
          <p:cNvPr id="14" name="Oval 13"/>
          <p:cNvSpPr/>
          <p:nvPr/>
        </p:nvSpPr>
        <p:spPr>
          <a:xfrm>
            <a:off x="11176461"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10262061" y="2423160"/>
            <a:ext cx="2011680" cy="411480"/>
          </a:xfrm>
          <a:prstGeom prst="rect">
            <a:avLst/>
          </a:prstGeom>
          <a:noFill/>
        </p:spPr>
        <p:txBody>
          <a:bodyPr wrap="square" lIns="0" tIns="0" rIns="0" bIns="0" anchor="t">
            <a:spAutoFit/>
          </a:bodyPr>
          <a:lstStyle/>
          <a:p>
            <a:pPr algn="ctr"/>
            <a:r>
              <a:rPr sz="1500" b="0">
                <a:solidFill>
                  <a:srgbClr val="9A9A9A"/>
                </a:solidFill>
              </a:rPr>
              <a:t>2007</a:t>
            </a:r>
          </a:p>
        </p:txBody>
      </p:sp>
      <p:sp>
        <p:nvSpPr>
          <p:cNvPr id="16" name="Oval 15"/>
          <p:cNvSpPr/>
          <p:nvPr/>
        </p:nvSpPr>
        <p:spPr>
          <a:xfrm>
            <a:off x="13027706"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12113306" y="2423160"/>
            <a:ext cx="2011680" cy="411480"/>
          </a:xfrm>
          <a:prstGeom prst="rect">
            <a:avLst/>
          </a:prstGeom>
          <a:noFill/>
        </p:spPr>
        <p:txBody>
          <a:bodyPr wrap="square" lIns="0" tIns="0" rIns="0" bIns="0" anchor="t">
            <a:spAutoFit/>
          </a:bodyPr>
          <a:lstStyle/>
          <a:p>
            <a:pPr algn="ctr"/>
            <a:r>
              <a:rPr sz="1500" b="0">
                <a:solidFill>
                  <a:srgbClr val="9A9A9A"/>
                </a:solidFill>
              </a:rPr>
              <a:t>2009</a:t>
            </a:r>
          </a:p>
        </p:txBody>
      </p:sp>
      <p:sp>
        <p:nvSpPr>
          <p:cNvPr id="18" name="Oval 17"/>
          <p:cNvSpPr/>
          <p:nvPr/>
        </p:nvSpPr>
        <p:spPr>
          <a:xfrm>
            <a:off x="14814942" y="1993392"/>
            <a:ext cx="310896" cy="310896"/>
          </a:xfrm>
          <a:prstGeom prst="ellipse">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13964550" y="2423160"/>
            <a:ext cx="2011680" cy="411480"/>
          </a:xfrm>
          <a:prstGeom prst="rect">
            <a:avLst/>
          </a:prstGeom>
          <a:noFill/>
        </p:spPr>
        <p:txBody>
          <a:bodyPr wrap="square" lIns="0" tIns="0" rIns="0" bIns="0" anchor="t">
            <a:spAutoFit/>
          </a:bodyPr>
          <a:lstStyle/>
          <a:p>
            <a:pPr algn="ctr"/>
            <a:r>
              <a:rPr sz="1500" b="1">
                <a:solidFill>
                  <a:srgbClr val="C08A2E"/>
                </a:solidFill>
              </a:rPr>
              <a:t>2012</a:t>
            </a:r>
          </a:p>
        </p:txBody>
      </p:sp>
      <p:sp>
        <p:nvSpPr>
          <p:cNvPr id="20" name="Oval 19"/>
          <p:cNvSpPr/>
          <p:nvPr/>
        </p:nvSpPr>
        <p:spPr>
          <a:xfrm>
            <a:off x="16730194"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15815794" y="2423160"/>
            <a:ext cx="2011680" cy="411480"/>
          </a:xfrm>
          <a:prstGeom prst="rect">
            <a:avLst/>
          </a:prstGeom>
          <a:noFill/>
        </p:spPr>
        <p:txBody>
          <a:bodyPr wrap="square" lIns="0" tIns="0" rIns="0" bIns="0" anchor="t">
            <a:spAutoFit/>
          </a:bodyPr>
          <a:lstStyle/>
          <a:p>
            <a:pPr algn="ctr"/>
            <a:r>
              <a:rPr sz="1500" b="0">
                <a:solidFill>
                  <a:srgbClr val="9A9A9A"/>
                </a:solidFill>
              </a:rPr>
              <a:t>2015</a:t>
            </a:r>
          </a:p>
        </p:txBody>
      </p:sp>
      <p:sp>
        <p:nvSpPr>
          <p:cNvPr id="22" name="Oval 21"/>
          <p:cNvSpPr/>
          <p:nvPr/>
        </p:nvSpPr>
        <p:spPr>
          <a:xfrm>
            <a:off x="18581439"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17667039" y="2423160"/>
            <a:ext cx="2011680" cy="411480"/>
          </a:xfrm>
          <a:prstGeom prst="rect">
            <a:avLst/>
          </a:prstGeom>
          <a:noFill/>
        </p:spPr>
        <p:txBody>
          <a:bodyPr wrap="square" lIns="0" tIns="0" rIns="0" bIns="0" anchor="t">
            <a:spAutoFit/>
          </a:bodyPr>
          <a:lstStyle/>
          <a:p>
            <a:pPr algn="ctr"/>
            <a:r>
              <a:rPr sz="1500" b="0">
                <a:solidFill>
                  <a:srgbClr val="9A9A9A"/>
                </a:solidFill>
              </a:rPr>
              <a:t>2017</a:t>
            </a:r>
          </a:p>
        </p:txBody>
      </p:sp>
      <p:sp>
        <p:nvSpPr>
          <p:cNvPr id="24" name="Oval 23"/>
          <p:cNvSpPr/>
          <p:nvPr/>
        </p:nvSpPr>
        <p:spPr>
          <a:xfrm>
            <a:off x="20432683"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19518283" y="2423160"/>
            <a:ext cx="2011680" cy="411480"/>
          </a:xfrm>
          <a:prstGeom prst="rect">
            <a:avLst/>
          </a:prstGeom>
          <a:noFill/>
        </p:spPr>
        <p:txBody>
          <a:bodyPr wrap="square" lIns="0" tIns="0" rIns="0" bIns="0" anchor="t">
            <a:spAutoFit/>
          </a:bodyPr>
          <a:lstStyle/>
          <a:p>
            <a:pPr algn="ctr"/>
            <a:r>
              <a:rPr sz="1500" b="0">
                <a:solidFill>
                  <a:srgbClr val="9A9A9A"/>
                </a:solidFill>
              </a:rPr>
              <a:t>2022</a:t>
            </a:r>
          </a:p>
        </p:txBody>
      </p:sp>
      <p:sp>
        <p:nvSpPr>
          <p:cNvPr id="26" name="Oval 25"/>
          <p:cNvSpPr/>
          <p:nvPr/>
        </p:nvSpPr>
        <p:spPr>
          <a:xfrm>
            <a:off x="22283927"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21369527" y="2423160"/>
            <a:ext cx="2011680" cy="411480"/>
          </a:xfrm>
          <a:prstGeom prst="rect">
            <a:avLst/>
          </a:prstGeom>
          <a:noFill/>
        </p:spPr>
        <p:txBody>
          <a:bodyPr wrap="square" lIns="0" tIns="0" rIns="0" bIns="0" anchor="t">
            <a:spAutoFit/>
          </a:bodyPr>
          <a:lstStyle/>
          <a:p>
            <a:pPr algn="ctr"/>
            <a:r>
              <a:rPr sz="1500" b="0">
                <a:solidFill>
                  <a:srgbClr val="9A9A9A"/>
                </a:solidFill>
              </a:rPr>
              <a:t>2024</a:t>
            </a:r>
          </a:p>
        </p:txBody>
      </p:sp>
      <p:sp>
        <p:nvSpPr>
          <p:cNvPr id="28" name="TextBox 27"/>
          <p:cNvSpPr txBox="1"/>
          <p:nvPr/>
        </p:nvSpPr>
        <p:spPr>
          <a:xfrm>
            <a:off x="2066543" y="3063240"/>
            <a:ext cx="20244816" cy="1737360"/>
          </a:xfrm>
          <a:prstGeom prst="rect">
            <a:avLst/>
          </a:prstGeom>
          <a:noFill/>
        </p:spPr>
        <p:txBody>
          <a:bodyPr wrap="square" lIns="0" tIns="0" rIns="0" bIns="0" anchor="t">
            <a:spAutoFit/>
          </a:bodyPr>
          <a:lstStyle/>
          <a:p>
            <a:pPr algn="ctr">
              <a:lnSpc>
                <a:spcPct val="115000"/>
              </a:lnSpc>
            </a:pPr>
            <a:r>
              <a:rPr sz="3800" b="0">
                <a:solidFill>
                  <a:srgbClr val="1A1A1A"/>
                </a:solidFill>
              </a:rPr>
              <a:t>2012 ImageNet yarışmasında AlexNet, top-5 hatasını </a:t>
            </a:r>
            <a:r>
              <a:rPr sz="3800" b="1">
                <a:solidFill>
                  <a:srgbClr val="1A1A1A"/>
                </a:solidFill>
              </a:rPr>
              <a:t>%26'dan %15'e</a:t>
            </a:r>
            <a:r>
              <a:rPr sz="3800" b="0">
                <a:solidFill>
                  <a:srgbClr val="1A1A1A"/>
                </a:solidFill>
              </a:rPr>
              <a:t> düşürdü. Herkes önce hile olduğunu sandı.</a:t>
            </a:r>
          </a:p>
        </p:txBody>
      </p:sp>
      <p:pic>
        <p:nvPicPr>
          <p:cNvPr id="29" name="Picture 28" descr="ilyahintonalex.png"/>
          <p:cNvPicPr>
            <a:picLocks noChangeAspect="1"/>
          </p:cNvPicPr>
          <p:nvPr/>
        </p:nvPicPr>
        <p:blipFill>
          <a:blip r:embed="rId3"/>
          <a:stretch>
            <a:fillRect/>
          </a:stretch>
        </p:blipFill>
        <p:spPr>
          <a:xfrm>
            <a:off x="1554480" y="5074920"/>
            <a:ext cx="8025913" cy="5120640"/>
          </a:xfrm>
          <a:prstGeom prst="rect">
            <a:avLst/>
          </a:prstGeom>
          <a:ln w="12700">
            <a:solidFill>
              <a:srgbClr val="DDDDDD"/>
            </a:solidFill>
          </a:ln>
        </p:spPr>
      </p:pic>
      <p:sp>
        <p:nvSpPr>
          <p:cNvPr id="30" name="TextBox 29"/>
          <p:cNvSpPr txBox="1"/>
          <p:nvPr/>
        </p:nvSpPr>
        <p:spPr>
          <a:xfrm>
            <a:off x="1554480" y="10360151"/>
            <a:ext cx="8025913" cy="502920"/>
          </a:xfrm>
          <a:prstGeom prst="rect">
            <a:avLst/>
          </a:prstGeom>
          <a:noFill/>
        </p:spPr>
        <p:txBody>
          <a:bodyPr wrap="square" lIns="0" tIns="0" rIns="0" bIns="0" anchor="t">
            <a:spAutoFit/>
          </a:bodyPr>
          <a:lstStyle/>
          <a:p>
            <a:pPr algn="ctr"/>
            <a:r>
              <a:rPr sz="1700" b="0">
                <a:solidFill>
                  <a:srgbClr val="6E6E6E"/>
                </a:solidFill>
              </a:rPr>
              <a:t>Alex Krizhevsky, Geoffrey Hinton ve Ilya Sutskever — Toronto</a:t>
            </a:r>
          </a:p>
        </p:txBody>
      </p:sp>
      <p:sp>
        <p:nvSpPr>
          <p:cNvPr id="31" name="TextBox 30"/>
          <p:cNvSpPr txBox="1"/>
          <p:nvPr/>
        </p:nvSpPr>
        <p:spPr>
          <a:xfrm>
            <a:off x="11155680" y="4754880"/>
            <a:ext cx="11795760" cy="548640"/>
          </a:xfrm>
          <a:prstGeom prst="rect">
            <a:avLst/>
          </a:prstGeom>
          <a:noFill/>
        </p:spPr>
        <p:txBody>
          <a:bodyPr wrap="square" lIns="0" tIns="0" rIns="0" bIns="0" anchor="t">
            <a:spAutoFit/>
          </a:bodyPr>
          <a:lstStyle/>
          <a:p>
            <a:pPr algn="ctr"/>
            <a:r>
              <a:rPr sz="2200" b="1">
                <a:solidFill>
                  <a:srgbClr val="1A1A1A"/>
                </a:solidFill>
              </a:rPr>
              <a:t>ImageNet (ILSVRC) top-5 hata oranı, %</a:t>
            </a:r>
          </a:p>
        </p:txBody>
      </p:sp>
      <p:cxnSp>
        <p:nvCxnSpPr>
          <p:cNvPr id="32" name="Connector 31"/>
          <p:cNvCxnSpPr/>
          <p:nvPr/>
        </p:nvCxnSpPr>
        <p:spPr>
          <a:xfrm>
            <a:off x="11338560" y="10332720"/>
            <a:ext cx="11430000" cy="0"/>
          </a:xfrm>
          <a:prstGeom prst="line">
            <a:avLst/>
          </a:prstGeom>
          <a:ln w="25400">
            <a:solidFill>
              <a:srgbClr val="D5D5D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11704320" y="5820156"/>
            <a:ext cx="1325880" cy="4512564"/>
          </a:xfrm>
          <a:prstGeom prst="rect">
            <a:avLst/>
          </a:prstGeom>
          <a:solidFill>
            <a:srgbClr val="C7CDD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11384280" y="5253228"/>
            <a:ext cx="1965960" cy="502920"/>
          </a:xfrm>
          <a:prstGeom prst="rect">
            <a:avLst/>
          </a:prstGeom>
          <a:noFill/>
        </p:spPr>
        <p:txBody>
          <a:bodyPr wrap="square" lIns="0" tIns="0" rIns="0" bIns="0" anchor="t">
            <a:spAutoFit/>
          </a:bodyPr>
          <a:lstStyle/>
          <a:p>
            <a:pPr algn="ctr"/>
            <a:r>
              <a:rPr sz="2000" b="0">
                <a:solidFill>
                  <a:srgbClr val="6E6E6E"/>
                </a:solidFill>
              </a:rPr>
              <a:t>%28,2</a:t>
            </a:r>
          </a:p>
        </p:txBody>
      </p:sp>
      <p:sp>
        <p:nvSpPr>
          <p:cNvPr id="35" name="TextBox 34"/>
          <p:cNvSpPr txBox="1"/>
          <p:nvPr/>
        </p:nvSpPr>
        <p:spPr>
          <a:xfrm>
            <a:off x="11384280" y="10497312"/>
            <a:ext cx="1965960" cy="457200"/>
          </a:xfrm>
          <a:prstGeom prst="rect">
            <a:avLst/>
          </a:prstGeom>
          <a:noFill/>
        </p:spPr>
        <p:txBody>
          <a:bodyPr wrap="square" lIns="0" tIns="0" rIns="0" bIns="0" anchor="t">
            <a:spAutoFit/>
          </a:bodyPr>
          <a:lstStyle/>
          <a:p>
            <a:pPr algn="ctr"/>
            <a:r>
              <a:rPr sz="2000" b="0">
                <a:solidFill>
                  <a:srgbClr val="6E6E6E"/>
                </a:solidFill>
              </a:rPr>
              <a:t>2010</a:t>
            </a:r>
          </a:p>
        </p:txBody>
      </p:sp>
      <p:sp>
        <p:nvSpPr>
          <p:cNvPr id="36" name="Rectangle 35"/>
          <p:cNvSpPr/>
          <p:nvPr/>
        </p:nvSpPr>
        <p:spPr>
          <a:xfrm>
            <a:off x="13578840" y="6204204"/>
            <a:ext cx="1325880" cy="4128515"/>
          </a:xfrm>
          <a:prstGeom prst="rect">
            <a:avLst/>
          </a:prstGeom>
          <a:solidFill>
            <a:srgbClr val="C7CDD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13258800" y="5637276"/>
            <a:ext cx="1965960" cy="502920"/>
          </a:xfrm>
          <a:prstGeom prst="rect">
            <a:avLst/>
          </a:prstGeom>
          <a:noFill/>
        </p:spPr>
        <p:txBody>
          <a:bodyPr wrap="square" lIns="0" tIns="0" rIns="0" bIns="0" anchor="t">
            <a:spAutoFit/>
          </a:bodyPr>
          <a:lstStyle/>
          <a:p>
            <a:pPr algn="ctr"/>
            <a:r>
              <a:rPr sz="2000" b="0">
                <a:solidFill>
                  <a:srgbClr val="6E6E6E"/>
                </a:solidFill>
              </a:rPr>
              <a:t>%25,8</a:t>
            </a:r>
          </a:p>
        </p:txBody>
      </p:sp>
      <p:sp>
        <p:nvSpPr>
          <p:cNvPr id="38" name="TextBox 37"/>
          <p:cNvSpPr txBox="1"/>
          <p:nvPr/>
        </p:nvSpPr>
        <p:spPr>
          <a:xfrm>
            <a:off x="13258800" y="10497312"/>
            <a:ext cx="1965960" cy="457200"/>
          </a:xfrm>
          <a:prstGeom prst="rect">
            <a:avLst/>
          </a:prstGeom>
          <a:noFill/>
        </p:spPr>
        <p:txBody>
          <a:bodyPr wrap="square" lIns="0" tIns="0" rIns="0" bIns="0" anchor="t">
            <a:spAutoFit/>
          </a:bodyPr>
          <a:lstStyle/>
          <a:p>
            <a:pPr algn="ctr"/>
            <a:r>
              <a:rPr sz="2000" b="0">
                <a:solidFill>
                  <a:srgbClr val="6E6E6E"/>
                </a:solidFill>
              </a:rPr>
              <a:t>2011</a:t>
            </a:r>
          </a:p>
        </p:txBody>
      </p:sp>
      <p:sp>
        <p:nvSpPr>
          <p:cNvPr id="39" name="Rectangle 38"/>
          <p:cNvSpPr/>
          <p:nvPr/>
        </p:nvSpPr>
        <p:spPr>
          <a:xfrm>
            <a:off x="15453359" y="7884414"/>
            <a:ext cx="1325880" cy="2448306"/>
          </a:xfrm>
          <a:prstGeom prst="rect">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TextBox 39"/>
          <p:cNvSpPr txBox="1"/>
          <p:nvPr/>
        </p:nvSpPr>
        <p:spPr>
          <a:xfrm>
            <a:off x="15133319" y="7317486"/>
            <a:ext cx="1965960" cy="502920"/>
          </a:xfrm>
          <a:prstGeom prst="rect">
            <a:avLst/>
          </a:prstGeom>
          <a:noFill/>
        </p:spPr>
        <p:txBody>
          <a:bodyPr wrap="square" lIns="0" tIns="0" rIns="0" bIns="0" anchor="t">
            <a:spAutoFit/>
          </a:bodyPr>
          <a:lstStyle/>
          <a:p>
            <a:pPr algn="ctr"/>
            <a:r>
              <a:rPr sz="2000" b="1">
                <a:solidFill>
                  <a:srgbClr val="C08A2E"/>
                </a:solidFill>
              </a:rPr>
              <a:t>%15,3</a:t>
            </a:r>
          </a:p>
        </p:txBody>
      </p:sp>
      <p:sp>
        <p:nvSpPr>
          <p:cNvPr id="41" name="TextBox 40"/>
          <p:cNvSpPr txBox="1"/>
          <p:nvPr/>
        </p:nvSpPr>
        <p:spPr>
          <a:xfrm>
            <a:off x="15133319" y="10497312"/>
            <a:ext cx="1965960" cy="457200"/>
          </a:xfrm>
          <a:prstGeom prst="rect">
            <a:avLst/>
          </a:prstGeom>
          <a:noFill/>
        </p:spPr>
        <p:txBody>
          <a:bodyPr wrap="square" lIns="0" tIns="0" rIns="0" bIns="0" anchor="t">
            <a:spAutoFit/>
          </a:bodyPr>
          <a:lstStyle/>
          <a:p>
            <a:pPr algn="ctr"/>
            <a:r>
              <a:rPr sz="2000" b="1">
                <a:solidFill>
                  <a:srgbClr val="C08A2E"/>
                </a:solidFill>
              </a:rPr>
              <a:t>2012</a:t>
            </a:r>
          </a:p>
        </p:txBody>
      </p:sp>
      <p:sp>
        <p:nvSpPr>
          <p:cNvPr id="42" name="Rectangle 41"/>
          <p:cNvSpPr/>
          <p:nvPr/>
        </p:nvSpPr>
        <p:spPr>
          <a:xfrm>
            <a:off x="17327880" y="8460486"/>
            <a:ext cx="1325880" cy="1872234"/>
          </a:xfrm>
          <a:prstGeom prst="rect">
            <a:avLst/>
          </a:prstGeom>
          <a:solidFill>
            <a:srgbClr val="C7CDD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TextBox 42"/>
          <p:cNvSpPr txBox="1"/>
          <p:nvPr/>
        </p:nvSpPr>
        <p:spPr>
          <a:xfrm>
            <a:off x="17007839" y="7893558"/>
            <a:ext cx="1965960" cy="502920"/>
          </a:xfrm>
          <a:prstGeom prst="rect">
            <a:avLst/>
          </a:prstGeom>
          <a:noFill/>
        </p:spPr>
        <p:txBody>
          <a:bodyPr wrap="square" lIns="0" tIns="0" rIns="0" bIns="0" anchor="t">
            <a:spAutoFit/>
          </a:bodyPr>
          <a:lstStyle/>
          <a:p>
            <a:pPr algn="ctr"/>
            <a:r>
              <a:rPr sz="2000" b="0">
                <a:solidFill>
                  <a:srgbClr val="6E6E6E"/>
                </a:solidFill>
              </a:rPr>
              <a:t>%11,7</a:t>
            </a:r>
          </a:p>
        </p:txBody>
      </p:sp>
      <p:sp>
        <p:nvSpPr>
          <p:cNvPr id="44" name="TextBox 43"/>
          <p:cNvSpPr txBox="1"/>
          <p:nvPr/>
        </p:nvSpPr>
        <p:spPr>
          <a:xfrm>
            <a:off x="17007839" y="10497312"/>
            <a:ext cx="1965960" cy="457200"/>
          </a:xfrm>
          <a:prstGeom prst="rect">
            <a:avLst/>
          </a:prstGeom>
          <a:noFill/>
        </p:spPr>
        <p:txBody>
          <a:bodyPr wrap="square" lIns="0" tIns="0" rIns="0" bIns="0" anchor="t">
            <a:spAutoFit/>
          </a:bodyPr>
          <a:lstStyle/>
          <a:p>
            <a:pPr algn="ctr"/>
            <a:r>
              <a:rPr sz="2000" b="0">
                <a:solidFill>
                  <a:srgbClr val="6E6E6E"/>
                </a:solidFill>
              </a:rPr>
              <a:t>2013</a:t>
            </a:r>
          </a:p>
        </p:txBody>
      </p:sp>
      <p:sp>
        <p:nvSpPr>
          <p:cNvPr id="45" name="Rectangle 44"/>
          <p:cNvSpPr/>
          <p:nvPr/>
        </p:nvSpPr>
        <p:spPr>
          <a:xfrm>
            <a:off x="19202400" y="9260586"/>
            <a:ext cx="1325880" cy="1072134"/>
          </a:xfrm>
          <a:prstGeom prst="rect">
            <a:avLst/>
          </a:prstGeom>
          <a:solidFill>
            <a:srgbClr val="C7CDD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TextBox 45"/>
          <p:cNvSpPr txBox="1"/>
          <p:nvPr/>
        </p:nvSpPr>
        <p:spPr>
          <a:xfrm>
            <a:off x="18882360" y="8693658"/>
            <a:ext cx="1965960" cy="502920"/>
          </a:xfrm>
          <a:prstGeom prst="rect">
            <a:avLst/>
          </a:prstGeom>
          <a:noFill/>
        </p:spPr>
        <p:txBody>
          <a:bodyPr wrap="square" lIns="0" tIns="0" rIns="0" bIns="0" anchor="t">
            <a:spAutoFit/>
          </a:bodyPr>
          <a:lstStyle/>
          <a:p>
            <a:pPr algn="ctr"/>
            <a:r>
              <a:rPr sz="2000" b="0">
                <a:solidFill>
                  <a:srgbClr val="6E6E6E"/>
                </a:solidFill>
              </a:rPr>
              <a:t>%6,7</a:t>
            </a:r>
          </a:p>
        </p:txBody>
      </p:sp>
      <p:sp>
        <p:nvSpPr>
          <p:cNvPr id="47" name="TextBox 46"/>
          <p:cNvSpPr txBox="1"/>
          <p:nvPr/>
        </p:nvSpPr>
        <p:spPr>
          <a:xfrm>
            <a:off x="18882360" y="10497312"/>
            <a:ext cx="1965960" cy="457200"/>
          </a:xfrm>
          <a:prstGeom prst="rect">
            <a:avLst/>
          </a:prstGeom>
          <a:noFill/>
        </p:spPr>
        <p:txBody>
          <a:bodyPr wrap="square" lIns="0" tIns="0" rIns="0" bIns="0" anchor="t">
            <a:spAutoFit/>
          </a:bodyPr>
          <a:lstStyle/>
          <a:p>
            <a:pPr algn="ctr"/>
            <a:r>
              <a:rPr sz="2000" b="0">
                <a:solidFill>
                  <a:srgbClr val="6E6E6E"/>
                </a:solidFill>
              </a:rPr>
              <a:t>2014</a:t>
            </a:r>
          </a:p>
        </p:txBody>
      </p:sp>
      <p:sp>
        <p:nvSpPr>
          <p:cNvPr id="48" name="Rectangle 47"/>
          <p:cNvSpPr/>
          <p:nvPr/>
        </p:nvSpPr>
        <p:spPr>
          <a:xfrm>
            <a:off x="21076920" y="9756648"/>
            <a:ext cx="1325880" cy="576072"/>
          </a:xfrm>
          <a:prstGeom prst="rect">
            <a:avLst/>
          </a:prstGeom>
          <a:solidFill>
            <a:srgbClr val="C7CDD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TextBox 48"/>
          <p:cNvSpPr txBox="1"/>
          <p:nvPr/>
        </p:nvSpPr>
        <p:spPr>
          <a:xfrm>
            <a:off x="20756880" y="9189720"/>
            <a:ext cx="1965960" cy="502920"/>
          </a:xfrm>
          <a:prstGeom prst="rect">
            <a:avLst/>
          </a:prstGeom>
          <a:noFill/>
        </p:spPr>
        <p:txBody>
          <a:bodyPr wrap="square" lIns="0" tIns="0" rIns="0" bIns="0" anchor="t">
            <a:spAutoFit/>
          </a:bodyPr>
          <a:lstStyle/>
          <a:p>
            <a:pPr algn="ctr"/>
            <a:r>
              <a:rPr sz="2000" b="0">
                <a:solidFill>
                  <a:srgbClr val="6E6E6E"/>
                </a:solidFill>
              </a:rPr>
              <a:t>%3,6</a:t>
            </a:r>
          </a:p>
        </p:txBody>
      </p:sp>
      <p:sp>
        <p:nvSpPr>
          <p:cNvPr id="50" name="TextBox 49"/>
          <p:cNvSpPr txBox="1"/>
          <p:nvPr/>
        </p:nvSpPr>
        <p:spPr>
          <a:xfrm>
            <a:off x="20756880" y="10497312"/>
            <a:ext cx="1965960" cy="457200"/>
          </a:xfrm>
          <a:prstGeom prst="rect">
            <a:avLst/>
          </a:prstGeom>
          <a:noFill/>
        </p:spPr>
        <p:txBody>
          <a:bodyPr wrap="square" lIns="0" tIns="0" rIns="0" bIns="0" anchor="t">
            <a:spAutoFit/>
          </a:bodyPr>
          <a:lstStyle/>
          <a:p>
            <a:pPr algn="ctr"/>
            <a:r>
              <a:rPr sz="2000" b="0">
                <a:solidFill>
                  <a:srgbClr val="6E6E6E"/>
                </a:solidFill>
              </a:rPr>
              <a:t>2015</a:t>
            </a:r>
          </a:p>
        </p:txBody>
      </p:sp>
      <p:sp>
        <p:nvSpPr>
          <p:cNvPr id="51" name="TextBox 50"/>
          <p:cNvSpPr txBox="1"/>
          <p:nvPr/>
        </p:nvSpPr>
        <p:spPr>
          <a:xfrm>
            <a:off x="14447519" y="11064240"/>
            <a:ext cx="3337560" cy="457200"/>
          </a:xfrm>
          <a:prstGeom prst="rect">
            <a:avLst/>
          </a:prstGeom>
          <a:noFill/>
        </p:spPr>
        <p:txBody>
          <a:bodyPr wrap="square" lIns="0" tIns="0" rIns="0" bIns="0" anchor="t">
            <a:spAutoFit/>
          </a:bodyPr>
          <a:lstStyle/>
          <a:p>
            <a:pPr algn="ctr"/>
            <a:r>
              <a:rPr sz="2100" b="1">
                <a:solidFill>
                  <a:srgbClr val="C08A2E"/>
                </a:solidFill>
              </a:rPr>
              <a:t>AlexNet</a:t>
            </a:r>
          </a:p>
        </p:txBody>
      </p:sp>
      <p:sp>
        <p:nvSpPr>
          <p:cNvPr id="52" name="Rectangle 51"/>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3" name="TextBox 52"/>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rPr>
              <a:t>O güne kadar hata payı yılda birkaç puan düşüyordu. </a:t>
            </a:r>
            <a:r>
              <a:rPr sz="2400" b="1">
                <a:solidFill>
                  <a:srgbClr val="15263F"/>
                </a:solidFill>
              </a:rPr>
              <a:t>O gün, bir anlamda ChatGPT'nin de doğum günüydü.</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rPr>
              <a:t>Güç savaşları, OpenAI ve Transformer</a:t>
            </a:r>
          </a:p>
        </p:txBody>
      </p:sp>
      <p:cxnSp>
        <p:nvCxnSpPr>
          <p:cNvPr id="3" name="Connector 2"/>
          <p:cNvCxnSpPr/>
          <p:nvPr/>
        </p:nvCxnSpPr>
        <p:spPr>
          <a:xfrm>
            <a:off x="1280160" y="2148840"/>
            <a:ext cx="21826728" cy="0"/>
          </a:xfrm>
          <a:prstGeom prst="line">
            <a:avLst/>
          </a:prstGeom>
          <a:ln w="25400">
            <a:solidFill>
              <a:srgbClr val="D5D5D5"/>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1920240"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1005840" y="2423160"/>
            <a:ext cx="2011680" cy="411480"/>
          </a:xfrm>
          <a:prstGeom prst="rect">
            <a:avLst/>
          </a:prstGeom>
          <a:noFill/>
        </p:spPr>
        <p:txBody>
          <a:bodyPr wrap="square" lIns="0" tIns="0" rIns="0" bIns="0" anchor="t">
            <a:spAutoFit/>
          </a:bodyPr>
          <a:lstStyle/>
          <a:p>
            <a:pPr algn="ctr"/>
            <a:r>
              <a:rPr sz="1500" b="0">
                <a:solidFill>
                  <a:srgbClr val="9A9A9A"/>
                </a:solidFill>
              </a:rPr>
              <a:t>1950</a:t>
            </a:r>
          </a:p>
        </p:txBody>
      </p:sp>
      <p:sp>
        <p:nvSpPr>
          <p:cNvPr id="6" name="Oval 5"/>
          <p:cNvSpPr/>
          <p:nvPr/>
        </p:nvSpPr>
        <p:spPr>
          <a:xfrm>
            <a:off x="3771484"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2857084" y="2423160"/>
            <a:ext cx="2011680" cy="411480"/>
          </a:xfrm>
          <a:prstGeom prst="rect">
            <a:avLst/>
          </a:prstGeom>
          <a:noFill/>
        </p:spPr>
        <p:txBody>
          <a:bodyPr wrap="square" lIns="0" tIns="0" rIns="0" bIns="0" anchor="t">
            <a:spAutoFit/>
          </a:bodyPr>
          <a:lstStyle/>
          <a:p>
            <a:pPr algn="ctr"/>
            <a:r>
              <a:rPr sz="1500" b="0">
                <a:solidFill>
                  <a:srgbClr val="9A9A9A"/>
                </a:solidFill>
              </a:rPr>
              <a:t>1956</a:t>
            </a:r>
          </a:p>
        </p:txBody>
      </p:sp>
      <p:sp>
        <p:nvSpPr>
          <p:cNvPr id="8" name="Oval 7"/>
          <p:cNvSpPr/>
          <p:nvPr/>
        </p:nvSpPr>
        <p:spPr>
          <a:xfrm>
            <a:off x="5622728"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708328" y="2423160"/>
            <a:ext cx="2011680" cy="411480"/>
          </a:xfrm>
          <a:prstGeom prst="rect">
            <a:avLst/>
          </a:prstGeom>
          <a:noFill/>
        </p:spPr>
        <p:txBody>
          <a:bodyPr wrap="square" lIns="0" tIns="0" rIns="0" bIns="0" anchor="t">
            <a:spAutoFit/>
          </a:bodyPr>
          <a:lstStyle/>
          <a:p>
            <a:pPr algn="ctr"/>
            <a:r>
              <a:rPr sz="1500" b="0">
                <a:solidFill>
                  <a:srgbClr val="9A9A9A"/>
                </a:solidFill>
              </a:rPr>
              <a:t>1986</a:t>
            </a:r>
          </a:p>
        </p:txBody>
      </p:sp>
      <p:sp>
        <p:nvSpPr>
          <p:cNvPr id="10" name="Oval 9"/>
          <p:cNvSpPr/>
          <p:nvPr/>
        </p:nvSpPr>
        <p:spPr>
          <a:xfrm>
            <a:off x="7473973"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559573" y="2423160"/>
            <a:ext cx="2011680" cy="411480"/>
          </a:xfrm>
          <a:prstGeom prst="rect">
            <a:avLst/>
          </a:prstGeom>
          <a:noFill/>
        </p:spPr>
        <p:txBody>
          <a:bodyPr wrap="square" lIns="0" tIns="0" rIns="0" bIns="0" anchor="t">
            <a:spAutoFit/>
          </a:bodyPr>
          <a:lstStyle/>
          <a:p>
            <a:pPr algn="ctr"/>
            <a:r>
              <a:rPr sz="1500" b="0">
                <a:solidFill>
                  <a:srgbClr val="9A9A9A"/>
                </a:solidFill>
              </a:rPr>
              <a:t>1991</a:t>
            </a:r>
          </a:p>
        </p:txBody>
      </p:sp>
      <p:sp>
        <p:nvSpPr>
          <p:cNvPr id="12" name="Oval 11"/>
          <p:cNvSpPr/>
          <p:nvPr/>
        </p:nvSpPr>
        <p:spPr>
          <a:xfrm>
            <a:off x="9325217"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410817" y="2423160"/>
            <a:ext cx="2011680" cy="411480"/>
          </a:xfrm>
          <a:prstGeom prst="rect">
            <a:avLst/>
          </a:prstGeom>
          <a:noFill/>
        </p:spPr>
        <p:txBody>
          <a:bodyPr wrap="square" lIns="0" tIns="0" rIns="0" bIns="0" anchor="t">
            <a:spAutoFit/>
          </a:bodyPr>
          <a:lstStyle/>
          <a:p>
            <a:pPr algn="ctr"/>
            <a:r>
              <a:rPr sz="1500" b="0">
                <a:solidFill>
                  <a:srgbClr val="9A9A9A"/>
                </a:solidFill>
              </a:rPr>
              <a:t>2000'ler</a:t>
            </a:r>
          </a:p>
        </p:txBody>
      </p:sp>
      <p:sp>
        <p:nvSpPr>
          <p:cNvPr id="14" name="Oval 13"/>
          <p:cNvSpPr/>
          <p:nvPr/>
        </p:nvSpPr>
        <p:spPr>
          <a:xfrm>
            <a:off x="11176461"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10262061" y="2423160"/>
            <a:ext cx="2011680" cy="411480"/>
          </a:xfrm>
          <a:prstGeom prst="rect">
            <a:avLst/>
          </a:prstGeom>
          <a:noFill/>
        </p:spPr>
        <p:txBody>
          <a:bodyPr wrap="square" lIns="0" tIns="0" rIns="0" bIns="0" anchor="t">
            <a:spAutoFit/>
          </a:bodyPr>
          <a:lstStyle/>
          <a:p>
            <a:pPr algn="ctr"/>
            <a:r>
              <a:rPr sz="1500" b="0">
                <a:solidFill>
                  <a:srgbClr val="9A9A9A"/>
                </a:solidFill>
              </a:rPr>
              <a:t>2007</a:t>
            </a:r>
          </a:p>
        </p:txBody>
      </p:sp>
      <p:sp>
        <p:nvSpPr>
          <p:cNvPr id="16" name="Oval 15"/>
          <p:cNvSpPr/>
          <p:nvPr/>
        </p:nvSpPr>
        <p:spPr>
          <a:xfrm>
            <a:off x="13027706"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12113306" y="2423160"/>
            <a:ext cx="2011680" cy="411480"/>
          </a:xfrm>
          <a:prstGeom prst="rect">
            <a:avLst/>
          </a:prstGeom>
          <a:noFill/>
        </p:spPr>
        <p:txBody>
          <a:bodyPr wrap="square" lIns="0" tIns="0" rIns="0" bIns="0" anchor="t">
            <a:spAutoFit/>
          </a:bodyPr>
          <a:lstStyle/>
          <a:p>
            <a:pPr algn="ctr"/>
            <a:r>
              <a:rPr sz="1500" b="0">
                <a:solidFill>
                  <a:srgbClr val="9A9A9A"/>
                </a:solidFill>
              </a:rPr>
              <a:t>2009</a:t>
            </a:r>
          </a:p>
        </p:txBody>
      </p:sp>
      <p:sp>
        <p:nvSpPr>
          <p:cNvPr id="18" name="Oval 17"/>
          <p:cNvSpPr/>
          <p:nvPr/>
        </p:nvSpPr>
        <p:spPr>
          <a:xfrm>
            <a:off x="14878950"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13964550" y="2423160"/>
            <a:ext cx="2011680" cy="411480"/>
          </a:xfrm>
          <a:prstGeom prst="rect">
            <a:avLst/>
          </a:prstGeom>
          <a:noFill/>
        </p:spPr>
        <p:txBody>
          <a:bodyPr wrap="square" lIns="0" tIns="0" rIns="0" bIns="0" anchor="t">
            <a:spAutoFit/>
          </a:bodyPr>
          <a:lstStyle/>
          <a:p>
            <a:pPr algn="ctr"/>
            <a:r>
              <a:rPr sz="1500" b="0">
                <a:solidFill>
                  <a:srgbClr val="9A9A9A"/>
                </a:solidFill>
              </a:rPr>
              <a:t>2012</a:t>
            </a:r>
          </a:p>
        </p:txBody>
      </p:sp>
      <p:sp>
        <p:nvSpPr>
          <p:cNvPr id="20" name="Oval 19"/>
          <p:cNvSpPr/>
          <p:nvPr/>
        </p:nvSpPr>
        <p:spPr>
          <a:xfrm>
            <a:off x="16666186" y="1993392"/>
            <a:ext cx="310896" cy="310896"/>
          </a:xfrm>
          <a:prstGeom prst="ellipse">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15815794" y="2423160"/>
            <a:ext cx="2011680" cy="411480"/>
          </a:xfrm>
          <a:prstGeom prst="rect">
            <a:avLst/>
          </a:prstGeom>
          <a:noFill/>
        </p:spPr>
        <p:txBody>
          <a:bodyPr wrap="square" lIns="0" tIns="0" rIns="0" bIns="0" anchor="t">
            <a:spAutoFit/>
          </a:bodyPr>
          <a:lstStyle/>
          <a:p>
            <a:pPr algn="ctr"/>
            <a:r>
              <a:rPr sz="1500" b="1">
                <a:solidFill>
                  <a:srgbClr val="C08A2E"/>
                </a:solidFill>
              </a:rPr>
              <a:t>2015</a:t>
            </a:r>
          </a:p>
        </p:txBody>
      </p:sp>
      <p:sp>
        <p:nvSpPr>
          <p:cNvPr id="22" name="Oval 21"/>
          <p:cNvSpPr/>
          <p:nvPr/>
        </p:nvSpPr>
        <p:spPr>
          <a:xfrm>
            <a:off x="18517431" y="1993392"/>
            <a:ext cx="310896" cy="310896"/>
          </a:xfrm>
          <a:prstGeom prst="ellipse">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17667039" y="2423160"/>
            <a:ext cx="2011680" cy="411480"/>
          </a:xfrm>
          <a:prstGeom prst="rect">
            <a:avLst/>
          </a:prstGeom>
          <a:noFill/>
        </p:spPr>
        <p:txBody>
          <a:bodyPr wrap="square" lIns="0" tIns="0" rIns="0" bIns="0" anchor="t">
            <a:spAutoFit/>
          </a:bodyPr>
          <a:lstStyle/>
          <a:p>
            <a:pPr algn="ctr"/>
            <a:r>
              <a:rPr sz="1500" b="1">
                <a:solidFill>
                  <a:srgbClr val="C08A2E"/>
                </a:solidFill>
              </a:rPr>
              <a:t>2017</a:t>
            </a:r>
          </a:p>
        </p:txBody>
      </p:sp>
      <p:sp>
        <p:nvSpPr>
          <p:cNvPr id="24" name="Oval 23"/>
          <p:cNvSpPr/>
          <p:nvPr/>
        </p:nvSpPr>
        <p:spPr>
          <a:xfrm>
            <a:off x="20368675" y="1993392"/>
            <a:ext cx="310896" cy="310896"/>
          </a:xfrm>
          <a:prstGeom prst="ellipse">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19518283" y="2423160"/>
            <a:ext cx="2011680" cy="411480"/>
          </a:xfrm>
          <a:prstGeom prst="rect">
            <a:avLst/>
          </a:prstGeom>
          <a:noFill/>
        </p:spPr>
        <p:txBody>
          <a:bodyPr wrap="square" lIns="0" tIns="0" rIns="0" bIns="0" anchor="t">
            <a:spAutoFit/>
          </a:bodyPr>
          <a:lstStyle/>
          <a:p>
            <a:pPr algn="ctr"/>
            <a:r>
              <a:rPr sz="1500" b="1">
                <a:solidFill>
                  <a:srgbClr val="C08A2E"/>
                </a:solidFill>
              </a:rPr>
              <a:t>2022</a:t>
            </a:r>
          </a:p>
        </p:txBody>
      </p:sp>
      <p:sp>
        <p:nvSpPr>
          <p:cNvPr id="26" name="Oval 25"/>
          <p:cNvSpPr/>
          <p:nvPr/>
        </p:nvSpPr>
        <p:spPr>
          <a:xfrm>
            <a:off x="22283927" y="2057400"/>
            <a:ext cx="182880" cy="182880"/>
          </a:xfrm>
          <a:prstGeom prst="ellipse">
            <a:avLst/>
          </a:prstGeom>
          <a:solidFill>
            <a:srgbClr val="B8BE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21369527" y="2423160"/>
            <a:ext cx="2011680" cy="411480"/>
          </a:xfrm>
          <a:prstGeom prst="rect">
            <a:avLst/>
          </a:prstGeom>
          <a:noFill/>
        </p:spPr>
        <p:txBody>
          <a:bodyPr wrap="square" lIns="0" tIns="0" rIns="0" bIns="0" anchor="t">
            <a:spAutoFit/>
          </a:bodyPr>
          <a:lstStyle/>
          <a:p>
            <a:pPr algn="ctr"/>
            <a:r>
              <a:rPr sz="1500" b="0">
                <a:solidFill>
                  <a:srgbClr val="9A9A9A"/>
                </a:solidFill>
              </a:rPr>
              <a:t>2024</a:t>
            </a:r>
          </a:p>
        </p:txBody>
      </p:sp>
      <p:sp>
        <p:nvSpPr>
          <p:cNvPr id="28" name="TextBox 27"/>
          <p:cNvSpPr txBox="1"/>
          <p:nvPr/>
        </p:nvSpPr>
        <p:spPr>
          <a:xfrm>
            <a:off x="2066543" y="2743200"/>
            <a:ext cx="20244816" cy="1691640"/>
          </a:xfrm>
          <a:prstGeom prst="rect">
            <a:avLst/>
          </a:prstGeom>
          <a:noFill/>
        </p:spPr>
        <p:txBody>
          <a:bodyPr wrap="square" lIns="0" tIns="0" rIns="0" bIns="0" anchor="t">
            <a:spAutoFit/>
          </a:bodyPr>
          <a:lstStyle/>
          <a:p>
            <a:pPr algn="ctr">
              <a:lnSpc>
                <a:spcPct val="115000"/>
              </a:lnSpc>
            </a:pPr>
            <a:r>
              <a:rPr sz="3800" b="0">
                <a:solidFill>
                  <a:srgbClr val="1A1A1A"/>
                </a:solidFill>
              </a:rPr>
              <a:t>Soru artık "işe yarıyor mu" değildi: </a:t>
            </a:r>
            <a:r>
              <a:rPr sz="3800" b="1">
                <a:solidFill>
                  <a:srgbClr val="1A1A1A"/>
                </a:solidFill>
              </a:rPr>
              <a:t>bu teknoloji gerçekse, onu kim kontrol edecek?</a:t>
            </a:r>
          </a:p>
        </p:txBody>
      </p:sp>
      <p:sp>
        <p:nvSpPr>
          <p:cNvPr id="29" name="Rounded Rectangle 28"/>
          <p:cNvSpPr/>
          <p:nvPr/>
        </p:nvSpPr>
        <p:spPr>
          <a:xfrm>
            <a:off x="1335024" y="4572000"/>
            <a:ext cx="6903720" cy="6675120"/>
          </a:xfrm>
          <a:prstGeom prst="roundRect">
            <a:avLst>
              <a:gd name="adj" fmla="val 5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p:cNvSpPr txBox="1"/>
          <p:nvPr/>
        </p:nvSpPr>
        <p:spPr>
          <a:xfrm>
            <a:off x="1975104" y="5120640"/>
            <a:ext cx="5623560" cy="731520"/>
          </a:xfrm>
          <a:prstGeom prst="rect">
            <a:avLst/>
          </a:prstGeom>
          <a:noFill/>
        </p:spPr>
        <p:txBody>
          <a:bodyPr wrap="square" lIns="0" tIns="0" rIns="0" bIns="0" anchor="t">
            <a:spAutoFit/>
          </a:bodyPr>
          <a:lstStyle/>
          <a:p>
            <a:pPr algn="l"/>
            <a:r>
              <a:rPr sz="2700" b="1">
                <a:solidFill>
                  <a:srgbClr val="15263F"/>
                </a:solidFill>
              </a:rPr>
              <a:t>Önce Google</a:t>
            </a:r>
          </a:p>
        </p:txBody>
      </p:sp>
      <p:sp>
        <p:nvSpPr>
          <p:cNvPr id="31" name="TextBox 30"/>
          <p:cNvSpPr txBox="1"/>
          <p:nvPr/>
        </p:nvSpPr>
        <p:spPr>
          <a:xfrm>
            <a:off x="1975104" y="6126480"/>
            <a:ext cx="5623560" cy="4663440"/>
          </a:xfrm>
          <a:prstGeom prst="rect">
            <a:avLst/>
          </a:prstGeom>
          <a:noFill/>
        </p:spPr>
        <p:txBody>
          <a:bodyPr wrap="square" lIns="0" tIns="0" rIns="0" bIns="0" anchor="t">
            <a:spAutoFit/>
          </a:bodyPr>
          <a:lstStyle/>
          <a:p>
            <a:pPr algn="l">
              <a:lnSpc>
                <a:spcPct val="130000"/>
              </a:lnSpc>
              <a:spcAft>
                <a:spcPts val="1200"/>
              </a:spcAft>
            </a:pPr>
            <a:r>
              <a:rPr sz="2000" b="0">
                <a:solidFill>
                  <a:srgbClr val="1A1A1A"/>
                </a:solidFill>
              </a:rPr>
              <a:t>•  Devler trene atladı; en kolay yol satın almaktı.</a:t>
            </a:r>
          </a:p>
          <a:p>
            <a:pPr algn="l">
              <a:lnSpc>
                <a:spcPct val="130000"/>
              </a:lnSpc>
              <a:spcAft>
                <a:spcPts val="1200"/>
              </a:spcAft>
            </a:pPr>
            <a:r>
              <a:rPr sz="2000" b="0">
                <a:solidFill>
                  <a:srgbClr val="1A1A1A"/>
                </a:solidFill>
              </a:rPr>
              <a:t>•  Google, Hinton ve ekibinin şirketini aldı.</a:t>
            </a:r>
          </a:p>
          <a:p>
            <a:pPr algn="l">
              <a:lnSpc>
                <a:spcPct val="130000"/>
              </a:lnSpc>
              <a:spcAft>
                <a:spcPts val="1200"/>
              </a:spcAft>
            </a:pPr>
            <a:r>
              <a:rPr sz="2000" b="0">
                <a:solidFill>
                  <a:srgbClr val="1A1A1A"/>
                </a:solidFill>
              </a:rPr>
              <a:t>•  Ilya'nın her şeyi vardı: veri, işlem gücü, kaynak.</a:t>
            </a:r>
          </a:p>
          <a:p>
            <a:pPr algn="l">
              <a:lnSpc>
                <a:spcPct val="130000"/>
              </a:lnSpc>
              <a:spcAft>
                <a:spcPts val="1200"/>
              </a:spcAft>
            </a:pPr>
            <a:r>
              <a:rPr sz="2000" b="0">
                <a:solidFill>
                  <a:srgbClr val="1A1A1A"/>
                </a:solidFill>
              </a:rPr>
              <a:t>•  Ama özgürlük yoktu.</a:t>
            </a:r>
          </a:p>
        </p:txBody>
      </p:sp>
      <p:sp>
        <p:nvSpPr>
          <p:cNvPr id="32" name="Rounded Rectangle 31"/>
          <p:cNvSpPr/>
          <p:nvPr/>
        </p:nvSpPr>
        <p:spPr>
          <a:xfrm>
            <a:off x="8741664" y="4572000"/>
            <a:ext cx="6903720" cy="6675120"/>
          </a:xfrm>
          <a:prstGeom prst="roundRect">
            <a:avLst>
              <a:gd name="adj" fmla="val 5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TextBox 32"/>
          <p:cNvSpPr txBox="1"/>
          <p:nvPr/>
        </p:nvSpPr>
        <p:spPr>
          <a:xfrm>
            <a:off x="9381744" y="5120640"/>
            <a:ext cx="5623560" cy="731520"/>
          </a:xfrm>
          <a:prstGeom prst="rect">
            <a:avLst/>
          </a:prstGeom>
          <a:noFill/>
        </p:spPr>
        <p:txBody>
          <a:bodyPr wrap="square" lIns="0" tIns="0" rIns="0" bIns="0" anchor="t">
            <a:spAutoFit/>
          </a:bodyPr>
          <a:lstStyle/>
          <a:p>
            <a:pPr algn="l"/>
            <a:r>
              <a:rPr sz="2700" b="1">
                <a:solidFill>
                  <a:srgbClr val="C08A2E"/>
                </a:solidFill>
              </a:rPr>
              <a:t>Sonra o akşam yemeği</a:t>
            </a:r>
          </a:p>
        </p:txBody>
      </p:sp>
      <p:sp>
        <p:nvSpPr>
          <p:cNvPr id="34" name="TextBox 33"/>
          <p:cNvSpPr txBox="1"/>
          <p:nvPr/>
        </p:nvSpPr>
        <p:spPr>
          <a:xfrm>
            <a:off x="9381744" y="9601200"/>
            <a:ext cx="5623560" cy="1600200"/>
          </a:xfrm>
          <a:prstGeom prst="rect">
            <a:avLst/>
          </a:prstGeom>
          <a:noFill/>
        </p:spPr>
        <p:txBody>
          <a:bodyPr wrap="square" lIns="0" tIns="0" rIns="0" bIns="0" anchor="t">
            <a:spAutoFit/>
          </a:bodyPr>
          <a:lstStyle/>
          <a:p>
            <a:pPr marL="0" indent="0" algn="l">
              <a:lnSpc>
                <a:spcPct val="125000"/>
              </a:lnSpc>
              <a:spcAft>
                <a:spcPts val="1000"/>
              </a:spcAft>
            </a:pPr>
            <a:r>
              <a:rPr sz="1900" b="0">
                <a:solidFill>
                  <a:srgbClr val="1A1A1A"/>
                </a:solidFill>
              </a:rPr>
              <a:t>•  Musk finansman, Altman yönetim, Brockman mühendislik.</a:t>
            </a:r>
          </a:p>
          <a:p>
            <a:pPr marL="0" indent="0" algn="l">
              <a:lnSpc>
                <a:spcPct val="125000"/>
              </a:lnSpc>
              <a:spcAft>
                <a:spcPts val="1000"/>
              </a:spcAft>
            </a:pPr>
            <a:r>
              <a:rPr sz="1900" b="0">
                <a:solidFill>
                  <a:srgbClr val="1A1A1A"/>
                </a:solidFill>
              </a:rPr>
              <a:t>•  Konuşulan asıl konu ChatGPT değil, AGI'ydı.</a:t>
            </a:r>
          </a:p>
        </p:txBody>
      </p:sp>
      <p:sp>
        <p:nvSpPr>
          <p:cNvPr id="35" name="Rounded Rectangle 34"/>
          <p:cNvSpPr/>
          <p:nvPr/>
        </p:nvSpPr>
        <p:spPr>
          <a:xfrm>
            <a:off x="16148304" y="4572000"/>
            <a:ext cx="6903720" cy="6675120"/>
          </a:xfrm>
          <a:prstGeom prst="roundRect">
            <a:avLst>
              <a:gd name="adj" fmla="val 5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TextBox 35"/>
          <p:cNvSpPr txBox="1"/>
          <p:nvPr/>
        </p:nvSpPr>
        <p:spPr>
          <a:xfrm>
            <a:off x="16788384" y="5120640"/>
            <a:ext cx="5623560" cy="731520"/>
          </a:xfrm>
          <a:prstGeom prst="rect">
            <a:avLst/>
          </a:prstGeom>
          <a:noFill/>
        </p:spPr>
        <p:txBody>
          <a:bodyPr wrap="square" lIns="0" tIns="0" rIns="0" bIns="0" anchor="t">
            <a:spAutoFit/>
          </a:bodyPr>
          <a:lstStyle/>
          <a:p>
            <a:pPr algn="l"/>
            <a:r>
              <a:rPr sz="2700" b="1">
                <a:solidFill>
                  <a:srgbClr val="15263F"/>
                </a:solidFill>
              </a:rPr>
              <a:t>Ve sonra Transformer</a:t>
            </a:r>
          </a:p>
        </p:txBody>
      </p:sp>
      <p:sp>
        <p:nvSpPr>
          <p:cNvPr id="37" name="Rectangle 36"/>
          <p:cNvSpPr/>
          <p:nvPr/>
        </p:nvSpPr>
        <p:spPr>
          <a:xfrm>
            <a:off x="16788384" y="6035040"/>
            <a:ext cx="5623560" cy="1965960"/>
          </a:xfrm>
          <a:prstGeom prst="rect">
            <a:avLst/>
          </a:prstGeom>
          <a:solidFill>
            <a:srgbClr val="FFFFFF"/>
          </a:solidFill>
          <a:ln w="15240">
            <a:solidFill>
              <a:srgbClr val="C8C8C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TextBox 37"/>
          <p:cNvSpPr txBox="1"/>
          <p:nvPr/>
        </p:nvSpPr>
        <p:spPr>
          <a:xfrm>
            <a:off x="17016984" y="6355080"/>
            <a:ext cx="5166360" cy="1005840"/>
          </a:xfrm>
          <a:prstGeom prst="rect">
            <a:avLst/>
          </a:prstGeom>
          <a:noFill/>
        </p:spPr>
        <p:txBody>
          <a:bodyPr wrap="square" lIns="0" tIns="0" rIns="0" bIns="0" anchor="t">
            <a:spAutoFit/>
          </a:bodyPr>
          <a:lstStyle/>
          <a:p>
            <a:pPr algn="ctr">
              <a:lnSpc>
                <a:spcPct val="105000"/>
              </a:lnSpc>
            </a:pPr>
            <a:r>
              <a:rPr sz="3000" b="1">
                <a:solidFill>
                  <a:srgbClr val="1A1A1A"/>
                </a:solidFill>
                <a:latin typeface="Cambria"/>
              </a:rPr>
              <a:t>Attention Is All You Need</a:t>
            </a:r>
          </a:p>
        </p:txBody>
      </p:sp>
      <p:sp>
        <p:nvSpPr>
          <p:cNvPr id="39" name="TextBox 38"/>
          <p:cNvSpPr txBox="1"/>
          <p:nvPr/>
        </p:nvSpPr>
        <p:spPr>
          <a:xfrm>
            <a:off x="17016984" y="7360920"/>
            <a:ext cx="5166360" cy="457200"/>
          </a:xfrm>
          <a:prstGeom prst="rect">
            <a:avLst/>
          </a:prstGeom>
          <a:noFill/>
        </p:spPr>
        <p:txBody>
          <a:bodyPr wrap="square" lIns="0" tIns="0" rIns="0" bIns="0" anchor="t">
            <a:spAutoFit/>
          </a:bodyPr>
          <a:lstStyle/>
          <a:p>
            <a:pPr algn="ctr"/>
            <a:r>
              <a:rPr sz="1700" b="0">
                <a:solidFill>
                  <a:srgbClr val="6E6E6E"/>
                </a:solidFill>
              </a:rPr>
              <a:t>Vaswani ve ekibi, Google · NeurIPS 2017</a:t>
            </a:r>
          </a:p>
        </p:txBody>
      </p:sp>
      <p:sp>
        <p:nvSpPr>
          <p:cNvPr id="40" name="TextBox 39"/>
          <p:cNvSpPr txBox="1"/>
          <p:nvPr/>
        </p:nvSpPr>
        <p:spPr>
          <a:xfrm>
            <a:off x="16788384" y="8412480"/>
            <a:ext cx="5623560" cy="2011680"/>
          </a:xfrm>
          <a:prstGeom prst="rect">
            <a:avLst/>
          </a:prstGeom>
          <a:noFill/>
        </p:spPr>
        <p:txBody>
          <a:bodyPr wrap="square" lIns="0" tIns="0" rIns="0" bIns="0" anchor="t">
            <a:spAutoFit/>
          </a:bodyPr>
          <a:lstStyle/>
          <a:p>
            <a:pPr algn="l">
              <a:lnSpc>
                <a:spcPct val="130000"/>
              </a:lnSpc>
              <a:spcAft>
                <a:spcPts val="1200"/>
              </a:spcAft>
            </a:pPr>
            <a:r>
              <a:rPr sz="2000" b="0">
                <a:solidFill>
                  <a:srgbClr val="1A1A1A"/>
                </a:solidFill>
              </a:rPr>
              <a:t>•  Tekrarlı yapı yok, paralel eğitim.</a:t>
            </a:r>
          </a:p>
          <a:p>
            <a:pPr algn="l">
              <a:lnSpc>
                <a:spcPct val="130000"/>
              </a:lnSpc>
              <a:spcAft>
                <a:spcPts val="1200"/>
              </a:spcAft>
            </a:pPr>
            <a:r>
              <a:rPr sz="2000" b="0">
                <a:solidFill>
                  <a:srgbClr val="1A1A1A"/>
                </a:solidFill>
              </a:rPr>
              <a:t>•  Ölçekleme fikri karşılığını burada buldu.</a:t>
            </a:r>
          </a:p>
        </p:txBody>
      </p:sp>
      <p:sp>
        <p:nvSpPr>
          <p:cNvPr id="41" name="Rectangle 40"/>
          <p:cNvSpPr/>
          <p:nvPr/>
        </p:nvSpPr>
        <p:spPr>
          <a:xfrm>
            <a:off x="1280160" y="11612880"/>
            <a:ext cx="21826728" cy="1188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TextBox 41"/>
          <p:cNvSpPr txBox="1"/>
          <p:nvPr/>
        </p:nvSpPr>
        <p:spPr>
          <a:xfrm>
            <a:off x="2011680" y="11612880"/>
            <a:ext cx="20363688" cy="1188720"/>
          </a:xfrm>
          <a:prstGeom prst="rect">
            <a:avLst/>
          </a:prstGeom>
          <a:noFill/>
        </p:spPr>
        <p:txBody>
          <a:bodyPr wrap="square" lIns="0" tIns="0" rIns="0" bIns="0" anchor="ctr">
            <a:spAutoFit/>
          </a:bodyPr>
          <a:lstStyle/>
          <a:p>
            <a:pPr algn="ctr">
              <a:lnSpc>
                <a:spcPct val="120000"/>
              </a:lnSpc>
            </a:pPr>
            <a:r>
              <a:rPr sz="2400" b="0">
                <a:solidFill>
                  <a:srgbClr val="15263F"/>
                </a:solidFill>
              </a:rPr>
              <a:t>Ilya'nın tezi: </a:t>
            </a:r>
            <a:r>
              <a:rPr sz="2400" b="1">
                <a:solidFill>
                  <a:srgbClr val="15263F"/>
                </a:solidFill>
              </a:rPr>
              <a:t>"Ölçeklendir ve gerisine karışma."</a:t>
            </a:r>
            <a:r>
              <a:rPr sz="2400" b="0">
                <a:solidFill>
                  <a:srgbClr val="15263F"/>
                </a:solidFill>
              </a:rPr>
              <a:t>  Model yeterince büyürse, beklemediğimiz yetenekler kendiliğinden çıkar.</a:t>
            </a:r>
          </a:p>
        </p:txBody>
      </p:sp>
      <p:pic>
        <p:nvPicPr>
          <p:cNvPr id="44" name="Resim 43">
            <a:extLst>
              <a:ext uri="{FF2B5EF4-FFF2-40B4-BE49-F238E27FC236}">
                <a16:creationId xmlns:a16="http://schemas.microsoft.com/office/drawing/2014/main" id="{0D29707E-7CD3-C274-0F4C-4ACF1D2CF822}"/>
              </a:ext>
            </a:extLst>
          </p:cNvPr>
          <p:cNvPicPr>
            <a:picLocks noChangeAspect="1"/>
          </p:cNvPicPr>
          <p:nvPr/>
        </p:nvPicPr>
        <p:blipFill>
          <a:blip r:embed="rId3"/>
          <a:stretch>
            <a:fillRect/>
          </a:stretch>
        </p:blipFill>
        <p:spPr>
          <a:xfrm>
            <a:off x="9796462" y="6035040"/>
            <a:ext cx="4794123" cy="2880360"/>
          </a:xfrm>
          <a:prstGeom prst="rect">
            <a:avLst/>
          </a:prstGeom>
          <a:ln w="12700">
            <a:solidFill>
              <a:srgbClr val="DDDDDD"/>
            </a:solidFill>
          </a:ln>
        </p:spPr>
      </p:pic>
      <p:sp>
        <p:nvSpPr>
          <p:cNvPr id="45" name="TextBox 44"/>
          <p:cNvSpPr txBox="1"/>
          <p:nvPr/>
        </p:nvSpPr>
        <p:spPr>
          <a:xfrm>
            <a:off x="9107424" y="9052560"/>
            <a:ext cx="6172200" cy="457200"/>
          </a:xfrm>
          <a:prstGeom prst="rect">
            <a:avLst/>
          </a:prstGeom>
          <a:noFill/>
        </p:spPr>
        <p:txBody>
          <a:bodyPr wrap="square" lIns="0" rIns="0">
            <a:spAutoFit/>
          </a:bodyPr>
          <a:lstStyle/>
          <a:p>
            <a:pPr algn="ctr"/>
            <a:r>
              <a:rPr sz="1700">
                <a:solidFill>
                  <a:srgbClr val="6E6E6E"/>
                </a:solidFill>
              </a:rPr>
              <a:t>Musk, Brockman, Altman ve Sutskever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rPr>
              <a:t>Neden Deep Learning?</a:t>
            </a:r>
          </a:p>
        </p:txBody>
      </p:sp>
      <p:sp>
        <p:nvSpPr>
          <p:cNvPr id="3" name="TextBox 2"/>
          <p:cNvSpPr txBox="1"/>
          <p:nvPr/>
        </p:nvSpPr>
        <p:spPr>
          <a:xfrm>
            <a:off x="2066543" y="1874519"/>
            <a:ext cx="20244816" cy="1828800"/>
          </a:xfrm>
          <a:prstGeom prst="rect">
            <a:avLst/>
          </a:prstGeom>
          <a:noFill/>
        </p:spPr>
        <p:txBody>
          <a:bodyPr wrap="square" lIns="0" tIns="0" rIns="0" bIns="0" anchor="t">
            <a:spAutoFit/>
          </a:bodyPr>
          <a:lstStyle/>
          <a:p>
            <a:pPr algn="ctr">
              <a:lnSpc>
                <a:spcPct val="115000"/>
              </a:lnSpc>
            </a:pPr>
            <a:r>
              <a:rPr sz="4000" b="0">
                <a:solidFill>
                  <a:srgbClr val="1A1A1A"/>
                </a:solidFill>
              </a:rPr>
              <a:t>Klasik makine öğrenmesinde özelliği </a:t>
            </a:r>
            <a:r>
              <a:rPr sz="4000" b="1">
                <a:solidFill>
                  <a:srgbClr val="1A1A1A"/>
                </a:solidFill>
              </a:rPr>
              <a:t>insan çıkarır</a:t>
            </a:r>
            <a:r>
              <a:rPr sz="4000" b="0">
                <a:solidFill>
                  <a:srgbClr val="1A1A1A"/>
                </a:solidFill>
              </a:rPr>
              <a:t>; derin öğrenmede </a:t>
            </a:r>
            <a:r>
              <a:rPr sz="4000" b="1">
                <a:solidFill>
                  <a:srgbClr val="1A1A1A"/>
                </a:solidFill>
              </a:rPr>
              <a:t>model veriden kendisi çıkarır</a:t>
            </a:r>
            <a:r>
              <a:rPr sz="4000" b="0">
                <a:solidFill>
                  <a:srgbClr val="1A1A1A"/>
                </a:solidFill>
              </a:rPr>
              <a:t>.</a:t>
            </a:r>
          </a:p>
        </p:txBody>
      </p:sp>
      <p:sp>
        <p:nvSpPr>
          <p:cNvPr id="4" name="TextBox 3"/>
          <p:cNvSpPr txBox="1"/>
          <p:nvPr/>
        </p:nvSpPr>
        <p:spPr>
          <a:xfrm>
            <a:off x="1463040" y="4069080"/>
            <a:ext cx="5486400" cy="548640"/>
          </a:xfrm>
          <a:prstGeom prst="rect">
            <a:avLst/>
          </a:prstGeom>
          <a:noFill/>
        </p:spPr>
        <p:txBody>
          <a:bodyPr wrap="square" lIns="0" tIns="0" rIns="0" bIns="0" anchor="t">
            <a:spAutoFit/>
          </a:bodyPr>
          <a:lstStyle/>
          <a:p>
            <a:pPr algn="l"/>
            <a:r>
              <a:rPr sz="2500" b="1">
                <a:solidFill>
                  <a:srgbClr val="8A3B2F"/>
                </a:solidFill>
              </a:rPr>
              <a:t>Klasik makine öğrenmesi</a:t>
            </a:r>
          </a:p>
        </p:txBody>
      </p:sp>
      <p:sp>
        <p:nvSpPr>
          <p:cNvPr id="5" name="Rounded Rectangle 4"/>
          <p:cNvSpPr/>
          <p:nvPr/>
        </p:nvSpPr>
        <p:spPr>
          <a:xfrm>
            <a:off x="3291840" y="4754880"/>
            <a:ext cx="4160520" cy="160020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3566160" y="4754880"/>
            <a:ext cx="3611879" cy="1600200"/>
          </a:xfrm>
          <a:prstGeom prst="rect">
            <a:avLst/>
          </a:prstGeom>
          <a:noFill/>
        </p:spPr>
        <p:txBody>
          <a:bodyPr wrap="square" lIns="0" tIns="0" rIns="0" bIns="0" anchor="ctr">
            <a:spAutoFit/>
          </a:bodyPr>
          <a:lstStyle/>
          <a:p>
            <a:pPr algn="ctr">
              <a:lnSpc>
                <a:spcPct val="120000"/>
              </a:lnSpc>
            </a:pPr>
            <a:r>
              <a:rPr sz="2100" b="0">
                <a:solidFill>
                  <a:srgbClr val="1A1A1A"/>
                </a:solidFill>
              </a:rPr>
              <a:t>Ham veri</a:t>
            </a:r>
          </a:p>
        </p:txBody>
      </p:sp>
      <p:sp>
        <p:nvSpPr>
          <p:cNvPr id="7" name="Isosceles Triangle 6"/>
          <p:cNvSpPr/>
          <p:nvPr/>
        </p:nvSpPr>
        <p:spPr>
          <a:xfrm rot="5400000">
            <a:off x="7772400" y="5417820"/>
            <a:ext cx="274320" cy="274320"/>
          </a:xfrm>
          <a:prstGeom prst="triangle">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ounded Rectangle 7"/>
          <p:cNvSpPr/>
          <p:nvPr/>
        </p:nvSpPr>
        <p:spPr>
          <a:xfrm>
            <a:off x="8366760" y="4754880"/>
            <a:ext cx="4160520" cy="1600200"/>
          </a:xfrm>
          <a:prstGeom prst="roundRect">
            <a:avLst>
              <a:gd name="adj" fmla="val 10000"/>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641080" y="4754880"/>
            <a:ext cx="3611879" cy="1600200"/>
          </a:xfrm>
          <a:prstGeom prst="rect">
            <a:avLst/>
          </a:prstGeom>
          <a:noFill/>
        </p:spPr>
        <p:txBody>
          <a:bodyPr wrap="square" lIns="0" tIns="0" rIns="0" bIns="0" anchor="ctr">
            <a:spAutoFit/>
          </a:bodyPr>
          <a:lstStyle/>
          <a:p>
            <a:pPr algn="ctr">
              <a:lnSpc>
                <a:spcPct val="120000"/>
              </a:lnSpc>
            </a:pPr>
            <a:r>
              <a:rPr sz="2100" b="1">
                <a:solidFill>
                  <a:srgbClr val="FFFFFF"/>
                </a:solidFill>
              </a:rPr>
              <a:t>İnsan
feature engineering</a:t>
            </a:r>
          </a:p>
        </p:txBody>
      </p:sp>
      <p:sp>
        <p:nvSpPr>
          <p:cNvPr id="10" name="Isosceles Triangle 9"/>
          <p:cNvSpPr/>
          <p:nvPr/>
        </p:nvSpPr>
        <p:spPr>
          <a:xfrm rot="5400000">
            <a:off x="12847319" y="5417820"/>
            <a:ext cx="274320" cy="274320"/>
          </a:xfrm>
          <a:prstGeom prst="triangle">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ounded Rectangle 10"/>
          <p:cNvSpPr/>
          <p:nvPr/>
        </p:nvSpPr>
        <p:spPr>
          <a:xfrm>
            <a:off x="13441680" y="4754880"/>
            <a:ext cx="4160520" cy="160020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13716000" y="4754880"/>
            <a:ext cx="3611879" cy="1600200"/>
          </a:xfrm>
          <a:prstGeom prst="rect">
            <a:avLst/>
          </a:prstGeom>
          <a:noFill/>
        </p:spPr>
        <p:txBody>
          <a:bodyPr wrap="square" lIns="0" tIns="0" rIns="0" bIns="0" anchor="ctr">
            <a:spAutoFit/>
          </a:bodyPr>
          <a:lstStyle/>
          <a:p>
            <a:pPr algn="ctr">
              <a:lnSpc>
                <a:spcPct val="120000"/>
              </a:lnSpc>
            </a:pPr>
            <a:r>
              <a:rPr sz="2100" b="0">
                <a:solidFill>
                  <a:srgbClr val="1A1A1A"/>
                </a:solidFill>
              </a:rPr>
              <a:t>Model</a:t>
            </a:r>
          </a:p>
        </p:txBody>
      </p:sp>
      <p:sp>
        <p:nvSpPr>
          <p:cNvPr id="13" name="Isosceles Triangle 12"/>
          <p:cNvSpPr/>
          <p:nvPr/>
        </p:nvSpPr>
        <p:spPr>
          <a:xfrm rot="5400000">
            <a:off x="17922240" y="5417820"/>
            <a:ext cx="274320" cy="274320"/>
          </a:xfrm>
          <a:prstGeom prst="triangle">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18516600" y="4754880"/>
            <a:ext cx="4160520" cy="160020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18790920" y="4754880"/>
            <a:ext cx="3611879" cy="1600200"/>
          </a:xfrm>
          <a:prstGeom prst="rect">
            <a:avLst/>
          </a:prstGeom>
          <a:noFill/>
        </p:spPr>
        <p:txBody>
          <a:bodyPr wrap="square" lIns="0" tIns="0" rIns="0" bIns="0" anchor="ctr">
            <a:spAutoFit/>
          </a:bodyPr>
          <a:lstStyle/>
          <a:p>
            <a:pPr algn="ctr">
              <a:lnSpc>
                <a:spcPct val="120000"/>
              </a:lnSpc>
            </a:pPr>
            <a:r>
              <a:rPr sz="2100" b="0">
                <a:solidFill>
                  <a:srgbClr val="1A1A1A"/>
                </a:solidFill>
              </a:rPr>
              <a:t>Sonuç</a:t>
            </a:r>
          </a:p>
        </p:txBody>
      </p:sp>
      <p:sp>
        <p:nvSpPr>
          <p:cNvPr id="16" name="TextBox 15"/>
          <p:cNvSpPr txBox="1"/>
          <p:nvPr/>
        </p:nvSpPr>
        <p:spPr>
          <a:xfrm>
            <a:off x="1463040" y="7818120"/>
            <a:ext cx="5486400" cy="548640"/>
          </a:xfrm>
          <a:prstGeom prst="rect">
            <a:avLst/>
          </a:prstGeom>
          <a:noFill/>
        </p:spPr>
        <p:txBody>
          <a:bodyPr wrap="square" lIns="0" tIns="0" rIns="0" bIns="0" anchor="t">
            <a:spAutoFit/>
          </a:bodyPr>
          <a:lstStyle/>
          <a:p>
            <a:pPr algn="l"/>
            <a:r>
              <a:rPr sz="2500" b="1">
                <a:solidFill>
                  <a:srgbClr val="148F77"/>
                </a:solidFill>
              </a:rPr>
              <a:t>Deep Learning</a:t>
            </a:r>
          </a:p>
        </p:txBody>
      </p:sp>
      <p:sp>
        <p:nvSpPr>
          <p:cNvPr id="17" name="Rounded Rectangle 16"/>
          <p:cNvSpPr/>
          <p:nvPr/>
        </p:nvSpPr>
        <p:spPr>
          <a:xfrm>
            <a:off x="3291840" y="8503920"/>
            <a:ext cx="4160520" cy="160020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3566160" y="8503920"/>
            <a:ext cx="3611879" cy="1600200"/>
          </a:xfrm>
          <a:prstGeom prst="rect">
            <a:avLst/>
          </a:prstGeom>
          <a:noFill/>
        </p:spPr>
        <p:txBody>
          <a:bodyPr wrap="square" lIns="0" tIns="0" rIns="0" bIns="0" anchor="ctr">
            <a:spAutoFit/>
          </a:bodyPr>
          <a:lstStyle/>
          <a:p>
            <a:pPr algn="ctr">
              <a:lnSpc>
                <a:spcPct val="120000"/>
              </a:lnSpc>
            </a:pPr>
            <a:r>
              <a:rPr sz="2100" b="0">
                <a:solidFill>
                  <a:srgbClr val="1A1A1A"/>
                </a:solidFill>
              </a:rPr>
              <a:t>Ham veri</a:t>
            </a:r>
          </a:p>
        </p:txBody>
      </p:sp>
      <p:sp>
        <p:nvSpPr>
          <p:cNvPr id="19" name="Isosceles Triangle 18"/>
          <p:cNvSpPr/>
          <p:nvPr/>
        </p:nvSpPr>
        <p:spPr>
          <a:xfrm rot="5400000">
            <a:off x="7772400" y="9166860"/>
            <a:ext cx="274320" cy="274320"/>
          </a:xfrm>
          <a:prstGeom prst="triangle">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ounded Rectangle 19"/>
          <p:cNvSpPr/>
          <p:nvPr/>
        </p:nvSpPr>
        <p:spPr>
          <a:xfrm>
            <a:off x="8366760" y="8503920"/>
            <a:ext cx="4160520" cy="1600200"/>
          </a:xfrm>
          <a:prstGeom prst="roundRect">
            <a:avLst>
              <a:gd name="adj" fmla="val 10000"/>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8641080" y="8503920"/>
            <a:ext cx="3611879" cy="1600200"/>
          </a:xfrm>
          <a:prstGeom prst="rect">
            <a:avLst/>
          </a:prstGeom>
          <a:noFill/>
        </p:spPr>
        <p:txBody>
          <a:bodyPr wrap="square" lIns="0" tIns="0" rIns="0" bIns="0" anchor="ctr">
            <a:spAutoFit/>
          </a:bodyPr>
          <a:lstStyle/>
          <a:p>
            <a:pPr algn="ctr">
              <a:lnSpc>
                <a:spcPct val="120000"/>
              </a:lnSpc>
            </a:pPr>
            <a:r>
              <a:rPr sz="2100" b="1">
                <a:solidFill>
                  <a:srgbClr val="FFFFFF"/>
                </a:solidFill>
              </a:rPr>
              <a:t>Model
katmanlarda kendi öğrenir</a:t>
            </a:r>
          </a:p>
        </p:txBody>
      </p:sp>
      <p:sp>
        <p:nvSpPr>
          <p:cNvPr id="22" name="Isosceles Triangle 21"/>
          <p:cNvSpPr/>
          <p:nvPr/>
        </p:nvSpPr>
        <p:spPr>
          <a:xfrm rot="5400000">
            <a:off x="12847319" y="9166860"/>
            <a:ext cx="274320" cy="274320"/>
          </a:xfrm>
          <a:prstGeom prst="triangle">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Rounded Rectangle 22"/>
          <p:cNvSpPr/>
          <p:nvPr/>
        </p:nvSpPr>
        <p:spPr>
          <a:xfrm>
            <a:off x="13441680" y="8503920"/>
            <a:ext cx="4160520" cy="1600200"/>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13716000" y="8503920"/>
            <a:ext cx="3611879" cy="1600200"/>
          </a:xfrm>
          <a:prstGeom prst="rect">
            <a:avLst/>
          </a:prstGeom>
          <a:noFill/>
        </p:spPr>
        <p:txBody>
          <a:bodyPr wrap="square" lIns="0" tIns="0" rIns="0" bIns="0" anchor="ctr">
            <a:spAutoFit/>
          </a:bodyPr>
          <a:lstStyle/>
          <a:p>
            <a:pPr algn="ctr">
              <a:lnSpc>
                <a:spcPct val="120000"/>
              </a:lnSpc>
            </a:pPr>
            <a:r>
              <a:rPr sz="2100" b="0">
                <a:solidFill>
                  <a:srgbClr val="1A1A1A"/>
                </a:solidFill>
              </a:rPr>
              <a:t>Sonuç</a:t>
            </a:r>
          </a:p>
        </p:txBody>
      </p:sp>
      <p:sp>
        <p:nvSpPr>
          <p:cNvPr id="25" name="Rectangle 24"/>
          <p:cNvSpPr/>
          <p:nvPr/>
        </p:nvSpPr>
        <p:spPr>
          <a:xfrm>
            <a:off x="1280160" y="11475720"/>
            <a:ext cx="21826728" cy="1188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2011680" y="11475720"/>
            <a:ext cx="20363688" cy="1188720"/>
          </a:xfrm>
          <a:prstGeom prst="rect">
            <a:avLst/>
          </a:prstGeom>
          <a:noFill/>
        </p:spPr>
        <p:txBody>
          <a:bodyPr wrap="square" lIns="0" tIns="0" rIns="0" bIns="0" anchor="ctr">
            <a:spAutoFit/>
          </a:bodyPr>
          <a:lstStyle/>
          <a:p>
            <a:pPr algn="ctr">
              <a:lnSpc>
                <a:spcPct val="120000"/>
              </a:lnSpc>
            </a:pPr>
            <a:r>
              <a:rPr sz="2300" b="0">
                <a:solidFill>
                  <a:srgbClr val="15263F"/>
                </a:solidFill>
              </a:rPr>
              <a:t>2000'lerde bilgisayarla görünün standardı elle tasarlanmış feature'lardı — SIFT (2004), HOG (2005). </a:t>
            </a:r>
            <a:r>
              <a:rPr sz="2300" b="1">
                <a:solidFill>
                  <a:srgbClr val="15263F"/>
                </a:solidFill>
              </a:rPr>
              <a:t>2012'de AlexNet bu yaklaşımı açık farkla geçti.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rPr>
              <a:t>Neden Deep Learning?</a:t>
            </a:r>
          </a:p>
        </p:txBody>
      </p:sp>
      <p:sp>
        <p:nvSpPr>
          <p:cNvPr id="3" name="TextBox 2"/>
          <p:cNvSpPr txBox="1"/>
          <p:nvPr/>
        </p:nvSpPr>
        <p:spPr>
          <a:xfrm>
            <a:off x="2066543" y="1874519"/>
            <a:ext cx="20244816" cy="1828800"/>
          </a:xfrm>
          <a:prstGeom prst="rect">
            <a:avLst/>
          </a:prstGeom>
          <a:noFill/>
        </p:spPr>
        <p:txBody>
          <a:bodyPr wrap="square" lIns="0" tIns="0" rIns="0" bIns="0" anchor="t">
            <a:spAutoFit/>
          </a:bodyPr>
          <a:lstStyle/>
          <a:p>
            <a:pPr algn="ctr">
              <a:lnSpc>
                <a:spcPct val="115000"/>
              </a:lnSpc>
            </a:pPr>
            <a:r>
              <a:rPr sz="4000" b="0">
                <a:solidFill>
                  <a:srgbClr val="1A1A1A"/>
                </a:solidFill>
              </a:rPr>
              <a:t>Ama derin öğrenme her problemin cevabı değil — </a:t>
            </a:r>
            <a:r>
              <a:rPr sz="4000" b="1">
                <a:solidFill>
                  <a:srgbClr val="1A1A1A"/>
                </a:solidFill>
              </a:rPr>
              <a:t>veri tipine ve boyutuna bağlı.</a:t>
            </a:r>
          </a:p>
        </p:txBody>
      </p:sp>
      <p:sp>
        <p:nvSpPr>
          <p:cNvPr id="4" name="Rounded Rectangle 3"/>
          <p:cNvSpPr/>
          <p:nvPr/>
        </p:nvSpPr>
        <p:spPr>
          <a:xfrm>
            <a:off x="2377440" y="4892040"/>
            <a:ext cx="19632168" cy="1060704"/>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3017520" y="4892040"/>
            <a:ext cx="8503920" cy="1060704"/>
          </a:xfrm>
          <a:prstGeom prst="rect">
            <a:avLst/>
          </a:prstGeom>
          <a:noFill/>
        </p:spPr>
        <p:txBody>
          <a:bodyPr wrap="square" lIns="0" tIns="0" rIns="0" bIns="0" anchor="ctr">
            <a:spAutoFit/>
          </a:bodyPr>
          <a:lstStyle/>
          <a:p>
            <a:pPr algn="l"/>
            <a:r>
              <a:rPr sz="2400" b="0">
                <a:solidFill>
                  <a:srgbClr val="1A1A1A"/>
                </a:solidFill>
              </a:rPr>
              <a:t>Görüntü, ses, metin, video</a:t>
            </a:r>
          </a:p>
        </p:txBody>
      </p:sp>
      <p:sp>
        <p:nvSpPr>
          <p:cNvPr id="6" name="TextBox 5"/>
          <p:cNvSpPr txBox="1"/>
          <p:nvPr/>
        </p:nvSpPr>
        <p:spPr>
          <a:xfrm>
            <a:off x="11978640" y="4892040"/>
            <a:ext cx="9692640" cy="1060704"/>
          </a:xfrm>
          <a:prstGeom prst="rect">
            <a:avLst/>
          </a:prstGeom>
          <a:noFill/>
        </p:spPr>
        <p:txBody>
          <a:bodyPr wrap="square" lIns="0" tIns="0" rIns="0" bIns="0" anchor="ctr">
            <a:spAutoFit/>
          </a:bodyPr>
          <a:lstStyle/>
          <a:p>
            <a:pPr algn="l"/>
            <a:r>
              <a:rPr sz="2300" b="1">
                <a:solidFill>
                  <a:srgbClr val="148F77"/>
                </a:solidFill>
              </a:rPr>
              <a:t>Deep Learning</a:t>
            </a:r>
          </a:p>
        </p:txBody>
      </p:sp>
      <p:sp>
        <p:nvSpPr>
          <p:cNvPr id="7" name="Rounded Rectangle 6"/>
          <p:cNvSpPr/>
          <p:nvPr/>
        </p:nvSpPr>
        <p:spPr>
          <a:xfrm>
            <a:off x="2377440" y="6135624"/>
            <a:ext cx="19632168" cy="1060704"/>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3017520" y="6135624"/>
            <a:ext cx="8503920" cy="1060704"/>
          </a:xfrm>
          <a:prstGeom prst="rect">
            <a:avLst/>
          </a:prstGeom>
          <a:noFill/>
        </p:spPr>
        <p:txBody>
          <a:bodyPr wrap="square" lIns="0" tIns="0" rIns="0" bIns="0" anchor="ctr">
            <a:spAutoFit/>
          </a:bodyPr>
          <a:lstStyle/>
          <a:p>
            <a:pPr algn="l"/>
            <a:r>
              <a:rPr sz="2400" b="0">
                <a:solidFill>
                  <a:srgbClr val="1A1A1A"/>
                </a:solidFill>
              </a:rPr>
              <a:t>Çok fazla etiketsiz veri</a:t>
            </a:r>
          </a:p>
        </p:txBody>
      </p:sp>
      <p:sp>
        <p:nvSpPr>
          <p:cNvPr id="9" name="TextBox 8"/>
          <p:cNvSpPr txBox="1"/>
          <p:nvPr/>
        </p:nvSpPr>
        <p:spPr>
          <a:xfrm>
            <a:off x="11978640" y="6135624"/>
            <a:ext cx="9692640" cy="1060704"/>
          </a:xfrm>
          <a:prstGeom prst="rect">
            <a:avLst/>
          </a:prstGeom>
          <a:noFill/>
        </p:spPr>
        <p:txBody>
          <a:bodyPr wrap="square" lIns="0" tIns="0" rIns="0" bIns="0" anchor="ctr">
            <a:spAutoFit/>
          </a:bodyPr>
          <a:lstStyle/>
          <a:p>
            <a:pPr algn="l"/>
            <a:r>
              <a:rPr sz="2300" b="1">
                <a:solidFill>
                  <a:srgbClr val="148F77"/>
                </a:solidFill>
              </a:rPr>
              <a:t>Deep Learning</a:t>
            </a:r>
          </a:p>
        </p:txBody>
      </p:sp>
      <p:sp>
        <p:nvSpPr>
          <p:cNvPr id="10" name="Rounded Rectangle 9"/>
          <p:cNvSpPr/>
          <p:nvPr/>
        </p:nvSpPr>
        <p:spPr>
          <a:xfrm>
            <a:off x="2377440" y="7379208"/>
            <a:ext cx="19632168" cy="1060704"/>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017520" y="7379208"/>
            <a:ext cx="8503920" cy="1060704"/>
          </a:xfrm>
          <a:prstGeom prst="rect">
            <a:avLst/>
          </a:prstGeom>
          <a:noFill/>
        </p:spPr>
        <p:txBody>
          <a:bodyPr wrap="square" lIns="0" tIns="0" rIns="0" bIns="0" anchor="ctr">
            <a:spAutoFit/>
          </a:bodyPr>
          <a:lstStyle/>
          <a:p>
            <a:pPr algn="l"/>
            <a:r>
              <a:rPr sz="2400" b="0">
                <a:solidFill>
                  <a:srgbClr val="1A1A1A"/>
                </a:solidFill>
              </a:rPr>
              <a:t>Zaman serisi</a:t>
            </a:r>
          </a:p>
        </p:txBody>
      </p:sp>
      <p:sp>
        <p:nvSpPr>
          <p:cNvPr id="12" name="TextBox 11"/>
          <p:cNvSpPr txBox="1"/>
          <p:nvPr/>
        </p:nvSpPr>
        <p:spPr>
          <a:xfrm>
            <a:off x="11978640" y="7379208"/>
            <a:ext cx="9692640" cy="1060704"/>
          </a:xfrm>
          <a:prstGeom prst="rect">
            <a:avLst/>
          </a:prstGeom>
          <a:noFill/>
        </p:spPr>
        <p:txBody>
          <a:bodyPr wrap="square" lIns="0" tIns="0" rIns="0" bIns="0" anchor="ctr">
            <a:spAutoFit/>
          </a:bodyPr>
          <a:lstStyle/>
          <a:p>
            <a:pPr algn="l"/>
            <a:r>
              <a:rPr sz="2300" b="0">
                <a:solidFill>
                  <a:srgbClr val="C08A2E"/>
                </a:solidFill>
              </a:rPr>
              <a:t>Duruma göre — kısa seri: ML,  uzun / çok seri: DL</a:t>
            </a:r>
          </a:p>
        </p:txBody>
      </p:sp>
      <p:sp>
        <p:nvSpPr>
          <p:cNvPr id="13" name="Rounded Rectangle 12"/>
          <p:cNvSpPr/>
          <p:nvPr/>
        </p:nvSpPr>
        <p:spPr>
          <a:xfrm>
            <a:off x="2377440" y="8622792"/>
            <a:ext cx="19632168" cy="1060704"/>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3017520" y="8622792"/>
            <a:ext cx="8503920" cy="1060704"/>
          </a:xfrm>
          <a:prstGeom prst="rect">
            <a:avLst/>
          </a:prstGeom>
          <a:noFill/>
        </p:spPr>
        <p:txBody>
          <a:bodyPr wrap="square" lIns="0" tIns="0" rIns="0" bIns="0" anchor="ctr">
            <a:spAutoFit/>
          </a:bodyPr>
          <a:lstStyle/>
          <a:p>
            <a:pPr algn="l"/>
            <a:r>
              <a:rPr sz="2400" b="0">
                <a:solidFill>
                  <a:srgbClr val="1A1A1A"/>
                </a:solidFill>
              </a:rPr>
              <a:t>Tablo verisi</a:t>
            </a:r>
          </a:p>
        </p:txBody>
      </p:sp>
      <p:sp>
        <p:nvSpPr>
          <p:cNvPr id="15" name="TextBox 14"/>
          <p:cNvSpPr txBox="1"/>
          <p:nvPr/>
        </p:nvSpPr>
        <p:spPr>
          <a:xfrm>
            <a:off x="11978640" y="8622792"/>
            <a:ext cx="9692640" cy="1060704"/>
          </a:xfrm>
          <a:prstGeom prst="rect">
            <a:avLst/>
          </a:prstGeom>
          <a:noFill/>
        </p:spPr>
        <p:txBody>
          <a:bodyPr wrap="square" lIns="0" tIns="0" rIns="0" bIns="0" anchor="ctr">
            <a:spAutoFit/>
          </a:bodyPr>
          <a:lstStyle/>
          <a:p>
            <a:pPr algn="l"/>
            <a:r>
              <a:rPr sz="2300" b="0">
                <a:solidFill>
                  <a:srgbClr val="6E6E6E"/>
                </a:solidFill>
              </a:rPr>
              <a:t>Machine Learning (XGBoost / LightGBM)</a:t>
            </a:r>
          </a:p>
        </p:txBody>
      </p:sp>
      <p:sp>
        <p:nvSpPr>
          <p:cNvPr id="16" name="Rounded Rectangle 15"/>
          <p:cNvSpPr/>
          <p:nvPr/>
        </p:nvSpPr>
        <p:spPr>
          <a:xfrm>
            <a:off x="2377440" y="9866376"/>
            <a:ext cx="19632168" cy="1060704"/>
          </a:xfrm>
          <a:prstGeom prst="roundRect">
            <a:avLst>
              <a:gd name="adj" fmla="val 10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3017520" y="9866376"/>
            <a:ext cx="8503920" cy="1060704"/>
          </a:xfrm>
          <a:prstGeom prst="rect">
            <a:avLst/>
          </a:prstGeom>
          <a:noFill/>
        </p:spPr>
        <p:txBody>
          <a:bodyPr wrap="square" lIns="0" tIns="0" rIns="0" bIns="0" anchor="ctr">
            <a:spAutoFit/>
          </a:bodyPr>
          <a:lstStyle/>
          <a:p>
            <a:pPr algn="l"/>
            <a:r>
              <a:rPr sz="2400" b="0">
                <a:solidFill>
                  <a:srgbClr val="1A1A1A"/>
                </a:solidFill>
              </a:rPr>
              <a:t>Açıklanabilirlik zorunlu</a:t>
            </a:r>
          </a:p>
        </p:txBody>
      </p:sp>
      <p:sp>
        <p:nvSpPr>
          <p:cNvPr id="18" name="TextBox 17"/>
          <p:cNvSpPr txBox="1"/>
          <p:nvPr/>
        </p:nvSpPr>
        <p:spPr>
          <a:xfrm>
            <a:off x="11978640" y="9866376"/>
            <a:ext cx="9692640" cy="1060704"/>
          </a:xfrm>
          <a:prstGeom prst="rect">
            <a:avLst/>
          </a:prstGeom>
          <a:noFill/>
        </p:spPr>
        <p:txBody>
          <a:bodyPr wrap="square" lIns="0" tIns="0" rIns="0" bIns="0" anchor="ctr">
            <a:spAutoFit/>
          </a:bodyPr>
          <a:lstStyle/>
          <a:p>
            <a:pPr algn="l"/>
            <a:r>
              <a:rPr sz="2300" b="0">
                <a:solidFill>
                  <a:srgbClr val="6E6E6E"/>
                </a:solidFill>
              </a:rPr>
              <a:t>Machine Learning</a:t>
            </a:r>
          </a:p>
        </p:txBody>
      </p:sp>
      <p:sp>
        <p:nvSpPr>
          <p:cNvPr id="19" name="Rectangle 18"/>
          <p:cNvSpPr/>
          <p:nvPr/>
        </p:nvSpPr>
        <p:spPr>
          <a:xfrm>
            <a:off x="1280160" y="11292840"/>
            <a:ext cx="21826728" cy="1188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2011680" y="11292840"/>
            <a:ext cx="20363688" cy="1188720"/>
          </a:xfrm>
          <a:prstGeom prst="rect">
            <a:avLst/>
          </a:prstGeom>
          <a:noFill/>
        </p:spPr>
        <p:txBody>
          <a:bodyPr wrap="square" lIns="0" tIns="0" rIns="0" bIns="0" anchor="ctr">
            <a:spAutoFit/>
          </a:bodyPr>
          <a:lstStyle/>
          <a:p>
            <a:pPr algn="ctr">
              <a:lnSpc>
                <a:spcPct val="120000"/>
              </a:lnSpc>
            </a:pPr>
            <a:r>
              <a:rPr sz="2300" b="0">
                <a:solidFill>
                  <a:srgbClr val="15263F"/>
                </a:solidFill>
              </a:rPr>
              <a:t>Kural basit: veri </a:t>
            </a:r>
            <a:r>
              <a:rPr sz="2300" b="1">
                <a:solidFill>
                  <a:srgbClr val="15263F"/>
                </a:solidFill>
              </a:rPr>
              <a:t>görüntü, ses, metin ya da video ise</a:t>
            </a:r>
            <a:r>
              <a:rPr sz="2300" b="0">
                <a:solidFill>
                  <a:srgbClr val="15263F"/>
                </a:solidFill>
              </a:rPr>
              <a:t> derin öğrenme; </a:t>
            </a:r>
            <a:r>
              <a:rPr sz="2300" b="1">
                <a:solidFill>
                  <a:srgbClr val="15263F"/>
                </a:solidFill>
              </a:rPr>
              <a:t>tabloysa</a:t>
            </a:r>
            <a:r>
              <a:rPr sz="2300" b="0">
                <a:solidFill>
                  <a:srgbClr val="15263F"/>
                </a:solidFill>
              </a:rPr>
              <a:t> klasik makine öğrenmesi genelde daha iyi ve daha açıklanabilir.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E0C94BD7-D911-9244-0C22-30F3674F9BC3}"/>
              </a:ext>
            </a:extLst>
          </p:cNvPr>
          <p:cNvSpPr>
            <a:spLocks noGrp="1"/>
          </p:cNvSpPr>
          <p:nvPr>
            <p:ph type="body" sz="quarter" idx="22"/>
          </p:nvPr>
        </p:nvSpPr>
        <p:spPr/>
        <p:txBody>
          <a:bodyPr/>
          <a:lstStyle/>
          <a:p>
            <a:r>
              <a:rPr lang="de-DE" dirty="0" err="1"/>
              <a:t>Yapay</a:t>
            </a:r>
            <a:r>
              <a:rPr lang="de-DE" dirty="0"/>
              <a:t> </a:t>
            </a:r>
            <a:r>
              <a:rPr lang="de-DE" dirty="0" err="1"/>
              <a:t>Sinir</a:t>
            </a:r>
            <a:r>
              <a:rPr lang="de-DE" dirty="0"/>
              <a:t> Ağı </a:t>
            </a:r>
            <a:r>
              <a:rPr lang="de-DE" dirty="0" err="1"/>
              <a:t>Yapısı</a:t>
            </a:r>
            <a:endParaRPr lang="de-DE" dirty="0"/>
          </a:p>
        </p:txBody>
      </p:sp>
      <p:pic>
        <p:nvPicPr>
          <p:cNvPr id="5" name="Grafik 4">
            <a:extLst>
              <a:ext uri="{FF2B5EF4-FFF2-40B4-BE49-F238E27FC236}">
                <a16:creationId xmlns:a16="http://schemas.microsoft.com/office/drawing/2014/main" id="{6D04E83E-95AE-C2B6-73CB-D48A805FEC7A}"/>
              </a:ext>
            </a:extLst>
          </p:cNvPr>
          <p:cNvPicPr>
            <a:picLocks noChangeAspect="1"/>
          </p:cNvPicPr>
          <p:nvPr/>
        </p:nvPicPr>
        <p:blipFill>
          <a:blip r:embed="rId3"/>
          <a:stretch>
            <a:fillRect/>
          </a:stretch>
        </p:blipFill>
        <p:spPr>
          <a:xfrm>
            <a:off x="4095541" y="1769154"/>
            <a:ext cx="15709901" cy="11184766"/>
          </a:xfrm>
          <a:prstGeom prst="rect">
            <a:avLst/>
          </a:prstGeom>
        </p:spPr>
      </p:pic>
    </p:spTree>
    <p:extLst>
      <p:ext uri="{BB962C8B-B14F-4D97-AF65-F5344CB8AC3E}">
        <p14:creationId xmlns:p14="http://schemas.microsoft.com/office/powerpoint/2010/main" val="152188855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61935-959F-475A-4302-37E30F0D4B5E}"/>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96E7CD23-2572-E425-EC81-AC7AE8333A51}"/>
              </a:ext>
            </a:extLst>
          </p:cNvPr>
          <p:cNvSpPr>
            <a:spLocks noGrp="1"/>
          </p:cNvSpPr>
          <p:nvPr>
            <p:ph type="body" sz="quarter" idx="22"/>
          </p:nvPr>
        </p:nvSpPr>
        <p:spPr/>
        <p:txBody>
          <a:bodyPr/>
          <a:lstStyle/>
          <a:p>
            <a:r>
              <a:rPr lang="de-DE" dirty="0" err="1"/>
              <a:t>Yapay</a:t>
            </a:r>
            <a:r>
              <a:rPr lang="de-DE" dirty="0"/>
              <a:t> </a:t>
            </a:r>
            <a:r>
              <a:rPr lang="de-DE" dirty="0" err="1"/>
              <a:t>Sinir</a:t>
            </a:r>
            <a:r>
              <a:rPr lang="de-DE" dirty="0"/>
              <a:t> Ağı </a:t>
            </a:r>
            <a:r>
              <a:rPr lang="de-DE" dirty="0" err="1"/>
              <a:t>Yapısı</a:t>
            </a:r>
            <a:endParaRPr lang="de-DE" dirty="0"/>
          </a:p>
        </p:txBody>
      </p:sp>
      <p:sp>
        <p:nvSpPr>
          <p:cNvPr id="5" name="Shape 2">
            <a:extLst>
              <a:ext uri="{FF2B5EF4-FFF2-40B4-BE49-F238E27FC236}">
                <a16:creationId xmlns:a16="http://schemas.microsoft.com/office/drawing/2014/main" id="{F3E4C676-A022-6EAF-63D0-B64363193110}"/>
              </a:ext>
            </a:extLst>
          </p:cNvPr>
          <p:cNvSpPr/>
          <p:nvPr/>
        </p:nvSpPr>
        <p:spPr>
          <a:xfrm>
            <a:off x="1655064" y="4618481"/>
            <a:ext cx="598932" cy="661851"/>
          </a:xfrm>
          <a:prstGeom prst="ellipse">
            <a:avLst/>
          </a:prstGeom>
          <a:solidFill>
            <a:schemeClr val="accent1"/>
          </a:solidFill>
          <a:ln/>
        </p:spPr>
        <p:txBody>
          <a:bodyPr/>
          <a:lstStyle/>
          <a:p>
            <a:endParaRPr lang="de-DE"/>
          </a:p>
        </p:txBody>
      </p:sp>
      <p:sp>
        <p:nvSpPr>
          <p:cNvPr id="7" name="Text 3">
            <a:extLst>
              <a:ext uri="{FF2B5EF4-FFF2-40B4-BE49-F238E27FC236}">
                <a16:creationId xmlns:a16="http://schemas.microsoft.com/office/drawing/2014/main" id="{45959377-F1B1-FC9E-0473-AF67F57493B4}"/>
              </a:ext>
            </a:extLst>
          </p:cNvPr>
          <p:cNvSpPr/>
          <p:nvPr/>
        </p:nvSpPr>
        <p:spPr>
          <a:xfrm>
            <a:off x="2318004" y="4741164"/>
            <a:ext cx="4767798" cy="411480"/>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Inputs  </a:t>
            </a:r>
            <a:r>
              <a:rPr lang="en-US" dirty="0">
                <a:solidFill>
                  <a:srgbClr val="5A6B6B"/>
                </a:solidFill>
                <a:latin typeface="Chromatica"/>
                <a:ea typeface="Arial" pitchFamily="34" charset="-122"/>
                <a:cs typeface="Arial" pitchFamily="34" charset="-120"/>
              </a:rPr>
              <a:t>— </a:t>
            </a:r>
            <a:r>
              <a:rPr lang="en-US" dirty="0">
                <a:solidFill>
                  <a:schemeClr val="bg2">
                    <a:lumMod val="10000"/>
                  </a:schemeClr>
                </a:solidFill>
                <a:latin typeface="Chromatica"/>
                <a:ea typeface="Arial" pitchFamily="34" charset="-122"/>
                <a:cs typeface="Arial" pitchFamily="34" charset="-120"/>
              </a:rPr>
              <a:t>Girdi değerleri (x1..xn)</a:t>
            </a:r>
            <a:endParaRPr lang="en-US" dirty="0">
              <a:solidFill>
                <a:schemeClr val="bg2">
                  <a:lumMod val="10000"/>
                </a:schemeClr>
              </a:solidFill>
              <a:latin typeface="Chromatica"/>
            </a:endParaRPr>
          </a:p>
        </p:txBody>
      </p:sp>
      <p:sp>
        <p:nvSpPr>
          <p:cNvPr id="29" name="Text 14">
            <a:extLst>
              <a:ext uri="{FF2B5EF4-FFF2-40B4-BE49-F238E27FC236}">
                <a16:creationId xmlns:a16="http://schemas.microsoft.com/office/drawing/2014/main" id="{53CF7D53-A046-0684-14A9-45BAEE2C3CA4}"/>
              </a:ext>
            </a:extLst>
          </p:cNvPr>
          <p:cNvSpPr/>
          <p:nvPr/>
        </p:nvSpPr>
        <p:spPr>
          <a:xfrm>
            <a:off x="10590278" y="4611695"/>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x1</a:t>
            </a:r>
            <a:endParaRPr lang="en-US" sz="1800" dirty="0">
              <a:latin typeface="Chromatica"/>
            </a:endParaRPr>
          </a:p>
        </p:txBody>
      </p:sp>
      <p:sp>
        <p:nvSpPr>
          <p:cNvPr id="53" name="Text 26">
            <a:extLst>
              <a:ext uri="{FF2B5EF4-FFF2-40B4-BE49-F238E27FC236}">
                <a16:creationId xmlns:a16="http://schemas.microsoft.com/office/drawing/2014/main" id="{ED0A25A1-BA74-584F-AFC3-16072D48EC17}"/>
              </a:ext>
            </a:extLst>
          </p:cNvPr>
          <p:cNvSpPr/>
          <p:nvPr/>
        </p:nvSpPr>
        <p:spPr>
          <a:xfrm>
            <a:off x="10590278" y="8743154"/>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xn</a:t>
            </a:r>
            <a:endParaRPr lang="en-US" sz="1800" dirty="0">
              <a:latin typeface="Chromatica"/>
            </a:endParaRPr>
          </a:p>
        </p:txBody>
      </p:sp>
      <p:sp>
        <p:nvSpPr>
          <p:cNvPr id="103" name="Text 14">
            <a:extLst>
              <a:ext uri="{FF2B5EF4-FFF2-40B4-BE49-F238E27FC236}">
                <a16:creationId xmlns:a16="http://schemas.microsoft.com/office/drawing/2014/main" id="{400269B7-758C-D8CF-C6D8-EB33D34CE246}"/>
              </a:ext>
            </a:extLst>
          </p:cNvPr>
          <p:cNvSpPr/>
          <p:nvPr/>
        </p:nvSpPr>
        <p:spPr>
          <a:xfrm>
            <a:off x="10588268" y="5815549"/>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x2</a:t>
            </a:r>
            <a:endParaRPr lang="en-US" sz="1800" dirty="0">
              <a:latin typeface="Chromatica"/>
            </a:endParaRPr>
          </a:p>
        </p:txBody>
      </p:sp>
      <p:sp>
        <p:nvSpPr>
          <p:cNvPr id="104" name="Text 14">
            <a:extLst>
              <a:ext uri="{FF2B5EF4-FFF2-40B4-BE49-F238E27FC236}">
                <a16:creationId xmlns:a16="http://schemas.microsoft.com/office/drawing/2014/main" id="{F0ECE5A9-3FFF-F26C-3AD3-C845CCB6D06C}"/>
              </a:ext>
            </a:extLst>
          </p:cNvPr>
          <p:cNvSpPr/>
          <p:nvPr/>
        </p:nvSpPr>
        <p:spPr>
          <a:xfrm>
            <a:off x="10586571" y="6981587"/>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x3</a:t>
            </a:r>
            <a:endParaRPr lang="en-US" sz="1800" dirty="0">
              <a:latin typeface="Chromatica"/>
            </a:endParaRPr>
          </a:p>
        </p:txBody>
      </p:sp>
    </p:spTree>
    <p:extLst>
      <p:ext uri="{BB962C8B-B14F-4D97-AF65-F5344CB8AC3E}">
        <p14:creationId xmlns:p14="http://schemas.microsoft.com/office/powerpoint/2010/main" val="263215296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829D7-4465-0066-EB6F-E5CC42663D1F}"/>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409709A7-9D74-A417-6AA2-27DC6329234A}"/>
              </a:ext>
            </a:extLst>
          </p:cNvPr>
          <p:cNvSpPr>
            <a:spLocks noGrp="1"/>
          </p:cNvSpPr>
          <p:nvPr>
            <p:ph type="body" sz="quarter" idx="22"/>
          </p:nvPr>
        </p:nvSpPr>
        <p:spPr/>
        <p:txBody>
          <a:bodyPr/>
          <a:lstStyle/>
          <a:p>
            <a:r>
              <a:rPr lang="de-DE" dirty="0" err="1"/>
              <a:t>Yapay</a:t>
            </a:r>
            <a:r>
              <a:rPr lang="de-DE" dirty="0"/>
              <a:t> </a:t>
            </a:r>
            <a:r>
              <a:rPr lang="de-DE" dirty="0" err="1"/>
              <a:t>Sinir</a:t>
            </a:r>
            <a:r>
              <a:rPr lang="de-DE" dirty="0"/>
              <a:t> Ağı </a:t>
            </a:r>
            <a:r>
              <a:rPr lang="de-DE" dirty="0" err="1"/>
              <a:t>Yapısı</a:t>
            </a:r>
            <a:endParaRPr lang="de-DE" dirty="0"/>
          </a:p>
        </p:txBody>
      </p:sp>
      <p:sp>
        <p:nvSpPr>
          <p:cNvPr id="5" name="Shape 2">
            <a:extLst>
              <a:ext uri="{FF2B5EF4-FFF2-40B4-BE49-F238E27FC236}">
                <a16:creationId xmlns:a16="http://schemas.microsoft.com/office/drawing/2014/main" id="{9616CBCE-128E-52BC-B743-E64B515E7458}"/>
              </a:ext>
            </a:extLst>
          </p:cNvPr>
          <p:cNvSpPr/>
          <p:nvPr/>
        </p:nvSpPr>
        <p:spPr>
          <a:xfrm>
            <a:off x="1655064" y="4618481"/>
            <a:ext cx="598932" cy="661851"/>
          </a:xfrm>
          <a:prstGeom prst="ellipse">
            <a:avLst/>
          </a:prstGeom>
          <a:solidFill>
            <a:schemeClr val="accent1"/>
          </a:solidFill>
          <a:ln/>
        </p:spPr>
        <p:txBody>
          <a:bodyPr/>
          <a:lstStyle/>
          <a:p>
            <a:endParaRPr lang="de-DE"/>
          </a:p>
        </p:txBody>
      </p:sp>
      <p:sp>
        <p:nvSpPr>
          <p:cNvPr id="7" name="Text 3">
            <a:extLst>
              <a:ext uri="{FF2B5EF4-FFF2-40B4-BE49-F238E27FC236}">
                <a16:creationId xmlns:a16="http://schemas.microsoft.com/office/drawing/2014/main" id="{9990D79B-4806-70D7-C2A2-48B74B7FAE7B}"/>
              </a:ext>
            </a:extLst>
          </p:cNvPr>
          <p:cNvSpPr/>
          <p:nvPr/>
        </p:nvSpPr>
        <p:spPr>
          <a:xfrm>
            <a:off x="2318004" y="4741164"/>
            <a:ext cx="4767798" cy="411480"/>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Inputs  </a:t>
            </a:r>
            <a:r>
              <a:rPr lang="en-US" dirty="0">
                <a:solidFill>
                  <a:srgbClr val="5A6B6B"/>
                </a:solidFill>
                <a:latin typeface="Chromatica"/>
                <a:ea typeface="Arial" pitchFamily="34" charset="-122"/>
                <a:cs typeface="Arial" pitchFamily="34" charset="-120"/>
              </a:rPr>
              <a:t>— </a:t>
            </a:r>
            <a:r>
              <a:rPr lang="en-US" dirty="0">
                <a:solidFill>
                  <a:schemeClr val="bg2">
                    <a:lumMod val="10000"/>
                  </a:schemeClr>
                </a:solidFill>
                <a:latin typeface="Chromatica"/>
                <a:ea typeface="Arial" pitchFamily="34" charset="-122"/>
                <a:cs typeface="Arial" pitchFamily="34" charset="-120"/>
              </a:rPr>
              <a:t>Girdi değerleri (x1..xn)</a:t>
            </a:r>
            <a:endParaRPr lang="en-US" dirty="0">
              <a:solidFill>
                <a:schemeClr val="bg2">
                  <a:lumMod val="10000"/>
                </a:schemeClr>
              </a:solidFill>
              <a:latin typeface="Chromatica"/>
            </a:endParaRPr>
          </a:p>
        </p:txBody>
      </p:sp>
      <p:sp>
        <p:nvSpPr>
          <p:cNvPr id="9" name="Shape 4">
            <a:extLst>
              <a:ext uri="{FF2B5EF4-FFF2-40B4-BE49-F238E27FC236}">
                <a16:creationId xmlns:a16="http://schemas.microsoft.com/office/drawing/2014/main" id="{9E99EF22-A95A-9F7D-45D0-E278B04F688A}"/>
              </a:ext>
            </a:extLst>
          </p:cNvPr>
          <p:cNvSpPr/>
          <p:nvPr/>
        </p:nvSpPr>
        <p:spPr>
          <a:xfrm>
            <a:off x="1655064" y="5497068"/>
            <a:ext cx="557784" cy="661851"/>
          </a:xfrm>
          <a:prstGeom prst="ellipse">
            <a:avLst/>
          </a:prstGeom>
          <a:solidFill>
            <a:schemeClr val="accent1"/>
          </a:solidFill>
          <a:ln/>
        </p:spPr>
        <p:txBody>
          <a:bodyPr/>
          <a:lstStyle/>
          <a:p>
            <a:endParaRPr lang="de-DE"/>
          </a:p>
        </p:txBody>
      </p:sp>
      <p:sp>
        <p:nvSpPr>
          <p:cNvPr id="11" name="Text 5">
            <a:extLst>
              <a:ext uri="{FF2B5EF4-FFF2-40B4-BE49-F238E27FC236}">
                <a16:creationId xmlns:a16="http://schemas.microsoft.com/office/drawing/2014/main" id="{9CE3BB01-4DD9-54A0-5CFB-00BB044E33F0}"/>
              </a:ext>
            </a:extLst>
          </p:cNvPr>
          <p:cNvSpPr/>
          <p:nvPr/>
        </p:nvSpPr>
        <p:spPr>
          <a:xfrm>
            <a:off x="2249424" y="5630418"/>
            <a:ext cx="4640580" cy="411480"/>
          </a:xfrm>
          <a:prstGeom prst="rect">
            <a:avLst/>
          </a:prstGeom>
          <a:noFill/>
          <a:ln/>
        </p:spPr>
        <p:txBody>
          <a:bodyPr wrap="square" rtlCol="0" anchor="ctr"/>
          <a:lstStyle/>
          <a:p>
            <a:pPr marL="0" indent="0" algn="l">
              <a:buNone/>
            </a:pPr>
            <a:r>
              <a:rPr lang="en-US" b="1" dirty="0">
                <a:solidFill>
                  <a:schemeClr val="bg2">
                    <a:lumMod val="10000"/>
                  </a:schemeClr>
                </a:solidFill>
                <a:latin typeface="Chromatica"/>
                <a:ea typeface="Arial" pitchFamily="34" charset="-122"/>
                <a:cs typeface="Arial" pitchFamily="34" charset="-120"/>
              </a:rPr>
              <a:t>Weights  </a:t>
            </a:r>
            <a:r>
              <a:rPr lang="en-US" dirty="0">
                <a:solidFill>
                  <a:schemeClr val="bg2">
                    <a:lumMod val="10000"/>
                  </a:schemeClr>
                </a:solidFill>
                <a:latin typeface="Chromatica"/>
                <a:ea typeface="Arial" pitchFamily="34" charset="-122"/>
                <a:cs typeface="Arial" pitchFamily="34" charset="-120"/>
              </a:rPr>
              <a:t>— Her girdinin ağırlığı (w)</a:t>
            </a:r>
            <a:endParaRPr lang="en-US" dirty="0">
              <a:solidFill>
                <a:schemeClr val="bg2">
                  <a:lumMod val="10000"/>
                </a:schemeClr>
              </a:solidFill>
              <a:latin typeface="Chromatica"/>
            </a:endParaRPr>
          </a:p>
        </p:txBody>
      </p:sp>
      <p:sp>
        <p:nvSpPr>
          <p:cNvPr id="29" name="Text 14">
            <a:extLst>
              <a:ext uri="{FF2B5EF4-FFF2-40B4-BE49-F238E27FC236}">
                <a16:creationId xmlns:a16="http://schemas.microsoft.com/office/drawing/2014/main" id="{BFA60297-4E1A-4F29-7897-E1E5E770D0AA}"/>
              </a:ext>
            </a:extLst>
          </p:cNvPr>
          <p:cNvSpPr/>
          <p:nvPr/>
        </p:nvSpPr>
        <p:spPr>
          <a:xfrm>
            <a:off x="10590278" y="4611695"/>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x1</a:t>
            </a:r>
            <a:endParaRPr lang="en-US" sz="1800" dirty="0">
              <a:latin typeface="Chromatica"/>
            </a:endParaRPr>
          </a:p>
        </p:txBody>
      </p:sp>
      <p:sp>
        <p:nvSpPr>
          <p:cNvPr id="53" name="Text 26">
            <a:extLst>
              <a:ext uri="{FF2B5EF4-FFF2-40B4-BE49-F238E27FC236}">
                <a16:creationId xmlns:a16="http://schemas.microsoft.com/office/drawing/2014/main" id="{62DCBD8A-E9CC-C32A-D8E9-F6ADF3BD6589}"/>
              </a:ext>
            </a:extLst>
          </p:cNvPr>
          <p:cNvSpPr/>
          <p:nvPr/>
        </p:nvSpPr>
        <p:spPr>
          <a:xfrm>
            <a:off x="10590278" y="8743154"/>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xn</a:t>
            </a:r>
            <a:endParaRPr lang="en-US" sz="1800" dirty="0">
              <a:latin typeface="Chromatica"/>
            </a:endParaRPr>
          </a:p>
        </p:txBody>
      </p:sp>
      <p:sp>
        <p:nvSpPr>
          <p:cNvPr id="61" name="Text 30">
            <a:extLst>
              <a:ext uri="{FF2B5EF4-FFF2-40B4-BE49-F238E27FC236}">
                <a16:creationId xmlns:a16="http://schemas.microsoft.com/office/drawing/2014/main" id="{19252490-0C10-5E7D-4731-C46C43619265}"/>
              </a:ext>
            </a:extLst>
          </p:cNvPr>
          <p:cNvSpPr/>
          <p:nvPr/>
        </p:nvSpPr>
        <p:spPr>
          <a:xfrm>
            <a:off x="11524600" y="7764345"/>
            <a:ext cx="274320" cy="365760"/>
          </a:xfrm>
          <a:prstGeom prst="rect">
            <a:avLst/>
          </a:prstGeom>
          <a:solidFill>
            <a:schemeClr val="bg1"/>
          </a:solidFill>
          <a:ln/>
        </p:spPr>
        <p:txBody>
          <a:bodyPr wrap="square" rtlCol="0" anchor="ctr"/>
          <a:lstStyle/>
          <a:p>
            <a:pPr marL="0" indent="0">
              <a:buNone/>
            </a:pPr>
            <a:r>
              <a:rPr lang="en-US" sz="2000" b="1" dirty="0">
                <a:solidFill>
                  <a:srgbClr val="1E2B2B"/>
                </a:solidFill>
              </a:rPr>
              <a:t>:</a:t>
            </a:r>
            <a:endParaRPr lang="en-US" sz="2000" dirty="0"/>
          </a:p>
        </p:txBody>
      </p:sp>
      <p:sp>
        <p:nvSpPr>
          <p:cNvPr id="81" name="Text 40">
            <a:extLst>
              <a:ext uri="{FF2B5EF4-FFF2-40B4-BE49-F238E27FC236}">
                <a16:creationId xmlns:a16="http://schemas.microsoft.com/office/drawing/2014/main" id="{1B904465-1451-8C57-D6B7-4FFDB27FDA89}"/>
              </a:ext>
            </a:extLst>
          </p:cNvPr>
          <p:cNvSpPr/>
          <p:nvPr/>
        </p:nvSpPr>
        <p:spPr>
          <a:xfrm>
            <a:off x="11113120" y="3805232"/>
            <a:ext cx="1097280" cy="274320"/>
          </a:xfrm>
          <a:prstGeom prst="rect">
            <a:avLst/>
          </a:prstGeom>
          <a:noFill/>
          <a:ln/>
        </p:spPr>
        <p:txBody>
          <a:bodyPr wrap="square" rtlCol="0" anchor="ctr"/>
          <a:lstStyle/>
          <a:p>
            <a:pPr marL="0" indent="0" algn="ctr">
              <a:buNone/>
            </a:pPr>
            <a:r>
              <a:rPr lang="en-US" sz="1600" dirty="0">
                <a:solidFill>
                  <a:schemeClr val="bg2">
                    <a:lumMod val="10000"/>
                  </a:schemeClr>
                </a:solidFill>
                <a:latin typeface="Chromatica"/>
              </a:rPr>
              <a:t>weights</a:t>
            </a:r>
          </a:p>
        </p:txBody>
      </p:sp>
      <p:sp>
        <p:nvSpPr>
          <p:cNvPr id="89" name="Shape 15">
            <a:extLst>
              <a:ext uri="{FF2B5EF4-FFF2-40B4-BE49-F238E27FC236}">
                <a16:creationId xmlns:a16="http://schemas.microsoft.com/office/drawing/2014/main" id="{8F2CDB10-3B48-5FFF-6655-929C0F6BE19F}"/>
              </a:ext>
            </a:extLst>
          </p:cNvPr>
          <p:cNvSpPr/>
          <p:nvPr/>
        </p:nvSpPr>
        <p:spPr>
          <a:xfrm>
            <a:off x="11305691" y="8510671"/>
            <a:ext cx="712138" cy="827368"/>
          </a:xfrm>
          <a:prstGeom prst="ellipse">
            <a:avLst/>
          </a:prstGeom>
          <a:solidFill>
            <a:schemeClr val="accent1"/>
          </a:solidFill>
          <a:ln w="12700">
            <a:solidFill>
              <a:srgbClr val="0F5257"/>
            </a:solidFill>
            <a:prstDash val="solid"/>
          </a:ln>
        </p:spPr>
        <p:txBody>
          <a:bodyPr/>
          <a:lstStyle/>
          <a:p>
            <a:endParaRPr lang="de-DE"/>
          </a:p>
        </p:txBody>
      </p:sp>
      <p:sp>
        <p:nvSpPr>
          <p:cNvPr id="90" name="Text 16">
            <a:extLst>
              <a:ext uri="{FF2B5EF4-FFF2-40B4-BE49-F238E27FC236}">
                <a16:creationId xmlns:a16="http://schemas.microsoft.com/office/drawing/2014/main" id="{24B61729-D5CF-AAFC-87CC-E7EE92AA32D4}"/>
              </a:ext>
            </a:extLst>
          </p:cNvPr>
          <p:cNvSpPr/>
          <p:nvPr/>
        </p:nvSpPr>
        <p:spPr>
          <a:xfrm>
            <a:off x="11469736" y="8711150"/>
            <a:ext cx="384048" cy="384048"/>
          </a:xfrm>
          <a:prstGeom prst="rect">
            <a:avLst/>
          </a:prstGeom>
          <a:solidFill>
            <a:schemeClr val="accent1"/>
          </a:solidFill>
          <a:ln/>
        </p:spPr>
        <p:txBody>
          <a:bodyPr wrap="square" rtlCol="0" anchor="ctr"/>
          <a:lstStyle/>
          <a:p>
            <a:pPr marL="0" indent="0" algn="ctr">
              <a:buNone/>
            </a:pPr>
            <a:r>
              <a:rPr lang="en-US" sz="1600" b="1" dirty="0">
                <a:solidFill>
                  <a:srgbClr val="FFFFFF"/>
                </a:solidFill>
                <a:latin typeface="Chromatica"/>
                <a:ea typeface="Arial" pitchFamily="34" charset="-122"/>
                <a:cs typeface="Arial" pitchFamily="34" charset="-120"/>
              </a:rPr>
              <a:t>w</a:t>
            </a:r>
            <a:endParaRPr lang="en-US" sz="1600" dirty="0">
              <a:latin typeface="Chromatica"/>
            </a:endParaRPr>
          </a:p>
        </p:txBody>
      </p:sp>
      <p:sp>
        <p:nvSpPr>
          <p:cNvPr id="92" name="Shape 15">
            <a:extLst>
              <a:ext uri="{FF2B5EF4-FFF2-40B4-BE49-F238E27FC236}">
                <a16:creationId xmlns:a16="http://schemas.microsoft.com/office/drawing/2014/main" id="{E21DAAF1-2124-0921-C811-EB91E2BF78A3}"/>
              </a:ext>
            </a:extLst>
          </p:cNvPr>
          <p:cNvSpPr/>
          <p:nvPr/>
        </p:nvSpPr>
        <p:spPr>
          <a:xfrm>
            <a:off x="11305691" y="6749104"/>
            <a:ext cx="712138" cy="827368"/>
          </a:xfrm>
          <a:prstGeom prst="ellipse">
            <a:avLst/>
          </a:prstGeom>
          <a:solidFill>
            <a:schemeClr val="accent1"/>
          </a:solidFill>
          <a:ln w="12700">
            <a:solidFill>
              <a:srgbClr val="0F5257"/>
            </a:solidFill>
            <a:prstDash val="solid"/>
          </a:ln>
        </p:spPr>
        <p:txBody>
          <a:bodyPr/>
          <a:lstStyle/>
          <a:p>
            <a:endParaRPr lang="de-DE"/>
          </a:p>
        </p:txBody>
      </p:sp>
      <p:sp>
        <p:nvSpPr>
          <p:cNvPr id="94" name="Text 16">
            <a:extLst>
              <a:ext uri="{FF2B5EF4-FFF2-40B4-BE49-F238E27FC236}">
                <a16:creationId xmlns:a16="http://schemas.microsoft.com/office/drawing/2014/main" id="{E81C3CEB-24B2-CDAE-7E57-3C66E87F53C1}"/>
              </a:ext>
            </a:extLst>
          </p:cNvPr>
          <p:cNvSpPr/>
          <p:nvPr/>
        </p:nvSpPr>
        <p:spPr>
          <a:xfrm>
            <a:off x="11469736" y="6949583"/>
            <a:ext cx="384048" cy="384048"/>
          </a:xfrm>
          <a:prstGeom prst="rect">
            <a:avLst/>
          </a:prstGeom>
          <a:solidFill>
            <a:schemeClr val="accent1"/>
          </a:solidFill>
          <a:ln/>
        </p:spPr>
        <p:txBody>
          <a:bodyPr wrap="square" rtlCol="0" anchor="ctr"/>
          <a:lstStyle/>
          <a:p>
            <a:pPr marL="0" indent="0" algn="ctr">
              <a:buNone/>
            </a:pPr>
            <a:r>
              <a:rPr lang="en-US" sz="1600" b="1" dirty="0">
                <a:solidFill>
                  <a:srgbClr val="FFFFFF"/>
                </a:solidFill>
                <a:latin typeface="Chromatica"/>
                <a:ea typeface="Arial" pitchFamily="34" charset="-122"/>
                <a:cs typeface="Arial" pitchFamily="34" charset="-120"/>
              </a:rPr>
              <a:t>w</a:t>
            </a:r>
            <a:endParaRPr lang="en-US" sz="1600" dirty="0">
              <a:latin typeface="Chromatica"/>
            </a:endParaRPr>
          </a:p>
        </p:txBody>
      </p:sp>
      <p:sp>
        <p:nvSpPr>
          <p:cNvPr id="96" name="Shape 15">
            <a:extLst>
              <a:ext uri="{FF2B5EF4-FFF2-40B4-BE49-F238E27FC236}">
                <a16:creationId xmlns:a16="http://schemas.microsoft.com/office/drawing/2014/main" id="{6E05D733-E7BD-2FC6-FDC4-E8B442AA0DAB}"/>
              </a:ext>
            </a:extLst>
          </p:cNvPr>
          <p:cNvSpPr/>
          <p:nvPr/>
        </p:nvSpPr>
        <p:spPr>
          <a:xfrm>
            <a:off x="11305691" y="5551062"/>
            <a:ext cx="712138" cy="827368"/>
          </a:xfrm>
          <a:prstGeom prst="ellipse">
            <a:avLst/>
          </a:prstGeom>
          <a:solidFill>
            <a:schemeClr val="accent1"/>
          </a:solidFill>
          <a:ln w="12700">
            <a:solidFill>
              <a:srgbClr val="0F5257"/>
            </a:solidFill>
            <a:prstDash val="solid"/>
          </a:ln>
        </p:spPr>
        <p:txBody>
          <a:bodyPr/>
          <a:lstStyle/>
          <a:p>
            <a:endParaRPr lang="de-DE"/>
          </a:p>
        </p:txBody>
      </p:sp>
      <p:sp>
        <p:nvSpPr>
          <p:cNvPr id="98" name="Text 16">
            <a:extLst>
              <a:ext uri="{FF2B5EF4-FFF2-40B4-BE49-F238E27FC236}">
                <a16:creationId xmlns:a16="http://schemas.microsoft.com/office/drawing/2014/main" id="{F85FA90D-3CA2-22B4-101D-059A711ADF75}"/>
              </a:ext>
            </a:extLst>
          </p:cNvPr>
          <p:cNvSpPr/>
          <p:nvPr/>
        </p:nvSpPr>
        <p:spPr>
          <a:xfrm>
            <a:off x="11469736" y="5751541"/>
            <a:ext cx="384048" cy="384048"/>
          </a:xfrm>
          <a:prstGeom prst="rect">
            <a:avLst/>
          </a:prstGeom>
          <a:solidFill>
            <a:schemeClr val="accent1"/>
          </a:solidFill>
          <a:ln/>
        </p:spPr>
        <p:txBody>
          <a:bodyPr wrap="square" rtlCol="0" anchor="ctr"/>
          <a:lstStyle/>
          <a:p>
            <a:pPr marL="0" indent="0" algn="ctr">
              <a:buNone/>
            </a:pPr>
            <a:r>
              <a:rPr lang="en-US" sz="1600" b="1" dirty="0">
                <a:solidFill>
                  <a:srgbClr val="FFFFFF"/>
                </a:solidFill>
                <a:latin typeface="Chromatica"/>
                <a:ea typeface="Arial" pitchFamily="34" charset="-122"/>
                <a:cs typeface="Arial" pitchFamily="34" charset="-120"/>
              </a:rPr>
              <a:t>w</a:t>
            </a:r>
            <a:endParaRPr lang="en-US" sz="1600" dirty="0">
              <a:latin typeface="Chromatica"/>
            </a:endParaRPr>
          </a:p>
        </p:txBody>
      </p:sp>
      <p:sp>
        <p:nvSpPr>
          <p:cNvPr id="100" name="Shape 15">
            <a:extLst>
              <a:ext uri="{FF2B5EF4-FFF2-40B4-BE49-F238E27FC236}">
                <a16:creationId xmlns:a16="http://schemas.microsoft.com/office/drawing/2014/main" id="{1989AF8F-F9F8-9DAE-7D05-F554C7735B35}"/>
              </a:ext>
            </a:extLst>
          </p:cNvPr>
          <p:cNvSpPr/>
          <p:nvPr/>
        </p:nvSpPr>
        <p:spPr>
          <a:xfrm>
            <a:off x="11308561" y="4356717"/>
            <a:ext cx="712138" cy="827368"/>
          </a:xfrm>
          <a:prstGeom prst="ellipse">
            <a:avLst/>
          </a:prstGeom>
          <a:solidFill>
            <a:schemeClr val="accent1"/>
          </a:solidFill>
          <a:ln w="12700">
            <a:solidFill>
              <a:srgbClr val="0F5257"/>
            </a:solidFill>
            <a:prstDash val="solid"/>
          </a:ln>
        </p:spPr>
        <p:txBody>
          <a:bodyPr/>
          <a:lstStyle/>
          <a:p>
            <a:endParaRPr lang="de-DE"/>
          </a:p>
        </p:txBody>
      </p:sp>
      <p:sp>
        <p:nvSpPr>
          <p:cNvPr id="102" name="Text 16">
            <a:extLst>
              <a:ext uri="{FF2B5EF4-FFF2-40B4-BE49-F238E27FC236}">
                <a16:creationId xmlns:a16="http://schemas.microsoft.com/office/drawing/2014/main" id="{AD34A9A6-EA3A-6724-F97E-1C783D642A02}"/>
              </a:ext>
            </a:extLst>
          </p:cNvPr>
          <p:cNvSpPr/>
          <p:nvPr/>
        </p:nvSpPr>
        <p:spPr>
          <a:xfrm>
            <a:off x="11472606" y="4557196"/>
            <a:ext cx="384048" cy="384048"/>
          </a:xfrm>
          <a:prstGeom prst="rect">
            <a:avLst/>
          </a:prstGeom>
          <a:solidFill>
            <a:schemeClr val="accent1"/>
          </a:solidFill>
          <a:ln/>
        </p:spPr>
        <p:txBody>
          <a:bodyPr wrap="square" rtlCol="0" anchor="ctr"/>
          <a:lstStyle/>
          <a:p>
            <a:pPr marL="0" indent="0" algn="ctr">
              <a:buNone/>
            </a:pPr>
            <a:r>
              <a:rPr lang="en-US" sz="1600" b="1" dirty="0">
                <a:solidFill>
                  <a:srgbClr val="FFFFFF"/>
                </a:solidFill>
                <a:latin typeface="Chromatica"/>
                <a:ea typeface="Arial" pitchFamily="34" charset="-122"/>
                <a:cs typeface="Arial" pitchFamily="34" charset="-120"/>
              </a:rPr>
              <a:t>w</a:t>
            </a:r>
            <a:endParaRPr lang="en-US" sz="1600" dirty="0">
              <a:latin typeface="Chromatica"/>
            </a:endParaRPr>
          </a:p>
        </p:txBody>
      </p:sp>
      <p:sp>
        <p:nvSpPr>
          <p:cNvPr id="103" name="Text 14">
            <a:extLst>
              <a:ext uri="{FF2B5EF4-FFF2-40B4-BE49-F238E27FC236}">
                <a16:creationId xmlns:a16="http://schemas.microsoft.com/office/drawing/2014/main" id="{2CFD2A87-6B7E-9888-2AC4-0DCFF1C8DE12}"/>
              </a:ext>
            </a:extLst>
          </p:cNvPr>
          <p:cNvSpPr/>
          <p:nvPr/>
        </p:nvSpPr>
        <p:spPr>
          <a:xfrm>
            <a:off x="10588268" y="5815549"/>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x2</a:t>
            </a:r>
            <a:endParaRPr lang="en-US" sz="1800" dirty="0">
              <a:latin typeface="Chromatica"/>
            </a:endParaRPr>
          </a:p>
        </p:txBody>
      </p:sp>
      <p:sp>
        <p:nvSpPr>
          <p:cNvPr id="104" name="Text 14">
            <a:extLst>
              <a:ext uri="{FF2B5EF4-FFF2-40B4-BE49-F238E27FC236}">
                <a16:creationId xmlns:a16="http://schemas.microsoft.com/office/drawing/2014/main" id="{ED675939-C8DF-7C7D-D485-B70FA2E52298}"/>
              </a:ext>
            </a:extLst>
          </p:cNvPr>
          <p:cNvSpPr/>
          <p:nvPr/>
        </p:nvSpPr>
        <p:spPr>
          <a:xfrm>
            <a:off x="10586571" y="6981587"/>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x3</a:t>
            </a:r>
            <a:endParaRPr lang="en-US" sz="1800" dirty="0">
              <a:latin typeface="Chromatica"/>
            </a:endParaRPr>
          </a:p>
        </p:txBody>
      </p:sp>
    </p:spTree>
    <p:extLst>
      <p:ext uri="{BB962C8B-B14F-4D97-AF65-F5344CB8AC3E}">
        <p14:creationId xmlns:p14="http://schemas.microsoft.com/office/powerpoint/2010/main" val="2546711453"/>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A0E35-00FC-29F8-E1D7-2C3F2E4B1CBD}"/>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30E22B2F-FF4A-6676-D493-52F2B249C9C1}"/>
              </a:ext>
            </a:extLst>
          </p:cNvPr>
          <p:cNvSpPr>
            <a:spLocks noGrp="1"/>
          </p:cNvSpPr>
          <p:nvPr>
            <p:ph type="body" sz="quarter" idx="22"/>
          </p:nvPr>
        </p:nvSpPr>
        <p:spPr/>
        <p:txBody>
          <a:bodyPr/>
          <a:lstStyle/>
          <a:p>
            <a:r>
              <a:rPr lang="de-DE" dirty="0" err="1"/>
              <a:t>Yapay</a:t>
            </a:r>
            <a:r>
              <a:rPr lang="de-DE" dirty="0"/>
              <a:t> </a:t>
            </a:r>
            <a:r>
              <a:rPr lang="de-DE" dirty="0" err="1"/>
              <a:t>Sinir</a:t>
            </a:r>
            <a:r>
              <a:rPr lang="de-DE" dirty="0"/>
              <a:t> Ağı </a:t>
            </a:r>
            <a:r>
              <a:rPr lang="de-DE" dirty="0" err="1"/>
              <a:t>Yapısı</a:t>
            </a:r>
            <a:endParaRPr lang="de-DE" dirty="0"/>
          </a:p>
        </p:txBody>
      </p:sp>
      <p:sp>
        <p:nvSpPr>
          <p:cNvPr id="5" name="Shape 2">
            <a:extLst>
              <a:ext uri="{FF2B5EF4-FFF2-40B4-BE49-F238E27FC236}">
                <a16:creationId xmlns:a16="http://schemas.microsoft.com/office/drawing/2014/main" id="{1A929614-C6B2-C462-4B1C-1B0B0888FCB9}"/>
              </a:ext>
            </a:extLst>
          </p:cNvPr>
          <p:cNvSpPr/>
          <p:nvPr/>
        </p:nvSpPr>
        <p:spPr>
          <a:xfrm>
            <a:off x="1655064" y="4618481"/>
            <a:ext cx="598932" cy="661851"/>
          </a:xfrm>
          <a:prstGeom prst="ellipse">
            <a:avLst/>
          </a:prstGeom>
          <a:solidFill>
            <a:schemeClr val="accent1"/>
          </a:solidFill>
          <a:ln/>
        </p:spPr>
        <p:txBody>
          <a:bodyPr/>
          <a:lstStyle/>
          <a:p>
            <a:endParaRPr lang="de-DE"/>
          </a:p>
        </p:txBody>
      </p:sp>
      <p:sp>
        <p:nvSpPr>
          <p:cNvPr id="7" name="Text 3">
            <a:extLst>
              <a:ext uri="{FF2B5EF4-FFF2-40B4-BE49-F238E27FC236}">
                <a16:creationId xmlns:a16="http://schemas.microsoft.com/office/drawing/2014/main" id="{F5C5A583-74ED-F5B3-76C4-59D46F856203}"/>
              </a:ext>
            </a:extLst>
          </p:cNvPr>
          <p:cNvSpPr/>
          <p:nvPr/>
        </p:nvSpPr>
        <p:spPr>
          <a:xfrm>
            <a:off x="2318004" y="4741164"/>
            <a:ext cx="4767798" cy="411480"/>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Inputs  </a:t>
            </a:r>
            <a:r>
              <a:rPr lang="en-US" dirty="0">
                <a:solidFill>
                  <a:srgbClr val="5A6B6B"/>
                </a:solidFill>
                <a:latin typeface="Chromatica"/>
                <a:ea typeface="Arial" pitchFamily="34" charset="-122"/>
                <a:cs typeface="Arial" pitchFamily="34" charset="-120"/>
              </a:rPr>
              <a:t>— </a:t>
            </a:r>
            <a:r>
              <a:rPr lang="en-US" dirty="0">
                <a:solidFill>
                  <a:schemeClr val="bg2">
                    <a:lumMod val="10000"/>
                  </a:schemeClr>
                </a:solidFill>
                <a:latin typeface="Chromatica"/>
                <a:ea typeface="Arial" pitchFamily="34" charset="-122"/>
                <a:cs typeface="Arial" pitchFamily="34" charset="-120"/>
              </a:rPr>
              <a:t>Girdi değerleri (x1..xn)</a:t>
            </a:r>
            <a:endParaRPr lang="en-US" dirty="0">
              <a:solidFill>
                <a:schemeClr val="bg2">
                  <a:lumMod val="10000"/>
                </a:schemeClr>
              </a:solidFill>
              <a:latin typeface="Chromatica"/>
            </a:endParaRPr>
          </a:p>
        </p:txBody>
      </p:sp>
      <p:sp>
        <p:nvSpPr>
          <p:cNvPr id="9" name="Shape 4">
            <a:extLst>
              <a:ext uri="{FF2B5EF4-FFF2-40B4-BE49-F238E27FC236}">
                <a16:creationId xmlns:a16="http://schemas.microsoft.com/office/drawing/2014/main" id="{0726BE4C-21D5-BD90-C28F-D2F5CA94B7B5}"/>
              </a:ext>
            </a:extLst>
          </p:cNvPr>
          <p:cNvSpPr/>
          <p:nvPr/>
        </p:nvSpPr>
        <p:spPr>
          <a:xfrm>
            <a:off x="1655064" y="5497068"/>
            <a:ext cx="557784" cy="661851"/>
          </a:xfrm>
          <a:prstGeom prst="ellipse">
            <a:avLst/>
          </a:prstGeom>
          <a:solidFill>
            <a:schemeClr val="accent1"/>
          </a:solidFill>
          <a:ln/>
        </p:spPr>
        <p:txBody>
          <a:bodyPr/>
          <a:lstStyle/>
          <a:p>
            <a:endParaRPr lang="de-DE"/>
          </a:p>
        </p:txBody>
      </p:sp>
      <p:sp>
        <p:nvSpPr>
          <p:cNvPr id="11" name="Text 5">
            <a:extLst>
              <a:ext uri="{FF2B5EF4-FFF2-40B4-BE49-F238E27FC236}">
                <a16:creationId xmlns:a16="http://schemas.microsoft.com/office/drawing/2014/main" id="{F3DA06C1-10EB-0767-E42C-960146CC0453}"/>
              </a:ext>
            </a:extLst>
          </p:cNvPr>
          <p:cNvSpPr/>
          <p:nvPr/>
        </p:nvSpPr>
        <p:spPr>
          <a:xfrm>
            <a:off x="2249424" y="5630418"/>
            <a:ext cx="4640580" cy="411480"/>
          </a:xfrm>
          <a:prstGeom prst="rect">
            <a:avLst/>
          </a:prstGeom>
          <a:noFill/>
          <a:ln/>
        </p:spPr>
        <p:txBody>
          <a:bodyPr wrap="square" rtlCol="0" anchor="ctr"/>
          <a:lstStyle/>
          <a:p>
            <a:pPr marL="0" indent="0" algn="l">
              <a:buNone/>
            </a:pPr>
            <a:r>
              <a:rPr lang="en-US" b="1" dirty="0">
                <a:solidFill>
                  <a:schemeClr val="bg2">
                    <a:lumMod val="10000"/>
                  </a:schemeClr>
                </a:solidFill>
                <a:latin typeface="Chromatica"/>
                <a:ea typeface="Arial" pitchFamily="34" charset="-122"/>
                <a:cs typeface="Arial" pitchFamily="34" charset="-120"/>
              </a:rPr>
              <a:t>Weights  </a:t>
            </a:r>
            <a:r>
              <a:rPr lang="en-US" dirty="0">
                <a:solidFill>
                  <a:schemeClr val="bg2">
                    <a:lumMod val="10000"/>
                  </a:schemeClr>
                </a:solidFill>
                <a:latin typeface="Chromatica"/>
                <a:ea typeface="Arial" pitchFamily="34" charset="-122"/>
                <a:cs typeface="Arial" pitchFamily="34" charset="-120"/>
              </a:rPr>
              <a:t>— Her girdinin ağırlığı (w)</a:t>
            </a:r>
            <a:endParaRPr lang="en-US" dirty="0">
              <a:solidFill>
                <a:schemeClr val="bg2">
                  <a:lumMod val="10000"/>
                </a:schemeClr>
              </a:solidFill>
              <a:latin typeface="Chromatica"/>
            </a:endParaRPr>
          </a:p>
        </p:txBody>
      </p:sp>
      <p:sp>
        <p:nvSpPr>
          <p:cNvPr id="13" name="Shape 6">
            <a:extLst>
              <a:ext uri="{FF2B5EF4-FFF2-40B4-BE49-F238E27FC236}">
                <a16:creationId xmlns:a16="http://schemas.microsoft.com/office/drawing/2014/main" id="{98F18C04-1A9C-A783-CB6D-C6F6296D74A3}"/>
              </a:ext>
            </a:extLst>
          </p:cNvPr>
          <p:cNvSpPr/>
          <p:nvPr/>
        </p:nvSpPr>
        <p:spPr>
          <a:xfrm>
            <a:off x="1659636" y="6373876"/>
            <a:ext cx="557784" cy="661851"/>
          </a:xfrm>
          <a:prstGeom prst="ellipse">
            <a:avLst/>
          </a:prstGeom>
          <a:solidFill>
            <a:schemeClr val="accent1"/>
          </a:solidFill>
          <a:ln/>
        </p:spPr>
        <p:txBody>
          <a:bodyPr/>
          <a:lstStyle/>
          <a:p>
            <a:endParaRPr lang="de-DE"/>
          </a:p>
        </p:txBody>
      </p:sp>
      <p:sp>
        <p:nvSpPr>
          <p:cNvPr id="15" name="Text 7">
            <a:extLst>
              <a:ext uri="{FF2B5EF4-FFF2-40B4-BE49-F238E27FC236}">
                <a16:creationId xmlns:a16="http://schemas.microsoft.com/office/drawing/2014/main" id="{7A9D9D57-E96C-7085-A747-632656175824}"/>
              </a:ext>
            </a:extLst>
          </p:cNvPr>
          <p:cNvSpPr/>
          <p:nvPr/>
        </p:nvSpPr>
        <p:spPr>
          <a:xfrm>
            <a:off x="2262634" y="6525423"/>
            <a:ext cx="4023360" cy="411480"/>
          </a:xfrm>
          <a:prstGeom prst="rect">
            <a:avLst/>
          </a:prstGeom>
          <a:noFill/>
          <a:ln/>
        </p:spPr>
        <p:txBody>
          <a:bodyPr wrap="square" rtlCol="0" anchor="ctr"/>
          <a:lstStyle/>
          <a:p>
            <a:pPr marL="0" indent="0" algn="l">
              <a:buNone/>
            </a:pPr>
            <a:r>
              <a:rPr lang="en-US" b="1" dirty="0">
                <a:solidFill>
                  <a:schemeClr val="bg2">
                    <a:lumMod val="10000"/>
                  </a:schemeClr>
                </a:solidFill>
                <a:latin typeface="Chromatica"/>
                <a:ea typeface="Arial" pitchFamily="34" charset="-122"/>
                <a:cs typeface="Arial" pitchFamily="34" charset="-120"/>
              </a:rPr>
              <a:t>Bias  </a:t>
            </a:r>
            <a:r>
              <a:rPr lang="en-US" dirty="0">
                <a:solidFill>
                  <a:schemeClr val="bg2">
                    <a:lumMod val="10000"/>
                  </a:schemeClr>
                </a:solidFill>
                <a:latin typeface="Chromatica"/>
                <a:ea typeface="Arial" pitchFamily="34" charset="-122"/>
                <a:cs typeface="Arial" pitchFamily="34" charset="-120"/>
              </a:rPr>
              <a:t>— Sabit kaydırma terimi</a:t>
            </a:r>
            <a:endParaRPr lang="en-US" dirty="0">
              <a:solidFill>
                <a:schemeClr val="bg2">
                  <a:lumMod val="10000"/>
                </a:schemeClr>
              </a:solidFill>
              <a:latin typeface="Chromatica"/>
            </a:endParaRPr>
          </a:p>
        </p:txBody>
      </p:sp>
      <p:sp>
        <p:nvSpPr>
          <p:cNvPr id="29" name="Text 14">
            <a:extLst>
              <a:ext uri="{FF2B5EF4-FFF2-40B4-BE49-F238E27FC236}">
                <a16:creationId xmlns:a16="http://schemas.microsoft.com/office/drawing/2014/main" id="{FB95FF49-1DA0-BB2A-6166-FBAAFD367DCF}"/>
              </a:ext>
            </a:extLst>
          </p:cNvPr>
          <p:cNvSpPr/>
          <p:nvPr/>
        </p:nvSpPr>
        <p:spPr>
          <a:xfrm>
            <a:off x="10590278" y="4611695"/>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x1</a:t>
            </a:r>
            <a:endParaRPr lang="en-US" sz="1800" dirty="0">
              <a:latin typeface="Chromatica"/>
            </a:endParaRPr>
          </a:p>
        </p:txBody>
      </p:sp>
      <p:sp>
        <p:nvSpPr>
          <p:cNvPr id="53" name="Text 26">
            <a:extLst>
              <a:ext uri="{FF2B5EF4-FFF2-40B4-BE49-F238E27FC236}">
                <a16:creationId xmlns:a16="http://schemas.microsoft.com/office/drawing/2014/main" id="{04E8AD02-A287-D9A7-36CF-2F6FBA27DB98}"/>
              </a:ext>
            </a:extLst>
          </p:cNvPr>
          <p:cNvSpPr/>
          <p:nvPr/>
        </p:nvSpPr>
        <p:spPr>
          <a:xfrm>
            <a:off x="10590278" y="8743154"/>
            <a:ext cx="457200" cy="320040"/>
          </a:xfrm>
          <a:prstGeom prst="rect">
            <a:avLst/>
          </a:prstGeom>
          <a:noFill/>
          <a:ln/>
        </p:spPr>
        <p:txBody>
          <a:bodyPr wrap="square" rtlCol="0" anchor="ctr"/>
          <a:lstStyle/>
          <a:p>
            <a:pPr marL="0" indent="0" algn="r">
              <a:buNone/>
            </a:pPr>
            <a:r>
              <a:rPr lang="en-US" sz="1800" i="1" dirty="0" err="1">
                <a:solidFill>
                  <a:srgbClr val="1E2B2B"/>
                </a:solidFill>
                <a:latin typeface="Chromatica"/>
              </a:rPr>
              <a:t>xn</a:t>
            </a:r>
            <a:endParaRPr lang="en-US" sz="1800" dirty="0">
              <a:latin typeface="Chromatica"/>
            </a:endParaRPr>
          </a:p>
        </p:txBody>
      </p:sp>
      <p:sp>
        <p:nvSpPr>
          <p:cNvPr id="61" name="Text 30">
            <a:extLst>
              <a:ext uri="{FF2B5EF4-FFF2-40B4-BE49-F238E27FC236}">
                <a16:creationId xmlns:a16="http://schemas.microsoft.com/office/drawing/2014/main" id="{B4C76352-5A7A-1E0F-1DDF-C28F2958EE5C}"/>
              </a:ext>
            </a:extLst>
          </p:cNvPr>
          <p:cNvSpPr/>
          <p:nvPr/>
        </p:nvSpPr>
        <p:spPr>
          <a:xfrm>
            <a:off x="11524600" y="7764345"/>
            <a:ext cx="274320" cy="365760"/>
          </a:xfrm>
          <a:prstGeom prst="rect">
            <a:avLst/>
          </a:prstGeom>
          <a:solidFill>
            <a:schemeClr val="bg1"/>
          </a:solidFill>
          <a:ln/>
        </p:spPr>
        <p:txBody>
          <a:bodyPr wrap="square" rtlCol="0" anchor="ctr"/>
          <a:lstStyle/>
          <a:p>
            <a:pPr marL="0" indent="0">
              <a:buNone/>
            </a:pPr>
            <a:r>
              <a:rPr lang="en-US" sz="2000" b="1" dirty="0">
                <a:solidFill>
                  <a:srgbClr val="1E2B2B"/>
                </a:solidFill>
              </a:rPr>
              <a:t>:</a:t>
            </a:r>
            <a:endParaRPr lang="en-US" sz="2000" dirty="0"/>
          </a:p>
        </p:txBody>
      </p:sp>
      <p:sp>
        <p:nvSpPr>
          <p:cNvPr id="67" name="Text 33">
            <a:extLst>
              <a:ext uri="{FF2B5EF4-FFF2-40B4-BE49-F238E27FC236}">
                <a16:creationId xmlns:a16="http://schemas.microsoft.com/office/drawing/2014/main" id="{D96B1559-D91D-0709-558D-228AE557C254}"/>
              </a:ext>
            </a:extLst>
          </p:cNvPr>
          <p:cNvSpPr/>
          <p:nvPr/>
        </p:nvSpPr>
        <p:spPr>
          <a:xfrm>
            <a:off x="13423745" y="9528991"/>
            <a:ext cx="822960" cy="274320"/>
          </a:xfrm>
          <a:prstGeom prst="rect">
            <a:avLst/>
          </a:prstGeom>
          <a:noFill/>
          <a:ln/>
        </p:spPr>
        <p:txBody>
          <a:bodyPr wrap="square" rtlCol="0" anchor="ctr"/>
          <a:lstStyle/>
          <a:p>
            <a:pPr marL="0" indent="0" algn="ctr">
              <a:buNone/>
            </a:pPr>
            <a:r>
              <a:rPr lang="en-US" sz="1800" dirty="0">
                <a:solidFill>
                  <a:srgbClr val="5A6B6B"/>
                </a:solidFill>
                <a:latin typeface="Chromatica"/>
              </a:rPr>
              <a:t>bias</a:t>
            </a:r>
            <a:endParaRPr lang="en-US" sz="1800" dirty="0">
              <a:latin typeface="Chromatica"/>
            </a:endParaRPr>
          </a:p>
        </p:txBody>
      </p:sp>
      <p:sp>
        <p:nvSpPr>
          <p:cNvPr id="81" name="Text 40">
            <a:extLst>
              <a:ext uri="{FF2B5EF4-FFF2-40B4-BE49-F238E27FC236}">
                <a16:creationId xmlns:a16="http://schemas.microsoft.com/office/drawing/2014/main" id="{14826E42-34C6-E63A-447B-C4F53113A35A}"/>
              </a:ext>
            </a:extLst>
          </p:cNvPr>
          <p:cNvSpPr/>
          <p:nvPr/>
        </p:nvSpPr>
        <p:spPr>
          <a:xfrm>
            <a:off x="11113120" y="3805232"/>
            <a:ext cx="1097280" cy="274320"/>
          </a:xfrm>
          <a:prstGeom prst="rect">
            <a:avLst/>
          </a:prstGeom>
          <a:noFill/>
          <a:ln/>
        </p:spPr>
        <p:txBody>
          <a:bodyPr wrap="square" rtlCol="0" anchor="ctr"/>
          <a:lstStyle/>
          <a:p>
            <a:pPr marL="0" indent="0" algn="ctr">
              <a:buNone/>
            </a:pPr>
            <a:r>
              <a:rPr lang="en-US" sz="1600" dirty="0">
                <a:solidFill>
                  <a:schemeClr val="bg2">
                    <a:lumMod val="10000"/>
                  </a:schemeClr>
                </a:solidFill>
                <a:latin typeface="Chromatica"/>
              </a:rPr>
              <a:t>weights</a:t>
            </a:r>
          </a:p>
        </p:txBody>
      </p:sp>
      <p:sp>
        <p:nvSpPr>
          <p:cNvPr id="89" name="Shape 15">
            <a:extLst>
              <a:ext uri="{FF2B5EF4-FFF2-40B4-BE49-F238E27FC236}">
                <a16:creationId xmlns:a16="http://schemas.microsoft.com/office/drawing/2014/main" id="{E18F41D1-7C6D-597D-8ED1-C0D7C6A36A5D}"/>
              </a:ext>
            </a:extLst>
          </p:cNvPr>
          <p:cNvSpPr/>
          <p:nvPr/>
        </p:nvSpPr>
        <p:spPr>
          <a:xfrm>
            <a:off x="11305691" y="8510671"/>
            <a:ext cx="712138" cy="827368"/>
          </a:xfrm>
          <a:prstGeom prst="ellipse">
            <a:avLst/>
          </a:prstGeom>
          <a:solidFill>
            <a:schemeClr val="accent1"/>
          </a:solidFill>
          <a:ln w="12700">
            <a:solidFill>
              <a:srgbClr val="0F5257"/>
            </a:solidFill>
            <a:prstDash val="solid"/>
          </a:ln>
        </p:spPr>
        <p:txBody>
          <a:bodyPr/>
          <a:lstStyle/>
          <a:p>
            <a:endParaRPr lang="de-DE"/>
          </a:p>
        </p:txBody>
      </p:sp>
      <p:sp>
        <p:nvSpPr>
          <p:cNvPr id="90" name="Text 16">
            <a:extLst>
              <a:ext uri="{FF2B5EF4-FFF2-40B4-BE49-F238E27FC236}">
                <a16:creationId xmlns:a16="http://schemas.microsoft.com/office/drawing/2014/main" id="{8076E0CD-06EA-6566-A295-6223C8AEE3A9}"/>
              </a:ext>
            </a:extLst>
          </p:cNvPr>
          <p:cNvSpPr/>
          <p:nvPr/>
        </p:nvSpPr>
        <p:spPr>
          <a:xfrm>
            <a:off x="11469736" y="8711150"/>
            <a:ext cx="384048" cy="384048"/>
          </a:xfrm>
          <a:prstGeom prst="rect">
            <a:avLst/>
          </a:prstGeom>
          <a:solidFill>
            <a:schemeClr val="accent1"/>
          </a:solidFill>
          <a:ln/>
        </p:spPr>
        <p:txBody>
          <a:bodyPr wrap="square" rtlCol="0" anchor="ctr"/>
          <a:lstStyle/>
          <a:p>
            <a:pPr marL="0" indent="0" algn="ctr">
              <a:buNone/>
            </a:pPr>
            <a:r>
              <a:rPr lang="en-US" sz="1600" b="1" dirty="0">
                <a:solidFill>
                  <a:srgbClr val="FFFFFF"/>
                </a:solidFill>
                <a:latin typeface="Chromatica"/>
                <a:ea typeface="Arial" pitchFamily="34" charset="-122"/>
                <a:cs typeface="Arial" pitchFamily="34" charset="-120"/>
              </a:rPr>
              <a:t>w</a:t>
            </a:r>
            <a:endParaRPr lang="en-US" sz="1600" dirty="0">
              <a:latin typeface="Chromatica"/>
            </a:endParaRPr>
          </a:p>
        </p:txBody>
      </p:sp>
      <p:sp>
        <p:nvSpPr>
          <p:cNvPr id="92" name="Shape 15">
            <a:extLst>
              <a:ext uri="{FF2B5EF4-FFF2-40B4-BE49-F238E27FC236}">
                <a16:creationId xmlns:a16="http://schemas.microsoft.com/office/drawing/2014/main" id="{3D9CAADE-962E-D348-34FF-15EED3DDEC0E}"/>
              </a:ext>
            </a:extLst>
          </p:cNvPr>
          <p:cNvSpPr/>
          <p:nvPr/>
        </p:nvSpPr>
        <p:spPr>
          <a:xfrm>
            <a:off x="11305691" y="6749104"/>
            <a:ext cx="712138" cy="827368"/>
          </a:xfrm>
          <a:prstGeom prst="ellipse">
            <a:avLst/>
          </a:prstGeom>
          <a:solidFill>
            <a:schemeClr val="accent1"/>
          </a:solidFill>
          <a:ln w="12700">
            <a:solidFill>
              <a:srgbClr val="0F5257"/>
            </a:solidFill>
            <a:prstDash val="solid"/>
          </a:ln>
        </p:spPr>
        <p:txBody>
          <a:bodyPr/>
          <a:lstStyle/>
          <a:p>
            <a:endParaRPr lang="de-DE"/>
          </a:p>
        </p:txBody>
      </p:sp>
      <p:sp>
        <p:nvSpPr>
          <p:cNvPr id="94" name="Text 16">
            <a:extLst>
              <a:ext uri="{FF2B5EF4-FFF2-40B4-BE49-F238E27FC236}">
                <a16:creationId xmlns:a16="http://schemas.microsoft.com/office/drawing/2014/main" id="{10ED09A3-4494-1B15-0178-B1EE02808310}"/>
              </a:ext>
            </a:extLst>
          </p:cNvPr>
          <p:cNvSpPr/>
          <p:nvPr/>
        </p:nvSpPr>
        <p:spPr>
          <a:xfrm>
            <a:off x="11469736" y="6949583"/>
            <a:ext cx="384048" cy="384048"/>
          </a:xfrm>
          <a:prstGeom prst="rect">
            <a:avLst/>
          </a:prstGeom>
          <a:solidFill>
            <a:schemeClr val="accent1"/>
          </a:solidFill>
          <a:ln/>
        </p:spPr>
        <p:txBody>
          <a:bodyPr wrap="square" rtlCol="0" anchor="ctr"/>
          <a:lstStyle/>
          <a:p>
            <a:pPr marL="0" indent="0" algn="ctr">
              <a:buNone/>
            </a:pPr>
            <a:r>
              <a:rPr lang="en-US" sz="1600" b="1" dirty="0">
                <a:solidFill>
                  <a:srgbClr val="FFFFFF"/>
                </a:solidFill>
                <a:latin typeface="Chromatica"/>
                <a:ea typeface="Arial" pitchFamily="34" charset="-122"/>
                <a:cs typeface="Arial" pitchFamily="34" charset="-120"/>
              </a:rPr>
              <a:t>w</a:t>
            </a:r>
            <a:endParaRPr lang="en-US" sz="1600" dirty="0">
              <a:latin typeface="Chromatica"/>
            </a:endParaRPr>
          </a:p>
        </p:txBody>
      </p:sp>
      <p:sp>
        <p:nvSpPr>
          <p:cNvPr id="96" name="Shape 15">
            <a:extLst>
              <a:ext uri="{FF2B5EF4-FFF2-40B4-BE49-F238E27FC236}">
                <a16:creationId xmlns:a16="http://schemas.microsoft.com/office/drawing/2014/main" id="{83F4AB99-51A1-157B-2F70-4C50F6DBDDB1}"/>
              </a:ext>
            </a:extLst>
          </p:cNvPr>
          <p:cNvSpPr/>
          <p:nvPr/>
        </p:nvSpPr>
        <p:spPr>
          <a:xfrm>
            <a:off x="11305691" y="5551062"/>
            <a:ext cx="712138" cy="827368"/>
          </a:xfrm>
          <a:prstGeom prst="ellipse">
            <a:avLst/>
          </a:prstGeom>
          <a:solidFill>
            <a:schemeClr val="accent1"/>
          </a:solidFill>
          <a:ln w="12700">
            <a:solidFill>
              <a:srgbClr val="0F5257"/>
            </a:solidFill>
            <a:prstDash val="solid"/>
          </a:ln>
        </p:spPr>
        <p:txBody>
          <a:bodyPr/>
          <a:lstStyle/>
          <a:p>
            <a:endParaRPr lang="de-DE"/>
          </a:p>
        </p:txBody>
      </p:sp>
      <p:sp>
        <p:nvSpPr>
          <p:cNvPr id="98" name="Text 16">
            <a:extLst>
              <a:ext uri="{FF2B5EF4-FFF2-40B4-BE49-F238E27FC236}">
                <a16:creationId xmlns:a16="http://schemas.microsoft.com/office/drawing/2014/main" id="{8C6A3FB7-4023-6FDC-398A-2B88DF27F70D}"/>
              </a:ext>
            </a:extLst>
          </p:cNvPr>
          <p:cNvSpPr/>
          <p:nvPr/>
        </p:nvSpPr>
        <p:spPr>
          <a:xfrm>
            <a:off x="11469736" y="5751541"/>
            <a:ext cx="384048" cy="384048"/>
          </a:xfrm>
          <a:prstGeom prst="rect">
            <a:avLst/>
          </a:prstGeom>
          <a:solidFill>
            <a:schemeClr val="accent1"/>
          </a:solidFill>
          <a:ln/>
        </p:spPr>
        <p:txBody>
          <a:bodyPr wrap="square" rtlCol="0" anchor="ctr"/>
          <a:lstStyle/>
          <a:p>
            <a:pPr marL="0" indent="0" algn="ctr">
              <a:buNone/>
            </a:pPr>
            <a:r>
              <a:rPr lang="en-US" sz="1600" b="1" dirty="0">
                <a:solidFill>
                  <a:srgbClr val="FFFFFF"/>
                </a:solidFill>
                <a:latin typeface="Chromatica"/>
                <a:ea typeface="Arial" pitchFamily="34" charset="-122"/>
                <a:cs typeface="Arial" pitchFamily="34" charset="-120"/>
              </a:rPr>
              <a:t>w</a:t>
            </a:r>
            <a:endParaRPr lang="en-US" sz="1600" dirty="0">
              <a:latin typeface="Chromatica"/>
            </a:endParaRPr>
          </a:p>
        </p:txBody>
      </p:sp>
      <p:sp>
        <p:nvSpPr>
          <p:cNvPr id="100" name="Shape 15">
            <a:extLst>
              <a:ext uri="{FF2B5EF4-FFF2-40B4-BE49-F238E27FC236}">
                <a16:creationId xmlns:a16="http://schemas.microsoft.com/office/drawing/2014/main" id="{1BDF5A8A-1EE4-F3A9-24A3-82C9B9474A38}"/>
              </a:ext>
            </a:extLst>
          </p:cNvPr>
          <p:cNvSpPr/>
          <p:nvPr/>
        </p:nvSpPr>
        <p:spPr>
          <a:xfrm>
            <a:off x="11308561" y="4356717"/>
            <a:ext cx="712138" cy="827368"/>
          </a:xfrm>
          <a:prstGeom prst="ellipse">
            <a:avLst/>
          </a:prstGeom>
          <a:solidFill>
            <a:schemeClr val="accent1"/>
          </a:solidFill>
          <a:ln w="12700">
            <a:solidFill>
              <a:srgbClr val="0F5257"/>
            </a:solidFill>
            <a:prstDash val="solid"/>
          </a:ln>
        </p:spPr>
        <p:txBody>
          <a:bodyPr/>
          <a:lstStyle/>
          <a:p>
            <a:endParaRPr lang="de-DE"/>
          </a:p>
        </p:txBody>
      </p:sp>
      <p:sp>
        <p:nvSpPr>
          <p:cNvPr id="102" name="Text 16">
            <a:extLst>
              <a:ext uri="{FF2B5EF4-FFF2-40B4-BE49-F238E27FC236}">
                <a16:creationId xmlns:a16="http://schemas.microsoft.com/office/drawing/2014/main" id="{8176BD14-8AEF-3AB4-F19D-6011BC11907A}"/>
              </a:ext>
            </a:extLst>
          </p:cNvPr>
          <p:cNvSpPr/>
          <p:nvPr/>
        </p:nvSpPr>
        <p:spPr>
          <a:xfrm>
            <a:off x="11472606" y="4557196"/>
            <a:ext cx="384048" cy="384048"/>
          </a:xfrm>
          <a:prstGeom prst="rect">
            <a:avLst/>
          </a:prstGeom>
          <a:solidFill>
            <a:schemeClr val="accent1"/>
          </a:solidFill>
          <a:ln/>
        </p:spPr>
        <p:txBody>
          <a:bodyPr wrap="square" rtlCol="0" anchor="ctr"/>
          <a:lstStyle/>
          <a:p>
            <a:pPr marL="0" indent="0" algn="ctr">
              <a:buNone/>
            </a:pPr>
            <a:r>
              <a:rPr lang="en-US" sz="1600" b="1" dirty="0">
                <a:solidFill>
                  <a:srgbClr val="FFFFFF"/>
                </a:solidFill>
                <a:latin typeface="Chromatica"/>
                <a:ea typeface="Arial" pitchFamily="34" charset="-122"/>
                <a:cs typeface="Arial" pitchFamily="34" charset="-120"/>
              </a:rPr>
              <a:t>w</a:t>
            </a:r>
            <a:endParaRPr lang="en-US" sz="1600" dirty="0">
              <a:latin typeface="Chromatica"/>
            </a:endParaRPr>
          </a:p>
        </p:txBody>
      </p:sp>
      <p:sp>
        <p:nvSpPr>
          <p:cNvPr id="103" name="Text 14">
            <a:extLst>
              <a:ext uri="{FF2B5EF4-FFF2-40B4-BE49-F238E27FC236}">
                <a16:creationId xmlns:a16="http://schemas.microsoft.com/office/drawing/2014/main" id="{B1126126-BDA1-FD11-7109-263AB7823AB5}"/>
              </a:ext>
            </a:extLst>
          </p:cNvPr>
          <p:cNvSpPr/>
          <p:nvPr/>
        </p:nvSpPr>
        <p:spPr>
          <a:xfrm>
            <a:off x="10588268" y="5815549"/>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x2</a:t>
            </a:r>
            <a:endParaRPr lang="en-US" sz="1800" dirty="0">
              <a:latin typeface="Chromatica"/>
            </a:endParaRPr>
          </a:p>
        </p:txBody>
      </p:sp>
      <p:sp>
        <p:nvSpPr>
          <p:cNvPr id="104" name="Text 14">
            <a:extLst>
              <a:ext uri="{FF2B5EF4-FFF2-40B4-BE49-F238E27FC236}">
                <a16:creationId xmlns:a16="http://schemas.microsoft.com/office/drawing/2014/main" id="{A743F0D6-FC26-3270-EB21-25FAD8DE4268}"/>
              </a:ext>
            </a:extLst>
          </p:cNvPr>
          <p:cNvSpPr/>
          <p:nvPr/>
        </p:nvSpPr>
        <p:spPr>
          <a:xfrm>
            <a:off x="10586571" y="6981587"/>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x3</a:t>
            </a:r>
            <a:endParaRPr lang="en-US" sz="1800" dirty="0">
              <a:latin typeface="Chromatica"/>
            </a:endParaRPr>
          </a:p>
        </p:txBody>
      </p:sp>
    </p:spTree>
    <p:extLst>
      <p:ext uri="{BB962C8B-B14F-4D97-AF65-F5344CB8AC3E}">
        <p14:creationId xmlns:p14="http://schemas.microsoft.com/office/powerpoint/2010/main" val="67353165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78FD3-C72A-A11B-5754-9859CF9554C0}"/>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0266A17E-5637-540D-1633-24051926C611}"/>
              </a:ext>
            </a:extLst>
          </p:cNvPr>
          <p:cNvSpPr>
            <a:spLocks noGrp="1"/>
          </p:cNvSpPr>
          <p:nvPr>
            <p:ph type="body" sz="quarter" idx="22"/>
          </p:nvPr>
        </p:nvSpPr>
        <p:spPr/>
        <p:txBody>
          <a:bodyPr/>
          <a:lstStyle/>
          <a:p>
            <a:r>
              <a:rPr lang="de-DE" dirty="0" err="1"/>
              <a:t>Yapay</a:t>
            </a:r>
            <a:r>
              <a:rPr lang="de-DE" dirty="0"/>
              <a:t> </a:t>
            </a:r>
            <a:r>
              <a:rPr lang="de-DE" dirty="0" err="1"/>
              <a:t>Sinir</a:t>
            </a:r>
            <a:r>
              <a:rPr lang="de-DE" dirty="0"/>
              <a:t> Ağı </a:t>
            </a:r>
            <a:r>
              <a:rPr lang="de-DE" dirty="0" err="1"/>
              <a:t>Yapısı</a:t>
            </a:r>
            <a:endParaRPr lang="de-DE" dirty="0"/>
          </a:p>
        </p:txBody>
      </p:sp>
      <p:sp>
        <p:nvSpPr>
          <p:cNvPr id="5" name="Shape 2">
            <a:extLst>
              <a:ext uri="{FF2B5EF4-FFF2-40B4-BE49-F238E27FC236}">
                <a16:creationId xmlns:a16="http://schemas.microsoft.com/office/drawing/2014/main" id="{EEEE7387-A9CD-1A84-3735-1F56E2ED11CB}"/>
              </a:ext>
            </a:extLst>
          </p:cNvPr>
          <p:cNvSpPr/>
          <p:nvPr/>
        </p:nvSpPr>
        <p:spPr>
          <a:xfrm>
            <a:off x="1655064" y="4618481"/>
            <a:ext cx="598932" cy="661851"/>
          </a:xfrm>
          <a:prstGeom prst="ellipse">
            <a:avLst/>
          </a:prstGeom>
          <a:solidFill>
            <a:schemeClr val="accent1"/>
          </a:solidFill>
          <a:ln/>
        </p:spPr>
        <p:txBody>
          <a:bodyPr/>
          <a:lstStyle/>
          <a:p>
            <a:endParaRPr lang="de-DE"/>
          </a:p>
        </p:txBody>
      </p:sp>
      <p:sp>
        <p:nvSpPr>
          <p:cNvPr id="7" name="Text 3">
            <a:extLst>
              <a:ext uri="{FF2B5EF4-FFF2-40B4-BE49-F238E27FC236}">
                <a16:creationId xmlns:a16="http://schemas.microsoft.com/office/drawing/2014/main" id="{89FA791F-2F28-1F42-6506-BDC6F0D08A8A}"/>
              </a:ext>
            </a:extLst>
          </p:cNvPr>
          <p:cNvSpPr/>
          <p:nvPr/>
        </p:nvSpPr>
        <p:spPr>
          <a:xfrm>
            <a:off x="2318004" y="4741164"/>
            <a:ext cx="4767798" cy="411480"/>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Inputs  </a:t>
            </a:r>
            <a:r>
              <a:rPr lang="en-US" dirty="0">
                <a:solidFill>
                  <a:srgbClr val="5A6B6B"/>
                </a:solidFill>
                <a:latin typeface="Chromatica"/>
                <a:ea typeface="Arial" pitchFamily="34" charset="-122"/>
                <a:cs typeface="Arial" pitchFamily="34" charset="-120"/>
              </a:rPr>
              <a:t>— </a:t>
            </a:r>
            <a:r>
              <a:rPr lang="en-US" dirty="0">
                <a:solidFill>
                  <a:schemeClr val="bg2">
                    <a:lumMod val="10000"/>
                  </a:schemeClr>
                </a:solidFill>
                <a:latin typeface="Chromatica"/>
                <a:ea typeface="Arial" pitchFamily="34" charset="-122"/>
                <a:cs typeface="Arial" pitchFamily="34" charset="-120"/>
              </a:rPr>
              <a:t>Girdi değerleri (x1..xn)</a:t>
            </a:r>
            <a:endParaRPr lang="en-US" dirty="0">
              <a:solidFill>
                <a:schemeClr val="bg2">
                  <a:lumMod val="10000"/>
                </a:schemeClr>
              </a:solidFill>
              <a:latin typeface="Chromatica"/>
            </a:endParaRPr>
          </a:p>
        </p:txBody>
      </p:sp>
      <p:sp>
        <p:nvSpPr>
          <p:cNvPr id="9" name="Shape 4">
            <a:extLst>
              <a:ext uri="{FF2B5EF4-FFF2-40B4-BE49-F238E27FC236}">
                <a16:creationId xmlns:a16="http://schemas.microsoft.com/office/drawing/2014/main" id="{3824FCC2-FEC0-7E8C-CA6C-11975209D126}"/>
              </a:ext>
            </a:extLst>
          </p:cNvPr>
          <p:cNvSpPr/>
          <p:nvPr/>
        </p:nvSpPr>
        <p:spPr>
          <a:xfrm>
            <a:off x="1655064" y="5497068"/>
            <a:ext cx="557784" cy="661851"/>
          </a:xfrm>
          <a:prstGeom prst="ellipse">
            <a:avLst/>
          </a:prstGeom>
          <a:solidFill>
            <a:schemeClr val="accent1"/>
          </a:solidFill>
          <a:ln/>
        </p:spPr>
        <p:txBody>
          <a:bodyPr/>
          <a:lstStyle/>
          <a:p>
            <a:endParaRPr lang="de-DE"/>
          </a:p>
        </p:txBody>
      </p:sp>
      <p:sp>
        <p:nvSpPr>
          <p:cNvPr id="11" name="Text 5">
            <a:extLst>
              <a:ext uri="{FF2B5EF4-FFF2-40B4-BE49-F238E27FC236}">
                <a16:creationId xmlns:a16="http://schemas.microsoft.com/office/drawing/2014/main" id="{D7B93502-96AC-42B6-FDD1-C536833EE833}"/>
              </a:ext>
            </a:extLst>
          </p:cNvPr>
          <p:cNvSpPr/>
          <p:nvPr/>
        </p:nvSpPr>
        <p:spPr>
          <a:xfrm>
            <a:off x="2249424" y="5630418"/>
            <a:ext cx="4640580" cy="411480"/>
          </a:xfrm>
          <a:prstGeom prst="rect">
            <a:avLst/>
          </a:prstGeom>
          <a:noFill/>
          <a:ln/>
        </p:spPr>
        <p:txBody>
          <a:bodyPr wrap="square" rtlCol="0" anchor="ctr"/>
          <a:lstStyle/>
          <a:p>
            <a:pPr marL="0" indent="0" algn="l">
              <a:buNone/>
            </a:pPr>
            <a:r>
              <a:rPr lang="en-US" b="1" dirty="0">
                <a:solidFill>
                  <a:schemeClr val="bg2">
                    <a:lumMod val="10000"/>
                  </a:schemeClr>
                </a:solidFill>
                <a:latin typeface="Chromatica"/>
                <a:ea typeface="Arial" pitchFamily="34" charset="-122"/>
                <a:cs typeface="Arial" pitchFamily="34" charset="-120"/>
              </a:rPr>
              <a:t>Weights  </a:t>
            </a:r>
            <a:r>
              <a:rPr lang="en-US" dirty="0">
                <a:solidFill>
                  <a:schemeClr val="bg2">
                    <a:lumMod val="10000"/>
                  </a:schemeClr>
                </a:solidFill>
                <a:latin typeface="Chromatica"/>
                <a:ea typeface="Arial" pitchFamily="34" charset="-122"/>
                <a:cs typeface="Arial" pitchFamily="34" charset="-120"/>
              </a:rPr>
              <a:t>— Her girdinin ağırlığı (w)</a:t>
            </a:r>
            <a:endParaRPr lang="en-US" dirty="0">
              <a:solidFill>
                <a:schemeClr val="bg2">
                  <a:lumMod val="10000"/>
                </a:schemeClr>
              </a:solidFill>
              <a:latin typeface="Chromatica"/>
            </a:endParaRPr>
          </a:p>
        </p:txBody>
      </p:sp>
      <p:sp>
        <p:nvSpPr>
          <p:cNvPr id="13" name="Shape 6">
            <a:extLst>
              <a:ext uri="{FF2B5EF4-FFF2-40B4-BE49-F238E27FC236}">
                <a16:creationId xmlns:a16="http://schemas.microsoft.com/office/drawing/2014/main" id="{C772ABB1-21F2-5F6C-2942-66CD304DF065}"/>
              </a:ext>
            </a:extLst>
          </p:cNvPr>
          <p:cNvSpPr/>
          <p:nvPr/>
        </p:nvSpPr>
        <p:spPr>
          <a:xfrm>
            <a:off x="1659636" y="6373876"/>
            <a:ext cx="557784" cy="661851"/>
          </a:xfrm>
          <a:prstGeom prst="ellipse">
            <a:avLst/>
          </a:prstGeom>
          <a:solidFill>
            <a:schemeClr val="accent1"/>
          </a:solidFill>
          <a:ln/>
        </p:spPr>
        <p:txBody>
          <a:bodyPr/>
          <a:lstStyle/>
          <a:p>
            <a:endParaRPr lang="de-DE"/>
          </a:p>
        </p:txBody>
      </p:sp>
      <p:sp>
        <p:nvSpPr>
          <p:cNvPr id="15" name="Text 7">
            <a:extLst>
              <a:ext uri="{FF2B5EF4-FFF2-40B4-BE49-F238E27FC236}">
                <a16:creationId xmlns:a16="http://schemas.microsoft.com/office/drawing/2014/main" id="{115023B1-2F58-6345-15C6-6C910A6D4202}"/>
              </a:ext>
            </a:extLst>
          </p:cNvPr>
          <p:cNvSpPr/>
          <p:nvPr/>
        </p:nvSpPr>
        <p:spPr>
          <a:xfrm>
            <a:off x="2262634" y="6525423"/>
            <a:ext cx="4023360" cy="411480"/>
          </a:xfrm>
          <a:prstGeom prst="rect">
            <a:avLst/>
          </a:prstGeom>
          <a:noFill/>
          <a:ln/>
        </p:spPr>
        <p:txBody>
          <a:bodyPr wrap="square" rtlCol="0" anchor="ctr"/>
          <a:lstStyle/>
          <a:p>
            <a:pPr marL="0" indent="0" algn="l">
              <a:buNone/>
            </a:pPr>
            <a:r>
              <a:rPr lang="en-US" b="1" dirty="0">
                <a:solidFill>
                  <a:schemeClr val="bg2">
                    <a:lumMod val="10000"/>
                  </a:schemeClr>
                </a:solidFill>
                <a:latin typeface="Chromatica"/>
                <a:ea typeface="Arial" pitchFamily="34" charset="-122"/>
                <a:cs typeface="Arial" pitchFamily="34" charset="-120"/>
              </a:rPr>
              <a:t>Bias  </a:t>
            </a:r>
            <a:r>
              <a:rPr lang="en-US" dirty="0">
                <a:solidFill>
                  <a:schemeClr val="bg2">
                    <a:lumMod val="10000"/>
                  </a:schemeClr>
                </a:solidFill>
                <a:latin typeface="Chromatica"/>
                <a:ea typeface="Arial" pitchFamily="34" charset="-122"/>
                <a:cs typeface="Arial" pitchFamily="34" charset="-120"/>
              </a:rPr>
              <a:t>— Sabit kaydırma terimi</a:t>
            </a:r>
            <a:endParaRPr lang="en-US" dirty="0">
              <a:solidFill>
                <a:schemeClr val="bg2">
                  <a:lumMod val="10000"/>
                </a:schemeClr>
              </a:solidFill>
              <a:latin typeface="Chromatica"/>
            </a:endParaRPr>
          </a:p>
        </p:txBody>
      </p:sp>
      <p:sp>
        <p:nvSpPr>
          <p:cNvPr id="17" name="Shape 8">
            <a:extLst>
              <a:ext uri="{FF2B5EF4-FFF2-40B4-BE49-F238E27FC236}">
                <a16:creationId xmlns:a16="http://schemas.microsoft.com/office/drawing/2014/main" id="{7C93BC4C-8B38-F900-67E6-80EF3DDAF7E0}"/>
              </a:ext>
            </a:extLst>
          </p:cNvPr>
          <p:cNvSpPr/>
          <p:nvPr/>
        </p:nvSpPr>
        <p:spPr>
          <a:xfrm>
            <a:off x="1675638" y="7250684"/>
            <a:ext cx="557784" cy="661851"/>
          </a:xfrm>
          <a:prstGeom prst="ellipse">
            <a:avLst/>
          </a:prstGeom>
          <a:solidFill>
            <a:schemeClr val="accent1"/>
          </a:solidFill>
          <a:ln/>
        </p:spPr>
        <p:txBody>
          <a:bodyPr/>
          <a:lstStyle/>
          <a:p>
            <a:endParaRPr lang="de-DE"/>
          </a:p>
        </p:txBody>
      </p:sp>
      <p:sp>
        <p:nvSpPr>
          <p:cNvPr id="19" name="Text 9">
            <a:extLst>
              <a:ext uri="{FF2B5EF4-FFF2-40B4-BE49-F238E27FC236}">
                <a16:creationId xmlns:a16="http://schemas.microsoft.com/office/drawing/2014/main" id="{A0188919-FB00-5095-6D49-FB18D0B5FB24}"/>
              </a:ext>
            </a:extLst>
          </p:cNvPr>
          <p:cNvSpPr/>
          <p:nvPr/>
        </p:nvSpPr>
        <p:spPr>
          <a:xfrm>
            <a:off x="2262633" y="7375869"/>
            <a:ext cx="5284795" cy="411480"/>
          </a:xfrm>
          <a:prstGeom prst="rect">
            <a:avLst/>
          </a:prstGeom>
          <a:noFill/>
          <a:ln/>
        </p:spPr>
        <p:txBody>
          <a:bodyPr wrap="square" rtlCol="0" anchor="ctr"/>
          <a:lstStyle/>
          <a:p>
            <a:pPr marL="0" indent="0" algn="l">
              <a:buNone/>
            </a:pPr>
            <a:r>
              <a:rPr lang="en-US" b="1" dirty="0">
                <a:solidFill>
                  <a:schemeClr val="bg2">
                    <a:lumMod val="10000"/>
                  </a:schemeClr>
                </a:solidFill>
                <a:latin typeface="Chromatica"/>
                <a:ea typeface="Arial" pitchFamily="34" charset="-122"/>
                <a:cs typeface="Arial" pitchFamily="34" charset="-120"/>
              </a:rPr>
              <a:t>Summation  </a:t>
            </a:r>
            <a:r>
              <a:rPr lang="en-US" dirty="0">
                <a:solidFill>
                  <a:schemeClr val="bg2">
                    <a:lumMod val="10000"/>
                  </a:schemeClr>
                </a:solidFill>
                <a:latin typeface="Chromatica"/>
                <a:ea typeface="Arial" pitchFamily="34" charset="-122"/>
                <a:cs typeface="Arial" pitchFamily="34" charset="-120"/>
              </a:rPr>
              <a:t>— Ağırlıklı toplam (Sigma)</a:t>
            </a:r>
            <a:endParaRPr lang="en-US" dirty="0">
              <a:solidFill>
                <a:schemeClr val="bg2">
                  <a:lumMod val="10000"/>
                </a:schemeClr>
              </a:solidFill>
              <a:latin typeface="Chromatica"/>
            </a:endParaRPr>
          </a:p>
        </p:txBody>
      </p:sp>
      <p:sp>
        <p:nvSpPr>
          <p:cNvPr id="29" name="Text 14">
            <a:extLst>
              <a:ext uri="{FF2B5EF4-FFF2-40B4-BE49-F238E27FC236}">
                <a16:creationId xmlns:a16="http://schemas.microsoft.com/office/drawing/2014/main" id="{BAFD3EE0-97EB-9E98-A508-DC76CCA2AB76}"/>
              </a:ext>
            </a:extLst>
          </p:cNvPr>
          <p:cNvSpPr/>
          <p:nvPr/>
        </p:nvSpPr>
        <p:spPr>
          <a:xfrm>
            <a:off x="10590278" y="4611695"/>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x1</a:t>
            </a:r>
            <a:endParaRPr lang="en-US" sz="1800" dirty="0">
              <a:latin typeface="Chromatica"/>
            </a:endParaRPr>
          </a:p>
        </p:txBody>
      </p:sp>
      <p:sp>
        <p:nvSpPr>
          <p:cNvPr id="53" name="Text 26">
            <a:extLst>
              <a:ext uri="{FF2B5EF4-FFF2-40B4-BE49-F238E27FC236}">
                <a16:creationId xmlns:a16="http://schemas.microsoft.com/office/drawing/2014/main" id="{C83A6748-8844-72B2-636D-6539733F0D16}"/>
              </a:ext>
            </a:extLst>
          </p:cNvPr>
          <p:cNvSpPr/>
          <p:nvPr/>
        </p:nvSpPr>
        <p:spPr>
          <a:xfrm>
            <a:off x="10590278" y="8743154"/>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xn</a:t>
            </a:r>
            <a:endParaRPr lang="en-US" sz="1800" dirty="0">
              <a:latin typeface="Chromatica"/>
            </a:endParaRPr>
          </a:p>
        </p:txBody>
      </p:sp>
      <p:sp>
        <p:nvSpPr>
          <p:cNvPr id="61" name="Text 30">
            <a:extLst>
              <a:ext uri="{FF2B5EF4-FFF2-40B4-BE49-F238E27FC236}">
                <a16:creationId xmlns:a16="http://schemas.microsoft.com/office/drawing/2014/main" id="{26E41E01-CE91-2AEF-C1FC-D5688966F065}"/>
              </a:ext>
            </a:extLst>
          </p:cNvPr>
          <p:cNvSpPr/>
          <p:nvPr/>
        </p:nvSpPr>
        <p:spPr>
          <a:xfrm>
            <a:off x="11524600" y="7764345"/>
            <a:ext cx="274320" cy="365760"/>
          </a:xfrm>
          <a:prstGeom prst="rect">
            <a:avLst/>
          </a:prstGeom>
          <a:noFill/>
          <a:ln/>
        </p:spPr>
        <p:txBody>
          <a:bodyPr wrap="square" rtlCol="0" anchor="ctr"/>
          <a:lstStyle/>
          <a:p>
            <a:pPr marL="0" indent="0">
              <a:buNone/>
            </a:pPr>
            <a:r>
              <a:rPr lang="en-US" sz="2000" b="1" dirty="0">
                <a:solidFill>
                  <a:srgbClr val="1E2B2B"/>
                </a:solidFill>
              </a:rPr>
              <a:t>:</a:t>
            </a:r>
            <a:endParaRPr lang="en-US" sz="2000" dirty="0"/>
          </a:p>
        </p:txBody>
      </p:sp>
      <p:sp>
        <p:nvSpPr>
          <p:cNvPr id="63" name="Shape 31">
            <a:extLst>
              <a:ext uri="{FF2B5EF4-FFF2-40B4-BE49-F238E27FC236}">
                <a16:creationId xmlns:a16="http://schemas.microsoft.com/office/drawing/2014/main" id="{937CE059-686C-0D99-8A34-F561BEBF4C5D}"/>
              </a:ext>
            </a:extLst>
          </p:cNvPr>
          <p:cNvSpPr/>
          <p:nvPr/>
        </p:nvSpPr>
        <p:spPr>
          <a:xfrm>
            <a:off x="14545407" y="6582804"/>
            <a:ext cx="1060198" cy="1169993"/>
          </a:xfrm>
          <a:prstGeom prst="ellipse">
            <a:avLst/>
          </a:prstGeom>
          <a:solidFill>
            <a:schemeClr val="accent1">
              <a:lumMod val="50000"/>
            </a:schemeClr>
          </a:solidFill>
          <a:ln w="12700">
            <a:solidFill>
              <a:srgbClr val="0F5257"/>
            </a:solidFill>
            <a:prstDash val="solid"/>
          </a:ln>
        </p:spPr>
        <p:txBody>
          <a:bodyPr/>
          <a:lstStyle/>
          <a:p>
            <a:endParaRPr lang="de-DE"/>
          </a:p>
        </p:txBody>
      </p:sp>
      <p:sp>
        <p:nvSpPr>
          <p:cNvPr id="65" name="Text 32">
            <a:extLst>
              <a:ext uri="{FF2B5EF4-FFF2-40B4-BE49-F238E27FC236}">
                <a16:creationId xmlns:a16="http://schemas.microsoft.com/office/drawing/2014/main" id="{EB755ED7-CFCA-32C2-3AB9-221B14C4EC10}"/>
              </a:ext>
            </a:extLst>
          </p:cNvPr>
          <p:cNvSpPr/>
          <p:nvPr/>
        </p:nvSpPr>
        <p:spPr>
          <a:xfrm>
            <a:off x="14536332" y="6582804"/>
            <a:ext cx="1060198" cy="1169993"/>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Σ</a:t>
            </a:r>
            <a:endParaRPr lang="en-US" sz="2600" dirty="0"/>
          </a:p>
        </p:txBody>
      </p:sp>
      <p:sp>
        <p:nvSpPr>
          <p:cNvPr id="67" name="Text 33">
            <a:extLst>
              <a:ext uri="{FF2B5EF4-FFF2-40B4-BE49-F238E27FC236}">
                <a16:creationId xmlns:a16="http://schemas.microsoft.com/office/drawing/2014/main" id="{154460E7-1F00-FE0B-8969-8A9230826DEF}"/>
              </a:ext>
            </a:extLst>
          </p:cNvPr>
          <p:cNvSpPr/>
          <p:nvPr/>
        </p:nvSpPr>
        <p:spPr>
          <a:xfrm>
            <a:off x="13423745" y="9528991"/>
            <a:ext cx="822960" cy="274320"/>
          </a:xfrm>
          <a:prstGeom prst="rect">
            <a:avLst/>
          </a:prstGeom>
          <a:noFill/>
          <a:ln/>
        </p:spPr>
        <p:txBody>
          <a:bodyPr wrap="square" rtlCol="0" anchor="ctr"/>
          <a:lstStyle/>
          <a:p>
            <a:pPr marL="0" indent="0" algn="ctr">
              <a:buNone/>
            </a:pPr>
            <a:r>
              <a:rPr lang="en-US" sz="1800" dirty="0">
                <a:solidFill>
                  <a:srgbClr val="5A6B6B"/>
                </a:solidFill>
                <a:latin typeface="Chromatica"/>
              </a:rPr>
              <a:t>bias</a:t>
            </a:r>
            <a:endParaRPr lang="en-US" sz="1800" dirty="0">
              <a:latin typeface="Chromatica"/>
            </a:endParaRPr>
          </a:p>
        </p:txBody>
      </p:sp>
      <p:sp>
        <p:nvSpPr>
          <p:cNvPr id="69" name="Shape 34">
            <a:extLst>
              <a:ext uri="{FF2B5EF4-FFF2-40B4-BE49-F238E27FC236}">
                <a16:creationId xmlns:a16="http://schemas.microsoft.com/office/drawing/2014/main" id="{982F0661-B902-18CE-E5F2-FD25C6A6D354}"/>
              </a:ext>
            </a:extLst>
          </p:cNvPr>
          <p:cNvSpPr/>
          <p:nvPr/>
        </p:nvSpPr>
        <p:spPr>
          <a:xfrm>
            <a:off x="15262862" y="8202168"/>
            <a:ext cx="0" cy="0"/>
          </a:xfrm>
          <a:prstGeom prst="line">
            <a:avLst/>
          </a:prstGeom>
          <a:noFill/>
          <a:ln w="15875">
            <a:solidFill>
              <a:srgbClr val="9AAFAA"/>
            </a:solidFill>
            <a:prstDash val="solid"/>
          </a:ln>
        </p:spPr>
        <p:txBody>
          <a:bodyPr/>
          <a:lstStyle/>
          <a:p>
            <a:endParaRPr lang="de-DE"/>
          </a:p>
        </p:txBody>
      </p:sp>
      <p:sp>
        <p:nvSpPr>
          <p:cNvPr id="81" name="Text 40">
            <a:extLst>
              <a:ext uri="{FF2B5EF4-FFF2-40B4-BE49-F238E27FC236}">
                <a16:creationId xmlns:a16="http://schemas.microsoft.com/office/drawing/2014/main" id="{3EC7A45D-4C3A-4127-98F3-51279DEC8085}"/>
              </a:ext>
            </a:extLst>
          </p:cNvPr>
          <p:cNvSpPr/>
          <p:nvPr/>
        </p:nvSpPr>
        <p:spPr>
          <a:xfrm>
            <a:off x="11113120" y="3805232"/>
            <a:ext cx="1097280" cy="274320"/>
          </a:xfrm>
          <a:prstGeom prst="rect">
            <a:avLst/>
          </a:prstGeom>
          <a:noFill/>
          <a:ln/>
        </p:spPr>
        <p:txBody>
          <a:bodyPr wrap="square" rtlCol="0" anchor="ctr"/>
          <a:lstStyle/>
          <a:p>
            <a:pPr marL="0" indent="0" algn="ctr">
              <a:buNone/>
            </a:pPr>
            <a:r>
              <a:rPr lang="en-US" sz="1600" dirty="0">
                <a:solidFill>
                  <a:schemeClr val="bg2">
                    <a:lumMod val="10000"/>
                  </a:schemeClr>
                </a:solidFill>
                <a:latin typeface="Chromatica"/>
              </a:rPr>
              <a:t>weights</a:t>
            </a:r>
          </a:p>
        </p:txBody>
      </p:sp>
      <p:sp>
        <p:nvSpPr>
          <p:cNvPr id="89" name="Shape 15">
            <a:extLst>
              <a:ext uri="{FF2B5EF4-FFF2-40B4-BE49-F238E27FC236}">
                <a16:creationId xmlns:a16="http://schemas.microsoft.com/office/drawing/2014/main" id="{88AE49F5-7080-C39E-1632-F7DC208D3623}"/>
              </a:ext>
            </a:extLst>
          </p:cNvPr>
          <p:cNvSpPr/>
          <p:nvPr/>
        </p:nvSpPr>
        <p:spPr>
          <a:xfrm>
            <a:off x="11305691" y="8510671"/>
            <a:ext cx="712138" cy="827368"/>
          </a:xfrm>
          <a:prstGeom prst="ellipse">
            <a:avLst/>
          </a:prstGeom>
          <a:solidFill>
            <a:schemeClr val="accent1"/>
          </a:solidFill>
          <a:ln w="12700">
            <a:solidFill>
              <a:srgbClr val="0F5257"/>
            </a:solidFill>
            <a:prstDash val="solid"/>
          </a:ln>
        </p:spPr>
        <p:txBody>
          <a:bodyPr/>
          <a:lstStyle/>
          <a:p>
            <a:endParaRPr lang="de-DE"/>
          </a:p>
        </p:txBody>
      </p:sp>
      <p:sp>
        <p:nvSpPr>
          <p:cNvPr id="90" name="Text 16">
            <a:extLst>
              <a:ext uri="{FF2B5EF4-FFF2-40B4-BE49-F238E27FC236}">
                <a16:creationId xmlns:a16="http://schemas.microsoft.com/office/drawing/2014/main" id="{5C9A8C82-F913-6B7D-B119-5CD435E90C6F}"/>
              </a:ext>
            </a:extLst>
          </p:cNvPr>
          <p:cNvSpPr/>
          <p:nvPr/>
        </p:nvSpPr>
        <p:spPr>
          <a:xfrm>
            <a:off x="11469736" y="8711150"/>
            <a:ext cx="384048" cy="384048"/>
          </a:xfrm>
          <a:prstGeom prst="rect">
            <a:avLst/>
          </a:prstGeom>
          <a:noFill/>
          <a:ln/>
        </p:spPr>
        <p:txBody>
          <a:bodyPr wrap="square" rtlCol="0" anchor="ctr"/>
          <a:lstStyle/>
          <a:p>
            <a:pPr marL="0" indent="0" algn="ctr">
              <a:buNone/>
            </a:pPr>
            <a:r>
              <a:rPr lang="en-US" sz="1600" b="1" dirty="0">
                <a:solidFill>
                  <a:srgbClr val="FFFFFF"/>
                </a:solidFill>
                <a:latin typeface="Chromatica"/>
                <a:ea typeface="Arial" pitchFamily="34" charset="-122"/>
                <a:cs typeface="Arial" pitchFamily="34" charset="-120"/>
              </a:rPr>
              <a:t>w</a:t>
            </a:r>
            <a:endParaRPr lang="en-US" sz="1600" dirty="0">
              <a:latin typeface="Chromatica"/>
            </a:endParaRPr>
          </a:p>
        </p:txBody>
      </p:sp>
      <p:sp>
        <p:nvSpPr>
          <p:cNvPr id="92" name="Shape 15">
            <a:extLst>
              <a:ext uri="{FF2B5EF4-FFF2-40B4-BE49-F238E27FC236}">
                <a16:creationId xmlns:a16="http://schemas.microsoft.com/office/drawing/2014/main" id="{14558EC4-D804-64F1-0670-41BD027BB9B6}"/>
              </a:ext>
            </a:extLst>
          </p:cNvPr>
          <p:cNvSpPr/>
          <p:nvPr/>
        </p:nvSpPr>
        <p:spPr>
          <a:xfrm>
            <a:off x="11305691" y="6749104"/>
            <a:ext cx="712138" cy="827368"/>
          </a:xfrm>
          <a:prstGeom prst="ellipse">
            <a:avLst/>
          </a:prstGeom>
          <a:solidFill>
            <a:schemeClr val="accent1"/>
          </a:solidFill>
          <a:ln w="12700">
            <a:solidFill>
              <a:srgbClr val="0F5257"/>
            </a:solidFill>
            <a:prstDash val="solid"/>
          </a:ln>
        </p:spPr>
        <p:txBody>
          <a:bodyPr/>
          <a:lstStyle/>
          <a:p>
            <a:endParaRPr lang="de-DE"/>
          </a:p>
        </p:txBody>
      </p:sp>
      <p:sp>
        <p:nvSpPr>
          <p:cNvPr id="94" name="Text 16">
            <a:extLst>
              <a:ext uri="{FF2B5EF4-FFF2-40B4-BE49-F238E27FC236}">
                <a16:creationId xmlns:a16="http://schemas.microsoft.com/office/drawing/2014/main" id="{404ED2E7-F950-D2C2-A07D-2BB610AEB700}"/>
              </a:ext>
            </a:extLst>
          </p:cNvPr>
          <p:cNvSpPr/>
          <p:nvPr/>
        </p:nvSpPr>
        <p:spPr>
          <a:xfrm>
            <a:off x="11469736" y="6949583"/>
            <a:ext cx="384048" cy="384048"/>
          </a:xfrm>
          <a:prstGeom prst="rect">
            <a:avLst/>
          </a:prstGeom>
          <a:noFill/>
          <a:ln/>
        </p:spPr>
        <p:txBody>
          <a:bodyPr wrap="square" rtlCol="0" anchor="ctr"/>
          <a:lstStyle/>
          <a:p>
            <a:pPr marL="0" indent="0" algn="ctr">
              <a:buNone/>
            </a:pPr>
            <a:r>
              <a:rPr lang="en-US" sz="1600" b="1" dirty="0">
                <a:solidFill>
                  <a:srgbClr val="FFFFFF"/>
                </a:solidFill>
                <a:latin typeface="Chromatica"/>
                <a:ea typeface="Arial" pitchFamily="34" charset="-122"/>
                <a:cs typeface="Arial" pitchFamily="34" charset="-120"/>
              </a:rPr>
              <a:t>w</a:t>
            </a:r>
            <a:endParaRPr lang="en-US" sz="1600" dirty="0">
              <a:latin typeface="Chromatica"/>
            </a:endParaRPr>
          </a:p>
        </p:txBody>
      </p:sp>
      <p:sp>
        <p:nvSpPr>
          <p:cNvPr id="96" name="Shape 15">
            <a:extLst>
              <a:ext uri="{FF2B5EF4-FFF2-40B4-BE49-F238E27FC236}">
                <a16:creationId xmlns:a16="http://schemas.microsoft.com/office/drawing/2014/main" id="{F168A45B-B5FC-1FD7-F462-E8BEE63CB88F}"/>
              </a:ext>
            </a:extLst>
          </p:cNvPr>
          <p:cNvSpPr/>
          <p:nvPr/>
        </p:nvSpPr>
        <p:spPr>
          <a:xfrm>
            <a:off x="11305691" y="5551062"/>
            <a:ext cx="712138" cy="827368"/>
          </a:xfrm>
          <a:prstGeom prst="ellipse">
            <a:avLst/>
          </a:prstGeom>
          <a:solidFill>
            <a:schemeClr val="accent1"/>
          </a:solidFill>
          <a:ln w="12700">
            <a:solidFill>
              <a:srgbClr val="0F5257"/>
            </a:solidFill>
            <a:prstDash val="solid"/>
          </a:ln>
        </p:spPr>
        <p:txBody>
          <a:bodyPr/>
          <a:lstStyle/>
          <a:p>
            <a:endParaRPr lang="de-DE"/>
          </a:p>
        </p:txBody>
      </p:sp>
      <p:sp>
        <p:nvSpPr>
          <p:cNvPr id="98" name="Text 16">
            <a:extLst>
              <a:ext uri="{FF2B5EF4-FFF2-40B4-BE49-F238E27FC236}">
                <a16:creationId xmlns:a16="http://schemas.microsoft.com/office/drawing/2014/main" id="{3A816681-6376-92B8-AFB5-B2E619ADB979}"/>
              </a:ext>
            </a:extLst>
          </p:cNvPr>
          <p:cNvSpPr/>
          <p:nvPr/>
        </p:nvSpPr>
        <p:spPr>
          <a:xfrm>
            <a:off x="11469736" y="5751541"/>
            <a:ext cx="384048" cy="384048"/>
          </a:xfrm>
          <a:prstGeom prst="rect">
            <a:avLst/>
          </a:prstGeom>
          <a:noFill/>
          <a:ln/>
        </p:spPr>
        <p:txBody>
          <a:bodyPr wrap="square" rtlCol="0" anchor="ctr"/>
          <a:lstStyle/>
          <a:p>
            <a:pPr marL="0" indent="0" algn="ctr">
              <a:buNone/>
            </a:pPr>
            <a:r>
              <a:rPr lang="en-US" sz="1600" b="1" dirty="0">
                <a:solidFill>
                  <a:srgbClr val="FFFFFF"/>
                </a:solidFill>
                <a:latin typeface="Chromatica"/>
                <a:ea typeface="Arial" pitchFamily="34" charset="-122"/>
                <a:cs typeface="Arial" pitchFamily="34" charset="-120"/>
              </a:rPr>
              <a:t>w</a:t>
            </a:r>
            <a:endParaRPr lang="en-US" sz="1600" dirty="0">
              <a:latin typeface="Chromatica"/>
            </a:endParaRPr>
          </a:p>
        </p:txBody>
      </p:sp>
      <p:sp>
        <p:nvSpPr>
          <p:cNvPr id="100" name="Shape 15">
            <a:extLst>
              <a:ext uri="{FF2B5EF4-FFF2-40B4-BE49-F238E27FC236}">
                <a16:creationId xmlns:a16="http://schemas.microsoft.com/office/drawing/2014/main" id="{5123B508-F66F-C46E-C0D3-9B91984D66B7}"/>
              </a:ext>
            </a:extLst>
          </p:cNvPr>
          <p:cNvSpPr/>
          <p:nvPr/>
        </p:nvSpPr>
        <p:spPr>
          <a:xfrm>
            <a:off x="11308561" y="4356717"/>
            <a:ext cx="712138" cy="827368"/>
          </a:xfrm>
          <a:prstGeom prst="ellipse">
            <a:avLst/>
          </a:prstGeom>
          <a:solidFill>
            <a:schemeClr val="accent1"/>
          </a:solidFill>
          <a:ln w="12700">
            <a:solidFill>
              <a:srgbClr val="0F5257"/>
            </a:solidFill>
            <a:prstDash val="solid"/>
          </a:ln>
        </p:spPr>
        <p:txBody>
          <a:bodyPr/>
          <a:lstStyle/>
          <a:p>
            <a:endParaRPr lang="de-DE"/>
          </a:p>
        </p:txBody>
      </p:sp>
      <p:sp>
        <p:nvSpPr>
          <p:cNvPr id="102" name="Text 16">
            <a:extLst>
              <a:ext uri="{FF2B5EF4-FFF2-40B4-BE49-F238E27FC236}">
                <a16:creationId xmlns:a16="http://schemas.microsoft.com/office/drawing/2014/main" id="{080C4206-3ADA-A941-26C7-86BB829861FB}"/>
              </a:ext>
            </a:extLst>
          </p:cNvPr>
          <p:cNvSpPr/>
          <p:nvPr/>
        </p:nvSpPr>
        <p:spPr>
          <a:xfrm>
            <a:off x="11472606" y="4557196"/>
            <a:ext cx="384048" cy="384048"/>
          </a:xfrm>
          <a:prstGeom prst="rect">
            <a:avLst/>
          </a:prstGeom>
          <a:noFill/>
          <a:ln/>
        </p:spPr>
        <p:txBody>
          <a:bodyPr wrap="square" rtlCol="0" anchor="ctr"/>
          <a:lstStyle/>
          <a:p>
            <a:pPr marL="0" indent="0" algn="ctr">
              <a:buNone/>
            </a:pPr>
            <a:r>
              <a:rPr lang="en-US" sz="1600" b="1" dirty="0">
                <a:solidFill>
                  <a:srgbClr val="FFFFFF"/>
                </a:solidFill>
                <a:latin typeface="Chromatica"/>
                <a:ea typeface="Arial" pitchFamily="34" charset="-122"/>
                <a:cs typeface="Arial" pitchFamily="34" charset="-120"/>
              </a:rPr>
              <a:t>w</a:t>
            </a:r>
            <a:endParaRPr lang="en-US" sz="1600" dirty="0">
              <a:latin typeface="Chromatica"/>
            </a:endParaRPr>
          </a:p>
        </p:txBody>
      </p:sp>
      <p:sp>
        <p:nvSpPr>
          <p:cNvPr id="103" name="Text 14">
            <a:extLst>
              <a:ext uri="{FF2B5EF4-FFF2-40B4-BE49-F238E27FC236}">
                <a16:creationId xmlns:a16="http://schemas.microsoft.com/office/drawing/2014/main" id="{6DCE1627-EC26-B27F-F3D4-71E6145A4F15}"/>
              </a:ext>
            </a:extLst>
          </p:cNvPr>
          <p:cNvSpPr/>
          <p:nvPr/>
        </p:nvSpPr>
        <p:spPr>
          <a:xfrm>
            <a:off x="10588268" y="5815549"/>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x2</a:t>
            </a:r>
            <a:endParaRPr lang="en-US" sz="1800" dirty="0">
              <a:latin typeface="Chromatica"/>
            </a:endParaRPr>
          </a:p>
        </p:txBody>
      </p:sp>
      <p:sp>
        <p:nvSpPr>
          <p:cNvPr id="104" name="Text 14">
            <a:extLst>
              <a:ext uri="{FF2B5EF4-FFF2-40B4-BE49-F238E27FC236}">
                <a16:creationId xmlns:a16="http://schemas.microsoft.com/office/drawing/2014/main" id="{246FBC48-0F4F-0005-C2A7-3B2A2CB0DDAC}"/>
              </a:ext>
            </a:extLst>
          </p:cNvPr>
          <p:cNvSpPr/>
          <p:nvPr/>
        </p:nvSpPr>
        <p:spPr>
          <a:xfrm>
            <a:off x="10586571" y="6981587"/>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x3</a:t>
            </a:r>
            <a:endParaRPr lang="en-US" sz="1800" dirty="0">
              <a:latin typeface="Chromatica"/>
            </a:endParaRPr>
          </a:p>
        </p:txBody>
      </p:sp>
      <p:cxnSp>
        <p:nvCxnSpPr>
          <p:cNvPr id="106" name="Gerade Verbindung mit Pfeil 105">
            <a:extLst>
              <a:ext uri="{FF2B5EF4-FFF2-40B4-BE49-F238E27FC236}">
                <a16:creationId xmlns:a16="http://schemas.microsoft.com/office/drawing/2014/main" id="{BCAFF399-CB26-20AB-AEA0-ACFA65867F9A}"/>
              </a:ext>
            </a:extLst>
          </p:cNvPr>
          <p:cNvCxnSpPr>
            <a:cxnSpLocks/>
            <a:stCxn id="100" idx="6"/>
            <a:endCxn id="63" idx="1"/>
          </p:cNvCxnSpPr>
          <p:nvPr/>
        </p:nvCxnSpPr>
        <p:spPr>
          <a:xfrm>
            <a:off x="12020699" y="4770401"/>
            <a:ext cx="2679970" cy="1983745"/>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9" name="Gerade Verbindung mit Pfeil 108">
            <a:extLst>
              <a:ext uri="{FF2B5EF4-FFF2-40B4-BE49-F238E27FC236}">
                <a16:creationId xmlns:a16="http://schemas.microsoft.com/office/drawing/2014/main" id="{156D4616-7832-2987-0E73-F1C5E165841E}"/>
              </a:ext>
            </a:extLst>
          </p:cNvPr>
          <p:cNvCxnSpPr>
            <a:stCxn id="92" idx="6"/>
            <a:endCxn id="63" idx="2"/>
          </p:cNvCxnSpPr>
          <p:nvPr/>
        </p:nvCxnSpPr>
        <p:spPr>
          <a:xfrm>
            <a:off x="12017829" y="7162788"/>
            <a:ext cx="2527578" cy="501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15" name="Gerade Verbindung mit Pfeil 114">
            <a:extLst>
              <a:ext uri="{FF2B5EF4-FFF2-40B4-BE49-F238E27FC236}">
                <a16:creationId xmlns:a16="http://schemas.microsoft.com/office/drawing/2014/main" id="{A6183743-7FF4-0B58-F585-31BE10D00396}"/>
              </a:ext>
            </a:extLst>
          </p:cNvPr>
          <p:cNvCxnSpPr>
            <a:stCxn id="96" idx="6"/>
          </p:cNvCxnSpPr>
          <p:nvPr/>
        </p:nvCxnSpPr>
        <p:spPr>
          <a:xfrm>
            <a:off x="12017829" y="5964746"/>
            <a:ext cx="2640356" cy="97215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17" name="Gerade Verbindung mit Pfeil 116">
            <a:extLst>
              <a:ext uri="{FF2B5EF4-FFF2-40B4-BE49-F238E27FC236}">
                <a16:creationId xmlns:a16="http://schemas.microsoft.com/office/drawing/2014/main" id="{88D2FD09-7FA0-8D5F-5854-6382867632D3}"/>
              </a:ext>
            </a:extLst>
          </p:cNvPr>
          <p:cNvCxnSpPr>
            <a:stCxn id="89" idx="6"/>
            <a:endCxn id="63" idx="3"/>
          </p:cNvCxnSpPr>
          <p:nvPr/>
        </p:nvCxnSpPr>
        <p:spPr>
          <a:xfrm flipV="1">
            <a:off x="12017829" y="7581455"/>
            <a:ext cx="2682840" cy="13429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99590878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85E49-D98D-5271-8638-3053B0B9BAD7}"/>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621101E3-537E-7B76-5A47-16F8607D7924}"/>
              </a:ext>
            </a:extLst>
          </p:cNvPr>
          <p:cNvSpPr>
            <a:spLocks noGrp="1"/>
          </p:cNvSpPr>
          <p:nvPr>
            <p:ph type="body" sz="quarter" idx="22"/>
          </p:nvPr>
        </p:nvSpPr>
        <p:spPr/>
        <p:txBody>
          <a:bodyPr/>
          <a:lstStyle/>
          <a:p>
            <a:r>
              <a:rPr lang="de-DE" dirty="0" err="1"/>
              <a:t>Yapay</a:t>
            </a:r>
            <a:r>
              <a:rPr lang="de-DE" dirty="0"/>
              <a:t> </a:t>
            </a:r>
            <a:r>
              <a:rPr lang="de-DE" dirty="0" err="1"/>
              <a:t>Sinir</a:t>
            </a:r>
            <a:r>
              <a:rPr lang="de-DE" dirty="0"/>
              <a:t> Ağı </a:t>
            </a:r>
            <a:r>
              <a:rPr lang="de-DE" dirty="0" err="1"/>
              <a:t>Yapısı</a:t>
            </a:r>
            <a:endParaRPr lang="de-DE" dirty="0"/>
          </a:p>
        </p:txBody>
      </p:sp>
      <p:sp>
        <p:nvSpPr>
          <p:cNvPr id="5" name="Shape 2">
            <a:extLst>
              <a:ext uri="{FF2B5EF4-FFF2-40B4-BE49-F238E27FC236}">
                <a16:creationId xmlns:a16="http://schemas.microsoft.com/office/drawing/2014/main" id="{D20FC908-1F00-1BCE-1652-A5E57741C91D}"/>
              </a:ext>
            </a:extLst>
          </p:cNvPr>
          <p:cNvSpPr/>
          <p:nvPr/>
        </p:nvSpPr>
        <p:spPr>
          <a:xfrm>
            <a:off x="1655064" y="4618481"/>
            <a:ext cx="598932" cy="661851"/>
          </a:xfrm>
          <a:prstGeom prst="ellipse">
            <a:avLst/>
          </a:prstGeom>
          <a:solidFill>
            <a:schemeClr val="accent1"/>
          </a:solidFill>
          <a:ln/>
        </p:spPr>
        <p:txBody>
          <a:bodyPr/>
          <a:lstStyle/>
          <a:p>
            <a:endParaRPr lang="de-DE"/>
          </a:p>
        </p:txBody>
      </p:sp>
      <p:sp>
        <p:nvSpPr>
          <p:cNvPr id="7" name="Text 3">
            <a:extLst>
              <a:ext uri="{FF2B5EF4-FFF2-40B4-BE49-F238E27FC236}">
                <a16:creationId xmlns:a16="http://schemas.microsoft.com/office/drawing/2014/main" id="{D6F3DE68-6431-F9BF-4A93-DBDFEA1F0BB4}"/>
              </a:ext>
            </a:extLst>
          </p:cNvPr>
          <p:cNvSpPr/>
          <p:nvPr/>
        </p:nvSpPr>
        <p:spPr>
          <a:xfrm>
            <a:off x="2318004" y="4741164"/>
            <a:ext cx="4767798" cy="411480"/>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Inputs  </a:t>
            </a:r>
            <a:r>
              <a:rPr lang="en-US" dirty="0">
                <a:solidFill>
                  <a:srgbClr val="5A6B6B"/>
                </a:solidFill>
                <a:latin typeface="Chromatica"/>
                <a:ea typeface="Arial" pitchFamily="34" charset="-122"/>
                <a:cs typeface="Arial" pitchFamily="34" charset="-120"/>
              </a:rPr>
              <a:t>— </a:t>
            </a:r>
            <a:r>
              <a:rPr lang="en-US" dirty="0">
                <a:solidFill>
                  <a:schemeClr val="bg2">
                    <a:lumMod val="10000"/>
                  </a:schemeClr>
                </a:solidFill>
                <a:latin typeface="Chromatica"/>
                <a:ea typeface="Arial" pitchFamily="34" charset="-122"/>
                <a:cs typeface="Arial" pitchFamily="34" charset="-120"/>
              </a:rPr>
              <a:t>Girdi değerleri (x1..xn)</a:t>
            </a:r>
            <a:endParaRPr lang="en-US" dirty="0">
              <a:solidFill>
                <a:schemeClr val="bg2">
                  <a:lumMod val="10000"/>
                </a:schemeClr>
              </a:solidFill>
              <a:latin typeface="Chromatica"/>
            </a:endParaRPr>
          </a:p>
        </p:txBody>
      </p:sp>
      <p:sp>
        <p:nvSpPr>
          <p:cNvPr id="9" name="Shape 4">
            <a:extLst>
              <a:ext uri="{FF2B5EF4-FFF2-40B4-BE49-F238E27FC236}">
                <a16:creationId xmlns:a16="http://schemas.microsoft.com/office/drawing/2014/main" id="{BF577A5E-8A80-3D3A-A9D5-4F34FCFB52B2}"/>
              </a:ext>
            </a:extLst>
          </p:cNvPr>
          <p:cNvSpPr/>
          <p:nvPr/>
        </p:nvSpPr>
        <p:spPr>
          <a:xfrm>
            <a:off x="1655064" y="5497068"/>
            <a:ext cx="557784" cy="661851"/>
          </a:xfrm>
          <a:prstGeom prst="ellipse">
            <a:avLst/>
          </a:prstGeom>
          <a:solidFill>
            <a:schemeClr val="accent1"/>
          </a:solidFill>
          <a:ln/>
        </p:spPr>
        <p:txBody>
          <a:bodyPr/>
          <a:lstStyle/>
          <a:p>
            <a:endParaRPr lang="de-DE"/>
          </a:p>
        </p:txBody>
      </p:sp>
      <p:sp>
        <p:nvSpPr>
          <p:cNvPr id="11" name="Text 5">
            <a:extLst>
              <a:ext uri="{FF2B5EF4-FFF2-40B4-BE49-F238E27FC236}">
                <a16:creationId xmlns:a16="http://schemas.microsoft.com/office/drawing/2014/main" id="{C2C4A950-955C-1D8E-13C8-3772B454AB76}"/>
              </a:ext>
            </a:extLst>
          </p:cNvPr>
          <p:cNvSpPr/>
          <p:nvPr/>
        </p:nvSpPr>
        <p:spPr>
          <a:xfrm>
            <a:off x="2249424" y="5630418"/>
            <a:ext cx="4640580" cy="411480"/>
          </a:xfrm>
          <a:prstGeom prst="rect">
            <a:avLst/>
          </a:prstGeom>
          <a:noFill/>
          <a:ln/>
        </p:spPr>
        <p:txBody>
          <a:bodyPr wrap="square" rtlCol="0" anchor="ctr"/>
          <a:lstStyle/>
          <a:p>
            <a:pPr marL="0" indent="0" algn="l">
              <a:buNone/>
            </a:pPr>
            <a:r>
              <a:rPr lang="en-US" b="1" dirty="0">
                <a:solidFill>
                  <a:schemeClr val="bg2">
                    <a:lumMod val="10000"/>
                  </a:schemeClr>
                </a:solidFill>
                <a:latin typeface="Chromatica"/>
                <a:ea typeface="Arial" pitchFamily="34" charset="-122"/>
                <a:cs typeface="Arial" pitchFamily="34" charset="-120"/>
              </a:rPr>
              <a:t>Weights  </a:t>
            </a:r>
            <a:r>
              <a:rPr lang="en-US" dirty="0">
                <a:solidFill>
                  <a:schemeClr val="bg2">
                    <a:lumMod val="10000"/>
                  </a:schemeClr>
                </a:solidFill>
                <a:latin typeface="Chromatica"/>
                <a:ea typeface="Arial" pitchFamily="34" charset="-122"/>
                <a:cs typeface="Arial" pitchFamily="34" charset="-120"/>
              </a:rPr>
              <a:t>— Her girdinin ağırlığı (w)</a:t>
            </a:r>
            <a:endParaRPr lang="en-US" dirty="0">
              <a:solidFill>
                <a:schemeClr val="bg2">
                  <a:lumMod val="10000"/>
                </a:schemeClr>
              </a:solidFill>
              <a:latin typeface="Chromatica"/>
            </a:endParaRPr>
          </a:p>
        </p:txBody>
      </p:sp>
      <p:sp>
        <p:nvSpPr>
          <p:cNvPr id="13" name="Shape 6">
            <a:extLst>
              <a:ext uri="{FF2B5EF4-FFF2-40B4-BE49-F238E27FC236}">
                <a16:creationId xmlns:a16="http://schemas.microsoft.com/office/drawing/2014/main" id="{2E272B53-124A-AB08-146A-013472861F07}"/>
              </a:ext>
            </a:extLst>
          </p:cNvPr>
          <p:cNvSpPr/>
          <p:nvPr/>
        </p:nvSpPr>
        <p:spPr>
          <a:xfrm>
            <a:off x="1659636" y="6373876"/>
            <a:ext cx="557784" cy="661851"/>
          </a:xfrm>
          <a:prstGeom prst="ellipse">
            <a:avLst/>
          </a:prstGeom>
          <a:solidFill>
            <a:schemeClr val="accent1"/>
          </a:solidFill>
          <a:ln/>
        </p:spPr>
        <p:txBody>
          <a:bodyPr/>
          <a:lstStyle/>
          <a:p>
            <a:endParaRPr lang="de-DE"/>
          </a:p>
        </p:txBody>
      </p:sp>
      <p:sp>
        <p:nvSpPr>
          <p:cNvPr id="15" name="Text 7">
            <a:extLst>
              <a:ext uri="{FF2B5EF4-FFF2-40B4-BE49-F238E27FC236}">
                <a16:creationId xmlns:a16="http://schemas.microsoft.com/office/drawing/2014/main" id="{500DAFBC-C6D5-1FAD-8040-55CEAA02504B}"/>
              </a:ext>
            </a:extLst>
          </p:cNvPr>
          <p:cNvSpPr/>
          <p:nvPr/>
        </p:nvSpPr>
        <p:spPr>
          <a:xfrm>
            <a:off x="2262634" y="6525423"/>
            <a:ext cx="4023360" cy="411480"/>
          </a:xfrm>
          <a:prstGeom prst="rect">
            <a:avLst/>
          </a:prstGeom>
          <a:noFill/>
          <a:ln/>
        </p:spPr>
        <p:txBody>
          <a:bodyPr wrap="square" rtlCol="0" anchor="ctr"/>
          <a:lstStyle/>
          <a:p>
            <a:pPr marL="0" indent="0" algn="l">
              <a:buNone/>
            </a:pPr>
            <a:r>
              <a:rPr lang="en-US" b="1" dirty="0">
                <a:solidFill>
                  <a:schemeClr val="bg2">
                    <a:lumMod val="10000"/>
                  </a:schemeClr>
                </a:solidFill>
                <a:latin typeface="Chromatica"/>
                <a:ea typeface="Arial" pitchFamily="34" charset="-122"/>
                <a:cs typeface="Arial" pitchFamily="34" charset="-120"/>
              </a:rPr>
              <a:t>Bias  </a:t>
            </a:r>
            <a:r>
              <a:rPr lang="en-US" dirty="0">
                <a:solidFill>
                  <a:schemeClr val="bg2">
                    <a:lumMod val="10000"/>
                  </a:schemeClr>
                </a:solidFill>
                <a:latin typeface="Chromatica"/>
                <a:ea typeface="Arial" pitchFamily="34" charset="-122"/>
                <a:cs typeface="Arial" pitchFamily="34" charset="-120"/>
              </a:rPr>
              <a:t>— Sabit kaydırma terimi</a:t>
            </a:r>
            <a:endParaRPr lang="en-US" dirty="0">
              <a:solidFill>
                <a:schemeClr val="bg2">
                  <a:lumMod val="10000"/>
                </a:schemeClr>
              </a:solidFill>
              <a:latin typeface="Chromatica"/>
            </a:endParaRPr>
          </a:p>
        </p:txBody>
      </p:sp>
      <p:sp>
        <p:nvSpPr>
          <p:cNvPr id="17" name="Shape 8">
            <a:extLst>
              <a:ext uri="{FF2B5EF4-FFF2-40B4-BE49-F238E27FC236}">
                <a16:creationId xmlns:a16="http://schemas.microsoft.com/office/drawing/2014/main" id="{C219BCFB-587B-E668-801A-27F9557F43E5}"/>
              </a:ext>
            </a:extLst>
          </p:cNvPr>
          <p:cNvSpPr/>
          <p:nvPr/>
        </p:nvSpPr>
        <p:spPr>
          <a:xfrm>
            <a:off x="1675638" y="7250684"/>
            <a:ext cx="557784" cy="661851"/>
          </a:xfrm>
          <a:prstGeom prst="ellipse">
            <a:avLst/>
          </a:prstGeom>
          <a:solidFill>
            <a:schemeClr val="accent1"/>
          </a:solidFill>
          <a:ln/>
        </p:spPr>
        <p:txBody>
          <a:bodyPr/>
          <a:lstStyle/>
          <a:p>
            <a:endParaRPr lang="de-DE"/>
          </a:p>
        </p:txBody>
      </p:sp>
      <p:sp>
        <p:nvSpPr>
          <p:cNvPr id="19" name="Text 9">
            <a:extLst>
              <a:ext uri="{FF2B5EF4-FFF2-40B4-BE49-F238E27FC236}">
                <a16:creationId xmlns:a16="http://schemas.microsoft.com/office/drawing/2014/main" id="{3B6E0392-3280-6F04-F896-9FFA17744585}"/>
              </a:ext>
            </a:extLst>
          </p:cNvPr>
          <p:cNvSpPr/>
          <p:nvPr/>
        </p:nvSpPr>
        <p:spPr>
          <a:xfrm>
            <a:off x="2262633" y="7375869"/>
            <a:ext cx="5284795" cy="411480"/>
          </a:xfrm>
          <a:prstGeom prst="rect">
            <a:avLst/>
          </a:prstGeom>
          <a:noFill/>
          <a:ln/>
        </p:spPr>
        <p:txBody>
          <a:bodyPr wrap="square" rtlCol="0" anchor="ctr"/>
          <a:lstStyle/>
          <a:p>
            <a:pPr marL="0" indent="0" algn="l">
              <a:buNone/>
            </a:pPr>
            <a:r>
              <a:rPr lang="en-US" b="1" dirty="0">
                <a:solidFill>
                  <a:schemeClr val="bg2">
                    <a:lumMod val="10000"/>
                  </a:schemeClr>
                </a:solidFill>
                <a:latin typeface="Chromatica"/>
                <a:ea typeface="Arial" pitchFamily="34" charset="-122"/>
                <a:cs typeface="Arial" pitchFamily="34" charset="-120"/>
              </a:rPr>
              <a:t>Summation  </a:t>
            </a:r>
            <a:r>
              <a:rPr lang="en-US" dirty="0">
                <a:solidFill>
                  <a:schemeClr val="bg2">
                    <a:lumMod val="10000"/>
                  </a:schemeClr>
                </a:solidFill>
                <a:latin typeface="Chromatica"/>
                <a:ea typeface="Arial" pitchFamily="34" charset="-122"/>
                <a:cs typeface="Arial" pitchFamily="34" charset="-120"/>
              </a:rPr>
              <a:t>— Ağırlıklı toplam (Sigma)</a:t>
            </a:r>
            <a:endParaRPr lang="en-US" dirty="0">
              <a:solidFill>
                <a:schemeClr val="bg2">
                  <a:lumMod val="10000"/>
                </a:schemeClr>
              </a:solidFill>
              <a:latin typeface="Chromatica"/>
            </a:endParaRPr>
          </a:p>
        </p:txBody>
      </p:sp>
      <p:sp>
        <p:nvSpPr>
          <p:cNvPr id="21" name="Shape 10">
            <a:extLst>
              <a:ext uri="{FF2B5EF4-FFF2-40B4-BE49-F238E27FC236}">
                <a16:creationId xmlns:a16="http://schemas.microsoft.com/office/drawing/2014/main" id="{5BED2DC9-0F97-1123-4553-BB6F99FF50C2}"/>
              </a:ext>
            </a:extLst>
          </p:cNvPr>
          <p:cNvSpPr/>
          <p:nvPr/>
        </p:nvSpPr>
        <p:spPr>
          <a:xfrm>
            <a:off x="1675638" y="8130105"/>
            <a:ext cx="557784" cy="661851"/>
          </a:xfrm>
          <a:prstGeom prst="ellipse">
            <a:avLst/>
          </a:prstGeom>
          <a:solidFill>
            <a:schemeClr val="accent1"/>
          </a:solidFill>
          <a:ln/>
        </p:spPr>
        <p:txBody>
          <a:bodyPr/>
          <a:lstStyle/>
          <a:p>
            <a:endParaRPr lang="de-DE"/>
          </a:p>
        </p:txBody>
      </p:sp>
      <p:sp>
        <p:nvSpPr>
          <p:cNvPr id="23" name="Text 11">
            <a:extLst>
              <a:ext uri="{FF2B5EF4-FFF2-40B4-BE49-F238E27FC236}">
                <a16:creationId xmlns:a16="http://schemas.microsoft.com/office/drawing/2014/main" id="{40D54F8C-5A18-EE9E-0E9C-82A122EA8D7E}"/>
              </a:ext>
            </a:extLst>
          </p:cNvPr>
          <p:cNvSpPr/>
          <p:nvPr/>
        </p:nvSpPr>
        <p:spPr>
          <a:xfrm>
            <a:off x="2203649" y="8250936"/>
            <a:ext cx="5677608" cy="411480"/>
          </a:xfrm>
          <a:prstGeom prst="rect">
            <a:avLst/>
          </a:prstGeom>
          <a:noFill/>
          <a:ln/>
        </p:spPr>
        <p:txBody>
          <a:bodyPr wrap="square" rtlCol="0" anchor="ctr"/>
          <a:lstStyle/>
          <a:p>
            <a:pPr marL="0" indent="0" algn="l">
              <a:buNone/>
            </a:pPr>
            <a:r>
              <a:rPr lang="en-US" b="1" dirty="0">
                <a:solidFill>
                  <a:schemeClr val="bg2">
                    <a:lumMod val="10000"/>
                  </a:schemeClr>
                </a:solidFill>
                <a:latin typeface="Chromatica"/>
                <a:ea typeface="Arial" pitchFamily="34" charset="-122"/>
                <a:cs typeface="Arial" pitchFamily="34" charset="-120"/>
              </a:rPr>
              <a:t>Activation  </a:t>
            </a:r>
            <a:r>
              <a:rPr lang="en-US" dirty="0">
                <a:solidFill>
                  <a:schemeClr val="bg2">
                    <a:lumMod val="10000"/>
                  </a:schemeClr>
                </a:solidFill>
                <a:latin typeface="Chromatica"/>
                <a:ea typeface="Arial" pitchFamily="34" charset="-122"/>
                <a:cs typeface="Arial" pitchFamily="34" charset="-120"/>
              </a:rPr>
              <a:t>— Doğrusallığı kıran fonksiyon</a:t>
            </a:r>
            <a:endParaRPr lang="en-US" dirty="0">
              <a:solidFill>
                <a:schemeClr val="bg2">
                  <a:lumMod val="10000"/>
                </a:schemeClr>
              </a:solidFill>
              <a:latin typeface="Chromatica"/>
            </a:endParaRPr>
          </a:p>
        </p:txBody>
      </p:sp>
      <p:sp>
        <p:nvSpPr>
          <p:cNvPr id="29" name="Text 14">
            <a:extLst>
              <a:ext uri="{FF2B5EF4-FFF2-40B4-BE49-F238E27FC236}">
                <a16:creationId xmlns:a16="http://schemas.microsoft.com/office/drawing/2014/main" id="{C9A65DA5-D8A9-AA00-0F06-80CE2F5E325B}"/>
              </a:ext>
            </a:extLst>
          </p:cNvPr>
          <p:cNvSpPr/>
          <p:nvPr/>
        </p:nvSpPr>
        <p:spPr>
          <a:xfrm>
            <a:off x="10590278" y="4611695"/>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x1</a:t>
            </a:r>
            <a:endParaRPr lang="en-US" sz="1800" dirty="0">
              <a:latin typeface="Chromatica"/>
            </a:endParaRPr>
          </a:p>
        </p:txBody>
      </p:sp>
      <p:sp>
        <p:nvSpPr>
          <p:cNvPr id="53" name="Text 26">
            <a:extLst>
              <a:ext uri="{FF2B5EF4-FFF2-40B4-BE49-F238E27FC236}">
                <a16:creationId xmlns:a16="http://schemas.microsoft.com/office/drawing/2014/main" id="{170996C4-1CBC-98D9-DD62-8C7ED54D4106}"/>
              </a:ext>
            </a:extLst>
          </p:cNvPr>
          <p:cNvSpPr/>
          <p:nvPr/>
        </p:nvSpPr>
        <p:spPr>
          <a:xfrm>
            <a:off x="10590278" y="8743154"/>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xn</a:t>
            </a:r>
            <a:endParaRPr lang="en-US" sz="1800" dirty="0">
              <a:latin typeface="Chromatica"/>
            </a:endParaRPr>
          </a:p>
        </p:txBody>
      </p:sp>
      <p:sp>
        <p:nvSpPr>
          <p:cNvPr id="61" name="Text 30">
            <a:extLst>
              <a:ext uri="{FF2B5EF4-FFF2-40B4-BE49-F238E27FC236}">
                <a16:creationId xmlns:a16="http://schemas.microsoft.com/office/drawing/2014/main" id="{7749E8E9-F867-0CCA-B163-4377BE3999DD}"/>
              </a:ext>
            </a:extLst>
          </p:cNvPr>
          <p:cNvSpPr/>
          <p:nvPr/>
        </p:nvSpPr>
        <p:spPr>
          <a:xfrm>
            <a:off x="11524600" y="7764345"/>
            <a:ext cx="274320" cy="365760"/>
          </a:xfrm>
          <a:prstGeom prst="rect">
            <a:avLst/>
          </a:prstGeom>
          <a:noFill/>
          <a:ln/>
        </p:spPr>
        <p:txBody>
          <a:bodyPr wrap="square" rtlCol="0" anchor="ctr"/>
          <a:lstStyle/>
          <a:p>
            <a:pPr marL="0" indent="0">
              <a:buNone/>
            </a:pPr>
            <a:r>
              <a:rPr lang="en-US" sz="2000" b="1" dirty="0">
                <a:solidFill>
                  <a:srgbClr val="1E2B2B"/>
                </a:solidFill>
              </a:rPr>
              <a:t>:</a:t>
            </a:r>
            <a:endParaRPr lang="en-US" sz="2000" dirty="0"/>
          </a:p>
        </p:txBody>
      </p:sp>
      <p:sp>
        <p:nvSpPr>
          <p:cNvPr id="63" name="Shape 31">
            <a:extLst>
              <a:ext uri="{FF2B5EF4-FFF2-40B4-BE49-F238E27FC236}">
                <a16:creationId xmlns:a16="http://schemas.microsoft.com/office/drawing/2014/main" id="{24EC16B4-8CCC-E02A-9040-8DC57392FA35}"/>
              </a:ext>
            </a:extLst>
          </p:cNvPr>
          <p:cNvSpPr/>
          <p:nvPr/>
        </p:nvSpPr>
        <p:spPr>
          <a:xfrm>
            <a:off x="14545407" y="6582804"/>
            <a:ext cx="1060198" cy="1169993"/>
          </a:xfrm>
          <a:prstGeom prst="ellipse">
            <a:avLst/>
          </a:prstGeom>
          <a:solidFill>
            <a:schemeClr val="accent1">
              <a:lumMod val="50000"/>
            </a:schemeClr>
          </a:solidFill>
          <a:ln w="12700">
            <a:solidFill>
              <a:srgbClr val="0F5257"/>
            </a:solidFill>
            <a:prstDash val="solid"/>
          </a:ln>
        </p:spPr>
        <p:txBody>
          <a:bodyPr/>
          <a:lstStyle/>
          <a:p>
            <a:endParaRPr lang="de-DE"/>
          </a:p>
        </p:txBody>
      </p:sp>
      <p:sp>
        <p:nvSpPr>
          <p:cNvPr id="65" name="Text 32">
            <a:extLst>
              <a:ext uri="{FF2B5EF4-FFF2-40B4-BE49-F238E27FC236}">
                <a16:creationId xmlns:a16="http://schemas.microsoft.com/office/drawing/2014/main" id="{AD01F3BF-540E-FA30-9B81-D4950C9A265B}"/>
              </a:ext>
            </a:extLst>
          </p:cNvPr>
          <p:cNvSpPr/>
          <p:nvPr/>
        </p:nvSpPr>
        <p:spPr>
          <a:xfrm>
            <a:off x="14536332" y="6582804"/>
            <a:ext cx="1060198" cy="1169993"/>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Σ</a:t>
            </a:r>
            <a:endParaRPr lang="en-US" sz="2600" dirty="0"/>
          </a:p>
        </p:txBody>
      </p:sp>
      <p:sp>
        <p:nvSpPr>
          <p:cNvPr id="67" name="Text 33">
            <a:extLst>
              <a:ext uri="{FF2B5EF4-FFF2-40B4-BE49-F238E27FC236}">
                <a16:creationId xmlns:a16="http://schemas.microsoft.com/office/drawing/2014/main" id="{3274819E-ABF0-0DBA-B4F5-BFFF790D4D7D}"/>
              </a:ext>
            </a:extLst>
          </p:cNvPr>
          <p:cNvSpPr/>
          <p:nvPr/>
        </p:nvSpPr>
        <p:spPr>
          <a:xfrm>
            <a:off x="13423745" y="9528991"/>
            <a:ext cx="822960" cy="274320"/>
          </a:xfrm>
          <a:prstGeom prst="rect">
            <a:avLst/>
          </a:prstGeom>
          <a:noFill/>
          <a:ln/>
        </p:spPr>
        <p:txBody>
          <a:bodyPr wrap="square" rtlCol="0" anchor="ctr"/>
          <a:lstStyle/>
          <a:p>
            <a:pPr marL="0" indent="0" algn="ctr">
              <a:buNone/>
            </a:pPr>
            <a:r>
              <a:rPr lang="en-US" sz="1800" dirty="0">
                <a:solidFill>
                  <a:srgbClr val="5A6B6B"/>
                </a:solidFill>
                <a:latin typeface="Chromatica"/>
              </a:rPr>
              <a:t>bias</a:t>
            </a:r>
            <a:endParaRPr lang="en-US" sz="1800" dirty="0">
              <a:latin typeface="Chromatica"/>
            </a:endParaRPr>
          </a:p>
        </p:txBody>
      </p:sp>
      <p:sp>
        <p:nvSpPr>
          <p:cNvPr id="69" name="Shape 34">
            <a:extLst>
              <a:ext uri="{FF2B5EF4-FFF2-40B4-BE49-F238E27FC236}">
                <a16:creationId xmlns:a16="http://schemas.microsoft.com/office/drawing/2014/main" id="{AB97ACC6-B803-C192-FAF6-673FD4229B30}"/>
              </a:ext>
            </a:extLst>
          </p:cNvPr>
          <p:cNvSpPr/>
          <p:nvPr/>
        </p:nvSpPr>
        <p:spPr>
          <a:xfrm>
            <a:off x="15262862" y="8202168"/>
            <a:ext cx="0" cy="0"/>
          </a:xfrm>
          <a:prstGeom prst="line">
            <a:avLst/>
          </a:prstGeom>
          <a:noFill/>
          <a:ln w="15875">
            <a:solidFill>
              <a:srgbClr val="9AAFAA"/>
            </a:solidFill>
            <a:prstDash val="solid"/>
          </a:ln>
        </p:spPr>
        <p:txBody>
          <a:bodyPr/>
          <a:lstStyle/>
          <a:p>
            <a:endParaRPr lang="de-DE"/>
          </a:p>
        </p:txBody>
      </p:sp>
      <p:sp>
        <p:nvSpPr>
          <p:cNvPr id="71" name="Shape 35">
            <a:extLst>
              <a:ext uri="{FF2B5EF4-FFF2-40B4-BE49-F238E27FC236}">
                <a16:creationId xmlns:a16="http://schemas.microsoft.com/office/drawing/2014/main" id="{D7685A52-7984-EA1C-C9B3-FA0A53087392}"/>
              </a:ext>
            </a:extLst>
          </p:cNvPr>
          <p:cNvSpPr/>
          <p:nvPr/>
        </p:nvSpPr>
        <p:spPr>
          <a:xfrm>
            <a:off x="15605605" y="7101261"/>
            <a:ext cx="685800" cy="0"/>
          </a:xfrm>
          <a:prstGeom prst="line">
            <a:avLst/>
          </a:prstGeom>
          <a:noFill/>
          <a:ln w="19050">
            <a:solidFill>
              <a:srgbClr val="9AAFAA"/>
            </a:solidFill>
            <a:prstDash val="solid"/>
          </a:ln>
        </p:spPr>
        <p:txBody>
          <a:bodyPr/>
          <a:lstStyle/>
          <a:p>
            <a:endParaRPr lang="de-DE"/>
          </a:p>
        </p:txBody>
      </p:sp>
      <p:sp>
        <p:nvSpPr>
          <p:cNvPr id="73" name="Shape 36">
            <a:extLst>
              <a:ext uri="{FF2B5EF4-FFF2-40B4-BE49-F238E27FC236}">
                <a16:creationId xmlns:a16="http://schemas.microsoft.com/office/drawing/2014/main" id="{1AC6622D-8B0C-8D8F-027F-89D1838D1B35}"/>
              </a:ext>
            </a:extLst>
          </p:cNvPr>
          <p:cNvSpPr/>
          <p:nvPr/>
        </p:nvSpPr>
        <p:spPr>
          <a:xfrm>
            <a:off x="16302073" y="6698416"/>
            <a:ext cx="903732" cy="855092"/>
          </a:xfrm>
          <a:prstGeom prst="roundRect">
            <a:avLst>
              <a:gd name="adj" fmla="val 7059"/>
            </a:avLst>
          </a:prstGeom>
          <a:solidFill>
            <a:schemeClr val="accent1">
              <a:lumMod val="60000"/>
              <a:lumOff val="40000"/>
            </a:schemeClr>
          </a:solidFill>
          <a:ln w="12700">
            <a:solidFill>
              <a:srgbClr val="0F5257"/>
            </a:solidFill>
            <a:prstDash val="solid"/>
          </a:ln>
        </p:spPr>
        <p:txBody>
          <a:bodyPr/>
          <a:lstStyle/>
          <a:p>
            <a:endParaRPr lang="de-DE"/>
          </a:p>
        </p:txBody>
      </p:sp>
      <p:sp>
        <p:nvSpPr>
          <p:cNvPr id="75" name="Text 37">
            <a:extLst>
              <a:ext uri="{FF2B5EF4-FFF2-40B4-BE49-F238E27FC236}">
                <a16:creationId xmlns:a16="http://schemas.microsoft.com/office/drawing/2014/main" id="{8DA07094-0D10-4496-73DE-2F1490DF9C1E}"/>
              </a:ext>
            </a:extLst>
          </p:cNvPr>
          <p:cNvSpPr/>
          <p:nvPr/>
        </p:nvSpPr>
        <p:spPr>
          <a:xfrm>
            <a:off x="16365319" y="6698416"/>
            <a:ext cx="777240" cy="777240"/>
          </a:xfrm>
          <a:prstGeom prst="rect">
            <a:avLst/>
          </a:prstGeom>
          <a:noFill/>
          <a:ln/>
        </p:spPr>
        <p:txBody>
          <a:bodyPr wrap="square" rtlCol="0" anchor="ctr"/>
          <a:lstStyle/>
          <a:p>
            <a:pPr marL="0" indent="0" algn="ctr">
              <a:buNone/>
            </a:pPr>
            <a:r>
              <a:rPr lang="en-US" sz="2600" b="1" dirty="0">
                <a:solidFill>
                  <a:srgbClr val="0F5257"/>
                </a:solidFill>
              </a:rPr>
              <a:t>φ</a:t>
            </a:r>
            <a:endParaRPr lang="en-US" sz="2600" dirty="0"/>
          </a:p>
        </p:txBody>
      </p:sp>
      <p:sp>
        <p:nvSpPr>
          <p:cNvPr id="81" name="Text 40">
            <a:extLst>
              <a:ext uri="{FF2B5EF4-FFF2-40B4-BE49-F238E27FC236}">
                <a16:creationId xmlns:a16="http://schemas.microsoft.com/office/drawing/2014/main" id="{83C5AB46-A26F-F86B-88D2-17EC75CB9334}"/>
              </a:ext>
            </a:extLst>
          </p:cNvPr>
          <p:cNvSpPr/>
          <p:nvPr/>
        </p:nvSpPr>
        <p:spPr>
          <a:xfrm>
            <a:off x="11113120" y="3805232"/>
            <a:ext cx="1097280" cy="274320"/>
          </a:xfrm>
          <a:prstGeom prst="rect">
            <a:avLst/>
          </a:prstGeom>
          <a:noFill/>
          <a:ln/>
        </p:spPr>
        <p:txBody>
          <a:bodyPr wrap="square" rtlCol="0" anchor="ctr"/>
          <a:lstStyle/>
          <a:p>
            <a:pPr marL="0" indent="0" algn="ctr">
              <a:buNone/>
            </a:pPr>
            <a:r>
              <a:rPr lang="en-US" sz="1600" dirty="0">
                <a:solidFill>
                  <a:schemeClr val="bg2">
                    <a:lumMod val="10000"/>
                  </a:schemeClr>
                </a:solidFill>
                <a:latin typeface="Chromatica"/>
              </a:rPr>
              <a:t>weights</a:t>
            </a:r>
          </a:p>
        </p:txBody>
      </p:sp>
      <p:sp>
        <p:nvSpPr>
          <p:cNvPr id="83" name="Text 41">
            <a:extLst>
              <a:ext uri="{FF2B5EF4-FFF2-40B4-BE49-F238E27FC236}">
                <a16:creationId xmlns:a16="http://schemas.microsoft.com/office/drawing/2014/main" id="{7418A13C-3719-F4B7-5B6B-755B66A1666C}"/>
              </a:ext>
            </a:extLst>
          </p:cNvPr>
          <p:cNvSpPr/>
          <p:nvPr/>
        </p:nvSpPr>
        <p:spPr>
          <a:xfrm>
            <a:off x="16199965" y="6168573"/>
            <a:ext cx="1005840" cy="274320"/>
          </a:xfrm>
          <a:prstGeom prst="rect">
            <a:avLst/>
          </a:prstGeom>
          <a:noFill/>
          <a:ln/>
        </p:spPr>
        <p:txBody>
          <a:bodyPr wrap="square" rtlCol="0" anchor="ctr"/>
          <a:lstStyle/>
          <a:p>
            <a:pPr marL="0" indent="0" algn="ctr">
              <a:buNone/>
            </a:pPr>
            <a:r>
              <a:rPr lang="en-US" sz="1600" dirty="0">
                <a:solidFill>
                  <a:schemeClr val="bg2">
                    <a:lumMod val="10000"/>
                  </a:schemeClr>
                </a:solidFill>
                <a:latin typeface="Chromatica"/>
              </a:rPr>
              <a:t>activation</a:t>
            </a:r>
          </a:p>
        </p:txBody>
      </p:sp>
      <p:sp>
        <p:nvSpPr>
          <p:cNvPr id="89" name="Shape 15">
            <a:extLst>
              <a:ext uri="{FF2B5EF4-FFF2-40B4-BE49-F238E27FC236}">
                <a16:creationId xmlns:a16="http://schemas.microsoft.com/office/drawing/2014/main" id="{7613C3D6-04FE-580E-943D-E86ED0C9B952}"/>
              </a:ext>
            </a:extLst>
          </p:cNvPr>
          <p:cNvSpPr/>
          <p:nvPr/>
        </p:nvSpPr>
        <p:spPr>
          <a:xfrm>
            <a:off x="11305691" y="8510671"/>
            <a:ext cx="712138" cy="827368"/>
          </a:xfrm>
          <a:prstGeom prst="ellipse">
            <a:avLst/>
          </a:prstGeom>
          <a:solidFill>
            <a:schemeClr val="accent1"/>
          </a:solidFill>
          <a:ln w="12700">
            <a:solidFill>
              <a:srgbClr val="0F5257"/>
            </a:solidFill>
            <a:prstDash val="solid"/>
          </a:ln>
        </p:spPr>
        <p:txBody>
          <a:bodyPr/>
          <a:lstStyle/>
          <a:p>
            <a:endParaRPr lang="de-DE"/>
          </a:p>
        </p:txBody>
      </p:sp>
      <p:sp>
        <p:nvSpPr>
          <p:cNvPr id="90" name="Text 16">
            <a:extLst>
              <a:ext uri="{FF2B5EF4-FFF2-40B4-BE49-F238E27FC236}">
                <a16:creationId xmlns:a16="http://schemas.microsoft.com/office/drawing/2014/main" id="{9D5B8903-184D-A4F0-CF0C-85511C00CC17}"/>
              </a:ext>
            </a:extLst>
          </p:cNvPr>
          <p:cNvSpPr/>
          <p:nvPr/>
        </p:nvSpPr>
        <p:spPr>
          <a:xfrm>
            <a:off x="11469736" y="8711150"/>
            <a:ext cx="384048" cy="384048"/>
          </a:xfrm>
          <a:prstGeom prst="rect">
            <a:avLst/>
          </a:prstGeom>
          <a:noFill/>
          <a:ln/>
        </p:spPr>
        <p:txBody>
          <a:bodyPr wrap="square" rtlCol="0" anchor="ctr"/>
          <a:lstStyle/>
          <a:p>
            <a:pPr marL="0" indent="0" algn="ctr">
              <a:buNone/>
            </a:pPr>
            <a:r>
              <a:rPr lang="en-US" sz="1600" b="1" dirty="0">
                <a:solidFill>
                  <a:srgbClr val="FFFFFF"/>
                </a:solidFill>
                <a:latin typeface="Chromatica"/>
                <a:ea typeface="Arial" pitchFamily="34" charset="-122"/>
                <a:cs typeface="Arial" pitchFamily="34" charset="-120"/>
              </a:rPr>
              <a:t>w</a:t>
            </a:r>
            <a:endParaRPr lang="en-US" sz="1600" dirty="0">
              <a:latin typeface="Chromatica"/>
            </a:endParaRPr>
          </a:p>
        </p:txBody>
      </p:sp>
      <p:sp>
        <p:nvSpPr>
          <p:cNvPr id="92" name="Shape 15">
            <a:extLst>
              <a:ext uri="{FF2B5EF4-FFF2-40B4-BE49-F238E27FC236}">
                <a16:creationId xmlns:a16="http://schemas.microsoft.com/office/drawing/2014/main" id="{FC34DEA5-FDB4-E262-1891-D4F78B604971}"/>
              </a:ext>
            </a:extLst>
          </p:cNvPr>
          <p:cNvSpPr/>
          <p:nvPr/>
        </p:nvSpPr>
        <p:spPr>
          <a:xfrm>
            <a:off x="11305691" y="6749104"/>
            <a:ext cx="712138" cy="827368"/>
          </a:xfrm>
          <a:prstGeom prst="ellipse">
            <a:avLst/>
          </a:prstGeom>
          <a:solidFill>
            <a:schemeClr val="accent1"/>
          </a:solidFill>
          <a:ln w="12700">
            <a:solidFill>
              <a:srgbClr val="0F5257"/>
            </a:solidFill>
            <a:prstDash val="solid"/>
          </a:ln>
        </p:spPr>
        <p:txBody>
          <a:bodyPr/>
          <a:lstStyle/>
          <a:p>
            <a:endParaRPr lang="de-DE"/>
          </a:p>
        </p:txBody>
      </p:sp>
      <p:sp>
        <p:nvSpPr>
          <p:cNvPr id="94" name="Text 16">
            <a:extLst>
              <a:ext uri="{FF2B5EF4-FFF2-40B4-BE49-F238E27FC236}">
                <a16:creationId xmlns:a16="http://schemas.microsoft.com/office/drawing/2014/main" id="{A0AFBB38-93C1-D4AF-C63D-91E47C363819}"/>
              </a:ext>
            </a:extLst>
          </p:cNvPr>
          <p:cNvSpPr/>
          <p:nvPr/>
        </p:nvSpPr>
        <p:spPr>
          <a:xfrm>
            <a:off x="11469736" y="6949583"/>
            <a:ext cx="384048" cy="384048"/>
          </a:xfrm>
          <a:prstGeom prst="rect">
            <a:avLst/>
          </a:prstGeom>
          <a:noFill/>
          <a:ln/>
        </p:spPr>
        <p:txBody>
          <a:bodyPr wrap="square" rtlCol="0" anchor="ctr"/>
          <a:lstStyle/>
          <a:p>
            <a:pPr marL="0" indent="0" algn="ctr">
              <a:buNone/>
            </a:pPr>
            <a:r>
              <a:rPr lang="en-US" sz="1600" b="1" dirty="0">
                <a:solidFill>
                  <a:srgbClr val="FFFFFF"/>
                </a:solidFill>
                <a:latin typeface="Chromatica"/>
                <a:ea typeface="Arial" pitchFamily="34" charset="-122"/>
                <a:cs typeface="Arial" pitchFamily="34" charset="-120"/>
              </a:rPr>
              <a:t>w</a:t>
            </a:r>
            <a:endParaRPr lang="en-US" sz="1600" dirty="0">
              <a:latin typeface="Chromatica"/>
            </a:endParaRPr>
          </a:p>
        </p:txBody>
      </p:sp>
      <p:sp>
        <p:nvSpPr>
          <p:cNvPr id="96" name="Shape 15">
            <a:extLst>
              <a:ext uri="{FF2B5EF4-FFF2-40B4-BE49-F238E27FC236}">
                <a16:creationId xmlns:a16="http://schemas.microsoft.com/office/drawing/2014/main" id="{842CBE71-4205-82B0-615A-22D2E2CCDAA6}"/>
              </a:ext>
            </a:extLst>
          </p:cNvPr>
          <p:cNvSpPr/>
          <p:nvPr/>
        </p:nvSpPr>
        <p:spPr>
          <a:xfrm>
            <a:off x="11305691" y="5551062"/>
            <a:ext cx="712138" cy="827368"/>
          </a:xfrm>
          <a:prstGeom prst="ellipse">
            <a:avLst/>
          </a:prstGeom>
          <a:solidFill>
            <a:schemeClr val="accent1"/>
          </a:solidFill>
          <a:ln w="12700">
            <a:solidFill>
              <a:srgbClr val="0F5257"/>
            </a:solidFill>
            <a:prstDash val="solid"/>
          </a:ln>
        </p:spPr>
        <p:txBody>
          <a:bodyPr/>
          <a:lstStyle/>
          <a:p>
            <a:endParaRPr lang="de-DE"/>
          </a:p>
        </p:txBody>
      </p:sp>
      <p:sp>
        <p:nvSpPr>
          <p:cNvPr id="98" name="Text 16">
            <a:extLst>
              <a:ext uri="{FF2B5EF4-FFF2-40B4-BE49-F238E27FC236}">
                <a16:creationId xmlns:a16="http://schemas.microsoft.com/office/drawing/2014/main" id="{DBB64854-F5CF-B867-0E59-213062D20B36}"/>
              </a:ext>
            </a:extLst>
          </p:cNvPr>
          <p:cNvSpPr/>
          <p:nvPr/>
        </p:nvSpPr>
        <p:spPr>
          <a:xfrm>
            <a:off x="11469736" y="5751541"/>
            <a:ext cx="384048" cy="384048"/>
          </a:xfrm>
          <a:prstGeom prst="rect">
            <a:avLst/>
          </a:prstGeom>
          <a:noFill/>
          <a:ln/>
        </p:spPr>
        <p:txBody>
          <a:bodyPr wrap="square" rtlCol="0" anchor="ctr"/>
          <a:lstStyle/>
          <a:p>
            <a:pPr marL="0" indent="0" algn="ctr">
              <a:buNone/>
            </a:pPr>
            <a:r>
              <a:rPr lang="en-US" sz="1600" b="1" dirty="0">
                <a:solidFill>
                  <a:srgbClr val="FFFFFF"/>
                </a:solidFill>
                <a:latin typeface="Chromatica"/>
                <a:ea typeface="Arial" pitchFamily="34" charset="-122"/>
                <a:cs typeface="Arial" pitchFamily="34" charset="-120"/>
              </a:rPr>
              <a:t>w</a:t>
            </a:r>
            <a:endParaRPr lang="en-US" sz="1600" dirty="0">
              <a:latin typeface="Chromatica"/>
            </a:endParaRPr>
          </a:p>
        </p:txBody>
      </p:sp>
      <p:sp>
        <p:nvSpPr>
          <p:cNvPr id="100" name="Shape 15">
            <a:extLst>
              <a:ext uri="{FF2B5EF4-FFF2-40B4-BE49-F238E27FC236}">
                <a16:creationId xmlns:a16="http://schemas.microsoft.com/office/drawing/2014/main" id="{BA4183E6-6A17-DF3B-911C-4D999FDD1E72}"/>
              </a:ext>
            </a:extLst>
          </p:cNvPr>
          <p:cNvSpPr/>
          <p:nvPr/>
        </p:nvSpPr>
        <p:spPr>
          <a:xfrm>
            <a:off x="11308561" y="4356717"/>
            <a:ext cx="712138" cy="827368"/>
          </a:xfrm>
          <a:prstGeom prst="ellipse">
            <a:avLst/>
          </a:prstGeom>
          <a:solidFill>
            <a:schemeClr val="accent1"/>
          </a:solidFill>
          <a:ln w="12700">
            <a:solidFill>
              <a:srgbClr val="0F5257"/>
            </a:solidFill>
            <a:prstDash val="solid"/>
          </a:ln>
        </p:spPr>
        <p:txBody>
          <a:bodyPr/>
          <a:lstStyle/>
          <a:p>
            <a:endParaRPr lang="de-DE"/>
          </a:p>
        </p:txBody>
      </p:sp>
      <p:sp>
        <p:nvSpPr>
          <p:cNvPr id="102" name="Text 16">
            <a:extLst>
              <a:ext uri="{FF2B5EF4-FFF2-40B4-BE49-F238E27FC236}">
                <a16:creationId xmlns:a16="http://schemas.microsoft.com/office/drawing/2014/main" id="{5AAC2EF1-8463-6D33-B39F-AE2C8FF37638}"/>
              </a:ext>
            </a:extLst>
          </p:cNvPr>
          <p:cNvSpPr/>
          <p:nvPr/>
        </p:nvSpPr>
        <p:spPr>
          <a:xfrm>
            <a:off x="11472606" y="4557196"/>
            <a:ext cx="384048" cy="384048"/>
          </a:xfrm>
          <a:prstGeom prst="rect">
            <a:avLst/>
          </a:prstGeom>
          <a:noFill/>
          <a:ln/>
        </p:spPr>
        <p:txBody>
          <a:bodyPr wrap="square" rtlCol="0" anchor="ctr"/>
          <a:lstStyle/>
          <a:p>
            <a:pPr marL="0" indent="0" algn="ctr">
              <a:buNone/>
            </a:pPr>
            <a:r>
              <a:rPr lang="en-US" sz="1600" b="1" dirty="0">
                <a:solidFill>
                  <a:srgbClr val="FFFFFF"/>
                </a:solidFill>
                <a:latin typeface="Chromatica"/>
                <a:ea typeface="Arial" pitchFamily="34" charset="-122"/>
                <a:cs typeface="Arial" pitchFamily="34" charset="-120"/>
              </a:rPr>
              <a:t>w</a:t>
            </a:r>
            <a:endParaRPr lang="en-US" sz="1600" dirty="0">
              <a:latin typeface="Chromatica"/>
            </a:endParaRPr>
          </a:p>
        </p:txBody>
      </p:sp>
      <p:sp>
        <p:nvSpPr>
          <p:cNvPr id="103" name="Text 14">
            <a:extLst>
              <a:ext uri="{FF2B5EF4-FFF2-40B4-BE49-F238E27FC236}">
                <a16:creationId xmlns:a16="http://schemas.microsoft.com/office/drawing/2014/main" id="{F917FF6E-8EAE-8D4C-3EAF-B5FEA7CF0735}"/>
              </a:ext>
            </a:extLst>
          </p:cNvPr>
          <p:cNvSpPr/>
          <p:nvPr/>
        </p:nvSpPr>
        <p:spPr>
          <a:xfrm>
            <a:off x="10588268" y="5815549"/>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x2</a:t>
            </a:r>
            <a:endParaRPr lang="en-US" sz="1800" dirty="0">
              <a:latin typeface="Chromatica"/>
            </a:endParaRPr>
          </a:p>
        </p:txBody>
      </p:sp>
      <p:sp>
        <p:nvSpPr>
          <p:cNvPr id="104" name="Text 14">
            <a:extLst>
              <a:ext uri="{FF2B5EF4-FFF2-40B4-BE49-F238E27FC236}">
                <a16:creationId xmlns:a16="http://schemas.microsoft.com/office/drawing/2014/main" id="{ED8E6628-2671-9BA9-AB1A-B17794901384}"/>
              </a:ext>
            </a:extLst>
          </p:cNvPr>
          <p:cNvSpPr/>
          <p:nvPr/>
        </p:nvSpPr>
        <p:spPr>
          <a:xfrm>
            <a:off x="10586571" y="6981587"/>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x3</a:t>
            </a:r>
            <a:endParaRPr lang="en-US" sz="1800" dirty="0">
              <a:latin typeface="Chromatica"/>
            </a:endParaRPr>
          </a:p>
        </p:txBody>
      </p:sp>
      <p:cxnSp>
        <p:nvCxnSpPr>
          <p:cNvPr id="106" name="Gerade Verbindung mit Pfeil 105">
            <a:extLst>
              <a:ext uri="{FF2B5EF4-FFF2-40B4-BE49-F238E27FC236}">
                <a16:creationId xmlns:a16="http://schemas.microsoft.com/office/drawing/2014/main" id="{790C7835-6659-3DC1-ADC9-288874BFBA37}"/>
              </a:ext>
            </a:extLst>
          </p:cNvPr>
          <p:cNvCxnSpPr>
            <a:cxnSpLocks/>
            <a:stCxn id="100" idx="6"/>
            <a:endCxn id="63" idx="1"/>
          </p:cNvCxnSpPr>
          <p:nvPr/>
        </p:nvCxnSpPr>
        <p:spPr>
          <a:xfrm>
            <a:off x="12020699" y="4770401"/>
            <a:ext cx="2679970" cy="1983745"/>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9" name="Gerade Verbindung mit Pfeil 108">
            <a:extLst>
              <a:ext uri="{FF2B5EF4-FFF2-40B4-BE49-F238E27FC236}">
                <a16:creationId xmlns:a16="http://schemas.microsoft.com/office/drawing/2014/main" id="{38F81CFB-A479-4139-FFAB-C1836D67601C}"/>
              </a:ext>
            </a:extLst>
          </p:cNvPr>
          <p:cNvCxnSpPr>
            <a:stCxn id="92" idx="6"/>
            <a:endCxn id="63" idx="2"/>
          </p:cNvCxnSpPr>
          <p:nvPr/>
        </p:nvCxnSpPr>
        <p:spPr>
          <a:xfrm>
            <a:off x="12017829" y="7162788"/>
            <a:ext cx="2527578" cy="501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15" name="Gerade Verbindung mit Pfeil 114">
            <a:extLst>
              <a:ext uri="{FF2B5EF4-FFF2-40B4-BE49-F238E27FC236}">
                <a16:creationId xmlns:a16="http://schemas.microsoft.com/office/drawing/2014/main" id="{5803BB7D-327A-0B9F-31E1-AE0CFD1D43C2}"/>
              </a:ext>
            </a:extLst>
          </p:cNvPr>
          <p:cNvCxnSpPr>
            <a:stCxn id="96" idx="6"/>
          </p:cNvCxnSpPr>
          <p:nvPr/>
        </p:nvCxnSpPr>
        <p:spPr>
          <a:xfrm>
            <a:off x="12017829" y="5964746"/>
            <a:ext cx="2640356" cy="97215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17" name="Gerade Verbindung mit Pfeil 116">
            <a:extLst>
              <a:ext uri="{FF2B5EF4-FFF2-40B4-BE49-F238E27FC236}">
                <a16:creationId xmlns:a16="http://schemas.microsoft.com/office/drawing/2014/main" id="{8D566316-176D-0EA7-0805-C27A2A99A20C}"/>
              </a:ext>
            </a:extLst>
          </p:cNvPr>
          <p:cNvCxnSpPr>
            <a:stCxn id="89" idx="6"/>
            <a:endCxn id="63" idx="3"/>
          </p:cNvCxnSpPr>
          <p:nvPr/>
        </p:nvCxnSpPr>
        <p:spPr>
          <a:xfrm flipV="1">
            <a:off x="12017829" y="7581455"/>
            <a:ext cx="2682840" cy="13429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568736449"/>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870F3-F202-EDB1-1B8A-3D560F8DB9E4}"/>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BE26E555-72F3-C136-0BF3-9E20FF4037F4}"/>
              </a:ext>
            </a:extLst>
          </p:cNvPr>
          <p:cNvSpPr>
            <a:spLocks noGrp="1"/>
          </p:cNvSpPr>
          <p:nvPr>
            <p:ph type="body" sz="quarter" idx="22"/>
          </p:nvPr>
        </p:nvSpPr>
        <p:spPr/>
        <p:txBody>
          <a:bodyPr/>
          <a:lstStyle/>
          <a:p>
            <a:r>
              <a:rPr lang="de-DE" dirty="0" err="1"/>
              <a:t>Yapay</a:t>
            </a:r>
            <a:r>
              <a:rPr lang="de-DE" dirty="0"/>
              <a:t> </a:t>
            </a:r>
            <a:r>
              <a:rPr lang="de-DE" dirty="0" err="1"/>
              <a:t>Sinir</a:t>
            </a:r>
            <a:r>
              <a:rPr lang="de-DE" dirty="0"/>
              <a:t> Ağı </a:t>
            </a:r>
            <a:r>
              <a:rPr lang="de-DE" dirty="0" err="1"/>
              <a:t>Yapısı</a:t>
            </a:r>
            <a:endParaRPr lang="de-DE" dirty="0"/>
          </a:p>
        </p:txBody>
      </p:sp>
      <p:sp>
        <p:nvSpPr>
          <p:cNvPr id="5" name="Shape 2">
            <a:extLst>
              <a:ext uri="{FF2B5EF4-FFF2-40B4-BE49-F238E27FC236}">
                <a16:creationId xmlns:a16="http://schemas.microsoft.com/office/drawing/2014/main" id="{82D218F0-F9A2-4662-D10D-E1CFF74D088D}"/>
              </a:ext>
            </a:extLst>
          </p:cNvPr>
          <p:cNvSpPr/>
          <p:nvPr/>
        </p:nvSpPr>
        <p:spPr>
          <a:xfrm>
            <a:off x="1655064" y="4618481"/>
            <a:ext cx="598932" cy="661851"/>
          </a:xfrm>
          <a:prstGeom prst="ellipse">
            <a:avLst/>
          </a:prstGeom>
          <a:solidFill>
            <a:schemeClr val="accent1"/>
          </a:solidFill>
          <a:ln/>
        </p:spPr>
        <p:txBody>
          <a:bodyPr/>
          <a:lstStyle/>
          <a:p>
            <a:endParaRPr lang="de-DE"/>
          </a:p>
        </p:txBody>
      </p:sp>
      <p:sp>
        <p:nvSpPr>
          <p:cNvPr id="7" name="Text 3">
            <a:extLst>
              <a:ext uri="{FF2B5EF4-FFF2-40B4-BE49-F238E27FC236}">
                <a16:creationId xmlns:a16="http://schemas.microsoft.com/office/drawing/2014/main" id="{B10BCA9F-ADBA-A9AE-21E3-DE4BD87F223B}"/>
              </a:ext>
            </a:extLst>
          </p:cNvPr>
          <p:cNvSpPr/>
          <p:nvPr/>
        </p:nvSpPr>
        <p:spPr>
          <a:xfrm>
            <a:off x="2318004" y="4741164"/>
            <a:ext cx="4767798" cy="411480"/>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Inputs  </a:t>
            </a:r>
            <a:r>
              <a:rPr lang="en-US" dirty="0">
                <a:solidFill>
                  <a:srgbClr val="5A6B6B"/>
                </a:solidFill>
                <a:latin typeface="Chromatica"/>
                <a:ea typeface="Arial" pitchFamily="34" charset="-122"/>
                <a:cs typeface="Arial" pitchFamily="34" charset="-120"/>
              </a:rPr>
              <a:t>— </a:t>
            </a:r>
            <a:r>
              <a:rPr lang="en-US" dirty="0">
                <a:solidFill>
                  <a:schemeClr val="bg2">
                    <a:lumMod val="10000"/>
                  </a:schemeClr>
                </a:solidFill>
                <a:latin typeface="Chromatica"/>
                <a:ea typeface="Arial" pitchFamily="34" charset="-122"/>
                <a:cs typeface="Arial" pitchFamily="34" charset="-120"/>
              </a:rPr>
              <a:t>Girdi değerleri (x1..xn)</a:t>
            </a:r>
            <a:endParaRPr lang="en-US" dirty="0">
              <a:solidFill>
                <a:schemeClr val="bg2">
                  <a:lumMod val="10000"/>
                </a:schemeClr>
              </a:solidFill>
              <a:latin typeface="Chromatica"/>
            </a:endParaRPr>
          </a:p>
        </p:txBody>
      </p:sp>
      <p:sp>
        <p:nvSpPr>
          <p:cNvPr id="9" name="Shape 4">
            <a:extLst>
              <a:ext uri="{FF2B5EF4-FFF2-40B4-BE49-F238E27FC236}">
                <a16:creationId xmlns:a16="http://schemas.microsoft.com/office/drawing/2014/main" id="{EA6D2ED3-577C-B90B-B1F9-459EDFB69B2F}"/>
              </a:ext>
            </a:extLst>
          </p:cNvPr>
          <p:cNvSpPr/>
          <p:nvPr/>
        </p:nvSpPr>
        <p:spPr>
          <a:xfrm>
            <a:off x="1655064" y="5497068"/>
            <a:ext cx="557784" cy="661851"/>
          </a:xfrm>
          <a:prstGeom prst="ellipse">
            <a:avLst/>
          </a:prstGeom>
          <a:solidFill>
            <a:schemeClr val="accent1"/>
          </a:solidFill>
          <a:ln/>
        </p:spPr>
        <p:txBody>
          <a:bodyPr/>
          <a:lstStyle/>
          <a:p>
            <a:endParaRPr lang="de-DE"/>
          </a:p>
        </p:txBody>
      </p:sp>
      <p:sp>
        <p:nvSpPr>
          <p:cNvPr id="11" name="Text 5">
            <a:extLst>
              <a:ext uri="{FF2B5EF4-FFF2-40B4-BE49-F238E27FC236}">
                <a16:creationId xmlns:a16="http://schemas.microsoft.com/office/drawing/2014/main" id="{A30CF0A1-ED74-5645-C7F0-67BA3E29C1C5}"/>
              </a:ext>
            </a:extLst>
          </p:cNvPr>
          <p:cNvSpPr/>
          <p:nvPr/>
        </p:nvSpPr>
        <p:spPr>
          <a:xfrm>
            <a:off x="2249424" y="5630418"/>
            <a:ext cx="4640580" cy="411480"/>
          </a:xfrm>
          <a:prstGeom prst="rect">
            <a:avLst/>
          </a:prstGeom>
          <a:noFill/>
          <a:ln/>
        </p:spPr>
        <p:txBody>
          <a:bodyPr wrap="square" rtlCol="0" anchor="ctr"/>
          <a:lstStyle/>
          <a:p>
            <a:pPr marL="0" indent="0" algn="l">
              <a:buNone/>
            </a:pPr>
            <a:r>
              <a:rPr lang="en-US" b="1" dirty="0">
                <a:solidFill>
                  <a:schemeClr val="bg2">
                    <a:lumMod val="10000"/>
                  </a:schemeClr>
                </a:solidFill>
                <a:latin typeface="Chromatica"/>
                <a:ea typeface="Arial" pitchFamily="34" charset="-122"/>
                <a:cs typeface="Arial" pitchFamily="34" charset="-120"/>
              </a:rPr>
              <a:t>Weights  </a:t>
            </a:r>
            <a:r>
              <a:rPr lang="en-US" dirty="0">
                <a:solidFill>
                  <a:schemeClr val="bg2">
                    <a:lumMod val="10000"/>
                  </a:schemeClr>
                </a:solidFill>
                <a:latin typeface="Chromatica"/>
                <a:ea typeface="Arial" pitchFamily="34" charset="-122"/>
                <a:cs typeface="Arial" pitchFamily="34" charset="-120"/>
              </a:rPr>
              <a:t>— Her girdinin ağırlığı (w)</a:t>
            </a:r>
            <a:endParaRPr lang="en-US" dirty="0">
              <a:solidFill>
                <a:schemeClr val="bg2">
                  <a:lumMod val="10000"/>
                </a:schemeClr>
              </a:solidFill>
              <a:latin typeface="Chromatica"/>
            </a:endParaRPr>
          </a:p>
        </p:txBody>
      </p:sp>
      <p:sp>
        <p:nvSpPr>
          <p:cNvPr id="13" name="Shape 6">
            <a:extLst>
              <a:ext uri="{FF2B5EF4-FFF2-40B4-BE49-F238E27FC236}">
                <a16:creationId xmlns:a16="http://schemas.microsoft.com/office/drawing/2014/main" id="{0DEB70F1-DD4B-E6B8-243B-E2340F7AD525}"/>
              </a:ext>
            </a:extLst>
          </p:cNvPr>
          <p:cNvSpPr/>
          <p:nvPr/>
        </p:nvSpPr>
        <p:spPr>
          <a:xfrm>
            <a:off x="1659636" y="6373876"/>
            <a:ext cx="557784" cy="661851"/>
          </a:xfrm>
          <a:prstGeom prst="ellipse">
            <a:avLst/>
          </a:prstGeom>
          <a:solidFill>
            <a:schemeClr val="accent1"/>
          </a:solidFill>
          <a:ln/>
        </p:spPr>
        <p:txBody>
          <a:bodyPr/>
          <a:lstStyle/>
          <a:p>
            <a:endParaRPr lang="de-DE"/>
          </a:p>
        </p:txBody>
      </p:sp>
      <p:sp>
        <p:nvSpPr>
          <p:cNvPr id="15" name="Text 7">
            <a:extLst>
              <a:ext uri="{FF2B5EF4-FFF2-40B4-BE49-F238E27FC236}">
                <a16:creationId xmlns:a16="http://schemas.microsoft.com/office/drawing/2014/main" id="{D3157BEE-E02D-F229-D472-16C3F3F6A80A}"/>
              </a:ext>
            </a:extLst>
          </p:cNvPr>
          <p:cNvSpPr/>
          <p:nvPr/>
        </p:nvSpPr>
        <p:spPr>
          <a:xfrm>
            <a:off x="2262634" y="6525423"/>
            <a:ext cx="4023360" cy="411480"/>
          </a:xfrm>
          <a:prstGeom prst="rect">
            <a:avLst/>
          </a:prstGeom>
          <a:noFill/>
          <a:ln/>
        </p:spPr>
        <p:txBody>
          <a:bodyPr wrap="square" rtlCol="0" anchor="ctr"/>
          <a:lstStyle/>
          <a:p>
            <a:pPr marL="0" indent="0" algn="l">
              <a:buNone/>
            </a:pPr>
            <a:r>
              <a:rPr lang="en-US" b="1" dirty="0">
                <a:solidFill>
                  <a:schemeClr val="bg2">
                    <a:lumMod val="10000"/>
                  </a:schemeClr>
                </a:solidFill>
                <a:latin typeface="Chromatica"/>
                <a:ea typeface="Arial" pitchFamily="34" charset="-122"/>
                <a:cs typeface="Arial" pitchFamily="34" charset="-120"/>
              </a:rPr>
              <a:t>Bias  </a:t>
            </a:r>
            <a:r>
              <a:rPr lang="en-US" dirty="0">
                <a:solidFill>
                  <a:schemeClr val="bg2">
                    <a:lumMod val="10000"/>
                  </a:schemeClr>
                </a:solidFill>
                <a:latin typeface="Chromatica"/>
                <a:ea typeface="Arial" pitchFamily="34" charset="-122"/>
                <a:cs typeface="Arial" pitchFamily="34" charset="-120"/>
              </a:rPr>
              <a:t>— Sabit kaydırma terimi</a:t>
            </a:r>
            <a:endParaRPr lang="en-US" dirty="0">
              <a:solidFill>
                <a:schemeClr val="bg2">
                  <a:lumMod val="10000"/>
                </a:schemeClr>
              </a:solidFill>
              <a:latin typeface="Chromatica"/>
            </a:endParaRPr>
          </a:p>
        </p:txBody>
      </p:sp>
      <p:sp>
        <p:nvSpPr>
          <p:cNvPr id="17" name="Shape 8">
            <a:extLst>
              <a:ext uri="{FF2B5EF4-FFF2-40B4-BE49-F238E27FC236}">
                <a16:creationId xmlns:a16="http://schemas.microsoft.com/office/drawing/2014/main" id="{9491EBAF-F3A9-841E-5516-80EF187331C5}"/>
              </a:ext>
            </a:extLst>
          </p:cNvPr>
          <p:cNvSpPr/>
          <p:nvPr/>
        </p:nvSpPr>
        <p:spPr>
          <a:xfrm>
            <a:off x="1675638" y="7250684"/>
            <a:ext cx="557784" cy="661851"/>
          </a:xfrm>
          <a:prstGeom prst="ellipse">
            <a:avLst/>
          </a:prstGeom>
          <a:solidFill>
            <a:schemeClr val="accent1"/>
          </a:solidFill>
          <a:ln/>
        </p:spPr>
        <p:txBody>
          <a:bodyPr/>
          <a:lstStyle/>
          <a:p>
            <a:endParaRPr lang="de-DE"/>
          </a:p>
        </p:txBody>
      </p:sp>
      <p:sp>
        <p:nvSpPr>
          <p:cNvPr id="19" name="Text 9">
            <a:extLst>
              <a:ext uri="{FF2B5EF4-FFF2-40B4-BE49-F238E27FC236}">
                <a16:creationId xmlns:a16="http://schemas.microsoft.com/office/drawing/2014/main" id="{A9287ED9-175C-9B2D-5D22-56BCD31EE4DD}"/>
              </a:ext>
            </a:extLst>
          </p:cNvPr>
          <p:cNvSpPr/>
          <p:nvPr/>
        </p:nvSpPr>
        <p:spPr>
          <a:xfrm>
            <a:off x="2262633" y="7375869"/>
            <a:ext cx="5284795" cy="411480"/>
          </a:xfrm>
          <a:prstGeom prst="rect">
            <a:avLst/>
          </a:prstGeom>
          <a:noFill/>
          <a:ln/>
        </p:spPr>
        <p:txBody>
          <a:bodyPr wrap="square" rtlCol="0" anchor="ctr"/>
          <a:lstStyle/>
          <a:p>
            <a:pPr marL="0" indent="0" algn="l">
              <a:buNone/>
            </a:pPr>
            <a:r>
              <a:rPr lang="en-US" b="1" dirty="0">
                <a:solidFill>
                  <a:schemeClr val="bg2">
                    <a:lumMod val="10000"/>
                  </a:schemeClr>
                </a:solidFill>
                <a:latin typeface="Chromatica"/>
                <a:ea typeface="Arial" pitchFamily="34" charset="-122"/>
                <a:cs typeface="Arial" pitchFamily="34" charset="-120"/>
              </a:rPr>
              <a:t>Summation  </a:t>
            </a:r>
            <a:r>
              <a:rPr lang="en-US" dirty="0">
                <a:solidFill>
                  <a:schemeClr val="bg2">
                    <a:lumMod val="10000"/>
                  </a:schemeClr>
                </a:solidFill>
                <a:latin typeface="Chromatica"/>
                <a:ea typeface="Arial" pitchFamily="34" charset="-122"/>
                <a:cs typeface="Arial" pitchFamily="34" charset="-120"/>
              </a:rPr>
              <a:t>— Ağırlıklı toplam (Sigma)</a:t>
            </a:r>
            <a:endParaRPr lang="en-US" dirty="0">
              <a:solidFill>
                <a:schemeClr val="bg2">
                  <a:lumMod val="10000"/>
                </a:schemeClr>
              </a:solidFill>
              <a:latin typeface="Chromatica"/>
            </a:endParaRPr>
          </a:p>
        </p:txBody>
      </p:sp>
      <p:sp>
        <p:nvSpPr>
          <p:cNvPr id="21" name="Shape 10">
            <a:extLst>
              <a:ext uri="{FF2B5EF4-FFF2-40B4-BE49-F238E27FC236}">
                <a16:creationId xmlns:a16="http://schemas.microsoft.com/office/drawing/2014/main" id="{A08C03AC-1523-7650-5249-21AF184A18FC}"/>
              </a:ext>
            </a:extLst>
          </p:cNvPr>
          <p:cNvSpPr/>
          <p:nvPr/>
        </p:nvSpPr>
        <p:spPr>
          <a:xfrm>
            <a:off x="1675638" y="8130105"/>
            <a:ext cx="557784" cy="661851"/>
          </a:xfrm>
          <a:prstGeom prst="ellipse">
            <a:avLst/>
          </a:prstGeom>
          <a:solidFill>
            <a:schemeClr val="accent1"/>
          </a:solidFill>
          <a:ln/>
        </p:spPr>
        <p:txBody>
          <a:bodyPr/>
          <a:lstStyle/>
          <a:p>
            <a:endParaRPr lang="de-DE"/>
          </a:p>
        </p:txBody>
      </p:sp>
      <p:sp>
        <p:nvSpPr>
          <p:cNvPr id="23" name="Text 11">
            <a:extLst>
              <a:ext uri="{FF2B5EF4-FFF2-40B4-BE49-F238E27FC236}">
                <a16:creationId xmlns:a16="http://schemas.microsoft.com/office/drawing/2014/main" id="{EDF12029-98B4-2129-9279-1BBA0C5A4A4D}"/>
              </a:ext>
            </a:extLst>
          </p:cNvPr>
          <p:cNvSpPr/>
          <p:nvPr/>
        </p:nvSpPr>
        <p:spPr>
          <a:xfrm>
            <a:off x="2203649" y="8250936"/>
            <a:ext cx="5677608" cy="411480"/>
          </a:xfrm>
          <a:prstGeom prst="rect">
            <a:avLst/>
          </a:prstGeom>
          <a:noFill/>
          <a:ln/>
        </p:spPr>
        <p:txBody>
          <a:bodyPr wrap="square" rtlCol="0" anchor="ctr"/>
          <a:lstStyle/>
          <a:p>
            <a:pPr marL="0" indent="0" algn="l">
              <a:buNone/>
            </a:pPr>
            <a:r>
              <a:rPr lang="en-US" b="1" dirty="0">
                <a:solidFill>
                  <a:schemeClr val="bg2">
                    <a:lumMod val="10000"/>
                  </a:schemeClr>
                </a:solidFill>
                <a:latin typeface="Chromatica"/>
                <a:ea typeface="Arial" pitchFamily="34" charset="-122"/>
                <a:cs typeface="Arial" pitchFamily="34" charset="-120"/>
              </a:rPr>
              <a:t>Activation  </a:t>
            </a:r>
            <a:r>
              <a:rPr lang="en-US" dirty="0">
                <a:solidFill>
                  <a:schemeClr val="bg2">
                    <a:lumMod val="10000"/>
                  </a:schemeClr>
                </a:solidFill>
                <a:latin typeface="Chromatica"/>
                <a:ea typeface="Arial" pitchFamily="34" charset="-122"/>
                <a:cs typeface="Arial" pitchFamily="34" charset="-120"/>
              </a:rPr>
              <a:t>— Doğrusallığı kıran fonksiyon</a:t>
            </a:r>
            <a:endParaRPr lang="en-US" dirty="0">
              <a:solidFill>
                <a:schemeClr val="bg2">
                  <a:lumMod val="10000"/>
                </a:schemeClr>
              </a:solidFill>
              <a:latin typeface="Chromatica"/>
            </a:endParaRPr>
          </a:p>
        </p:txBody>
      </p:sp>
      <p:sp>
        <p:nvSpPr>
          <p:cNvPr id="25" name="Shape 12">
            <a:extLst>
              <a:ext uri="{FF2B5EF4-FFF2-40B4-BE49-F238E27FC236}">
                <a16:creationId xmlns:a16="http://schemas.microsoft.com/office/drawing/2014/main" id="{3690958D-EF02-9087-50C8-2D238B2CE0F3}"/>
              </a:ext>
            </a:extLst>
          </p:cNvPr>
          <p:cNvSpPr/>
          <p:nvPr/>
        </p:nvSpPr>
        <p:spPr>
          <a:xfrm>
            <a:off x="1696212" y="9004300"/>
            <a:ext cx="557784" cy="661851"/>
          </a:xfrm>
          <a:prstGeom prst="ellipse">
            <a:avLst/>
          </a:prstGeom>
          <a:solidFill>
            <a:schemeClr val="accent1"/>
          </a:solidFill>
          <a:ln/>
        </p:spPr>
        <p:txBody>
          <a:bodyPr/>
          <a:lstStyle/>
          <a:p>
            <a:endParaRPr lang="de-DE"/>
          </a:p>
        </p:txBody>
      </p:sp>
      <p:sp>
        <p:nvSpPr>
          <p:cNvPr id="27" name="Text 13">
            <a:extLst>
              <a:ext uri="{FF2B5EF4-FFF2-40B4-BE49-F238E27FC236}">
                <a16:creationId xmlns:a16="http://schemas.microsoft.com/office/drawing/2014/main" id="{CBEC0AEB-FF9C-5D79-59FC-B5F6E449707F}"/>
              </a:ext>
            </a:extLst>
          </p:cNvPr>
          <p:cNvSpPr/>
          <p:nvPr/>
        </p:nvSpPr>
        <p:spPr>
          <a:xfrm>
            <a:off x="2253996" y="9074223"/>
            <a:ext cx="4831806" cy="411480"/>
          </a:xfrm>
          <a:prstGeom prst="rect">
            <a:avLst/>
          </a:prstGeom>
          <a:noFill/>
          <a:ln/>
        </p:spPr>
        <p:txBody>
          <a:bodyPr wrap="square" rtlCol="0" anchor="ctr"/>
          <a:lstStyle/>
          <a:p>
            <a:pPr marL="0" indent="0" algn="l">
              <a:buNone/>
            </a:pPr>
            <a:r>
              <a:rPr lang="en-US" b="1" dirty="0">
                <a:solidFill>
                  <a:schemeClr val="bg2">
                    <a:lumMod val="10000"/>
                  </a:schemeClr>
                </a:solidFill>
                <a:latin typeface="Chromatica"/>
                <a:ea typeface="Arial" pitchFamily="34" charset="-122"/>
                <a:cs typeface="Arial" pitchFamily="34" charset="-120"/>
              </a:rPr>
              <a:t>Output  </a:t>
            </a:r>
            <a:r>
              <a:rPr lang="en-US" dirty="0">
                <a:solidFill>
                  <a:schemeClr val="bg2">
                    <a:lumMod val="10000"/>
                  </a:schemeClr>
                </a:solidFill>
                <a:latin typeface="Chromatica"/>
                <a:ea typeface="Arial" pitchFamily="34" charset="-122"/>
                <a:cs typeface="Arial" pitchFamily="34" charset="-120"/>
              </a:rPr>
              <a:t>— Nöronun çıktı değeri</a:t>
            </a:r>
            <a:endParaRPr lang="en-US" dirty="0">
              <a:solidFill>
                <a:schemeClr val="bg2">
                  <a:lumMod val="10000"/>
                </a:schemeClr>
              </a:solidFill>
              <a:latin typeface="Chromatica"/>
            </a:endParaRPr>
          </a:p>
        </p:txBody>
      </p:sp>
      <p:sp>
        <p:nvSpPr>
          <p:cNvPr id="29" name="Text 14">
            <a:extLst>
              <a:ext uri="{FF2B5EF4-FFF2-40B4-BE49-F238E27FC236}">
                <a16:creationId xmlns:a16="http://schemas.microsoft.com/office/drawing/2014/main" id="{D27F8001-1EFD-011D-5930-07D4B3A5E29E}"/>
              </a:ext>
            </a:extLst>
          </p:cNvPr>
          <p:cNvSpPr/>
          <p:nvPr/>
        </p:nvSpPr>
        <p:spPr>
          <a:xfrm>
            <a:off x="10590278" y="4611695"/>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x1</a:t>
            </a:r>
            <a:endParaRPr lang="en-US" sz="1800" dirty="0">
              <a:latin typeface="Chromatica"/>
            </a:endParaRPr>
          </a:p>
        </p:txBody>
      </p:sp>
      <p:sp>
        <p:nvSpPr>
          <p:cNvPr id="53" name="Text 26">
            <a:extLst>
              <a:ext uri="{FF2B5EF4-FFF2-40B4-BE49-F238E27FC236}">
                <a16:creationId xmlns:a16="http://schemas.microsoft.com/office/drawing/2014/main" id="{A2D94C95-17FC-F502-908F-92019CEEC7B4}"/>
              </a:ext>
            </a:extLst>
          </p:cNvPr>
          <p:cNvSpPr/>
          <p:nvPr/>
        </p:nvSpPr>
        <p:spPr>
          <a:xfrm>
            <a:off x="10590278" y="8743154"/>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xn</a:t>
            </a:r>
            <a:endParaRPr lang="en-US" sz="1800" dirty="0">
              <a:latin typeface="Chromatica"/>
            </a:endParaRPr>
          </a:p>
        </p:txBody>
      </p:sp>
      <p:sp>
        <p:nvSpPr>
          <p:cNvPr id="61" name="Text 30">
            <a:extLst>
              <a:ext uri="{FF2B5EF4-FFF2-40B4-BE49-F238E27FC236}">
                <a16:creationId xmlns:a16="http://schemas.microsoft.com/office/drawing/2014/main" id="{F770964D-7616-6A3D-90C0-B2B9275647AC}"/>
              </a:ext>
            </a:extLst>
          </p:cNvPr>
          <p:cNvSpPr/>
          <p:nvPr/>
        </p:nvSpPr>
        <p:spPr>
          <a:xfrm>
            <a:off x="11524600" y="7764345"/>
            <a:ext cx="274320" cy="365760"/>
          </a:xfrm>
          <a:prstGeom prst="rect">
            <a:avLst/>
          </a:prstGeom>
          <a:noFill/>
          <a:ln/>
        </p:spPr>
        <p:txBody>
          <a:bodyPr wrap="square" rtlCol="0" anchor="ctr"/>
          <a:lstStyle/>
          <a:p>
            <a:pPr marL="0" indent="0">
              <a:buNone/>
            </a:pPr>
            <a:r>
              <a:rPr lang="en-US" sz="2000" b="1" dirty="0">
                <a:solidFill>
                  <a:srgbClr val="1E2B2B"/>
                </a:solidFill>
              </a:rPr>
              <a:t>:</a:t>
            </a:r>
            <a:endParaRPr lang="en-US" sz="2000" dirty="0"/>
          </a:p>
        </p:txBody>
      </p:sp>
      <p:sp>
        <p:nvSpPr>
          <p:cNvPr id="63" name="Shape 31">
            <a:extLst>
              <a:ext uri="{FF2B5EF4-FFF2-40B4-BE49-F238E27FC236}">
                <a16:creationId xmlns:a16="http://schemas.microsoft.com/office/drawing/2014/main" id="{FC894CB7-51F5-EE42-8D15-B60B563F3D4E}"/>
              </a:ext>
            </a:extLst>
          </p:cNvPr>
          <p:cNvSpPr/>
          <p:nvPr/>
        </p:nvSpPr>
        <p:spPr>
          <a:xfrm>
            <a:off x="14545407" y="6582804"/>
            <a:ext cx="1060198" cy="1169993"/>
          </a:xfrm>
          <a:prstGeom prst="ellipse">
            <a:avLst/>
          </a:prstGeom>
          <a:solidFill>
            <a:schemeClr val="accent1">
              <a:lumMod val="50000"/>
            </a:schemeClr>
          </a:solidFill>
          <a:ln w="12700">
            <a:solidFill>
              <a:srgbClr val="0F5257"/>
            </a:solidFill>
            <a:prstDash val="solid"/>
          </a:ln>
        </p:spPr>
        <p:txBody>
          <a:bodyPr/>
          <a:lstStyle/>
          <a:p>
            <a:endParaRPr lang="de-DE"/>
          </a:p>
        </p:txBody>
      </p:sp>
      <p:sp>
        <p:nvSpPr>
          <p:cNvPr id="65" name="Text 32">
            <a:extLst>
              <a:ext uri="{FF2B5EF4-FFF2-40B4-BE49-F238E27FC236}">
                <a16:creationId xmlns:a16="http://schemas.microsoft.com/office/drawing/2014/main" id="{7B923733-F9E2-59E0-3623-29F1B4E9DAF7}"/>
              </a:ext>
            </a:extLst>
          </p:cNvPr>
          <p:cNvSpPr/>
          <p:nvPr/>
        </p:nvSpPr>
        <p:spPr>
          <a:xfrm>
            <a:off x="14536332" y="6582804"/>
            <a:ext cx="1060198" cy="1169993"/>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Σ</a:t>
            </a:r>
            <a:endParaRPr lang="en-US" sz="2600" dirty="0"/>
          </a:p>
        </p:txBody>
      </p:sp>
      <p:sp>
        <p:nvSpPr>
          <p:cNvPr id="67" name="Text 33">
            <a:extLst>
              <a:ext uri="{FF2B5EF4-FFF2-40B4-BE49-F238E27FC236}">
                <a16:creationId xmlns:a16="http://schemas.microsoft.com/office/drawing/2014/main" id="{296B565D-3A90-3EB4-DBEB-1E1347C676AC}"/>
              </a:ext>
            </a:extLst>
          </p:cNvPr>
          <p:cNvSpPr/>
          <p:nvPr/>
        </p:nvSpPr>
        <p:spPr>
          <a:xfrm>
            <a:off x="13423745" y="9528991"/>
            <a:ext cx="822960" cy="274320"/>
          </a:xfrm>
          <a:prstGeom prst="rect">
            <a:avLst/>
          </a:prstGeom>
          <a:noFill/>
          <a:ln/>
        </p:spPr>
        <p:txBody>
          <a:bodyPr wrap="square" rtlCol="0" anchor="ctr"/>
          <a:lstStyle/>
          <a:p>
            <a:pPr marL="0" indent="0" algn="ctr">
              <a:buNone/>
            </a:pPr>
            <a:r>
              <a:rPr lang="en-US" sz="1800" dirty="0">
                <a:solidFill>
                  <a:srgbClr val="5A6B6B"/>
                </a:solidFill>
                <a:latin typeface="Chromatica"/>
              </a:rPr>
              <a:t>bias</a:t>
            </a:r>
            <a:endParaRPr lang="en-US" sz="1800" dirty="0">
              <a:latin typeface="Chromatica"/>
            </a:endParaRPr>
          </a:p>
        </p:txBody>
      </p:sp>
      <p:sp>
        <p:nvSpPr>
          <p:cNvPr id="69" name="Shape 34">
            <a:extLst>
              <a:ext uri="{FF2B5EF4-FFF2-40B4-BE49-F238E27FC236}">
                <a16:creationId xmlns:a16="http://schemas.microsoft.com/office/drawing/2014/main" id="{B2D22689-35A9-8A37-C429-C8F706585EB2}"/>
              </a:ext>
            </a:extLst>
          </p:cNvPr>
          <p:cNvSpPr/>
          <p:nvPr/>
        </p:nvSpPr>
        <p:spPr>
          <a:xfrm>
            <a:off x="15262862" y="8202168"/>
            <a:ext cx="0" cy="0"/>
          </a:xfrm>
          <a:prstGeom prst="line">
            <a:avLst/>
          </a:prstGeom>
          <a:noFill/>
          <a:ln w="15875">
            <a:solidFill>
              <a:srgbClr val="9AAFAA"/>
            </a:solidFill>
            <a:prstDash val="solid"/>
          </a:ln>
        </p:spPr>
        <p:txBody>
          <a:bodyPr/>
          <a:lstStyle/>
          <a:p>
            <a:endParaRPr lang="de-DE"/>
          </a:p>
        </p:txBody>
      </p:sp>
      <p:sp>
        <p:nvSpPr>
          <p:cNvPr id="71" name="Shape 35">
            <a:extLst>
              <a:ext uri="{FF2B5EF4-FFF2-40B4-BE49-F238E27FC236}">
                <a16:creationId xmlns:a16="http://schemas.microsoft.com/office/drawing/2014/main" id="{BDB80AA7-A59C-AEF0-9664-F930DBCE3D6A}"/>
              </a:ext>
            </a:extLst>
          </p:cNvPr>
          <p:cNvSpPr/>
          <p:nvPr/>
        </p:nvSpPr>
        <p:spPr>
          <a:xfrm>
            <a:off x="15605605" y="7101261"/>
            <a:ext cx="685800" cy="0"/>
          </a:xfrm>
          <a:prstGeom prst="line">
            <a:avLst/>
          </a:prstGeom>
          <a:noFill/>
          <a:ln w="19050">
            <a:solidFill>
              <a:srgbClr val="9AAFAA"/>
            </a:solidFill>
            <a:prstDash val="solid"/>
          </a:ln>
        </p:spPr>
        <p:txBody>
          <a:bodyPr/>
          <a:lstStyle/>
          <a:p>
            <a:endParaRPr lang="de-DE"/>
          </a:p>
        </p:txBody>
      </p:sp>
      <p:sp>
        <p:nvSpPr>
          <p:cNvPr id="73" name="Shape 36">
            <a:extLst>
              <a:ext uri="{FF2B5EF4-FFF2-40B4-BE49-F238E27FC236}">
                <a16:creationId xmlns:a16="http://schemas.microsoft.com/office/drawing/2014/main" id="{792F7F55-9882-4534-126E-AE12802BD053}"/>
              </a:ext>
            </a:extLst>
          </p:cNvPr>
          <p:cNvSpPr/>
          <p:nvPr/>
        </p:nvSpPr>
        <p:spPr>
          <a:xfrm>
            <a:off x="16302073" y="6698416"/>
            <a:ext cx="903732" cy="855092"/>
          </a:xfrm>
          <a:prstGeom prst="roundRect">
            <a:avLst>
              <a:gd name="adj" fmla="val 7059"/>
            </a:avLst>
          </a:prstGeom>
          <a:solidFill>
            <a:schemeClr val="accent1">
              <a:lumMod val="60000"/>
              <a:lumOff val="40000"/>
            </a:schemeClr>
          </a:solidFill>
          <a:ln w="12700">
            <a:solidFill>
              <a:srgbClr val="0F5257"/>
            </a:solidFill>
            <a:prstDash val="solid"/>
          </a:ln>
        </p:spPr>
        <p:txBody>
          <a:bodyPr/>
          <a:lstStyle/>
          <a:p>
            <a:endParaRPr lang="de-DE"/>
          </a:p>
        </p:txBody>
      </p:sp>
      <p:sp>
        <p:nvSpPr>
          <p:cNvPr id="75" name="Text 37">
            <a:extLst>
              <a:ext uri="{FF2B5EF4-FFF2-40B4-BE49-F238E27FC236}">
                <a16:creationId xmlns:a16="http://schemas.microsoft.com/office/drawing/2014/main" id="{BA487ABE-5B41-7CFD-D672-D6868343B639}"/>
              </a:ext>
            </a:extLst>
          </p:cNvPr>
          <p:cNvSpPr/>
          <p:nvPr/>
        </p:nvSpPr>
        <p:spPr>
          <a:xfrm>
            <a:off x="16365319" y="6698416"/>
            <a:ext cx="777240" cy="777240"/>
          </a:xfrm>
          <a:prstGeom prst="rect">
            <a:avLst/>
          </a:prstGeom>
          <a:noFill/>
          <a:ln/>
        </p:spPr>
        <p:txBody>
          <a:bodyPr wrap="square" rtlCol="0" anchor="ctr"/>
          <a:lstStyle/>
          <a:p>
            <a:pPr marL="0" indent="0" algn="ctr">
              <a:buNone/>
            </a:pPr>
            <a:r>
              <a:rPr lang="en-US" sz="2600" b="1" dirty="0">
                <a:solidFill>
                  <a:srgbClr val="0F5257"/>
                </a:solidFill>
              </a:rPr>
              <a:t>φ</a:t>
            </a:r>
            <a:endParaRPr lang="en-US" sz="2600" dirty="0"/>
          </a:p>
        </p:txBody>
      </p:sp>
      <p:sp>
        <p:nvSpPr>
          <p:cNvPr id="77" name="Shape 38">
            <a:extLst>
              <a:ext uri="{FF2B5EF4-FFF2-40B4-BE49-F238E27FC236}">
                <a16:creationId xmlns:a16="http://schemas.microsoft.com/office/drawing/2014/main" id="{9D59ED8F-D257-2B5C-DA51-A360F9DBD1B1}"/>
              </a:ext>
            </a:extLst>
          </p:cNvPr>
          <p:cNvSpPr/>
          <p:nvPr/>
        </p:nvSpPr>
        <p:spPr>
          <a:xfrm>
            <a:off x="17205805" y="7101261"/>
            <a:ext cx="594360" cy="0"/>
          </a:xfrm>
          <a:prstGeom prst="line">
            <a:avLst/>
          </a:prstGeom>
          <a:noFill/>
          <a:ln w="19050">
            <a:solidFill>
              <a:srgbClr val="9AAFAA"/>
            </a:solidFill>
            <a:prstDash val="solid"/>
          </a:ln>
        </p:spPr>
        <p:txBody>
          <a:bodyPr/>
          <a:lstStyle/>
          <a:p>
            <a:endParaRPr lang="de-DE"/>
          </a:p>
        </p:txBody>
      </p:sp>
      <p:sp>
        <p:nvSpPr>
          <p:cNvPr id="79" name="Text 39">
            <a:extLst>
              <a:ext uri="{FF2B5EF4-FFF2-40B4-BE49-F238E27FC236}">
                <a16:creationId xmlns:a16="http://schemas.microsoft.com/office/drawing/2014/main" id="{EAF8EDBE-E40B-A29B-4782-6CF660FE166D}"/>
              </a:ext>
            </a:extLst>
          </p:cNvPr>
          <p:cNvSpPr/>
          <p:nvPr/>
        </p:nvSpPr>
        <p:spPr>
          <a:xfrm>
            <a:off x="17673673" y="6861575"/>
            <a:ext cx="457200" cy="457200"/>
          </a:xfrm>
          <a:prstGeom prst="rect">
            <a:avLst/>
          </a:prstGeom>
          <a:noFill/>
          <a:ln/>
        </p:spPr>
        <p:txBody>
          <a:bodyPr wrap="square" rtlCol="0" anchor="ctr"/>
          <a:lstStyle/>
          <a:p>
            <a:pPr marL="0" indent="0">
              <a:buNone/>
            </a:pPr>
            <a:r>
              <a:rPr lang="en-US" sz="2000" b="1" i="1" dirty="0">
                <a:solidFill>
                  <a:srgbClr val="1E2B2B"/>
                </a:solidFill>
              </a:rPr>
              <a:t>o</a:t>
            </a:r>
            <a:endParaRPr lang="en-US" sz="2000" dirty="0"/>
          </a:p>
        </p:txBody>
      </p:sp>
      <p:sp>
        <p:nvSpPr>
          <p:cNvPr id="81" name="Text 40">
            <a:extLst>
              <a:ext uri="{FF2B5EF4-FFF2-40B4-BE49-F238E27FC236}">
                <a16:creationId xmlns:a16="http://schemas.microsoft.com/office/drawing/2014/main" id="{CDF8D55A-76B3-EE71-E154-EC76B1B66132}"/>
              </a:ext>
            </a:extLst>
          </p:cNvPr>
          <p:cNvSpPr/>
          <p:nvPr/>
        </p:nvSpPr>
        <p:spPr>
          <a:xfrm>
            <a:off x="11113120" y="3805232"/>
            <a:ext cx="1097280" cy="274320"/>
          </a:xfrm>
          <a:prstGeom prst="rect">
            <a:avLst/>
          </a:prstGeom>
          <a:noFill/>
          <a:ln/>
        </p:spPr>
        <p:txBody>
          <a:bodyPr wrap="square" rtlCol="0" anchor="ctr"/>
          <a:lstStyle/>
          <a:p>
            <a:pPr marL="0" indent="0" algn="ctr">
              <a:buNone/>
            </a:pPr>
            <a:r>
              <a:rPr lang="en-US" sz="1600" dirty="0">
                <a:solidFill>
                  <a:schemeClr val="bg2">
                    <a:lumMod val="10000"/>
                  </a:schemeClr>
                </a:solidFill>
                <a:latin typeface="Chromatica"/>
              </a:rPr>
              <a:t>weights</a:t>
            </a:r>
          </a:p>
        </p:txBody>
      </p:sp>
      <p:sp>
        <p:nvSpPr>
          <p:cNvPr id="83" name="Text 41">
            <a:extLst>
              <a:ext uri="{FF2B5EF4-FFF2-40B4-BE49-F238E27FC236}">
                <a16:creationId xmlns:a16="http://schemas.microsoft.com/office/drawing/2014/main" id="{4C920999-CC59-6B70-FEEF-635EB3FA4A39}"/>
              </a:ext>
            </a:extLst>
          </p:cNvPr>
          <p:cNvSpPr/>
          <p:nvPr/>
        </p:nvSpPr>
        <p:spPr>
          <a:xfrm>
            <a:off x="16199965" y="6168573"/>
            <a:ext cx="1005840" cy="274320"/>
          </a:xfrm>
          <a:prstGeom prst="rect">
            <a:avLst/>
          </a:prstGeom>
          <a:noFill/>
          <a:ln/>
        </p:spPr>
        <p:txBody>
          <a:bodyPr wrap="square" rtlCol="0" anchor="ctr"/>
          <a:lstStyle/>
          <a:p>
            <a:pPr marL="0" indent="0" algn="ctr">
              <a:buNone/>
            </a:pPr>
            <a:r>
              <a:rPr lang="en-US" sz="1600" dirty="0">
                <a:solidFill>
                  <a:schemeClr val="bg2">
                    <a:lumMod val="10000"/>
                  </a:schemeClr>
                </a:solidFill>
                <a:latin typeface="Chromatica"/>
              </a:rPr>
              <a:t>activation</a:t>
            </a:r>
          </a:p>
        </p:txBody>
      </p:sp>
      <p:sp>
        <p:nvSpPr>
          <p:cNvPr id="89" name="Shape 15">
            <a:extLst>
              <a:ext uri="{FF2B5EF4-FFF2-40B4-BE49-F238E27FC236}">
                <a16:creationId xmlns:a16="http://schemas.microsoft.com/office/drawing/2014/main" id="{8328C252-62F2-AF66-A165-38D36F544E8F}"/>
              </a:ext>
            </a:extLst>
          </p:cNvPr>
          <p:cNvSpPr/>
          <p:nvPr/>
        </p:nvSpPr>
        <p:spPr>
          <a:xfrm>
            <a:off x="11305691" y="8510671"/>
            <a:ext cx="712138" cy="827368"/>
          </a:xfrm>
          <a:prstGeom prst="ellipse">
            <a:avLst/>
          </a:prstGeom>
          <a:solidFill>
            <a:schemeClr val="accent1"/>
          </a:solidFill>
          <a:ln w="12700">
            <a:solidFill>
              <a:srgbClr val="0F5257"/>
            </a:solidFill>
            <a:prstDash val="solid"/>
          </a:ln>
        </p:spPr>
        <p:txBody>
          <a:bodyPr/>
          <a:lstStyle/>
          <a:p>
            <a:endParaRPr lang="de-DE"/>
          </a:p>
        </p:txBody>
      </p:sp>
      <p:sp>
        <p:nvSpPr>
          <p:cNvPr id="90" name="Text 16">
            <a:extLst>
              <a:ext uri="{FF2B5EF4-FFF2-40B4-BE49-F238E27FC236}">
                <a16:creationId xmlns:a16="http://schemas.microsoft.com/office/drawing/2014/main" id="{B93CA812-332C-1037-360E-BE7DE6B74A46}"/>
              </a:ext>
            </a:extLst>
          </p:cNvPr>
          <p:cNvSpPr/>
          <p:nvPr/>
        </p:nvSpPr>
        <p:spPr>
          <a:xfrm>
            <a:off x="11469736" y="8711150"/>
            <a:ext cx="384048" cy="384048"/>
          </a:xfrm>
          <a:prstGeom prst="rect">
            <a:avLst/>
          </a:prstGeom>
          <a:noFill/>
          <a:ln/>
        </p:spPr>
        <p:txBody>
          <a:bodyPr wrap="square" rtlCol="0" anchor="ctr"/>
          <a:lstStyle/>
          <a:p>
            <a:pPr marL="0" indent="0" algn="ctr">
              <a:buNone/>
            </a:pPr>
            <a:r>
              <a:rPr lang="en-US" sz="1600" b="1" dirty="0">
                <a:solidFill>
                  <a:srgbClr val="FFFFFF"/>
                </a:solidFill>
                <a:latin typeface="Chromatica"/>
                <a:ea typeface="Arial" pitchFamily="34" charset="-122"/>
                <a:cs typeface="Arial" pitchFamily="34" charset="-120"/>
              </a:rPr>
              <a:t>w</a:t>
            </a:r>
            <a:endParaRPr lang="en-US" sz="1600" dirty="0">
              <a:latin typeface="Chromatica"/>
            </a:endParaRPr>
          </a:p>
        </p:txBody>
      </p:sp>
      <p:sp>
        <p:nvSpPr>
          <p:cNvPr id="92" name="Shape 15">
            <a:extLst>
              <a:ext uri="{FF2B5EF4-FFF2-40B4-BE49-F238E27FC236}">
                <a16:creationId xmlns:a16="http://schemas.microsoft.com/office/drawing/2014/main" id="{7650F42A-7985-F439-E28B-32F789B96D83}"/>
              </a:ext>
            </a:extLst>
          </p:cNvPr>
          <p:cNvSpPr/>
          <p:nvPr/>
        </p:nvSpPr>
        <p:spPr>
          <a:xfrm>
            <a:off x="11305691" y="6749104"/>
            <a:ext cx="712138" cy="827368"/>
          </a:xfrm>
          <a:prstGeom prst="ellipse">
            <a:avLst/>
          </a:prstGeom>
          <a:solidFill>
            <a:schemeClr val="accent1"/>
          </a:solidFill>
          <a:ln w="12700">
            <a:solidFill>
              <a:srgbClr val="0F5257"/>
            </a:solidFill>
            <a:prstDash val="solid"/>
          </a:ln>
        </p:spPr>
        <p:txBody>
          <a:bodyPr/>
          <a:lstStyle/>
          <a:p>
            <a:endParaRPr lang="de-DE"/>
          </a:p>
        </p:txBody>
      </p:sp>
      <p:sp>
        <p:nvSpPr>
          <p:cNvPr id="94" name="Text 16">
            <a:extLst>
              <a:ext uri="{FF2B5EF4-FFF2-40B4-BE49-F238E27FC236}">
                <a16:creationId xmlns:a16="http://schemas.microsoft.com/office/drawing/2014/main" id="{4DD78B5A-9DC2-0C1B-8319-25E9C7B9CF49}"/>
              </a:ext>
            </a:extLst>
          </p:cNvPr>
          <p:cNvSpPr/>
          <p:nvPr/>
        </p:nvSpPr>
        <p:spPr>
          <a:xfrm>
            <a:off x="11469736" y="6949583"/>
            <a:ext cx="384048" cy="384048"/>
          </a:xfrm>
          <a:prstGeom prst="rect">
            <a:avLst/>
          </a:prstGeom>
          <a:noFill/>
          <a:ln/>
        </p:spPr>
        <p:txBody>
          <a:bodyPr wrap="square" rtlCol="0" anchor="ctr"/>
          <a:lstStyle/>
          <a:p>
            <a:pPr marL="0" indent="0" algn="ctr">
              <a:buNone/>
            </a:pPr>
            <a:r>
              <a:rPr lang="en-US" sz="1600" b="1" dirty="0">
                <a:solidFill>
                  <a:srgbClr val="FFFFFF"/>
                </a:solidFill>
                <a:latin typeface="Chromatica"/>
                <a:ea typeface="Arial" pitchFamily="34" charset="-122"/>
                <a:cs typeface="Arial" pitchFamily="34" charset="-120"/>
              </a:rPr>
              <a:t>w</a:t>
            </a:r>
            <a:endParaRPr lang="en-US" sz="1600" dirty="0">
              <a:latin typeface="Chromatica"/>
            </a:endParaRPr>
          </a:p>
        </p:txBody>
      </p:sp>
      <p:sp>
        <p:nvSpPr>
          <p:cNvPr id="96" name="Shape 15">
            <a:extLst>
              <a:ext uri="{FF2B5EF4-FFF2-40B4-BE49-F238E27FC236}">
                <a16:creationId xmlns:a16="http://schemas.microsoft.com/office/drawing/2014/main" id="{807AE075-1A5B-9EC1-A395-F3A67278DAAE}"/>
              </a:ext>
            </a:extLst>
          </p:cNvPr>
          <p:cNvSpPr/>
          <p:nvPr/>
        </p:nvSpPr>
        <p:spPr>
          <a:xfrm>
            <a:off x="11305691" y="5551062"/>
            <a:ext cx="712138" cy="827368"/>
          </a:xfrm>
          <a:prstGeom prst="ellipse">
            <a:avLst/>
          </a:prstGeom>
          <a:solidFill>
            <a:schemeClr val="accent1"/>
          </a:solidFill>
          <a:ln w="12700">
            <a:solidFill>
              <a:srgbClr val="0F5257"/>
            </a:solidFill>
            <a:prstDash val="solid"/>
          </a:ln>
        </p:spPr>
        <p:txBody>
          <a:bodyPr/>
          <a:lstStyle/>
          <a:p>
            <a:endParaRPr lang="de-DE"/>
          </a:p>
        </p:txBody>
      </p:sp>
      <p:sp>
        <p:nvSpPr>
          <p:cNvPr id="98" name="Text 16">
            <a:extLst>
              <a:ext uri="{FF2B5EF4-FFF2-40B4-BE49-F238E27FC236}">
                <a16:creationId xmlns:a16="http://schemas.microsoft.com/office/drawing/2014/main" id="{44E57DF8-E33E-F169-64A6-7FFB842B7D63}"/>
              </a:ext>
            </a:extLst>
          </p:cNvPr>
          <p:cNvSpPr/>
          <p:nvPr/>
        </p:nvSpPr>
        <p:spPr>
          <a:xfrm>
            <a:off x="11469736" y="5751541"/>
            <a:ext cx="384048" cy="384048"/>
          </a:xfrm>
          <a:prstGeom prst="rect">
            <a:avLst/>
          </a:prstGeom>
          <a:noFill/>
          <a:ln/>
        </p:spPr>
        <p:txBody>
          <a:bodyPr wrap="square" rtlCol="0" anchor="ctr"/>
          <a:lstStyle/>
          <a:p>
            <a:pPr marL="0" indent="0" algn="ctr">
              <a:buNone/>
            </a:pPr>
            <a:r>
              <a:rPr lang="en-US" sz="1600" b="1" dirty="0">
                <a:solidFill>
                  <a:srgbClr val="FFFFFF"/>
                </a:solidFill>
                <a:latin typeface="Chromatica"/>
                <a:ea typeface="Arial" pitchFamily="34" charset="-122"/>
                <a:cs typeface="Arial" pitchFamily="34" charset="-120"/>
              </a:rPr>
              <a:t>w</a:t>
            </a:r>
            <a:endParaRPr lang="en-US" sz="1600" dirty="0">
              <a:latin typeface="Chromatica"/>
            </a:endParaRPr>
          </a:p>
        </p:txBody>
      </p:sp>
      <p:sp>
        <p:nvSpPr>
          <p:cNvPr id="100" name="Shape 15">
            <a:extLst>
              <a:ext uri="{FF2B5EF4-FFF2-40B4-BE49-F238E27FC236}">
                <a16:creationId xmlns:a16="http://schemas.microsoft.com/office/drawing/2014/main" id="{688EC127-E197-3776-46C7-6646FB58C49C}"/>
              </a:ext>
            </a:extLst>
          </p:cNvPr>
          <p:cNvSpPr/>
          <p:nvPr/>
        </p:nvSpPr>
        <p:spPr>
          <a:xfrm>
            <a:off x="11308561" y="4356717"/>
            <a:ext cx="712138" cy="827368"/>
          </a:xfrm>
          <a:prstGeom prst="ellipse">
            <a:avLst/>
          </a:prstGeom>
          <a:solidFill>
            <a:schemeClr val="accent1"/>
          </a:solidFill>
          <a:ln w="12700">
            <a:solidFill>
              <a:srgbClr val="0F5257"/>
            </a:solidFill>
            <a:prstDash val="solid"/>
          </a:ln>
        </p:spPr>
        <p:txBody>
          <a:bodyPr/>
          <a:lstStyle/>
          <a:p>
            <a:endParaRPr lang="de-DE"/>
          </a:p>
        </p:txBody>
      </p:sp>
      <p:sp>
        <p:nvSpPr>
          <p:cNvPr id="102" name="Text 16">
            <a:extLst>
              <a:ext uri="{FF2B5EF4-FFF2-40B4-BE49-F238E27FC236}">
                <a16:creationId xmlns:a16="http://schemas.microsoft.com/office/drawing/2014/main" id="{2081C7AB-5AA0-5960-428D-BE9C5FBCA73E}"/>
              </a:ext>
            </a:extLst>
          </p:cNvPr>
          <p:cNvSpPr/>
          <p:nvPr/>
        </p:nvSpPr>
        <p:spPr>
          <a:xfrm>
            <a:off x="11472606" y="4557196"/>
            <a:ext cx="384048" cy="384048"/>
          </a:xfrm>
          <a:prstGeom prst="rect">
            <a:avLst/>
          </a:prstGeom>
          <a:noFill/>
          <a:ln/>
        </p:spPr>
        <p:txBody>
          <a:bodyPr wrap="square" rtlCol="0" anchor="ctr"/>
          <a:lstStyle/>
          <a:p>
            <a:pPr marL="0" indent="0" algn="ctr">
              <a:buNone/>
            </a:pPr>
            <a:r>
              <a:rPr lang="en-US" sz="1600" b="1" dirty="0">
                <a:solidFill>
                  <a:srgbClr val="FFFFFF"/>
                </a:solidFill>
                <a:latin typeface="Chromatica"/>
                <a:ea typeface="Arial" pitchFamily="34" charset="-122"/>
                <a:cs typeface="Arial" pitchFamily="34" charset="-120"/>
              </a:rPr>
              <a:t>w</a:t>
            </a:r>
            <a:endParaRPr lang="en-US" sz="1600" dirty="0">
              <a:latin typeface="Chromatica"/>
            </a:endParaRPr>
          </a:p>
        </p:txBody>
      </p:sp>
      <p:sp>
        <p:nvSpPr>
          <p:cNvPr id="103" name="Text 14">
            <a:extLst>
              <a:ext uri="{FF2B5EF4-FFF2-40B4-BE49-F238E27FC236}">
                <a16:creationId xmlns:a16="http://schemas.microsoft.com/office/drawing/2014/main" id="{2F8E20F6-F9A5-BA11-F404-415597D91CFF}"/>
              </a:ext>
            </a:extLst>
          </p:cNvPr>
          <p:cNvSpPr/>
          <p:nvPr/>
        </p:nvSpPr>
        <p:spPr>
          <a:xfrm>
            <a:off x="10588268" y="5815549"/>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x2</a:t>
            </a:r>
            <a:endParaRPr lang="en-US" sz="1800" dirty="0">
              <a:latin typeface="Chromatica"/>
            </a:endParaRPr>
          </a:p>
        </p:txBody>
      </p:sp>
      <p:sp>
        <p:nvSpPr>
          <p:cNvPr id="104" name="Text 14">
            <a:extLst>
              <a:ext uri="{FF2B5EF4-FFF2-40B4-BE49-F238E27FC236}">
                <a16:creationId xmlns:a16="http://schemas.microsoft.com/office/drawing/2014/main" id="{23047A2B-9423-8C7E-F48C-8E3834D0EFE6}"/>
              </a:ext>
            </a:extLst>
          </p:cNvPr>
          <p:cNvSpPr/>
          <p:nvPr/>
        </p:nvSpPr>
        <p:spPr>
          <a:xfrm>
            <a:off x="10586571" y="6981587"/>
            <a:ext cx="457200" cy="320040"/>
          </a:xfrm>
          <a:prstGeom prst="rect">
            <a:avLst/>
          </a:prstGeom>
          <a:noFill/>
          <a:ln/>
        </p:spPr>
        <p:txBody>
          <a:bodyPr wrap="square" rtlCol="0" anchor="ctr"/>
          <a:lstStyle/>
          <a:p>
            <a:pPr marL="0" indent="0" algn="r">
              <a:buNone/>
            </a:pPr>
            <a:r>
              <a:rPr lang="en-US" sz="1800" i="1" dirty="0">
                <a:solidFill>
                  <a:srgbClr val="1E2B2B"/>
                </a:solidFill>
                <a:latin typeface="Chromatica"/>
              </a:rPr>
              <a:t>x3</a:t>
            </a:r>
            <a:endParaRPr lang="en-US" sz="1800" dirty="0">
              <a:latin typeface="Chromatica"/>
            </a:endParaRPr>
          </a:p>
        </p:txBody>
      </p:sp>
      <p:cxnSp>
        <p:nvCxnSpPr>
          <p:cNvPr id="106" name="Gerade Verbindung mit Pfeil 105">
            <a:extLst>
              <a:ext uri="{FF2B5EF4-FFF2-40B4-BE49-F238E27FC236}">
                <a16:creationId xmlns:a16="http://schemas.microsoft.com/office/drawing/2014/main" id="{10A10A55-60DA-0486-0795-9B44A3946312}"/>
              </a:ext>
            </a:extLst>
          </p:cNvPr>
          <p:cNvCxnSpPr>
            <a:cxnSpLocks/>
            <a:stCxn id="100" idx="6"/>
            <a:endCxn id="63" idx="1"/>
          </p:cNvCxnSpPr>
          <p:nvPr/>
        </p:nvCxnSpPr>
        <p:spPr>
          <a:xfrm>
            <a:off x="12020699" y="4770401"/>
            <a:ext cx="2679970" cy="1983745"/>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9" name="Gerade Verbindung mit Pfeil 108">
            <a:extLst>
              <a:ext uri="{FF2B5EF4-FFF2-40B4-BE49-F238E27FC236}">
                <a16:creationId xmlns:a16="http://schemas.microsoft.com/office/drawing/2014/main" id="{551A3D3C-7B21-6EAB-167E-68A6AAE2030A}"/>
              </a:ext>
            </a:extLst>
          </p:cNvPr>
          <p:cNvCxnSpPr>
            <a:stCxn id="92" idx="6"/>
            <a:endCxn id="63" idx="2"/>
          </p:cNvCxnSpPr>
          <p:nvPr/>
        </p:nvCxnSpPr>
        <p:spPr>
          <a:xfrm>
            <a:off x="12017829" y="7162788"/>
            <a:ext cx="2527578" cy="501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15" name="Gerade Verbindung mit Pfeil 114">
            <a:extLst>
              <a:ext uri="{FF2B5EF4-FFF2-40B4-BE49-F238E27FC236}">
                <a16:creationId xmlns:a16="http://schemas.microsoft.com/office/drawing/2014/main" id="{E9CA336C-5620-B69E-75DB-2FCAE394D258}"/>
              </a:ext>
            </a:extLst>
          </p:cNvPr>
          <p:cNvCxnSpPr>
            <a:stCxn id="96" idx="6"/>
          </p:cNvCxnSpPr>
          <p:nvPr/>
        </p:nvCxnSpPr>
        <p:spPr>
          <a:xfrm>
            <a:off x="12017829" y="5964746"/>
            <a:ext cx="2640356" cy="97215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17" name="Gerade Verbindung mit Pfeil 116">
            <a:extLst>
              <a:ext uri="{FF2B5EF4-FFF2-40B4-BE49-F238E27FC236}">
                <a16:creationId xmlns:a16="http://schemas.microsoft.com/office/drawing/2014/main" id="{57FEE127-3D6B-BAE4-607F-BC67CD2AA857}"/>
              </a:ext>
            </a:extLst>
          </p:cNvPr>
          <p:cNvCxnSpPr>
            <a:stCxn id="89" idx="6"/>
            <a:endCxn id="63" idx="3"/>
          </p:cNvCxnSpPr>
          <p:nvPr/>
        </p:nvCxnSpPr>
        <p:spPr>
          <a:xfrm flipV="1">
            <a:off x="12017829" y="7581455"/>
            <a:ext cx="2682840" cy="134290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12278761"/>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654CBD9-3A7D-9541-1D40-52B94E487D73}"/>
              </a:ext>
            </a:extLst>
          </p:cNvPr>
          <p:cNvSpPr>
            <a:spLocks noGrp="1"/>
          </p:cNvSpPr>
          <p:nvPr>
            <p:ph type="body" sz="quarter" idx="22"/>
          </p:nvPr>
        </p:nvSpPr>
        <p:spPr/>
        <p:txBody>
          <a:bodyPr/>
          <a:lstStyle/>
          <a:p>
            <a:r>
              <a:rPr lang="de-DE" dirty="0"/>
              <a:t>Forward </a:t>
            </a:r>
            <a:r>
              <a:rPr lang="de-DE" dirty="0" err="1"/>
              <a:t>Propagation</a:t>
            </a:r>
            <a:endParaRPr lang="de-DE" dirty="0"/>
          </a:p>
        </p:txBody>
      </p:sp>
      <p:sp>
        <p:nvSpPr>
          <p:cNvPr id="5" name="Shape 2">
            <a:extLst>
              <a:ext uri="{FF2B5EF4-FFF2-40B4-BE49-F238E27FC236}">
                <a16:creationId xmlns:a16="http://schemas.microsoft.com/office/drawing/2014/main" id="{B1E32D2B-B9EC-DA22-DCC5-DA88B2C89F81}"/>
              </a:ext>
            </a:extLst>
          </p:cNvPr>
          <p:cNvSpPr/>
          <p:nvPr/>
        </p:nvSpPr>
        <p:spPr>
          <a:xfrm>
            <a:off x="1570873" y="4196625"/>
            <a:ext cx="1316736" cy="1416559"/>
          </a:xfrm>
          <a:prstGeom prst="ellipse">
            <a:avLst/>
          </a:prstGeom>
          <a:solidFill>
            <a:srgbClr val="1B9E8A"/>
          </a:solidFill>
          <a:ln/>
        </p:spPr>
        <p:txBody>
          <a:bodyPr/>
          <a:lstStyle/>
          <a:p>
            <a:endParaRPr lang="de-DE" dirty="0"/>
          </a:p>
        </p:txBody>
      </p:sp>
      <p:sp>
        <p:nvSpPr>
          <p:cNvPr id="6" name="Shape 2">
            <a:extLst>
              <a:ext uri="{FF2B5EF4-FFF2-40B4-BE49-F238E27FC236}">
                <a16:creationId xmlns:a16="http://schemas.microsoft.com/office/drawing/2014/main" id="{7E59F78B-466C-C353-05DE-46B4A8B27366}"/>
              </a:ext>
            </a:extLst>
          </p:cNvPr>
          <p:cNvSpPr/>
          <p:nvPr/>
        </p:nvSpPr>
        <p:spPr>
          <a:xfrm>
            <a:off x="1570873" y="6421165"/>
            <a:ext cx="1316736" cy="1416559"/>
          </a:xfrm>
          <a:prstGeom prst="ellipse">
            <a:avLst/>
          </a:prstGeom>
          <a:solidFill>
            <a:srgbClr val="1B9E8A"/>
          </a:solidFill>
          <a:ln/>
        </p:spPr>
        <p:txBody>
          <a:bodyPr/>
          <a:lstStyle/>
          <a:p>
            <a:endParaRPr lang="de-DE"/>
          </a:p>
        </p:txBody>
      </p:sp>
      <p:sp>
        <p:nvSpPr>
          <p:cNvPr id="7" name="Shape 2">
            <a:extLst>
              <a:ext uri="{FF2B5EF4-FFF2-40B4-BE49-F238E27FC236}">
                <a16:creationId xmlns:a16="http://schemas.microsoft.com/office/drawing/2014/main" id="{37DA0CB7-6810-18BD-A4E6-C6796447F68A}"/>
              </a:ext>
            </a:extLst>
          </p:cNvPr>
          <p:cNvSpPr/>
          <p:nvPr/>
        </p:nvSpPr>
        <p:spPr>
          <a:xfrm>
            <a:off x="1552585" y="8645705"/>
            <a:ext cx="1316736" cy="1416559"/>
          </a:xfrm>
          <a:prstGeom prst="ellipse">
            <a:avLst/>
          </a:prstGeom>
          <a:solidFill>
            <a:srgbClr val="1B9E8A"/>
          </a:solidFill>
          <a:ln/>
        </p:spPr>
        <p:txBody>
          <a:bodyPr/>
          <a:lstStyle/>
          <a:p>
            <a:endParaRPr lang="de-DE"/>
          </a:p>
        </p:txBody>
      </p:sp>
      <p:sp>
        <p:nvSpPr>
          <p:cNvPr id="8" name="Shape 2">
            <a:extLst>
              <a:ext uri="{FF2B5EF4-FFF2-40B4-BE49-F238E27FC236}">
                <a16:creationId xmlns:a16="http://schemas.microsoft.com/office/drawing/2014/main" id="{2067207F-C7C4-508A-8D89-8B04CA76B3D4}"/>
              </a:ext>
            </a:extLst>
          </p:cNvPr>
          <p:cNvSpPr/>
          <p:nvPr/>
        </p:nvSpPr>
        <p:spPr>
          <a:xfrm>
            <a:off x="1552585" y="10905974"/>
            <a:ext cx="1316736" cy="1416559"/>
          </a:xfrm>
          <a:prstGeom prst="ellipse">
            <a:avLst/>
          </a:prstGeom>
          <a:solidFill>
            <a:srgbClr val="1B9E8A"/>
          </a:solidFill>
          <a:ln/>
        </p:spPr>
        <p:txBody>
          <a:bodyPr/>
          <a:lstStyle/>
          <a:p>
            <a:endParaRPr lang="de-DE"/>
          </a:p>
        </p:txBody>
      </p:sp>
      <p:sp>
        <p:nvSpPr>
          <p:cNvPr id="9" name="Shape 2">
            <a:extLst>
              <a:ext uri="{FF2B5EF4-FFF2-40B4-BE49-F238E27FC236}">
                <a16:creationId xmlns:a16="http://schemas.microsoft.com/office/drawing/2014/main" id="{FE70DE7F-033C-A614-7E1E-BFD235672EDE}"/>
              </a:ext>
            </a:extLst>
          </p:cNvPr>
          <p:cNvSpPr/>
          <p:nvPr/>
        </p:nvSpPr>
        <p:spPr>
          <a:xfrm>
            <a:off x="8387725" y="5730750"/>
            <a:ext cx="1316736" cy="1416559"/>
          </a:xfrm>
          <a:prstGeom prst="ellipse">
            <a:avLst/>
          </a:prstGeom>
          <a:solidFill>
            <a:srgbClr val="1B9E8A"/>
          </a:solidFill>
          <a:ln/>
        </p:spPr>
        <p:txBody>
          <a:bodyPr/>
          <a:lstStyle/>
          <a:p>
            <a:endParaRPr lang="de-DE"/>
          </a:p>
        </p:txBody>
      </p:sp>
      <p:sp>
        <p:nvSpPr>
          <p:cNvPr id="10" name="Shape 2">
            <a:extLst>
              <a:ext uri="{FF2B5EF4-FFF2-40B4-BE49-F238E27FC236}">
                <a16:creationId xmlns:a16="http://schemas.microsoft.com/office/drawing/2014/main" id="{A9C213D4-0D01-1F18-77EA-45AF94BF5099}"/>
              </a:ext>
            </a:extLst>
          </p:cNvPr>
          <p:cNvSpPr/>
          <p:nvPr/>
        </p:nvSpPr>
        <p:spPr>
          <a:xfrm>
            <a:off x="8303534" y="8645704"/>
            <a:ext cx="1316736" cy="1416559"/>
          </a:xfrm>
          <a:prstGeom prst="ellipse">
            <a:avLst/>
          </a:prstGeom>
          <a:solidFill>
            <a:srgbClr val="1B9E8A"/>
          </a:solidFill>
          <a:ln/>
        </p:spPr>
        <p:txBody>
          <a:bodyPr/>
          <a:lstStyle/>
          <a:p>
            <a:endParaRPr lang="de-DE"/>
          </a:p>
        </p:txBody>
      </p:sp>
      <p:sp>
        <p:nvSpPr>
          <p:cNvPr id="12" name="Shape 24">
            <a:extLst>
              <a:ext uri="{FF2B5EF4-FFF2-40B4-BE49-F238E27FC236}">
                <a16:creationId xmlns:a16="http://schemas.microsoft.com/office/drawing/2014/main" id="{1FD6C19F-4104-0601-DE2F-5F885651701A}"/>
              </a:ext>
            </a:extLst>
          </p:cNvPr>
          <p:cNvSpPr>
            <a:spLocks noGrp="1"/>
          </p:cNvSpPr>
          <p:nvPr>
            <p:ph type="body" sz="quarter" idx="23"/>
          </p:nvPr>
        </p:nvSpPr>
        <p:spPr>
          <a:xfrm>
            <a:off x="13007340" y="4904905"/>
            <a:ext cx="10271760" cy="6709349"/>
          </a:xfrm>
          <a:prstGeom prst="roundRect">
            <a:avLst>
              <a:gd name="adj" fmla="val 1714"/>
            </a:avLst>
          </a:prstGeom>
          <a:solidFill>
            <a:srgbClr val="F1F8F6"/>
          </a:solidFill>
          <a:ln/>
          <a:effectLst>
            <a:outerShdw blurRad="101600" dist="38100" dir="5400000" algn="bl" rotWithShape="0">
              <a:srgbClr val="000000">
                <a:alpha val="12000"/>
              </a:srgbClr>
            </a:outerShdw>
          </a:effectLst>
        </p:spPr>
        <p:txBody>
          <a:bodyPr/>
          <a:lstStyle/>
          <a:p>
            <a:endParaRPr lang="de-DE" dirty="0"/>
          </a:p>
          <a:p>
            <a:endParaRPr lang="de-DE" dirty="0"/>
          </a:p>
          <a:p>
            <a:endParaRPr lang="de-DE" dirty="0"/>
          </a:p>
          <a:p>
            <a:endParaRPr lang="de-DE" dirty="0"/>
          </a:p>
          <a:p>
            <a:endParaRPr lang="de-DE" dirty="0"/>
          </a:p>
        </p:txBody>
      </p:sp>
      <p:graphicFrame>
        <p:nvGraphicFramePr>
          <p:cNvPr id="14" name="Table 0">
            <a:extLst>
              <a:ext uri="{FF2B5EF4-FFF2-40B4-BE49-F238E27FC236}">
                <a16:creationId xmlns:a16="http://schemas.microsoft.com/office/drawing/2014/main" id="{DAE6B297-5EC7-ADFA-4D54-6071110867D8}"/>
              </a:ext>
            </a:extLst>
          </p:cNvPr>
          <p:cNvGraphicFramePr>
            <a:graphicFrameLocks noGrp="1"/>
          </p:cNvGraphicFramePr>
          <p:nvPr>
            <p:extLst>
              <p:ext uri="{D42A27DB-BD31-4B8C-83A1-F6EECF244321}">
                <p14:modId xmlns:p14="http://schemas.microsoft.com/office/powerpoint/2010/main" val="4052778901"/>
              </p:ext>
            </p:extLst>
          </p:nvPr>
        </p:nvGraphicFramePr>
        <p:xfrm>
          <a:off x="1310640" y="2035680"/>
          <a:ext cx="11696700" cy="1416560"/>
        </p:xfrm>
        <a:graphic>
          <a:graphicData uri="http://schemas.openxmlformats.org/drawingml/2006/table">
            <a:tbl>
              <a:tblPr/>
              <a:tblGrid>
                <a:gridCol w="2339340">
                  <a:extLst>
                    <a:ext uri="{9D8B030D-6E8A-4147-A177-3AD203B41FA5}">
                      <a16:colId xmlns:a16="http://schemas.microsoft.com/office/drawing/2014/main" val="20000"/>
                    </a:ext>
                  </a:extLst>
                </a:gridCol>
                <a:gridCol w="2339340">
                  <a:extLst>
                    <a:ext uri="{9D8B030D-6E8A-4147-A177-3AD203B41FA5}">
                      <a16:colId xmlns:a16="http://schemas.microsoft.com/office/drawing/2014/main" val="20001"/>
                    </a:ext>
                  </a:extLst>
                </a:gridCol>
                <a:gridCol w="2339340">
                  <a:extLst>
                    <a:ext uri="{9D8B030D-6E8A-4147-A177-3AD203B41FA5}">
                      <a16:colId xmlns:a16="http://schemas.microsoft.com/office/drawing/2014/main" val="20002"/>
                    </a:ext>
                  </a:extLst>
                </a:gridCol>
                <a:gridCol w="2339340">
                  <a:extLst>
                    <a:ext uri="{9D8B030D-6E8A-4147-A177-3AD203B41FA5}">
                      <a16:colId xmlns:a16="http://schemas.microsoft.com/office/drawing/2014/main" val="20003"/>
                    </a:ext>
                  </a:extLst>
                </a:gridCol>
                <a:gridCol w="2339340">
                  <a:extLst>
                    <a:ext uri="{9D8B030D-6E8A-4147-A177-3AD203B41FA5}">
                      <a16:colId xmlns:a16="http://schemas.microsoft.com/office/drawing/2014/main" val="20004"/>
                    </a:ext>
                  </a:extLst>
                </a:gridCol>
              </a:tblGrid>
              <a:tr h="708280">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Oda</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m²</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Bina yaşı</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Merkeze uzaklık</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dirty="0">
                          <a:solidFill>
                            <a:srgbClr val="0F5257"/>
                          </a:solidFill>
                          <a:latin typeface="Chromatica"/>
                        </a:rPr>
                        <a:t>Fiyat</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extLst>
                  <a:ext uri="{0D108BD9-81ED-4DB2-BD59-A6C34878D82A}">
                    <a16:rowId xmlns:a16="http://schemas.microsoft.com/office/drawing/2014/main" val="10000"/>
                  </a:ext>
                </a:extLst>
              </a:tr>
              <a:tr h="708280">
                <a:tc>
                  <a:txBody>
                    <a:bodyPr/>
                    <a:lstStyle/>
                    <a:p>
                      <a:pPr marL="0" indent="0" algn="ctr">
                        <a:buNone/>
                      </a:pPr>
                      <a:r>
                        <a:rPr lang="en-US" sz="2400" b="1" dirty="0">
                          <a:solidFill>
                            <a:srgbClr val="1E2B2B"/>
                          </a:solidFill>
                          <a:latin typeface="Chromatica"/>
                        </a:rPr>
                        <a:t>0.3</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0.6</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0.2</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0.5</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0.85</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extLst>
                  <a:ext uri="{0D108BD9-81ED-4DB2-BD59-A6C34878D82A}">
                    <a16:rowId xmlns:a16="http://schemas.microsoft.com/office/drawing/2014/main" val="10001"/>
                  </a:ext>
                </a:extLst>
              </a:tr>
            </a:tbl>
          </a:graphicData>
        </a:graphic>
      </p:graphicFrame>
      <p:sp>
        <p:nvSpPr>
          <p:cNvPr id="16" name="Text 16">
            <a:extLst>
              <a:ext uri="{FF2B5EF4-FFF2-40B4-BE49-F238E27FC236}">
                <a16:creationId xmlns:a16="http://schemas.microsoft.com/office/drawing/2014/main" id="{98CFAB20-56BB-5AAE-358B-3124649380F7}"/>
              </a:ext>
            </a:extLst>
          </p:cNvPr>
          <p:cNvSpPr/>
          <p:nvPr/>
        </p:nvSpPr>
        <p:spPr>
          <a:xfrm>
            <a:off x="1779495" y="4490957"/>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0.3</a:t>
            </a:r>
            <a:endParaRPr lang="en-US" dirty="0">
              <a:latin typeface="Chromatica"/>
            </a:endParaRPr>
          </a:p>
        </p:txBody>
      </p:sp>
      <p:sp>
        <p:nvSpPr>
          <p:cNvPr id="17" name="Text 16">
            <a:extLst>
              <a:ext uri="{FF2B5EF4-FFF2-40B4-BE49-F238E27FC236}">
                <a16:creationId xmlns:a16="http://schemas.microsoft.com/office/drawing/2014/main" id="{4C8DA1D1-24FA-685E-5054-B0477B1A0A94}"/>
              </a:ext>
            </a:extLst>
          </p:cNvPr>
          <p:cNvSpPr/>
          <p:nvPr/>
        </p:nvSpPr>
        <p:spPr>
          <a:xfrm>
            <a:off x="1779495" y="6715496"/>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0.6</a:t>
            </a:r>
            <a:endParaRPr lang="en-US" dirty="0">
              <a:latin typeface="Chromatica"/>
            </a:endParaRPr>
          </a:p>
        </p:txBody>
      </p:sp>
      <p:sp>
        <p:nvSpPr>
          <p:cNvPr id="20" name="Text 16">
            <a:extLst>
              <a:ext uri="{FF2B5EF4-FFF2-40B4-BE49-F238E27FC236}">
                <a16:creationId xmlns:a16="http://schemas.microsoft.com/office/drawing/2014/main" id="{B3690C94-BE54-17BE-90C9-ABE1721D2F7B}"/>
              </a:ext>
            </a:extLst>
          </p:cNvPr>
          <p:cNvSpPr/>
          <p:nvPr/>
        </p:nvSpPr>
        <p:spPr>
          <a:xfrm>
            <a:off x="1779494" y="8953283"/>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0.2</a:t>
            </a:r>
            <a:endParaRPr lang="en-US" dirty="0">
              <a:latin typeface="Chromatica"/>
            </a:endParaRPr>
          </a:p>
        </p:txBody>
      </p:sp>
      <p:sp>
        <p:nvSpPr>
          <p:cNvPr id="21" name="Text 16">
            <a:extLst>
              <a:ext uri="{FF2B5EF4-FFF2-40B4-BE49-F238E27FC236}">
                <a16:creationId xmlns:a16="http://schemas.microsoft.com/office/drawing/2014/main" id="{1CCCCDE8-8E39-25E3-A0EB-284539BB447B}"/>
              </a:ext>
            </a:extLst>
          </p:cNvPr>
          <p:cNvSpPr/>
          <p:nvPr/>
        </p:nvSpPr>
        <p:spPr>
          <a:xfrm>
            <a:off x="1797783" y="11200305"/>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0.5</a:t>
            </a:r>
            <a:endParaRPr lang="en-US" dirty="0">
              <a:latin typeface="Chromatica"/>
            </a:endParaRPr>
          </a:p>
        </p:txBody>
      </p:sp>
      <mc:AlternateContent xmlns:mc="http://schemas.openxmlformats.org/markup-compatibility/2006" xmlns:a14="http://schemas.microsoft.com/office/drawing/2010/main">
        <mc:Choice Requires="a14">
          <p:sp>
            <p:nvSpPr>
              <p:cNvPr id="23" name="Text 26">
                <a:extLst>
                  <a:ext uri="{FF2B5EF4-FFF2-40B4-BE49-F238E27FC236}">
                    <a16:creationId xmlns:a16="http://schemas.microsoft.com/office/drawing/2014/main" id="{7A1CF995-118A-18A7-A310-DA4541E3AE55}"/>
                  </a:ext>
                </a:extLst>
              </p:cNvPr>
              <p:cNvSpPr/>
              <p:nvPr/>
            </p:nvSpPr>
            <p:spPr>
              <a:xfrm>
                <a:off x="13091531" y="5318853"/>
                <a:ext cx="6732661" cy="1762308"/>
              </a:xfrm>
              <a:prstGeom prst="rect">
                <a:avLst/>
              </a:prstGeom>
              <a:noFill/>
              <a:ln/>
            </p:spPr>
            <p:txBody>
              <a:bodyPr wrap="square" rtlCol="0" anchor="ctr"/>
              <a:lstStyle/>
              <a:p>
                <a:pPr algn="l">
                  <a:lnSpc>
                    <a:spcPct val="115000"/>
                  </a:lnSpc>
                </a:pPr>
                <a14:m>
                  <m:oMathPara xmlns:m="http://schemas.openxmlformats.org/officeDocument/2006/math">
                    <m:oMathParaPr>
                      <m:jc m:val="left"/>
                    </m:oMathParaPr>
                    <m:oMath xmlns:m="http://schemas.openxmlformats.org/officeDocument/2006/math">
                      <m:sSubSup>
                        <m:sSubSupPr>
                          <m:ctrlPr>
                            <a:rPr lang="en-US" b="1" i="1" smtClean="0">
                              <a:solidFill>
                                <a:schemeClr val="bg2">
                                  <a:lumMod val="10000"/>
                                </a:schemeClr>
                              </a:solidFill>
                              <a:latin typeface="Cambria Math" panose="02040503050406030204" pitchFamily="18" charset="0"/>
                              <a:cs typeface="Courier New" pitchFamily="34" charset="-120"/>
                            </a:rPr>
                          </m:ctrlPr>
                        </m:sSubSupPr>
                        <m:e>
                          <m:r>
                            <a:rPr lang="de-DE" b="1" i="1">
                              <a:solidFill>
                                <a:schemeClr val="bg2">
                                  <a:lumMod val="10000"/>
                                </a:schemeClr>
                              </a:solidFill>
                              <a:latin typeface="Cambria Math" panose="02040503050406030204" pitchFamily="18" charset="0"/>
                              <a:cs typeface="Courier New" pitchFamily="34" charset="-120"/>
                            </a:rPr>
                            <m:t>𝒛</m:t>
                          </m:r>
                        </m:e>
                        <m:sub>
                          <m:r>
                            <a:rPr lang="de-DE" b="1" i="1">
                              <a:solidFill>
                                <a:schemeClr val="bg2">
                                  <a:lumMod val="10000"/>
                                </a:schemeClr>
                              </a:solidFill>
                              <a:latin typeface="Cambria Math" panose="02040503050406030204" pitchFamily="18" charset="0"/>
                              <a:cs typeface="Courier New" pitchFamily="34" charset="-120"/>
                            </a:rPr>
                            <m:t>𝟏</m:t>
                          </m:r>
                        </m:sub>
                        <m:sup>
                          <m:r>
                            <a:rPr lang="de-DE" b="1" i="1">
                              <a:solidFill>
                                <a:schemeClr val="bg2">
                                  <a:lumMod val="10000"/>
                                </a:schemeClr>
                              </a:solidFill>
                              <a:latin typeface="Cambria Math" panose="02040503050406030204" pitchFamily="18" charset="0"/>
                              <a:cs typeface="Courier New" pitchFamily="34" charset="-120"/>
                            </a:rPr>
                            <m:t>𝟏</m:t>
                          </m:r>
                        </m:sup>
                      </m:sSubSup>
                      <m:r>
                        <a:rPr lang="en-US" b="1" i="1" smtClean="0">
                          <a:solidFill>
                            <a:schemeClr val="bg2">
                              <a:lumMod val="10000"/>
                            </a:schemeClr>
                          </a:solidFill>
                          <a:latin typeface="Cambria Math" panose="02040503050406030204" pitchFamily="18" charset="0"/>
                          <a:ea typeface="Courier New" pitchFamily="34" charset="-122"/>
                          <a:cs typeface="Courier New" pitchFamily="34" charset="-120"/>
                        </a:rPr>
                        <m:t>=</m:t>
                      </m:r>
                      <m:sSub>
                        <m:sSubPr>
                          <m:ctrlPr>
                            <a:rPr lang="en-US" b="1" i="1" smtClean="0">
                              <a:solidFill>
                                <a:schemeClr val="bg2">
                                  <a:lumMod val="10000"/>
                                </a:schemeClr>
                              </a:solidFill>
                              <a:latin typeface="Cambria Math" panose="02040503050406030204" pitchFamily="18" charset="0"/>
                              <a:cs typeface="Courier New" pitchFamily="34" charset="-120"/>
                            </a:rPr>
                          </m:ctrlPr>
                        </m:sSubPr>
                        <m:e>
                          <m:r>
                            <a:rPr lang="de-DE" b="1" i="1" smtClean="0">
                              <a:solidFill>
                                <a:schemeClr val="bg2">
                                  <a:lumMod val="10000"/>
                                </a:schemeClr>
                              </a:solidFill>
                              <a:latin typeface="Cambria Math" panose="02040503050406030204" pitchFamily="18" charset="0"/>
                              <a:cs typeface="Courier New" pitchFamily="34" charset="-120"/>
                            </a:rPr>
                            <m:t>𝒙</m:t>
                          </m:r>
                        </m:e>
                        <m:sub>
                          <m:r>
                            <a:rPr lang="de-DE" b="1" i="1" smtClean="0">
                              <a:solidFill>
                                <a:schemeClr val="bg2">
                                  <a:lumMod val="10000"/>
                                </a:schemeClr>
                              </a:solidFill>
                              <a:latin typeface="Cambria Math" panose="02040503050406030204" pitchFamily="18" charset="0"/>
                              <a:cs typeface="Courier New" pitchFamily="34" charset="-120"/>
                            </a:rPr>
                            <m:t>𝟏</m:t>
                          </m:r>
                          <m:r>
                            <a:rPr lang="de-DE" b="1" i="1" smtClean="0">
                              <a:solidFill>
                                <a:schemeClr val="bg2">
                                  <a:lumMod val="10000"/>
                                </a:schemeClr>
                              </a:solidFill>
                              <a:latin typeface="Cambria Math" panose="02040503050406030204" pitchFamily="18" charset="0"/>
                              <a:cs typeface="Courier New" pitchFamily="34" charset="-120"/>
                            </a:rPr>
                            <m:t> </m:t>
                          </m:r>
                        </m:sub>
                      </m:sSub>
                      <m:sSubSup>
                        <m:sSubSupPr>
                          <m:ctrlPr>
                            <a:rPr lang="en-US" b="1" i="1" smtClean="0">
                              <a:solidFill>
                                <a:schemeClr val="bg2">
                                  <a:lumMod val="10000"/>
                                </a:schemeClr>
                              </a:solidFill>
                              <a:latin typeface="Cambria Math" panose="02040503050406030204" pitchFamily="18" charset="0"/>
                              <a:cs typeface="Courier New" pitchFamily="34" charset="-120"/>
                            </a:rPr>
                          </m:ctrlPr>
                        </m:sSubSupPr>
                        <m:e>
                          <m:r>
                            <a:rPr lang="de-DE" b="1" i="1" smtClean="0">
                              <a:solidFill>
                                <a:schemeClr val="bg2">
                                  <a:lumMod val="10000"/>
                                </a:schemeClr>
                              </a:solidFill>
                              <a:latin typeface="Cambria Math" panose="02040503050406030204" pitchFamily="18" charset="0"/>
                              <a:cs typeface="Courier New" pitchFamily="34" charset="-120"/>
                            </a:rPr>
                            <m:t>𝒘</m:t>
                          </m:r>
                        </m:e>
                        <m:sub>
                          <m:r>
                            <a:rPr lang="de-DE" b="1" i="1" smtClean="0">
                              <a:solidFill>
                                <a:schemeClr val="bg2">
                                  <a:lumMod val="10000"/>
                                </a:schemeClr>
                              </a:solidFill>
                              <a:latin typeface="Cambria Math" panose="02040503050406030204" pitchFamily="18" charset="0"/>
                              <a:cs typeface="Courier New" pitchFamily="34" charset="-120"/>
                            </a:rPr>
                            <m:t>𝟏</m:t>
                          </m:r>
                        </m:sub>
                        <m:sup>
                          <m:r>
                            <a:rPr lang="de-DE" b="1" i="1" smtClean="0">
                              <a:solidFill>
                                <a:schemeClr val="bg2">
                                  <a:lumMod val="10000"/>
                                </a:schemeClr>
                              </a:solidFill>
                              <a:latin typeface="Cambria Math" panose="02040503050406030204" pitchFamily="18" charset="0"/>
                              <a:cs typeface="Courier New" pitchFamily="34" charset="-120"/>
                            </a:rPr>
                            <m:t>𝟏</m:t>
                          </m:r>
                        </m:sup>
                      </m:sSubSup>
                      <m:r>
                        <a:rPr lang="de-DE" b="1" i="1" smtClean="0">
                          <a:solidFill>
                            <a:schemeClr val="bg2">
                              <a:lumMod val="10000"/>
                            </a:schemeClr>
                          </a:solidFill>
                          <a:latin typeface="Cambria Math" panose="02040503050406030204" pitchFamily="18" charset="0"/>
                          <a:cs typeface="Courier New" pitchFamily="34" charset="-120"/>
                        </a:rPr>
                        <m:t>+</m:t>
                      </m:r>
                      <m:sSub>
                        <m:sSubPr>
                          <m:ctrlPr>
                            <a:rPr lang="en-US" b="1" i="1">
                              <a:solidFill>
                                <a:schemeClr val="bg2">
                                  <a:lumMod val="10000"/>
                                </a:schemeClr>
                              </a:solidFill>
                              <a:latin typeface="Cambria Math" panose="02040503050406030204" pitchFamily="18" charset="0"/>
                              <a:cs typeface="Courier New" pitchFamily="34" charset="-120"/>
                            </a:rPr>
                          </m:ctrlPr>
                        </m:sSubPr>
                        <m:e>
                          <m:r>
                            <a:rPr lang="de-DE" b="1" i="1">
                              <a:solidFill>
                                <a:schemeClr val="bg2">
                                  <a:lumMod val="10000"/>
                                </a:schemeClr>
                              </a:solidFill>
                              <a:latin typeface="Cambria Math" panose="02040503050406030204" pitchFamily="18" charset="0"/>
                              <a:cs typeface="Courier New" pitchFamily="34" charset="-120"/>
                            </a:rPr>
                            <m:t>𝒙</m:t>
                          </m:r>
                        </m:e>
                        <m:sub>
                          <m:r>
                            <a:rPr lang="de-DE" b="1" i="1" smtClean="0">
                              <a:solidFill>
                                <a:schemeClr val="bg2">
                                  <a:lumMod val="10000"/>
                                </a:schemeClr>
                              </a:solidFill>
                              <a:latin typeface="Cambria Math" panose="02040503050406030204" pitchFamily="18" charset="0"/>
                              <a:cs typeface="Courier New" pitchFamily="34" charset="-120"/>
                            </a:rPr>
                            <m:t>𝟐</m:t>
                          </m:r>
                          <m:r>
                            <a:rPr lang="de-DE" b="1" i="1">
                              <a:solidFill>
                                <a:schemeClr val="bg2">
                                  <a:lumMod val="10000"/>
                                </a:schemeClr>
                              </a:solidFill>
                              <a:latin typeface="Cambria Math" panose="02040503050406030204" pitchFamily="18" charset="0"/>
                              <a:cs typeface="Courier New" pitchFamily="34" charset="-120"/>
                            </a:rPr>
                            <m:t> </m:t>
                          </m:r>
                        </m:sub>
                      </m:sSub>
                      <m:sSubSup>
                        <m:sSubSupPr>
                          <m:ctrlPr>
                            <a:rPr lang="en-US" b="1" i="1">
                              <a:solidFill>
                                <a:schemeClr val="bg2">
                                  <a:lumMod val="10000"/>
                                </a:schemeClr>
                              </a:solidFill>
                              <a:latin typeface="Cambria Math" panose="02040503050406030204" pitchFamily="18" charset="0"/>
                              <a:cs typeface="Courier New" pitchFamily="34" charset="-120"/>
                            </a:rPr>
                          </m:ctrlPr>
                        </m:sSubSupPr>
                        <m:e>
                          <m:r>
                            <a:rPr lang="de-DE" b="1" i="1">
                              <a:solidFill>
                                <a:schemeClr val="bg2">
                                  <a:lumMod val="10000"/>
                                </a:schemeClr>
                              </a:solidFill>
                              <a:latin typeface="Cambria Math" panose="02040503050406030204" pitchFamily="18" charset="0"/>
                              <a:cs typeface="Courier New" pitchFamily="34" charset="-120"/>
                            </a:rPr>
                            <m:t>𝒘</m:t>
                          </m:r>
                        </m:e>
                        <m:sub>
                          <m:r>
                            <a:rPr lang="de-DE" b="1" i="1">
                              <a:solidFill>
                                <a:schemeClr val="bg2">
                                  <a:lumMod val="10000"/>
                                </a:schemeClr>
                              </a:solidFill>
                              <a:latin typeface="Cambria Math" panose="02040503050406030204" pitchFamily="18" charset="0"/>
                              <a:cs typeface="Courier New" pitchFamily="34" charset="-120"/>
                            </a:rPr>
                            <m:t>𝟏</m:t>
                          </m:r>
                        </m:sub>
                        <m:sup>
                          <m:r>
                            <a:rPr lang="de-DE" b="1" i="1" smtClean="0">
                              <a:solidFill>
                                <a:schemeClr val="bg2">
                                  <a:lumMod val="10000"/>
                                </a:schemeClr>
                              </a:solidFill>
                              <a:latin typeface="Cambria Math" panose="02040503050406030204" pitchFamily="18" charset="0"/>
                              <a:cs typeface="Courier New" pitchFamily="34" charset="-120"/>
                            </a:rPr>
                            <m:t>𝟐</m:t>
                          </m:r>
                        </m:sup>
                      </m:sSubSup>
                      <m:r>
                        <a:rPr lang="de-DE" b="1" i="1" smtClean="0">
                          <a:solidFill>
                            <a:schemeClr val="bg2">
                              <a:lumMod val="10000"/>
                            </a:schemeClr>
                          </a:solidFill>
                          <a:latin typeface="Cambria Math" panose="02040503050406030204" pitchFamily="18" charset="0"/>
                          <a:cs typeface="Courier New" pitchFamily="34" charset="-120"/>
                        </a:rPr>
                        <m:t>+</m:t>
                      </m:r>
                      <m:sSub>
                        <m:sSubPr>
                          <m:ctrlPr>
                            <a:rPr lang="en-US" b="1" i="1">
                              <a:solidFill>
                                <a:schemeClr val="bg2">
                                  <a:lumMod val="10000"/>
                                </a:schemeClr>
                              </a:solidFill>
                              <a:latin typeface="Cambria Math" panose="02040503050406030204" pitchFamily="18" charset="0"/>
                              <a:cs typeface="Courier New" pitchFamily="34" charset="-120"/>
                            </a:rPr>
                          </m:ctrlPr>
                        </m:sSubPr>
                        <m:e>
                          <m:r>
                            <a:rPr lang="de-DE" b="1" i="1">
                              <a:solidFill>
                                <a:schemeClr val="bg2">
                                  <a:lumMod val="10000"/>
                                </a:schemeClr>
                              </a:solidFill>
                              <a:latin typeface="Cambria Math" panose="02040503050406030204" pitchFamily="18" charset="0"/>
                              <a:cs typeface="Courier New" pitchFamily="34" charset="-120"/>
                            </a:rPr>
                            <m:t>𝒙</m:t>
                          </m:r>
                        </m:e>
                        <m:sub>
                          <m:r>
                            <a:rPr lang="de-DE" b="1" i="1" smtClean="0">
                              <a:solidFill>
                                <a:schemeClr val="bg2">
                                  <a:lumMod val="10000"/>
                                </a:schemeClr>
                              </a:solidFill>
                              <a:latin typeface="Cambria Math" panose="02040503050406030204" pitchFamily="18" charset="0"/>
                              <a:cs typeface="Courier New" pitchFamily="34" charset="-120"/>
                            </a:rPr>
                            <m:t>𝟑</m:t>
                          </m:r>
                          <m:r>
                            <a:rPr lang="de-DE" b="1" i="1">
                              <a:solidFill>
                                <a:schemeClr val="bg2">
                                  <a:lumMod val="10000"/>
                                </a:schemeClr>
                              </a:solidFill>
                              <a:latin typeface="Cambria Math" panose="02040503050406030204" pitchFamily="18" charset="0"/>
                              <a:cs typeface="Courier New" pitchFamily="34" charset="-120"/>
                            </a:rPr>
                            <m:t> </m:t>
                          </m:r>
                        </m:sub>
                      </m:sSub>
                      <m:sSubSup>
                        <m:sSubSupPr>
                          <m:ctrlPr>
                            <a:rPr lang="en-US" b="1" i="1">
                              <a:solidFill>
                                <a:schemeClr val="bg2">
                                  <a:lumMod val="10000"/>
                                </a:schemeClr>
                              </a:solidFill>
                              <a:latin typeface="Cambria Math" panose="02040503050406030204" pitchFamily="18" charset="0"/>
                              <a:cs typeface="Courier New" pitchFamily="34" charset="-120"/>
                            </a:rPr>
                          </m:ctrlPr>
                        </m:sSubSupPr>
                        <m:e>
                          <m:r>
                            <a:rPr lang="de-DE" b="1" i="1">
                              <a:solidFill>
                                <a:schemeClr val="bg2">
                                  <a:lumMod val="10000"/>
                                </a:schemeClr>
                              </a:solidFill>
                              <a:latin typeface="Cambria Math" panose="02040503050406030204" pitchFamily="18" charset="0"/>
                              <a:cs typeface="Courier New" pitchFamily="34" charset="-120"/>
                            </a:rPr>
                            <m:t>𝒘</m:t>
                          </m:r>
                        </m:e>
                        <m:sub>
                          <m:r>
                            <a:rPr lang="de-DE" b="1" i="1">
                              <a:solidFill>
                                <a:schemeClr val="bg2">
                                  <a:lumMod val="10000"/>
                                </a:schemeClr>
                              </a:solidFill>
                              <a:latin typeface="Cambria Math" panose="02040503050406030204" pitchFamily="18" charset="0"/>
                              <a:cs typeface="Courier New" pitchFamily="34" charset="-120"/>
                            </a:rPr>
                            <m:t>𝟏</m:t>
                          </m:r>
                        </m:sub>
                        <m:sup>
                          <m:r>
                            <a:rPr lang="de-DE" b="1" i="1" smtClean="0">
                              <a:solidFill>
                                <a:schemeClr val="bg2">
                                  <a:lumMod val="10000"/>
                                </a:schemeClr>
                              </a:solidFill>
                              <a:latin typeface="Cambria Math" panose="02040503050406030204" pitchFamily="18" charset="0"/>
                              <a:cs typeface="Courier New" pitchFamily="34" charset="-120"/>
                            </a:rPr>
                            <m:t>𝟑</m:t>
                          </m:r>
                        </m:sup>
                      </m:sSubSup>
                      <m:r>
                        <a:rPr lang="de-DE" b="1" i="1" smtClean="0">
                          <a:solidFill>
                            <a:schemeClr val="bg2">
                              <a:lumMod val="10000"/>
                            </a:schemeClr>
                          </a:solidFill>
                          <a:latin typeface="Cambria Math" panose="02040503050406030204" pitchFamily="18" charset="0"/>
                          <a:cs typeface="Courier New" pitchFamily="34" charset="-120"/>
                        </a:rPr>
                        <m:t>+</m:t>
                      </m:r>
                      <m:sSub>
                        <m:sSubPr>
                          <m:ctrlPr>
                            <a:rPr lang="en-US" b="1" i="1">
                              <a:solidFill>
                                <a:schemeClr val="bg2">
                                  <a:lumMod val="10000"/>
                                </a:schemeClr>
                              </a:solidFill>
                              <a:latin typeface="Cambria Math" panose="02040503050406030204" pitchFamily="18" charset="0"/>
                              <a:cs typeface="Courier New" pitchFamily="34" charset="-120"/>
                            </a:rPr>
                          </m:ctrlPr>
                        </m:sSubPr>
                        <m:e>
                          <m:r>
                            <a:rPr lang="de-DE" b="1" i="1">
                              <a:solidFill>
                                <a:schemeClr val="bg2">
                                  <a:lumMod val="10000"/>
                                </a:schemeClr>
                              </a:solidFill>
                              <a:latin typeface="Cambria Math" panose="02040503050406030204" pitchFamily="18" charset="0"/>
                              <a:cs typeface="Courier New" pitchFamily="34" charset="-120"/>
                            </a:rPr>
                            <m:t>𝒙</m:t>
                          </m:r>
                        </m:e>
                        <m:sub>
                          <m:r>
                            <a:rPr lang="de-DE" b="1" i="1" smtClean="0">
                              <a:solidFill>
                                <a:schemeClr val="bg2">
                                  <a:lumMod val="10000"/>
                                </a:schemeClr>
                              </a:solidFill>
                              <a:latin typeface="Cambria Math" panose="02040503050406030204" pitchFamily="18" charset="0"/>
                              <a:cs typeface="Courier New" pitchFamily="34" charset="-120"/>
                            </a:rPr>
                            <m:t>𝟒</m:t>
                          </m:r>
                          <m:r>
                            <a:rPr lang="de-DE" b="1" i="1">
                              <a:solidFill>
                                <a:schemeClr val="bg2">
                                  <a:lumMod val="10000"/>
                                </a:schemeClr>
                              </a:solidFill>
                              <a:latin typeface="Cambria Math" panose="02040503050406030204" pitchFamily="18" charset="0"/>
                              <a:cs typeface="Courier New" pitchFamily="34" charset="-120"/>
                            </a:rPr>
                            <m:t> </m:t>
                          </m:r>
                        </m:sub>
                      </m:sSub>
                      <m:sSubSup>
                        <m:sSubSupPr>
                          <m:ctrlPr>
                            <a:rPr lang="en-US" b="1" i="1">
                              <a:solidFill>
                                <a:schemeClr val="bg2">
                                  <a:lumMod val="10000"/>
                                </a:schemeClr>
                              </a:solidFill>
                              <a:latin typeface="Cambria Math" panose="02040503050406030204" pitchFamily="18" charset="0"/>
                              <a:cs typeface="Courier New" pitchFamily="34" charset="-120"/>
                            </a:rPr>
                          </m:ctrlPr>
                        </m:sSubSupPr>
                        <m:e>
                          <m:r>
                            <a:rPr lang="de-DE" b="1" i="1">
                              <a:solidFill>
                                <a:schemeClr val="bg2">
                                  <a:lumMod val="10000"/>
                                </a:schemeClr>
                              </a:solidFill>
                              <a:latin typeface="Cambria Math" panose="02040503050406030204" pitchFamily="18" charset="0"/>
                              <a:cs typeface="Courier New" pitchFamily="34" charset="-120"/>
                            </a:rPr>
                            <m:t>𝒘</m:t>
                          </m:r>
                        </m:e>
                        <m:sub>
                          <m:r>
                            <a:rPr lang="de-DE" b="1" i="1">
                              <a:solidFill>
                                <a:schemeClr val="bg2">
                                  <a:lumMod val="10000"/>
                                </a:schemeClr>
                              </a:solidFill>
                              <a:latin typeface="Cambria Math" panose="02040503050406030204" pitchFamily="18" charset="0"/>
                              <a:cs typeface="Courier New" pitchFamily="34" charset="-120"/>
                            </a:rPr>
                            <m:t>𝟏</m:t>
                          </m:r>
                        </m:sub>
                        <m:sup>
                          <m:r>
                            <a:rPr lang="de-DE" b="1" i="1" smtClean="0">
                              <a:solidFill>
                                <a:schemeClr val="bg2">
                                  <a:lumMod val="10000"/>
                                </a:schemeClr>
                              </a:solidFill>
                              <a:latin typeface="Cambria Math" panose="02040503050406030204" pitchFamily="18" charset="0"/>
                              <a:cs typeface="Courier New" pitchFamily="34" charset="-120"/>
                            </a:rPr>
                            <m:t>𝟒</m:t>
                          </m:r>
                        </m:sup>
                      </m:sSubSup>
                      <m:r>
                        <a:rPr lang="de-DE" b="1" i="1" smtClean="0">
                          <a:solidFill>
                            <a:schemeClr val="bg2">
                              <a:lumMod val="10000"/>
                            </a:schemeClr>
                          </a:solidFill>
                          <a:latin typeface="Cambria Math" panose="02040503050406030204" pitchFamily="18" charset="0"/>
                          <a:cs typeface="Courier New" pitchFamily="34" charset="-120"/>
                        </a:rPr>
                        <m:t>+</m:t>
                      </m:r>
                      <m:sSubSup>
                        <m:sSubSupPr>
                          <m:ctrlPr>
                            <a:rPr lang="en-US" b="1" i="1" smtClean="0">
                              <a:solidFill>
                                <a:schemeClr val="bg2">
                                  <a:lumMod val="10000"/>
                                </a:schemeClr>
                              </a:solidFill>
                              <a:latin typeface="Cambria Math" panose="02040503050406030204" pitchFamily="18" charset="0"/>
                              <a:cs typeface="Courier New" pitchFamily="34" charset="-120"/>
                            </a:rPr>
                          </m:ctrlPr>
                        </m:sSubSupPr>
                        <m:e>
                          <m:r>
                            <a:rPr lang="de-DE" b="1" i="1" smtClean="0">
                              <a:solidFill>
                                <a:schemeClr val="bg2">
                                  <a:lumMod val="10000"/>
                                </a:schemeClr>
                              </a:solidFill>
                              <a:latin typeface="Cambria Math" panose="02040503050406030204" pitchFamily="18" charset="0"/>
                              <a:cs typeface="Courier New" pitchFamily="34" charset="-120"/>
                            </a:rPr>
                            <m:t>𝒃</m:t>
                          </m:r>
                        </m:e>
                        <m:sub>
                          <m:r>
                            <a:rPr lang="de-DE" b="1" i="1" smtClean="0">
                              <a:solidFill>
                                <a:schemeClr val="bg2">
                                  <a:lumMod val="10000"/>
                                </a:schemeClr>
                              </a:solidFill>
                              <a:latin typeface="Cambria Math" panose="02040503050406030204" pitchFamily="18" charset="0"/>
                              <a:cs typeface="Courier New" pitchFamily="34" charset="-120"/>
                            </a:rPr>
                            <m:t>𝟏</m:t>
                          </m:r>
                        </m:sub>
                        <m:sup>
                          <m:r>
                            <a:rPr lang="de-DE" b="1" i="1" smtClean="0">
                              <a:solidFill>
                                <a:schemeClr val="bg2">
                                  <a:lumMod val="10000"/>
                                </a:schemeClr>
                              </a:solidFill>
                              <a:latin typeface="Cambria Math" panose="02040503050406030204" pitchFamily="18" charset="0"/>
                              <a:cs typeface="Courier New" pitchFamily="34" charset="-120"/>
                            </a:rPr>
                            <m:t>𝟏</m:t>
                          </m:r>
                        </m:sup>
                      </m:sSubSup>
                    </m:oMath>
                  </m:oMathPara>
                </a14:m>
                <a:endParaRPr lang="en-US" b="1" dirty="0">
                  <a:solidFill>
                    <a:schemeClr val="bg2">
                      <a:lumMod val="10000"/>
                    </a:schemeClr>
                  </a:solidFill>
                  <a:latin typeface="Chromatica"/>
                </a:endParaRPr>
              </a:p>
            </p:txBody>
          </p:sp>
        </mc:Choice>
        <mc:Fallback xmlns="">
          <p:sp>
            <p:nvSpPr>
              <p:cNvPr id="23" name="Text 26">
                <a:extLst>
                  <a:ext uri="{FF2B5EF4-FFF2-40B4-BE49-F238E27FC236}">
                    <a16:creationId xmlns:a16="http://schemas.microsoft.com/office/drawing/2014/main" id="{7A1CF995-118A-18A7-A310-DA4541E3AE55}"/>
                  </a:ext>
                </a:extLst>
              </p:cNvPr>
              <p:cNvSpPr>
                <a:spLocks noRot="1" noChangeAspect="1" noMove="1" noResize="1" noEditPoints="1" noAdjustHandles="1" noChangeArrowheads="1" noChangeShapeType="1" noTextEdit="1"/>
              </p:cNvSpPr>
              <p:nvPr/>
            </p:nvSpPr>
            <p:spPr>
              <a:xfrm>
                <a:off x="13091531" y="5318853"/>
                <a:ext cx="6732661" cy="1762308"/>
              </a:xfrm>
              <a:prstGeom prst="rect">
                <a:avLst/>
              </a:prstGeom>
              <a:blipFill>
                <a:blip r:embed="rId3"/>
                <a:stretch>
                  <a:fillRect/>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5" name="Text 16">
                <a:extLst>
                  <a:ext uri="{FF2B5EF4-FFF2-40B4-BE49-F238E27FC236}">
                    <a16:creationId xmlns:a16="http://schemas.microsoft.com/office/drawing/2014/main" id="{B8BB6288-3ED2-CAC6-B68B-905E338E8444}"/>
                  </a:ext>
                </a:extLst>
              </p:cNvPr>
              <p:cNvSpPr/>
              <p:nvPr/>
            </p:nvSpPr>
            <p:spPr>
              <a:xfrm>
                <a:off x="8614635" y="6007217"/>
                <a:ext cx="862915" cy="827896"/>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𝒛</m:t>
                          </m:r>
                        </m:e>
                        <m:sub>
                          <m:r>
                            <a:rPr lang="de-DE" b="1" i="1" smtClean="0">
                              <a:solidFill>
                                <a:srgbClr val="FFFFFF"/>
                              </a:solidFill>
                              <a:latin typeface="Cambria Math" panose="02040503050406030204" pitchFamily="18" charset="0"/>
                              <a:cs typeface="Arial" pitchFamily="34" charset="-120"/>
                            </a:rPr>
                            <m:t>𝟏</m:t>
                          </m:r>
                        </m:sub>
                        <m:sup>
                          <m:r>
                            <a:rPr lang="de-DE" b="1" i="1" smtClean="0">
                              <a:solidFill>
                                <a:srgbClr val="FFFFFF"/>
                              </a:solidFill>
                              <a:latin typeface="Cambria Math" panose="02040503050406030204" pitchFamily="18" charset="0"/>
                              <a:cs typeface="Arial" pitchFamily="34" charset="-120"/>
                            </a:rPr>
                            <m:t>𝟏</m:t>
                          </m:r>
                        </m:sup>
                      </m:sSubSup>
                    </m:oMath>
                  </m:oMathPara>
                </a14:m>
                <a:endParaRPr lang="en-US" dirty="0">
                  <a:latin typeface="Chromatica"/>
                </a:endParaRPr>
              </a:p>
            </p:txBody>
          </p:sp>
        </mc:Choice>
        <mc:Fallback xmlns="">
          <p:sp>
            <p:nvSpPr>
              <p:cNvPr id="25" name="Text 16">
                <a:extLst>
                  <a:ext uri="{FF2B5EF4-FFF2-40B4-BE49-F238E27FC236}">
                    <a16:creationId xmlns:a16="http://schemas.microsoft.com/office/drawing/2014/main" id="{B8BB6288-3ED2-CAC6-B68B-905E338E8444}"/>
                  </a:ext>
                </a:extLst>
              </p:cNvPr>
              <p:cNvSpPr>
                <a:spLocks noRot="1" noChangeAspect="1" noMove="1" noResize="1" noEditPoints="1" noAdjustHandles="1" noChangeArrowheads="1" noChangeShapeType="1" noTextEdit="1"/>
              </p:cNvSpPr>
              <p:nvPr/>
            </p:nvSpPr>
            <p:spPr>
              <a:xfrm>
                <a:off x="8614635" y="6007217"/>
                <a:ext cx="862915" cy="827896"/>
              </a:xfrm>
              <a:prstGeom prst="rect">
                <a:avLst/>
              </a:prstGeom>
              <a:blipFill>
                <a:blip r:embed="rId4"/>
                <a:stretch>
                  <a:fillRect/>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7" name="Text 16">
                <a:extLst>
                  <a:ext uri="{FF2B5EF4-FFF2-40B4-BE49-F238E27FC236}">
                    <a16:creationId xmlns:a16="http://schemas.microsoft.com/office/drawing/2014/main" id="{91B7E8BB-7628-4A30-9415-6DD388F57D03}"/>
                  </a:ext>
                </a:extLst>
              </p:cNvPr>
              <p:cNvSpPr/>
              <p:nvPr/>
            </p:nvSpPr>
            <p:spPr>
              <a:xfrm>
                <a:off x="8530444" y="8940035"/>
                <a:ext cx="862915" cy="827896"/>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𝒛</m:t>
                          </m:r>
                        </m:e>
                        <m:sub>
                          <m:r>
                            <a:rPr lang="de-DE" b="1" i="1" smtClean="0">
                              <a:solidFill>
                                <a:srgbClr val="FFFFFF"/>
                              </a:solidFill>
                              <a:latin typeface="Cambria Math" panose="02040503050406030204" pitchFamily="18" charset="0"/>
                              <a:cs typeface="Arial" pitchFamily="34" charset="-120"/>
                            </a:rPr>
                            <m:t>𝟐</m:t>
                          </m:r>
                        </m:sub>
                        <m:sup>
                          <m:r>
                            <a:rPr lang="de-DE" b="1" i="1" smtClean="0">
                              <a:solidFill>
                                <a:srgbClr val="FFFFFF"/>
                              </a:solidFill>
                              <a:latin typeface="Cambria Math" panose="02040503050406030204" pitchFamily="18" charset="0"/>
                              <a:cs typeface="Arial" pitchFamily="34" charset="-120"/>
                            </a:rPr>
                            <m:t>𝟏</m:t>
                          </m:r>
                        </m:sup>
                      </m:sSubSup>
                    </m:oMath>
                  </m:oMathPara>
                </a14:m>
                <a:endParaRPr lang="en-US" dirty="0">
                  <a:latin typeface="Chromatica"/>
                </a:endParaRPr>
              </a:p>
            </p:txBody>
          </p:sp>
        </mc:Choice>
        <mc:Fallback xmlns="">
          <p:sp>
            <p:nvSpPr>
              <p:cNvPr id="27" name="Text 16">
                <a:extLst>
                  <a:ext uri="{FF2B5EF4-FFF2-40B4-BE49-F238E27FC236}">
                    <a16:creationId xmlns:a16="http://schemas.microsoft.com/office/drawing/2014/main" id="{91B7E8BB-7628-4A30-9415-6DD388F57D03}"/>
                  </a:ext>
                </a:extLst>
              </p:cNvPr>
              <p:cNvSpPr>
                <a:spLocks noRot="1" noChangeAspect="1" noMove="1" noResize="1" noEditPoints="1" noAdjustHandles="1" noChangeArrowheads="1" noChangeShapeType="1" noTextEdit="1"/>
              </p:cNvSpPr>
              <p:nvPr/>
            </p:nvSpPr>
            <p:spPr>
              <a:xfrm>
                <a:off x="8530444" y="8940035"/>
                <a:ext cx="862915" cy="827896"/>
              </a:xfrm>
              <a:prstGeom prst="rect">
                <a:avLst/>
              </a:prstGeom>
              <a:blipFill>
                <a:blip r:embed="rId5"/>
                <a:stretch>
                  <a:fillRect/>
                </a:stretch>
              </a:blipFill>
              <a:ln/>
            </p:spPr>
            <p:txBody>
              <a:bodyPr/>
              <a:lstStyle/>
              <a:p>
                <a:r>
                  <a:rPr lang="de-DE">
                    <a:noFill/>
                  </a:rPr>
                  <a:t> </a:t>
                </a:r>
              </a:p>
            </p:txBody>
          </p:sp>
        </mc:Fallback>
      </mc:AlternateContent>
      <p:cxnSp>
        <p:nvCxnSpPr>
          <p:cNvPr id="31" name="Gerade Verbindung mit Pfeil 30">
            <a:extLst>
              <a:ext uri="{FF2B5EF4-FFF2-40B4-BE49-F238E27FC236}">
                <a16:creationId xmlns:a16="http://schemas.microsoft.com/office/drawing/2014/main" id="{D049D9B4-1318-96EF-CBFB-2A3A8F8B5A71}"/>
              </a:ext>
            </a:extLst>
          </p:cNvPr>
          <p:cNvCxnSpPr>
            <a:cxnSpLocks/>
            <a:stCxn id="5" idx="6"/>
            <a:endCxn id="9" idx="2"/>
          </p:cNvCxnSpPr>
          <p:nvPr/>
        </p:nvCxnSpPr>
        <p:spPr>
          <a:xfrm>
            <a:off x="2887609" y="4904905"/>
            <a:ext cx="5500116" cy="153412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3" name="Gerade Verbindung mit Pfeil 32">
            <a:extLst>
              <a:ext uri="{FF2B5EF4-FFF2-40B4-BE49-F238E27FC236}">
                <a16:creationId xmlns:a16="http://schemas.microsoft.com/office/drawing/2014/main" id="{D23FB6B5-E274-B6DC-9B23-1E6F534D0193}"/>
              </a:ext>
            </a:extLst>
          </p:cNvPr>
          <p:cNvCxnSpPr>
            <a:cxnSpLocks/>
            <a:stCxn id="6" idx="6"/>
            <a:endCxn id="9" idx="2"/>
          </p:cNvCxnSpPr>
          <p:nvPr/>
        </p:nvCxnSpPr>
        <p:spPr>
          <a:xfrm flipV="1">
            <a:off x="2887609" y="6439030"/>
            <a:ext cx="5500116" cy="69041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5" name="Gerade Verbindung mit Pfeil 34">
            <a:extLst>
              <a:ext uri="{FF2B5EF4-FFF2-40B4-BE49-F238E27FC236}">
                <a16:creationId xmlns:a16="http://schemas.microsoft.com/office/drawing/2014/main" id="{AB7B5AA9-66F5-2DC0-3383-3BA3B332F820}"/>
              </a:ext>
            </a:extLst>
          </p:cNvPr>
          <p:cNvCxnSpPr>
            <a:cxnSpLocks/>
            <a:stCxn id="7" idx="6"/>
            <a:endCxn id="9" idx="2"/>
          </p:cNvCxnSpPr>
          <p:nvPr/>
        </p:nvCxnSpPr>
        <p:spPr>
          <a:xfrm flipV="1">
            <a:off x="2869321" y="6439030"/>
            <a:ext cx="5518404" cy="291495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7" name="Gerade Verbindung mit Pfeil 36">
            <a:extLst>
              <a:ext uri="{FF2B5EF4-FFF2-40B4-BE49-F238E27FC236}">
                <a16:creationId xmlns:a16="http://schemas.microsoft.com/office/drawing/2014/main" id="{E86CFDE8-87AD-F122-A11A-A8E9B5CFB070}"/>
              </a:ext>
            </a:extLst>
          </p:cNvPr>
          <p:cNvCxnSpPr>
            <a:stCxn id="8" idx="6"/>
            <a:endCxn id="9" idx="2"/>
          </p:cNvCxnSpPr>
          <p:nvPr/>
        </p:nvCxnSpPr>
        <p:spPr>
          <a:xfrm flipV="1">
            <a:off x="2869321" y="6439030"/>
            <a:ext cx="5518404" cy="517522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8" name="TextBox 37"/>
          <p:cNvSpPr txBox="1"/>
          <p:nvPr/>
        </p:nvSpPr>
        <p:spPr>
          <a:xfrm>
            <a:off x="1307592" y="3520440"/>
            <a:ext cx="11695176" cy="502920"/>
          </a:xfrm>
          <a:prstGeom prst="rect">
            <a:avLst/>
          </a:prstGeom>
          <a:noFill/>
        </p:spPr>
        <p:txBody>
          <a:bodyPr wrap="square" lIns="0" rIns="0">
            <a:spAutoFit/>
          </a:bodyPr>
          <a:lstStyle/>
          <a:p>
            <a:pPr algn="l"/>
            <a:r>
              <a:rPr sz="1800">
                <a:solidFill>
                  <a:srgbClr val="6E6E6E"/>
                </a:solidFill>
              </a:rPr>
              <a:t>Değerler ölçeklendi:  3 oda → 0.3,   120 m² → 0.6,   10 yıl → 0.2,   5 km → 0.5,   850 bin € → 0.85</a:t>
            </a:r>
          </a:p>
        </p:txBody>
      </p:sp>
    </p:spTree>
    <p:extLst>
      <p:ext uri="{BB962C8B-B14F-4D97-AF65-F5344CB8AC3E}">
        <p14:creationId xmlns:p14="http://schemas.microsoft.com/office/powerpoint/2010/main" val="366495566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2677D-D27A-50D5-9B29-845170D2CF47}"/>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A7AFE08E-0160-D6A9-64F6-96C124EA9AC2}"/>
              </a:ext>
            </a:extLst>
          </p:cNvPr>
          <p:cNvSpPr>
            <a:spLocks noGrp="1"/>
          </p:cNvSpPr>
          <p:nvPr>
            <p:ph type="body" sz="quarter" idx="22"/>
          </p:nvPr>
        </p:nvSpPr>
        <p:spPr/>
        <p:txBody>
          <a:bodyPr/>
          <a:lstStyle/>
          <a:p>
            <a:r>
              <a:rPr lang="de-DE" dirty="0"/>
              <a:t>Forward </a:t>
            </a:r>
            <a:r>
              <a:rPr lang="de-DE" dirty="0" err="1"/>
              <a:t>Propagation</a:t>
            </a:r>
            <a:endParaRPr lang="de-DE" dirty="0"/>
          </a:p>
        </p:txBody>
      </p:sp>
      <p:sp>
        <p:nvSpPr>
          <p:cNvPr id="5" name="Shape 2">
            <a:extLst>
              <a:ext uri="{FF2B5EF4-FFF2-40B4-BE49-F238E27FC236}">
                <a16:creationId xmlns:a16="http://schemas.microsoft.com/office/drawing/2014/main" id="{7507E7E7-CDC0-77B2-D9C2-02E1E3A97010}"/>
              </a:ext>
            </a:extLst>
          </p:cNvPr>
          <p:cNvSpPr/>
          <p:nvPr/>
        </p:nvSpPr>
        <p:spPr>
          <a:xfrm>
            <a:off x="1570873" y="4196625"/>
            <a:ext cx="1316736" cy="1416559"/>
          </a:xfrm>
          <a:prstGeom prst="ellipse">
            <a:avLst/>
          </a:prstGeom>
          <a:solidFill>
            <a:srgbClr val="1B9E8A"/>
          </a:solidFill>
          <a:ln/>
        </p:spPr>
        <p:txBody>
          <a:bodyPr/>
          <a:lstStyle/>
          <a:p>
            <a:endParaRPr lang="de-DE" dirty="0"/>
          </a:p>
        </p:txBody>
      </p:sp>
      <p:sp>
        <p:nvSpPr>
          <p:cNvPr id="6" name="Shape 2">
            <a:extLst>
              <a:ext uri="{FF2B5EF4-FFF2-40B4-BE49-F238E27FC236}">
                <a16:creationId xmlns:a16="http://schemas.microsoft.com/office/drawing/2014/main" id="{8782458A-C785-1FB0-97E1-56188F8D5343}"/>
              </a:ext>
            </a:extLst>
          </p:cNvPr>
          <p:cNvSpPr/>
          <p:nvPr/>
        </p:nvSpPr>
        <p:spPr>
          <a:xfrm>
            <a:off x="1570873" y="6421165"/>
            <a:ext cx="1316736" cy="1416559"/>
          </a:xfrm>
          <a:prstGeom prst="ellipse">
            <a:avLst/>
          </a:prstGeom>
          <a:solidFill>
            <a:srgbClr val="1B9E8A"/>
          </a:solidFill>
          <a:ln/>
        </p:spPr>
        <p:txBody>
          <a:bodyPr/>
          <a:lstStyle/>
          <a:p>
            <a:endParaRPr lang="de-DE"/>
          </a:p>
        </p:txBody>
      </p:sp>
      <p:sp>
        <p:nvSpPr>
          <p:cNvPr id="7" name="Shape 2">
            <a:extLst>
              <a:ext uri="{FF2B5EF4-FFF2-40B4-BE49-F238E27FC236}">
                <a16:creationId xmlns:a16="http://schemas.microsoft.com/office/drawing/2014/main" id="{4A803A85-EA31-30B5-1A96-DBE82A8D080F}"/>
              </a:ext>
            </a:extLst>
          </p:cNvPr>
          <p:cNvSpPr/>
          <p:nvPr/>
        </p:nvSpPr>
        <p:spPr>
          <a:xfrm>
            <a:off x="1552585" y="8645705"/>
            <a:ext cx="1316736" cy="1416559"/>
          </a:xfrm>
          <a:prstGeom prst="ellipse">
            <a:avLst/>
          </a:prstGeom>
          <a:solidFill>
            <a:srgbClr val="1B9E8A"/>
          </a:solidFill>
          <a:ln/>
        </p:spPr>
        <p:txBody>
          <a:bodyPr/>
          <a:lstStyle/>
          <a:p>
            <a:endParaRPr lang="de-DE"/>
          </a:p>
        </p:txBody>
      </p:sp>
      <p:sp>
        <p:nvSpPr>
          <p:cNvPr id="8" name="Shape 2">
            <a:extLst>
              <a:ext uri="{FF2B5EF4-FFF2-40B4-BE49-F238E27FC236}">
                <a16:creationId xmlns:a16="http://schemas.microsoft.com/office/drawing/2014/main" id="{864DD810-2E98-3EB2-8747-E489E4DA4EE1}"/>
              </a:ext>
            </a:extLst>
          </p:cNvPr>
          <p:cNvSpPr/>
          <p:nvPr/>
        </p:nvSpPr>
        <p:spPr>
          <a:xfrm>
            <a:off x="1552585" y="10905974"/>
            <a:ext cx="1316736" cy="1416559"/>
          </a:xfrm>
          <a:prstGeom prst="ellipse">
            <a:avLst/>
          </a:prstGeom>
          <a:solidFill>
            <a:srgbClr val="1B9E8A"/>
          </a:solidFill>
          <a:ln/>
        </p:spPr>
        <p:txBody>
          <a:bodyPr/>
          <a:lstStyle/>
          <a:p>
            <a:endParaRPr lang="de-DE"/>
          </a:p>
        </p:txBody>
      </p:sp>
      <p:sp>
        <p:nvSpPr>
          <p:cNvPr id="9" name="Shape 2">
            <a:extLst>
              <a:ext uri="{FF2B5EF4-FFF2-40B4-BE49-F238E27FC236}">
                <a16:creationId xmlns:a16="http://schemas.microsoft.com/office/drawing/2014/main" id="{AD9CF397-7F45-85E7-688B-A299CEFCA419}"/>
              </a:ext>
            </a:extLst>
          </p:cNvPr>
          <p:cNvSpPr/>
          <p:nvPr/>
        </p:nvSpPr>
        <p:spPr>
          <a:xfrm>
            <a:off x="8387725" y="5730750"/>
            <a:ext cx="1316736" cy="1416559"/>
          </a:xfrm>
          <a:prstGeom prst="ellipse">
            <a:avLst/>
          </a:prstGeom>
          <a:solidFill>
            <a:srgbClr val="1B9E8A"/>
          </a:solidFill>
          <a:ln/>
        </p:spPr>
        <p:txBody>
          <a:bodyPr/>
          <a:lstStyle/>
          <a:p>
            <a:endParaRPr lang="de-DE"/>
          </a:p>
        </p:txBody>
      </p:sp>
      <p:sp>
        <p:nvSpPr>
          <p:cNvPr id="10" name="Shape 2">
            <a:extLst>
              <a:ext uri="{FF2B5EF4-FFF2-40B4-BE49-F238E27FC236}">
                <a16:creationId xmlns:a16="http://schemas.microsoft.com/office/drawing/2014/main" id="{87AC0FB1-0D8A-3095-71C6-9F7DE988C07B}"/>
              </a:ext>
            </a:extLst>
          </p:cNvPr>
          <p:cNvSpPr/>
          <p:nvPr/>
        </p:nvSpPr>
        <p:spPr>
          <a:xfrm>
            <a:off x="8303534" y="8645704"/>
            <a:ext cx="1316736" cy="1416559"/>
          </a:xfrm>
          <a:prstGeom prst="ellipse">
            <a:avLst/>
          </a:prstGeom>
          <a:solidFill>
            <a:srgbClr val="1B9E8A"/>
          </a:solidFill>
          <a:ln/>
        </p:spPr>
        <p:txBody>
          <a:bodyPr/>
          <a:lstStyle/>
          <a:p>
            <a:endParaRPr lang="de-DE"/>
          </a:p>
        </p:txBody>
      </p:sp>
      <p:sp>
        <p:nvSpPr>
          <p:cNvPr id="12" name="Shape 24">
            <a:extLst>
              <a:ext uri="{FF2B5EF4-FFF2-40B4-BE49-F238E27FC236}">
                <a16:creationId xmlns:a16="http://schemas.microsoft.com/office/drawing/2014/main" id="{5944F6F3-9C6F-27EF-5AC3-0AAE03F1B539}"/>
              </a:ext>
            </a:extLst>
          </p:cNvPr>
          <p:cNvSpPr>
            <a:spLocks noGrp="1"/>
          </p:cNvSpPr>
          <p:nvPr>
            <p:ph type="body" sz="quarter" idx="23"/>
          </p:nvPr>
        </p:nvSpPr>
        <p:spPr>
          <a:xfrm>
            <a:off x="13007340" y="4904905"/>
            <a:ext cx="10271760" cy="6709349"/>
          </a:xfrm>
          <a:prstGeom prst="roundRect">
            <a:avLst>
              <a:gd name="adj" fmla="val 1714"/>
            </a:avLst>
          </a:prstGeom>
          <a:solidFill>
            <a:srgbClr val="F1F8F6"/>
          </a:solidFill>
          <a:ln/>
          <a:effectLst>
            <a:outerShdw blurRad="101600" dist="38100" dir="5400000" algn="bl" rotWithShape="0">
              <a:srgbClr val="000000">
                <a:alpha val="12000"/>
              </a:srgbClr>
            </a:outerShdw>
          </a:effectLst>
        </p:spPr>
        <p:txBody>
          <a:bodyPr/>
          <a:lstStyle/>
          <a:p>
            <a:endParaRPr lang="de-DE" dirty="0"/>
          </a:p>
          <a:p>
            <a:endParaRPr lang="de-DE" dirty="0"/>
          </a:p>
          <a:p>
            <a:endParaRPr lang="de-DE" dirty="0"/>
          </a:p>
          <a:p>
            <a:endParaRPr lang="de-DE" dirty="0"/>
          </a:p>
          <a:p>
            <a:endParaRPr lang="de-DE" dirty="0"/>
          </a:p>
        </p:txBody>
      </p:sp>
      <p:graphicFrame>
        <p:nvGraphicFramePr>
          <p:cNvPr id="14" name="Table 0">
            <a:extLst>
              <a:ext uri="{FF2B5EF4-FFF2-40B4-BE49-F238E27FC236}">
                <a16:creationId xmlns:a16="http://schemas.microsoft.com/office/drawing/2014/main" id="{253AE74C-4D4B-9BC2-81A5-46E1C2A6D6C8}"/>
              </a:ext>
            </a:extLst>
          </p:cNvPr>
          <p:cNvGraphicFramePr>
            <a:graphicFrameLocks noGrp="1"/>
          </p:cNvGraphicFramePr>
          <p:nvPr>
            <p:extLst>
              <p:ext uri="{D42A27DB-BD31-4B8C-83A1-F6EECF244321}">
                <p14:modId xmlns:p14="http://schemas.microsoft.com/office/powerpoint/2010/main" val="1936076206"/>
              </p:ext>
            </p:extLst>
          </p:nvPr>
        </p:nvGraphicFramePr>
        <p:xfrm>
          <a:off x="1310640" y="2035680"/>
          <a:ext cx="11696700" cy="1416560"/>
        </p:xfrm>
        <a:graphic>
          <a:graphicData uri="http://schemas.openxmlformats.org/drawingml/2006/table">
            <a:tbl>
              <a:tblPr/>
              <a:tblGrid>
                <a:gridCol w="2339340">
                  <a:extLst>
                    <a:ext uri="{9D8B030D-6E8A-4147-A177-3AD203B41FA5}">
                      <a16:colId xmlns:a16="http://schemas.microsoft.com/office/drawing/2014/main" val="20000"/>
                    </a:ext>
                  </a:extLst>
                </a:gridCol>
                <a:gridCol w="2339340">
                  <a:extLst>
                    <a:ext uri="{9D8B030D-6E8A-4147-A177-3AD203B41FA5}">
                      <a16:colId xmlns:a16="http://schemas.microsoft.com/office/drawing/2014/main" val="20001"/>
                    </a:ext>
                  </a:extLst>
                </a:gridCol>
                <a:gridCol w="2339340">
                  <a:extLst>
                    <a:ext uri="{9D8B030D-6E8A-4147-A177-3AD203B41FA5}">
                      <a16:colId xmlns:a16="http://schemas.microsoft.com/office/drawing/2014/main" val="20002"/>
                    </a:ext>
                  </a:extLst>
                </a:gridCol>
                <a:gridCol w="2339340">
                  <a:extLst>
                    <a:ext uri="{9D8B030D-6E8A-4147-A177-3AD203B41FA5}">
                      <a16:colId xmlns:a16="http://schemas.microsoft.com/office/drawing/2014/main" val="20003"/>
                    </a:ext>
                  </a:extLst>
                </a:gridCol>
                <a:gridCol w="2339340">
                  <a:extLst>
                    <a:ext uri="{9D8B030D-6E8A-4147-A177-3AD203B41FA5}">
                      <a16:colId xmlns:a16="http://schemas.microsoft.com/office/drawing/2014/main" val="20004"/>
                    </a:ext>
                  </a:extLst>
                </a:gridCol>
              </a:tblGrid>
              <a:tr h="708280">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Oda</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m²</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Bina yaşı</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Merkeze uzaklık</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dirty="0">
                          <a:solidFill>
                            <a:srgbClr val="0F5257"/>
                          </a:solidFill>
                          <a:latin typeface="Chromatica"/>
                        </a:rPr>
                        <a:t>Fiyat</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extLst>
                  <a:ext uri="{0D108BD9-81ED-4DB2-BD59-A6C34878D82A}">
                    <a16:rowId xmlns:a16="http://schemas.microsoft.com/office/drawing/2014/main" val="10000"/>
                  </a:ext>
                </a:extLst>
              </a:tr>
              <a:tr h="708280">
                <a:tc>
                  <a:txBody>
                    <a:bodyPr/>
                    <a:lstStyle/>
                    <a:p>
                      <a:pPr marL="0" indent="0" algn="ctr">
                        <a:buNone/>
                      </a:pPr>
                      <a:r>
                        <a:rPr lang="en-US" sz="2400" b="1" dirty="0">
                          <a:solidFill>
                            <a:srgbClr val="1E2B2B"/>
                          </a:solidFill>
                          <a:latin typeface="Chromatica"/>
                        </a:rPr>
                        <a:t>0.3</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0.6</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0.2</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0.5</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0.85</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extLst>
                  <a:ext uri="{0D108BD9-81ED-4DB2-BD59-A6C34878D82A}">
                    <a16:rowId xmlns:a16="http://schemas.microsoft.com/office/drawing/2014/main" val="10001"/>
                  </a:ext>
                </a:extLst>
              </a:tr>
            </a:tbl>
          </a:graphicData>
        </a:graphic>
      </p:graphicFrame>
      <p:sp>
        <p:nvSpPr>
          <p:cNvPr id="16" name="Text 16">
            <a:extLst>
              <a:ext uri="{FF2B5EF4-FFF2-40B4-BE49-F238E27FC236}">
                <a16:creationId xmlns:a16="http://schemas.microsoft.com/office/drawing/2014/main" id="{0E3EB87E-878B-79A4-9299-F825C36C45D1}"/>
              </a:ext>
            </a:extLst>
          </p:cNvPr>
          <p:cNvSpPr/>
          <p:nvPr/>
        </p:nvSpPr>
        <p:spPr>
          <a:xfrm>
            <a:off x="1779495" y="4490957"/>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0.3</a:t>
            </a:r>
            <a:endParaRPr lang="en-US" dirty="0">
              <a:latin typeface="Chromatica"/>
            </a:endParaRPr>
          </a:p>
        </p:txBody>
      </p:sp>
      <p:sp>
        <p:nvSpPr>
          <p:cNvPr id="17" name="Text 16">
            <a:extLst>
              <a:ext uri="{FF2B5EF4-FFF2-40B4-BE49-F238E27FC236}">
                <a16:creationId xmlns:a16="http://schemas.microsoft.com/office/drawing/2014/main" id="{1A564334-2E66-C496-C95F-84721EAB05D2}"/>
              </a:ext>
            </a:extLst>
          </p:cNvPr>
          <p:cNvSpPr/>
          <p:nvPr/>
        </p:nvSpPr>
        <p:spPr>
          <a:xfrm>
            <a:off x="1779495" y="6715496"/>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0.6</a:t>
            </a:r>
            <a:endParaRPr lang="en-US" dirty="0">
              <a:latin typeface="Chromatica"/>
            </a:endParaRPr>
          </a:p>
        </p:txBody>
      </p:sp>
      <p:sp>
        <p:nvSpPr>
          <p:cNvPr id="20" name="Text 16">
            <a:extLst>
              <a:ext uri="{FF2B5EF4-FFF2-40B4-BE49-F238E27FC236}">
                <a16:creationId xmlns:a16="http://schemas.microsoft.com/office/drawing/2014/main" id="{F7539B90-FDB2-C874-0B82-44B87E8D2682}"/>
              </a:ext>
            </a:extLst>
          </p:cNvPr>
          <p:cNvSpPr/>
          <p:nvPr/>
        </p:nvSpPr>
        <p:spPr>
          <a:xfrm>
            <a:off x="1779494" y="8953283"/>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0.2</a:t>
            </a:r>
            <a:endParaRPr lang="en-US" dirty="0">
              <a:latin typeface="Chromatica"/>
            </a:endParaRPr>
          </a:p>
        </p:txBody>
      </p:sp>
      <p:sp>
        <p:nvSpPr>
          <p:cNvPr id="21" name="Text 16">
            <a:extLst>
              <a:ext uri="{FF2B5EF4-FFF2-40B4-BE49-F238E27FC236}">
                <a16:creationId xmlns:a16="http://schemas.microsoft.com/office/drawing/2014/main" id="{6397FA5A-9386-F28C-CB7C-956010F63BC5}"/>
              </a:ext>
            </a:extLst>
          </p:cNvPr>
          <p:cNvSpPr/>
          <p:nvPr/>
        </p:nvSpPr>
        <p:spPr>
          <a:xfrm>
            <a:off x="1797783" y="11200305"/>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0.5</a:t>
            </a:r>
            <a:endParaRPr lang="en-US" dirty="0">
              <a:latin typeface="Chromatica"/>
            </a:endParaRPr>
          </a:p>
        </p:txBody>
      </p:sp>
      <mc:AlternateContent xmlns:mc="http://schemas.openxmlformats.org/markup-compatibility/2006" xmlns:a14="http://schemas.microsoft.com/office/drawing/2010/main">
        <mc:Choice Requires="a14">
          <p:sp>
            <p:nvSpPr>
              <p:cNvPr id="23" name="Text 26">
                <a:extLst>
                  <a:ext uri="{FF2B5EF4-FFF2-40B4-BE49-F238E27FC236}">
                    <a16:creationId xmlns:a16="http://schemas.microsoft.com/office/drawing/2014/main" id="{B450D5F9-42BE-CE24-48C6-C432F9F26603}"/>
                  </a:ext>
                </a:extLst>
              </p:cNvPr>
              <p:cNvSpPr/>
              <p:nvPr/>
            </p:nvSpPr>
            <p:spPr>
              <a:xfrm>
                <a:off x="13091531" y="5318853"/>
                <a:ext cx="6732661" cy="1762308"/>
              </a:xfrm>
              <a:prstGeom prst="rect">
                <a:avLst/>
              </a:prstGeom>
              <a:noFill/>
              <a:ln/>
            </p:spPr>
            <p:txBody>
              <a:bodyPr wrap="square" rtlCol="0" anchor="ctr"/>
              <a:lstStyle/>
              <a:p>
                <a:pPr algn="l">
                  <a:lnSpc>
                    <a:spcPct val="115000"/>
                  </a:lnSpc>
                </a:pPr>
                <a14:m>
                  <m:oMathPara xmlns:m="http://schemas.openxmlformats.org/officeDocument/2006/math">
                    <m:oMathParaPr>
                      <m:jc m:val="left"/>
                    </m:oMathParaPr>
                    <m:oMath xmlns:m="http://schemas.openxmlformats.org/officeDocument/2006/math">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r>
                        <a:rPr lang="en-US" i="1" smtClean="0">
                          <a:solidFill>
                            <a:schemeClr val="bg2">
                              <a:lumMod val="10000"/>
                            </a:schemeClr>
                          </a:solidFill>
                          <a:latin typeface="Cambria Math" panose="02040503050406030204" pitchFamily="18" charset="0"/>
                          <a:ea typeface="Courier New" pitchFamily="34" charset="-122"/>
                          <a:cs typeface="Courier New" pitchFamily="34" charset="-120"/>
                        </a:rPr>
                        <m:t>=</m:t>
                      </m:r>
                      <m:sSub>
                        <m:sSubPr>
                          <m:ctrlPr>
                            <a:rPr lang="en-US" i="1" smtClean="0">
                              <a:solidFill>
                                <a:schemeClr val="bg2">
                                  <a:lumMod val="10000"/>
                                </a:schemeClr>
                              </a:solidFill>
                              <a:latin typeface="Cambria Math" panose="02040503050406030204" pitchFamily="18" charset="0"/>
                              <a:cs typeface="Courier New" pitchFamily="34" charset="-120"/>
                            </a:rPr>
                          </m:ctrlPr>
                        </m:sSubPr>
                        <m:e>
                          <m:r>
                            <a:rPr lang="de-DE" b="0" i="1" smtClean="0">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1 </m:t>
                          </m:r>
                        </m:sub>
                      </m:sSub>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1</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2</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2</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3</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3</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4</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4</m:t>
                          </m:r>
                        </m:sup>
                      </m:sSubSup>
                      <m:r>
                        <a:rPr lang="de-DE" b="0" i="1" smtClean="0">
                          <a:solidFill>
                            <a:schemeClr val="bg2">
                              <a:lumMod val="10000"/>
                            </a:schemeClr>
                          </a:solidFill>
                          <a:latin typeface="Cambria Math" panose="02040503050406030204" pitchFamily="18" charset="0"/>
                          <a:cs typeface="Courier New" pitchFamily="34" charset="-120"/>
                        </a:rPr>
                        <m:t>+</m:t>
                      </m:r>
                      <m:sSubSup>
                        <m:sSubSupPr>
                          <m:ctrlPr>
                            <a:rPr lang="en-US" b="0"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𝑏</m:t>
                          </m:r>
                        </m:e>
                        <m:sub>
                          <m:r>
                            <a:rPr lang="de-DE" b="0" i="1" smtClean="0">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1</m:t>
                          </m:r>
                        </m:sup>
                      </m:sSubSup>
                    </m:oMath>
                  </m:oMathPara>
                </a14:m>
                <a:endParaRPr lang="en-US" dirty="0">
                  <a:solidFill>
                    <a:schemeClr val="bg2">
                      <a:lumMod val="10000"/>
                    </a:schemeClr>
                  </a:solidFill>
                  <a:latin typeface="Chromatica"/>
                </a:endParaRP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r>
                      <a:rPr lang="de-DE" i="1">
                        <a:solidFill>
                          <a:schemeClr val="bg2">
                            <a:lumMod val="10000"/>
                          </a:schemeClr>
                        </a:solidFill>
                        <a:latin typeface="Cambria Math" panose="02040503050406030204" pitchFamily="18" charset="0"/>
                        <a:cs typeface="Courier New" pitchFamily="34" charset="-120"/>
                      </a:rPr>
                      <m:t> </m:t>
                    </m:r>
                  </m:oMath>
                </a14:m>
                <a:r>
                  <a:rPr lang="en-US" dirty="0">
                    <a:solidFill>
                      <a:schemeClr val="bg2">
                        <a:lumMod val="10000"/>
                      </a:schemeClr>
                    </a:solidFill>
                    <a:latin typeface="Chromatica"/>
                    <a:ea typeface="Courier New" pitchFamily="34" charset="-122"/>
                    <a:cs typeface="Courier New" pitchFamily="34" charset="-120"/>
                  </a:rPr>
                  <a:t>= 0.3*0.1 + 0.6*0.3 + 0.2*0.5 + 0.5*0.7 + 0.1</a:t>
                </a:r>
              </a:p>
            </p:txBody>
          </p:sp>
        </mc:Choice>
        <mc:Fallback xmlns="">
          <p:sp>
            <p:nvSpPr>
              <p:cNvPr id="23" name="Text 26">
                <a:extLst>
                  <a:ext uri="{FF2B5EF4-FFF2-40B4-BE49-F238E27FC236}">
                    <a16:creationId xmlns:a16="http://schemas.microsoft.com/office/drawing/2014/main" id="{B450D5F9-42BE-CE24-48C6-C432F9F26603}"/>
                  </a:ext>
                </a:extLst>
              </p:cNvPr>
              <p:cNvSpPr>
                <a:spLocks noRot="1" noChangeAspect="1" noMove="1" noResize="1" noEditPoints="1" noAdjustHandles="1" noChangeArrowheads="1" noChangeShapeType="1" noTextEdit="1"/>
              </p:cNvSpPr>
              <p:nvPr/>
            </p:nvSpPr>
            <p:spPr>
              <a:xfrm>
                <a:off x="13091531" y="5318853"/>
                <a:ext cx="6732661" cy="1762308"/>
              </a:xfrm>
              <a:prstGeom prst="rect">
                <a:avLst/>
              </a:prstGeom>
              <a:blipFill>
                <a:blip r:embed="rId3"/>
                <a:stretch>
                  <a:fillRect/>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5" name="Text 16">
                <a:extLst>
                  <a:ext uri="{FF2B5EF4-FFF2-40B4-BE49-F238E27FC236}">
                    <a16:creationId xmlns:a16="http://schemas.microsoft.com/office/drawing/2014/main" id="{02EFCBB2-BA09-A686-905A-E1978169044E}"/>
                  </a:ext>
                </a:extLst>
              </p:cNvPr>
              <p:cNvSpPr/>
              <p:nvPr/>
            </p:nvSpPr>
            <p:spPr>
              <a:xfrm>
                <a:off x="8614635" y="6007217"/>
                <a:ext cx="862915" cy="827896"/>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𝒛</m:t>
                          </m:r>
                        </m:e>
                        <m:sub>
                          <m:r>
                            <a:rPr lang="de-DE" b="1" i="1" smtClean="0">
                              <a:solidFill>
                                <a:srgbClr val="FFFFFF"/>
                              </a:solidFill>
                              <a:latin typeface="Cambria Math" panose="02040503050406030204" pitchFamily="18" charset="0"/>
                              <a:cs typeface="Arial" pitchFamily="34" charset="-120"/>
                            </a:rPr>
                            <m:t>𝟏</m:t>
                          </m:r>
                        </m:sub>
                        <m:sup>
                          <m:r>
                            <a:rPr lang="de-DE" b="1" i="1" smtClean="0">
                              <a:solidFill>
                                <a:srgbClr val="FFFFFF"/>
                              </a:solidFill>
                              <a:latin typeface="Cambria Math" panose="02040503050406030204" pitchFamily="18" charset="0"/>
                              <a:cs typeface="Arial" pitchFamily="34" charset="-120"/>
                            </a:rPr>
                            <m:t>𝟏</m:t>
                          </m:r>
                        </m:sup>
                      </m:sSubSup>
                    </m:oMath>
                  </m:oMathPara>
                </a14:m>
                <a:endParaRPr lang="en-US" dirty="0">
                  <a:latin typeface="Chromatica"/>
                </a:endParaRPr>
              </a:p>
            </p:txBody>
          </p:sp>
        </mc:Choice>
        <mc:Fallback xmlns="">
          <p:sp>
            <p:nvSpPr>
              <p:cNvPr id="25" name="Text 16">
                <a:extLst>
                  <a:ext uri="{FF2B5EF4-FFF2-40B4-BE49-F238E27FC236}">
                    <a16:creationId xmlns:a16="http://schemas.microsoft.com/office/drawing/2014/main" id="{02EFCBB2-BA09-A686-905A-E1978169044E}"/>
                  </a:ext>
                </a:extLst>
              </p:cNvPr>
              <p:cNvSpPr>
                <a:spLocks noRot="1" noChangeAspect="1" noMove="1" noResize="1" noEditPoints="1" noAdjustHandles="1" noChangeArrowheads="1" noChangeShapeType="1" noTextEdit="1"/>
              </p:cNvSpPr>
              <p:nvPr/>
            </p:nvSpPr>
            <p:spPr>
              <a:xfrm>
                <a:off x="8614635" y="6007217"/>
                <a:ext cx="862915" cy="827896"/>
              </a:xfrm>
              <a:prstGeom prst="rect">
                <a:avLst/>
              </a:prstGeom>
              <a:blipFill>
                <a:blip r:embed="rId4"/>
                <a:stretch>
                  <a:fillRect/>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7" name="Text 16">
                <a:extLst>
                  <a:ext uri="{FF2B5EF4-FFF2-40B4-BE49-F238E27FC236}">
                    <a16:creationId xmlns:a16="http://schemas.microsoft.com/office/drawing/2014/main" id="{1378FD1B-2BFD-C082-3E51-02C5508E9F66}"/>
                  </a:ext>
                </a:extLst>
              </p:cNvPr>
              <p:cNvSpPr/>
              <p:nvPr/>
            </p:nvSpPr>
            <p:spPr>
              <a:xfrm>
                <a:off x="8530444" y="8940035"/>
                <a:ext cx="862915" cy="827896"/>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𝒛</m:t>
                          </m:r>
                        </m:e>
                        <m:sub>
                          <m:r>
                            <a:rPr lang="de-DE" b="1" i="1" smtClean="0">
                              <a:solidFill>
                                <a:srgbClr val="FFFFFF"/>
                              </a:solidFill>
                              <a:latin typeface="Cambria Math" panose="02040503050406030204" pitchFamily="18" charset="0"/>
                              <a:cs typeface="Arial" pitchFamily="34" charset="-120"/>
                            </a:rPr>
                            <m:t>𝟐</m:t>
                          </m:r>
                        </m:sub>
                        <m:sup>
                          <m:r>
                            <a:rPr lang="de-DE" b="1" i="1" smtClean="0">
                              <a:solidFill>
                                <a:srgbClr val="FFFFFF"/>
                              </a:solidFill>
                              <a:latin typeface="Cambria Math" panose="02040503050406030204" pitchFamily="18" charset="0"/>
                              <a:cs typeface="Arial" pitchFamily="34" charset="-120"/>
                            </a:rPr>
                            <m:t>𝟏</m:t>
                          </m:r>
                        </m:sup>
                      </m:sSubSup>
                    </m:oMath>
                  </m:oMathPara>
                </a14:m>
                <a:endParaRPr lang="en-US" dirty="0">
                  <a:latin typeface="Chromatica"/>
                </a:endParaRPr>
              </a:p>
            </p:txBody>
          </p:sp>
        </mc:Choice>
        <mc:Fallback xmlns="">
          <p:sp>
            <p:nvSpPr>
              <p:cNvPr id="27" name="Text 16">
                <a:extLst>
                  <a:ext uri="{FF2B5EF4-FFF2-40B4-BE49-F238E27FC236}">
                    <a16:creationId xmlns:a16="http://schemas.microsoft.com/office/drawing/2014/main" id="{1378FD1B-2BFD-C082-3E51-02C5508E9F66}"/>
                  </a:ext>
                </a:extLst>
              </p:cNvPr>
              <p:cNvSpPr>
                <a:spLocks noRot="1" noChangeAspect="1" noMove="1" noResize="1" noEditPoints="1" noAdjustHandles="1" noChangeArrowheads="1" noChangeShapeType="1" noTextEdit="1"/>
              </p:cNvSpPr>
              <p:nvPr/>
            </p:nvSpPr>
            <p:spPr>
              <a:xfrm>
                <a:off x="8530444" y="8940035"/>
                <a:ext cx="862915" cy="827896"/>
              </a:xfrm>
              <a:prstGeom prst="rect">
                <a:avLst/>
              </a:prstGeom>
              <a:blipFill>
                <a:blip r:embed="rId5"/>
                <a:stretch>
                  <a:fillRect/>
                </a:stretch>
              </a:blipFill>
              <a:ln/>
            </p:spPr>
            <p:txBody>
              <a:bodyPr/>
              <a:lstStyle/>
              <a:p>
                <a:r>
                  <a:rPr lang="de-DE">
                    <a:noFill/>
                  </a:rPr>
                  <a:t> </a:t>
                </a:r>
              </a:p>
            </p:txBody>
          </p:sp>
        </mc:Fallback>
      </mc:AlternateContent>
      <p:cxnSp>
        <p:nvCxnSpPr>
          <p:cNvPr id="31" name="Gerade Verbindung mit Pfeil 30">
            <a:extLst>
              <a:ext uri="{FF2B5EF4-FFF2-40B4-BE49-F238E27FC236}">
                <a16:creationId xmlns:a16="http://schemas.microsoft.com/office/drawing/2014/main" id="{33E7B082-C4CD-ADF8-E126-12A9DA278762}"/>
              </a:ext>
            </a:extLst>
          </p:cNvPr>
          <p:cNvCxnSpPr>
            <a:cxnSpLocks/>
            <a:stCxn id="5" idx="6"/>
            <a:endCxn id="9" idx="2"/>
          </p:cNvCxnSpPr>
          <p:nvPr/>
        </p:nvCxnSpPr>
        <p:spPr>
          <a:xfrm>
            <a:off x="2887609" y="4904905"/>
            <a:ext cx="5500116" cy="153412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3" name="Gerade Verbindung mit Pfeil 32">
            <a:extLst>
              <a:ext uri="{FF2B5EF4-FFF2-40B4-BE49-F238E27FC236}">
                <a16:creationId xmlns:a16="http://schemas.microsoft.com/office/drawing/2014/main" id="{FAC9B377-B2B4-0617-83ED-27C6ADE1CFD4}"/>
              </a:ext>
            </a:extLst>
          </p:cNvPr>
          <p:cNvCxnSpPr>
            <a:cxnSpLocks/>
            <a:stCxn id="6" idx="6"/>
            <a:endCxn id="9" idx="2"/>
          </p:cNvCxnSpPr>
          <p:nvPr/>
        </p:nvCxnSpPr>
        <p:spPr>
          <a:xfrm flipV="1">
            <a:off x="2887609" y="6439030"/>
            <a:ext cx="5500116" cy="69041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5" name="Gerade Verbindung mit Pfeil 34">
            <a:extLst>
              <a:ext uri="{FF2B5EF4-FFF2-40B4-BE49-F238E27FC236}">
                <a16:creationId xmlns:a16="http://schemas.microsoft.com/office/drawing/2014/main" id="{9CEE9D09-AB86-7E05-6D2D-08162055CCF2}"/>
              </a:ext>
            </a:extLst>
          </p:cNvPr>
          <p:cNvCxnSpPr>
            <a:cxnSpLocks/>
            <a:stCxn id="7" idx="6"/>
            <a:endCxn id="9" idx="2"/>
          </p:cNvCxnSpPr>
          <p:nvPr/>
        </p:nvCxnSpPr>
        <p:spPr>
          <a:xfrm flipV="1">
            <a:off x="2869321" y="6439030"/>
            <a:ext cx="5518404" cy="291495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7" name="Gerade Verbindung mit Pfeil 36">
            <a:extLst>
              <a:ext uri="{FF2B5EF4-FFF2-40B4-BE49-F238E27FC236}">
                <a16:creationId xmlns:a16="http://schemas.microsoft.com/office/drawing/2014/main" id="{53C39D95-C0E2-30EB-AEDD-F231EC1E2B7B}"/>
              </a:ext>
            </a:extLst>
          </p:cNvPr>
          <p:cNvCxnSpPr>
            <a:stCxn id="8" idx="6"/>
            <a:endCxn id="9" idx="2"/>
          </p:cNvCxnSpPr>
          <p:nvPr/>
        </p:nvCxnSpPr>
        <p:spPr>
          <a:xfrm flipV="1">
            <a:off x="2869321" y="6439030"/>
            <a:ext cx="5518404" cy="517522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8" name="TextBox 37"/>
          <p:cNvSpPr txBox="1"/>
          <p:nvPr/>
        </p:nvSpPr>
        <p:spPr>
          <a:xfrm>
            <a:off x="1307592" y="3520440"/>
            <a:ext cx="11695176" cy="502920"/>
          </a:xfrm>
          <a:prstGeom prst="rect">
            <a:avLst/>
          </a:prstGeom>
          <a:noFill/>
        </p:spPr>
        <p:txBody>
          <a:bodyPr wrap="square" lIns="0" rIns="0">
            <a:spAutoFit/>
          </a:bodyPr>
          <a:lstStyle/>
          <a:p>
            <a:pPr algn="l"/>
            <a:r>
              <a:rPr sz="1800">
                <a:solidFill>
                  <a:srgbClr val="6E6E6E"/>
                </a:solidFill>
              </a:rPr>
              <a:t>Değerler ölçeklendi:  3 oda → 0.3,   120 m² → 0.6,   10 yıl → 0.2,   5 km → 0.5,   850 bin € → 0.85</a:t>
            </a:r>
          </a:p>
        </p:txBody>
      </p:sp>
    </p:spTree>
    <p:extLst>
      <p:ext uri="{BB962C8B-B14F-4D97-AF65-F5344CB8AC3E}">
        <p14:creationId xmlns:p14="http://schemas.microsoft.com/office/powerpoint/2010/main" val="1703649968"/>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D3D4C-E553-2F10-720D-C26B6BBD3622}"/>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A6F99C30-1791-CB70-3A3F-204802011827}"/>
              </a:ext>
            </a:extLst>
          </p:cNvPr>
          <p:cNvSpPr>
            <a:spLocks noGrp="1"/>
          </p:cNvSpPr>
          <p:nvPr>
            <p:ph type="body" sz="quarter" idx="22"/>
          </p:nvPr>
        </p:nvSpPr>
        <p:spPr/>
        <p:txBody>
          <a:bodyPr/>
          <a:lstStyle/>
          <a:p>
            <a:r>
              <a:rPr lang="de-DE" dirty="0"/>
              <a:t>Forward </a:t>
            </a:r>
            <a:r>
              <a:rPr lang="de-DE" dirty="0" err="1"/>
              <a:t>Propagation</a:t>
            </a:r>
            <a:endParaRPr lang="de-DE" dirty="0"/>
          </a:p>
        </p:txBody>
      </p:sp>
      <p:sp>
        <p:nvSpPr>
          <p:cNvPr id="5" name="Shape 2">
            <a:extLst>
              <a:ext uri="{FF2B5EF4-FFF2-40B4-BE49-F238E27FC236}">
                <a16:creationId xmlns:a16="http://schemas.microsoft.com/office/drawing/2014/main" id="{276E3566-7AE0-01CC-73C3-F52538E8A98E}"/>
              </a:ext>
            </a:extLst>
          </p:cNvPr>
          <p:cNvSpPr/>
          <p:nvPr/>
        </p:nvSpPr>
        <p:spPr>
          <a:xfrm>
            <a:off x="1570873" y="4196625"/>
            <a:ext cx="1316736" cy="1416559"/>
          </a:xfrm>
          <a:prstGeom prst="ellipse">
            <a:avLst/>
          </a:prstGeom>
          <a:solidFill>
            <a:srgbClr val="1B9E8A"/>
          </a:solidFill>
          <a:ln/>
        </p:spPr>
        <p:txBody>
          <a:bodyPr/>
          <a:lstStyle/>
          <a:p>
            <a:endParaRPr lang="de-DE" dirty="0"/>
          </a:p>
        </p:txBody>
      </p:sp>
      <p:sp>
        <p:nvSpPr>
          <p:cNvPr id="6" name="Shape 2">
            <a:extLst>
              <a:ext uri="{FF2B5EF4-FFF2-40B4-BE49-F238E27FC236}">
                <a16:creationId xmlns:a16="http://schemas.microsoft.com/office/drawing/2014/main" id="{B285E22F-874F-AFE5-9ECF-C8F2BC8E0A8A}"/>
              </a:ext>
            </a:extLst>
          </p:cNvPr>
          <p:cNvSpPr/>
          <p:nvPr/>
        </p:nvSpPr>
        <p:spPr>
          <a:xfrm>
            <a:off x="1570873" y="6421165"/>
            <a:ext cx="1316736" cy="1416559"/>
          </a:xfrm>
          <a:prstGeom prst="ellipse">
            <a:avLst/>
          </a:prstGeom>
          <a:solidFill>
            <a:srgbClr val="1B9E8A"/>
          </a:solidFill>
          <a:ln/>
        </p:spPr>
        <p:txBody>
          <a:bodyPr/>
          <a:lstStyle/>
          <a:p>
            <a:endParaRPr lang="de-DE"/>
          </a:p>
        </p:txBody>
      </p:sp>
      <p:sp>
        <p:nvSpPr>
          <p:cNvPr id="7" name="Shape 2">
            <a:extLst>
              <a:ext uri="{FF2B5EF4-FFF2-40B4-BE49-F238E27FC236}">
                <a16:creationId xmlns:a16="http://schemas.microsoft.com/office/drawing/2014/main" id="{6BE20006-FEBE-FA1D-D075-B38E0F4DBBBD}"/>
              </a:ext>
            </a:extLst>
          </p:cNvPr>
          <p:cNvSpPr/>
          <p:nvPr/>
        </p:nvSpPr>
        <p:spPr>
          <a:xfrm>
            <a:off x="1552585" y="8645705"/>
            <a:ext cx="1316736" cy="1416559"/>
          </a:xfrm>
          <a:prstGeom prst="ellipse">
            <a:avLst/>
          </a:prstGeom>
          <a:solidFill>
            <a:srgbClr val="1B9E8A"/>
          </a:solidFill>
          <a:ln/>
        </p:spPr>
        <p:txBody>
          <a:bodyPr/>
          <a:lstStyle/>
          <a:p>
            <a:endParaRPr lang="de-DE"/>
          </a:p>
        </p:txBody>
      </p:sp>
      <p:sp>
        <p:nvSpPr>
          <p:cNvPr id="8" name="Shape 2">
            <a:extLst>
              <a:ext uri="{FF2B5EF4-FFF2-40B4-BE49-F238E27FC236}">
                <a16:creationId xmlns:a16="http://schemas.microsoft.com/office/drawing/2014/main" id="{350D24D1-7470-4C5C-AFCE-D0F9A8FC57DA}"/>
              </a:ext>
            </a:extLst>
          </p:cNvPr>
          <p:cNvSpPr/>
          <p:nvPr/>
        </p:nvSpPr>
        <p:spPr>
          <a:xfrm>
            <a:off x="1552585" y="10905974"/>
            <a:ext cx="1316736" cy="1416559"/>
          </a:xfrm>
          <a:prstGeom prst="ellipse">
            <a:avLst/>
          </a:prstGeom>
          <a:solidFill>
            <a:srgbClr val="1B9E8A"/>
          </a:solidFill>
          <a:ln/>
        </p:spPr>
        <p:txBody>
          <a:bodyPr/>
          <a:lstStyle/>
          <a:p>
            <a:endParaRPr lang="de-DE"/>
          </a:p>
        </p:txBody>
      </p:sp>
      <p:sp>
        <p:nvSpPr>
          <p:cNvPr id="9" name="Shape 2">
            <a:extLst>
              <a:ext uri="{FF2B5EF4-FFF2-40B4-BE49-F238E27FC236}">
                <a16:creationId xmlns:a16="http://schemas.microsoft.com/office/drawing/2014/main" id="{8AC5411D-B602-93E1-4178-6832AC9DB273}"/>
              </a:ext>
            </a:extLst>
          </p:cNvPr>
          <p:cNvSpPr/>
          <p:nvPr/>
        </p:nvSpPr>
        <p:spPr>
          <a:xfrm>
            <a:off x="8387725" y="5730750"/>
            <a:ext cx="1316736" cy="1416559"/>
          </a:xfrm>
          <a:prstGeom prst="ellipse">
            <a:avLst/>
          </a:prstGeom>
          <a:solidFill>
            <a:srgbClr val="1B9E8A"/>
          </a:solidFill>
          <a:ln/>
        </p:spPr>
        <p:txBody>
          <a:bodyPr/>
          <a:lstStyle/>
          <a:p>
            <a:endParaRPr lang="de-DE"/>
          </a:p>
        </p:txBody>
      </p:sp>
      <p:sp>
        <p:nvSpPr>
          <p:cNvPr id="10" name="Shape 2">
            <a:extLst>
              <a:ext uri="{FF2B5EF4-FFF2-40B4-BE49-F238E27FC236}">
                <a16:creationId xmlns:a16="http://schemas.microsoft.com/office/drawing/2014/main" id="{8797A1F8-BB7F-8D18-7C59-7CF773CDE863}"/>
              </a:ext>
            </a:extLst>
          </p:cNvPr>
          <p:cNvSpPr/>
          <p:nvPr/>
        </p:nvSpPr>
        <p:spPr>
          <a:xfrm>
            <a:off x="8303534" y="8645704"/>
            <a:ext cx="1316736" cy="1416559"/>
          </a:xfrm>
          <a:prstGeom prst="ellipse">
            <a:avLst/>
          </a:prstGeom>
          <a:solidFill>
            <a:srgbClr val="1B9E8A"/>
          </a:solidFill>
          <a:ln/>
        </p:spPr>
        <p:txBody>
          <a:bodyPr/>
          <a:lstStyle/>
          <a:p>
            <a:endParaRPr lang="de-DE"/>
          </a:p>
        </p:txBody>
      </p:sp>
      <p:sp>
        <p:nvSpPr>
          <p:cNvPr id="12" name="Shape 24">
            <a:extLst>
              <a:ext uri="{FF2B5EF4-FFF2-40B4-BE49-F238E27FC236}">
                <a16:creationId xmlns:a16="http://schemas.microsoft.com/office/drawing/2014/main" id="{0DBB5E68-EA4E-0FDF-C90D-1620D8347687}"/>
              </a:ext>
            </a:extLst>
          </p:cNvPr>
          <p:cNvSpPr>
            <a:spLocks noGrp="1"/>
          </p:cNvSpPr>
          <p:nvPr>
            <p:ph type="body" sz="quarter" idx="23"/>
          </p:nvPr>
        </p:nvSpPr>
        <p:spPr>
          <a:xfrm>
            <a:off x="13007340" y="4904905"/>
            <a:ext cx="10271760" cy="6709349"/>
          </a:xfrm>
          <a:prstGeom prst="roundRect">
            <a:avLst>
              <a:gd name="adj" fmla="val 1714"/>
            </a:avLst>
          </a:prstGeom>
          <a:solidFill>
            <a:srgbClr val="F1F8F6"/>
          </a:solidFill>
          <a:ln/>
          <a:effectLst>
            <a:outerShdw blurRad="101600" dist="38100" dir="5400000" algn="bl" rotWithShape="0">
              <a:srgbClr val="000000">
                <a:alpha val="12000"/>
              </a:srgbClr>
            </a:outerShdw>
          </a:effectLst>
        </p:spPr>
        <p:txBody>
          <a:bodyPr/>
          <a:lstStyle/>
          <a:p>
            <a:endParaRPr lang="de-DE" dirty="0"/>
          </a:p>
          <a:p>
            <a:endParaRPr lang="de-DE" dirty="0"/>
          </a:p>
          <a:p>
            <a:endParaRPr lang="de-DE" dirty="0"/>
          </a:p>
          <a:p>
            <a:endParaRPr lang="de-DE" dirty="0"/>
          </a:p>
          <a:p>
            <a:endParaRPr lang="de-DE" dirty="0"/>
          </a:p>
        </p:txBody>
      </p:sp>
      <p:graphicFrame>
        <p:nvGraphicFramePr>
          <p:cNvPr id="14" name="Table 0">
            <a:extLst>
              <a:ext uri="{FF2B5EF4-FFF2-40B4-BE49-F238E27FC236}">
                <a16:creationId xmlns:a16="http://schemas.microsoft.com/office/drawing/2014/main" id="{EBE5EA4C-97B8-FD8C-6AB3-9BD45885CDE9}"/>
              </a:ext>
            </a:extLst>
          </p:cNvPr>
          <p:cNvGraphicFramePr>
            <a:graphicFrameLocks noGrp="1"/>
          </p:cNvGraphicFramePr>
          <p:nvPr>
            <p:extLst>
              <p:ext uri="{D42A27DB-BD31-4B8C-83A1-F6EECF244321}">
                <p14:modId xmlns:p14="http://schemas.microsoft.com/office/powerpoint/2010/main" val="2922788955"/>
              </p:ext>
            </p:extLst>
          </p:nvPr>
        </p:nvGraphicFramePr>
        <p:xfrm>
          <a:off x="1310640" y="2035680"/>
          <a:ext cx="11696700" cy="1416560"/>
        </p:xfrm>
        <a:graphic>
          <a:graphicData uri="http://schemas.openxmlformats.org/drawingml/2006/table">
            <a:tbl>
              <a:tblPr/>
              <a:tblGrid>
                <a:gridCol w="2339340">
                  <a:extLst>
                    <a:ext uri="{9D8B030D-6E8A-4147-A177-3AD203B41FA5}">
                      <a16:colId xmlns:a16="http://schemas.microsoft.com/office/drawing/2014/main" val="20000"/>
                    </a:ext>
                  </a:extLst>
                </a:gridCol>
                <a:gridCol w="2339340">
                  <a:extLst>
                    <a:ext uri="{9D8B030D-6E8A-4147-A177-3AD203B41FA5}">
                      <a16:colId xmlns:a16="http://schemas.microsoft.com/office/drawing/2014/main" val="20001"/>
                    </a:ext>
                  </a:extLst>
                </a:gridCol>
                <a:gridCol w="2339340">
                  <a:extLst>
                    <a:ext uri="{9D8B030D-6E8A-4147-A177-3AD203B41FA5}">
                      <a16:colId xmlns:a16="http://schemas.microsoft.com/office/drawing/2014/main" val="20002"/>
                    </a:ext>
                  </a:extLst>
                </a:gridCol>
                <a:gridCol w="2339340">
                  <a:extLst>
                    <a:ext uri="{9D8B030D-6E8A-4147-A177-3AD203B41FA5}">
                      <a16:colId xmlns:a16="http://schemas.microsoft.com/office/drawing/2014/main" val="20003"/>
                    </a:ext>
                  </a:extLst>
                </a:gridCol>
                <a:gridCol w="2339340">
                  <a:extLst>
                    <a:ext uri="{9D8B030D-6E8A-4147-A177-3AD203B41FA5}">
                      <a16:colId xmlns:a16="http://schemas.microsoft.com/office/drawing/2014/main" val="20004"/>
                    </a:ext>
                  </a:extLst>
                </a:gridCol>
              </a:tblGrid>
              <a:tr h="708280">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Oda</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m²</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Bina yaşı</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Merkeze uzaklık</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dirty="0">
                          <a:solidFill>
                            <a:srgbClr val="0F5257"/>
                          </a:solidFill>
                          <a:latin typeface="Chromatica"/>
                        </a:rPr>
                        <a:t>Fiyat</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extLst>
                  <a:ext uri="{0D108BD9-81ED-4DB2-BD59-A6C34878D82A}">
                    <a16:rowId xmlns:a16="http://schemas.microsoft.com/office/drawing/2014/main" val="10000"/>
                  </a:ext>
                </a:extLst>
              </a:tr>
              <a:tr h="708280">
                <a:tc>
                  <a:txBody>
                    <a:bodyPr/>
                    <a:lstStyle/>
                    <a:p>
                      <a:pPr marL="0" indent="0" algn="ctr">
                        <a:buNone/>
                      </a:pPr>
                      <a:r>
                        <a:rPr lang="en-US" sz="2400" b="1" dirty="0">
                          <a:solidFill>
                            <a:srgbClr val="1E2B2B"/>
                          </a:solidFill>
                          <a:latin typeface="Chromatica"/>
                        </a:rPr>
                        <a:t>0.3</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0.6</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0.2</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0.5</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0.85</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extLst>
                  <a:ext uri="{0D108BD9-81ED-4DB2-BD59-A6C34878D82A}">
                    <a16:rowId xmlns:a16="http://schemas.microsoft.com/office/drawing/2014/main" val="10001"/>
                  </a:ext>
                </a:extLst>
              </a:tr>
            </a:tbl>
          </a:graphicData>
        </a:graphic>
      </p:graphicFrame>
      <p:sp>
        <p:nvSpPr>
          <p:cNvPr id="16" name="Text 16">
            <a:extLst>
              <a:ext uri="{FF2B5EF4-FFF2-40B4-BE49-F238E27FC236}">
                <a16:creationId xmlns:a16="http://schemas.microsoft.com/office/drawing/2014/main" id="{F0A8A3BC-7D4B-18F5-359E-C5DB8DBDB98A}"/>
              </a:ext>
            </a:extLst>
          </p:cNvPr>
          <p:cNvSpPr/>
          <p:nvPr/>
        </p:nvSpPr>
        <p:spPr>
          <a:xfrm>
            <a:off x="1779495" y="4490957"/>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0.3</a:t>
            </a:r>
            <a:endParaRPr lang="en-US" dirty="0">
              <a:latin typeface="Chromatica"/>
            </a:endParaRPr>
          </a:p>
        </p:txBody>
      </p:sp>
      <p:sp>
        <p:nvSpPr>
          <p:cNvPr id="17" name="Text 16">
            <a:extLst>
              <a:ext uri="{FF2B5EF4-FFF2-40B4-BE49-F238E27FC236}">
                <a16:creationId xmlns:a16="http://schemas.microsoft.com/office/drawing/2014/main" id="{9272F504-F556-451D-7995-1A3CCA8901F0}"/>
              </a:ext>
            </a:extLst>
          </p:cNvPr>
          <p:cNvSpPr/>
          <p:nvPr/>
        </p:nvSpPr>
        <p:spPr>
          <a:xfrm>
            <a:off x="1779495" y="6715496"/>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0.6</a:t>
            </a:r>
            <a:endParaRPr lang="en-US" dirty="0">
              <a:latin typeface="Chromatica"/>
            </a:endParaRPr>
          </a:p>
        </p:txBody>
      </p:sp>
      <p:sp>
        <p:nvSpPr>
          <p:cNvPr id="20" name="Text 16">
            <a:extLst>
              <a:ext uri="{FF2B5EF4-FFF2-40B4-BE49-F238E27FC236}">
                <a16:creationId xmlns:a16="http://schemas.microsoft.com/office/drawing/2014/main" id="{EAFD195F-89C4-F8BF-0D05-F34C42F243DF}"/>
              </a:ext>
            </a:extLst>
          </p:cNvPr>
          <p:cNvSpPr/>
          <p:nvPr/>
        </p:nvSpPr>
        <p:spPr>
          <a:xfrm>
            <a:off x="1779494" y="8953283"/>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0.2</a:t>
            </a:r>
            <a:endParaRPr lang="en-US" dirty="0">
              <a:latin typeface="Chromatica"/>
            </a:endParaRPr>
          </a:p>
        </p:txBody>
      </p:sp>
      <p:sp>
        <p:nvSpPr>
          <p:cNvPr id="21" name="Text 16">
            <a:extLst>
              <a:ext uri="{FF2B5EF4-FFF2-40B4-BE49-F238E27FC236}">
                <a16:creationId xmlns:a16="http://schemas.microsoft.com/office/drawing/2014/main" id="{9D533673-BD7E-56DA-2770-3414F22044A2}"/>
              </a:ext>
            </a:extLst>
          </p:cNvPr>
          <p:cNvSpPr/>
          <p:nvPr/>
        </p:nvSpPr>
        <p:spPr>
          <a:xfrm>
            <a:off x="1797783" y="11200305"/>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0.5</a:t>
            </a:r>
            <a:endParaRPr lang="en-US" dirty="0">
              <a:latin typeface="Chromatica"/>
            </a:endParaRPr>
          </a:p>
        </p:txBody>
      </p:sp>
      <mc:AlternateContent xmlns:mc="http://schemas.openxmlformats.org/markup-compatibility/2006" xmlns:a14="http://schemas.microsoft.com/office/drawing/2010/main">
        <mc:Choice Requires="a14">
          <p:sp>
            <p:nvSpPr>
              <p:cNvPr id="23" name="Text 26">
                <a:extLst>
                  <a:ext uri="{FF2B5EF4-FFF2-40B4-BE49-F238E27FC236}">
                    <a16:creationId xmlns:a16="http://schemas.microsoft.com/office/drawing/2014/main" id="{205CE6C0-0ED6-221F-7615-BF8556D4D942}"/>
                  </a:ext>
                </a:extLst>
              </p:cNvPr>
              <p:cNvSpPr/>
              <p:nvPr/>
            </p:nvSpPr>
            <p:spPr>
              <a:xfrm>
                <a:off x="13091531" y="5318853"/>
                <a:ext cx="6732661" cy="1762308"/>
              </a:xfrm>
              <a:prstGeom prst="rect">
                <a:avLst/>
              </a:prstGeom>
              <a:noFill/>
              <a:ln/>
            </p:spPr>
            <p:txBody>
              <a:bodyPr wrap="square" rtlCol="0" anchor="ctr"/>
              <a:lstStyle/>
              <a:p>
                <a:pPr algn="l">
                  <a:lnSpc>
                    <a:spcPct val="115000"/>
                  </a:lnSpc>
                </a:pPr>
                <a14:m>
                  <m:oMathPara xmlns:m="http://schemas.openxmlformats.org/officeDocument/2006/math">
                    <m:oMathParaPr>
                      <m:jc m:val="left"/>
                    </m:oMathParaPr>
                    <m:oMath xmlns:m="http://schemas.openxmlformats.org/officeDocument/2006/math">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r>
                        <a:rPr lang="en-US" i="1" smtClean="0">
                          <a:solidFill>
                            <a:schemeClr val="bg2">
                              <a:lumMod val="10000"/>
                            </a:schemeClr>
                          </a:solidFill>
                          <a:latin typeface="Cambria Math" panose="02040503050406030204" pitchFamily="18" charset="0"/>
                          <a:ea typeface="Courier New" pitchFamily="34" charset="-122"/>
                          <a:cs typeface="Courier New" pitchFamily="34" charset="-120"/>
                        </a:rPr>
                        <m:t>=</m:t>
                      </m:r>
                      <m:sSub>
                        <m:sSubPr>
                          <m:ctrlPr>
                            <a:rPr lang="en-US" i="1" smtClean="0">
                              <a:solidFill>
                                <a:schemeClr val="bg2">
                                  <a:lumMod val="10000"/>
                                </a:schemeClr>
                              </a:solidFill>
                              <a:latin typeface="Cambria Math" panose="02040503050406030204" pitchFamily="18" charset="0"/>
                              <a:cs typeface="Courier New" pitchFamily="34" charset="-120"/>
                            </a:rPr>
                          </m:ctrlPr>
                        </m:sSubPr>
                        <m:e>
                          <m:r>
                            <a:rPr lang="de-DE" b="0" i="1" smtClean="0">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1 </m:t>
                          </m:r>
                        </m:sub>
                      </m:sSub>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1</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2</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2</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3</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3</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4</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4</m:t>
                          </m:r>
                        </m:sup>
                      </m:sSubSup>
                      <m:r>
                        <a:rPr lang="de-DE" b="0" i="1" smtClean="0">
                          <a:solidFill>
                            <a:schemeClr val="bg2">
                              <a:lumMod val="10000"/>
                            </a:schemeClr>
                          </a:solidFill>
                          <a:latin typeface="Cambria Math" panose="02040503050406030204" pitchFamily="18" charset="0"/>
                          <a:cs typeface="Courier New" pitchFamily="34" charset="-120"/>
                        </a:rPr>
                        <m:t>+</m:t>
                      </m:r>
                      <m:sSubSup>
                        <m:sSubSupPr>
                          <m:ctrlPr>
                            <a:rPr lang="en-US" b="0"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𝑏</m:t>
                          </m:r>
                        </m:e>
                        <m:sub>
                          <m:r>
                            <a:rPr lang="de-DE" b="0" i="1" smtClean="0">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1</m:t>
                          </m:r>
                        </m:sup>
                      </m:sSubSup>
                    </m:oMath>
                  </m:oMathPara>
                </a14:m>
                <a:endParaRPr lang="en-US" dirty="0">
                  <a:solidFill>
                    <a:schemeClr val="bg2">
                      <a:lumMod val="10000"/>
                    </a:schemeClr>
                  </a:solidFill>
                  <a:latin typeface="Chromatica"/>
                </a:endParaRP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r>
                      <a:rPr lang="de-DE" i="1">
                        <a:solidFill>
                          <a:schemeClr val="bg2">
                            <a:lumMod val="10000"/>
                          </a:schemeClr>
                        </a:solidFill>
                        <a:latin typeface="Cambria Math" panose="02040503050406030204" pitchFamily="18" charset="0"/>
                        <a:cs typeface="Courier New" pitchFamily="34" charset="-120"/>
                      </a:rPr>
                      <m:t> </m:t>
                    </m:r>
                  </m:oMath>
                </a14:m>
                <a:r>
                  <a:rPr lang="en-US" dirty="0">
                    <a:solidFill>
                      <a:schemeClr val="bg2">
                        <a:lumMod val="10000"/>
                      </a:schemeClr>
                    </a:solidFill>
                    <a:latin typeface="Chromatica"/>
                    <a:ea typeface="Courier New" pitchFamily="34" charset="-122"/>
                    <a:cs typeface="Courier New" pitchFamily="34" charset="-120"/>
                  </a:rPr>
                  <a:t>= 0.3*0.1 + 0.6*0.3 + 0.2*0.5 + 0.5*0.7 + 0.1</a:t>
                </a: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oMath>
                </a14:m>
                <a:r>
                  <a:rPr lang="en-US" dirty="0">
                    <a:solidFill>
                      <a:schemeClr val="bg2">
                        <a:lumMod val="10000"/>
                      </a:schemeClr>
                    </a:solidFill>
                    <a:latin typeface="Chromatica"/>
                    <a:ea typeface="Courier New" pitchFamily="34" charset="-122"/>
                    <a:cs typeface="Courier New" pitchFamily="34" charset="-120"/>
                  </a:rPr>
                  <a:t> = 0.03 + 0.18 + 0.10 + 0.35 + 0.1</a:t>
                </a: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oMath>
                </a14:m>
                <a:r>
                  <a:rPr lang="en-US" dirty="0">
                    <a:solidFill>
                      <a:schemeClr val="bg2">
                        <a:lumMod val="10000"/>
                      </a:schemeClr>
                    </a:solidFill>
                    <a:latin typeface="Chromatica"/>
                    <a:ea typeface="Courier New" pitchFamily="34" charset="-122"/>
                    <a:cs typeface="Courier New" pitchFamily="34" charset="-120"/>
                  </a:rPr>
                  <a:t> = 0.76</a:t>
                </a:r>
              </a:p>
            </p:txBody>
          </p:sp>
        </mc:Choice>
        <mc:Fallback xmlns="">
          <p:sp>
            <p:nvSpPr>
              <p:cNvPr id="23" name="Text 26">
                <a:extLst>
                  <a:ext uri="{FF2B5EF4-FFF2-40B4-BE49-F238E27FC236}">
                    <a16:creationId xmlns:a16="http://schemas.microsoft.com/office/drawing/2014/main" id="{205CE6C0-0ED6-221F-7615-BF8556D4D942}"/>
                  </a:ext>
                </a:extLst>
              </p:cNvPr>
              <p:cNvSpPr>
                <a:spLocks noRot="1" noChangeAspect="1" noMove="1" noResize="1" noEditPoints="1" noAdjustHandles="1" noChangeArrowheads="1" noChangeShapeType="1" noTextEdit="1"/>
              </p:cNvSpPr>
              <p:nvPr/>
            </p:nvSpPr>
            <p:spPr>
              <a:xfrm>
                <a:off x="13091531" y="5318853"/>
                <a:ext cx="6732661" cy="1762308"/>
              </a:xfrm>
              <a:prstGeom prst="rect">
                <a:avLst/>
              </a:prstGeom>
              <a:blipFill>
                <a:blip r:embed="rId3"/>
                <a:stretch>
                  <a:fillRect b="-7958"/>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5" name="Text 16">
                <a:extLst>
                  <a:ext uri="{FF2B5EF4-FFF2-40B4-BE49-F238E27FC236}">
                    <a16:creationId xmlns:a16="http://schemas.microsoft.com/office/drawing/2014/main" id="{9029552E-114E-3503-EA86-60F44E676ADF}"/>
                  </a:ext>
                </a:extLst>
              </p:cNvPr>
              <p:cNvSpPr/>
              <p:nvPr/>
            </p:nvSpPr>
            <p:spPr>
              <a:xfrm>
                <a:off x="8614635" y="6007217"/>
                <a:ext cx="862915" cy="827896"/>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𝒛</m:t>
                          </m:r>
                        </m:e>
                        <m:sub>
                          <m:r>
                            <a:rPr lang="de-DE" b="1" i="1" smtClean="0">
                              <a:solidFill>
                                <a:srgbClr val="FFFFFF"/>
                              </a:solidFill>
                              <a:latin typeface="Cambria Math" panose="02040503050406030204" pitchFamily="18" charset="0"/>
                              <a:cs typeface="Arial" pitchFamily="34" charset="-120"/>
                            </a:rPr>
                            <m:t>𝟏</m:t>
                          </m:r>
                        </m:sub>
                        <m:sup>
                          <m:r>
                            <a:rPr lang="de-DE" b="1" i="1" smtClean="0">
                              <a:solidFill>
                                <a:srgbClr val="FFFFFF"/>
                              </a:solidFill>
                              <a:latin typeface="Cambria Math" panose="02040503050406030204" pitchFamily="18" charset="0"/>
                              <a:cs typeface="Arial" pitchFamily="34" charset="-120"/>
                            </a:rPr>
                            <m:t>𝟏</m:t>
                          </m:r>
                        </m:sup>
                      </m:sSubSup>
                    </m:oMath>
                  </m:oMathPara>
                </a14:m>
                <a:endParaRPr lang="en-US" dirty="0">
                  <a:latin typeface="Chromatica"/>
                </a:endParaRPr>
              </a:p>
            </p:txBody>
          </p:sp>
        </mc:Choice>
        <mc:Fallback xmlns="">
          <p:sp>
            <p:nvSpPr>
              <p:cNvPr id="25" name="Text 16">
                <a:extLst>
                  <a:ext uri="{FF2B5EF4-FFF2-40B4-BE49-F238E27FC236}">
                    <a16:creationId xmlns:a16="http://schemas.microsoft.com/office/drawing/2014/main" id="{9029552E-114E-3503-EA86-60F44E676ADF}"/>
                  </a:ext>
                </a:extLst>
              </p:cNvPr>
              <p:cNvSpPr>
                <a:spLocks noRot="1" noChangeAspect="1" noMove="1" noResize="1" noEditPoints="1" noAdjustHandles="1" noChangeArrowheads="1" noChangeShapeType="1" noTextEdit="1"/>
              </p:cNvSpPr>
              <p:nvPr/>
            </p:nvSpPr>
            <p:spPr>
              <a:xfrm>
                <a:off x="8614635" y="6007217"/>
                <a:ext cx="862915" cy="827896"/>
              </a:xfrm>
              <a:prstGeom prst="rect">
                <a:avLst/>
              </a:prstGeom>
              <a:blipFill>
                <a:blip r:embed="rId4"/>
                <a:stretch>
                  <a:fillRect/>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7" name="Text 16">
                <a:extLst>
                  <a:ext uri="{FF2B5EF4-FFF2-40B4-BE49-F238E27FC236}">
                    <a16:creationId xmlns:a16="http://schemas.microsoft.com/office/drawing/2014/main" id="{CA34B219-8FAC-C38B-4561-B0EB802969E5}"/>
                  </a:ext>
                </a:extLst>
              </p:cNvPr>
              <p:cNvSpPr/>
              <p:nvPr/>
            </p:nvSpPr>
            <p:spPr>
              <a:xfrm>
                <a:off x="8530444" y="8940035"/>
                <a:ext cx="862915" cy="827896"/>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𝒛</m:t>
                          </m:r>
                        </m:e>
                        <m:sub>
                          <m:r>
                            <a:rPr lang="de-DE" b="1" i="1" smtClean="0">
                              <a:solidFill>
                                <a:srgbClr val="FFFFFF"/>
                              </a:solidFill>
                              <a:latin typeface="Cambria Math" panose="02040503050406030204" pitchFamily="18" charset="0"/>
                              <a:cs typeface="Arial" pitchFamily="34" charset="-120"/>
                            </a:rPr>
                            <m:t>𝟐</m:t>
                          </m:r>
                        </m:sub>
                        <m:sup>
                          <m:r>
                            <a:rPr lang="de-DE" b="1" i="1" smtClean="0">
                              <a:solidFill>
                                <a:srgbClr val="FFFFFF"/>
                              </a:solidFill>
                              <a:latin typeface="Cambria Math" panose="02040503050406030204" pitchFamily="18" charset="0"/>
                              <a:cs typeface="Arial" pitchFamily="34" charset="-120"/>
                            </a:rPr>
                            <m:t>𝟏</m:t>
                          </m:r>
                        </m:sup>
                      </m:sSubSup>
                    </m:oMath>
                  </m:oMathPara>
                </a14:m>
                <a:endParaRPr lang="en-US" dirty="0">
                  <a:latin typeface="Chromatica"/>
                </a:endParaRPr>
              </a:p>
            </p:txBody>
          </p:sp>
        </mc:Choice>
        <mc:Fallback xmlns="">
          <p:sp>
            <p:nvSpPr>
              <p:cNvPr id="27" name="Text 16">
                <a:extLst>
                  <a:ext uri="{FF2B5EF4-FFF2-40B4-BE49-F238E27FC236}">
                    <a16:creationId xmlns:a16="http://schemas.microsoft.com/office/drawing/2014/main" id="{CA34B219-8FAC-C38B-4561-B0EB802969E5}"/>
                  </a:ext>
                </a:extLst>
              </p:cNvPr>
              <p:cNvSpPr>
                <a:spLocks noRot="1" noChangeAspect="1" noMove="1" noResize="1" noEditPoints="1" noAdjustHandles="1" noChangeArrowheads="1" noChangeShapeType="1" noTextEdit="1"/>
              </p:cNvSpPr>
              <p:nvPr/>
            </p:nvSpPr>
            <p:spPr>
              <a:xfrm>
                <a:off x="8530444" y="8940035"/>
                <a:ext cx="862915" cy="827896"/>
              </a:xfrm>
              <a:prstGeom prst="rect">
                <a:avLst/>
              </a:prstGeom>
              <a:blipFill>
                <a:blip r:embed="rId5"/>
                <a:stretch>
                  <a:fillRect/>
                </a:stretch>
              </a:blipFill>
              <a:ln/>
            </p:spPr>
            <p:txBody>
              <a:bodyPr/>
              <a:lstStyle/>
              <a:p>
                <a:r>
                  <a:rPr lang="de-DE">
                    <a:noFill/>
                  </a:rPr>
                  <a:t> </a:t>
                </a:r>
              </a:p>
            </p:txBody>
          </p:sp>
        </mc:Fallback>
      </mc:AlternateContent>
      <p:cxnSp>
        <p:nvCxnSpPr>
          <p:cNvPr id="31" name="Gerade Verbindung mit Pfeil 30">
            <a:extLst>
              <a:ext uri="{FF2B5EF4-FFF2-40B4-BE49-F238E27FC236}">
                <a16:creationId xmlns:a16="http://schemas.microsoft.com/office/drawing/2014/main" id="{4746C08C-1E63-AA2E-A423-210698E21614}"/>
              </a:ext>
            </a:extLst>
          </p:cNvPr>
          <p:cNvCxnSpPr>
            <a:cxnSpLocks/>
            <a:stCxn id="5" idx="6"/>
            <a:endCxn id="9" idx="2"/>
          </p:cNvCxnSpPr>
          <p:nvPr/>
        </p:nvCxnSpPr>
        <p:spPr>
          <a:xfrm>
            <a:off x="2887609" y="4904905"/>
            <a:ext cx="5500116" cy="153412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3" name="Gerade Verbindung mit Pfeil 32">
            <a:extLst>
              <a:ext uri="{FF2B5EF4-FFF2-40B4-BE49-F238E27FC236}">
                <a16:creationId xmlns:a16="http://schemas.microsoft.com/office/drawing/2014/main" id="{916D1D91-B27F-C147-6C77-13CCC3C10B11}"/>
              </a:ext>
            </a:extLst>
          </p:cNvPr>
          <p:cNvCxnSpPr>
            <a:cxnSpLocks/>
            <a:stCxn id="6" idx="6"/>
            <a:endCxn id="9" idx="2"/>
          </p:cNvCxnSpPr>
          <p:nvPr/>
        </p:nvCxnSpPr>
        <p:spPr>
          <a:xfrm flipV="1">
            <a:off x="2887609" y="6439030"/>
            <a:ext cx="5500116" cy="69041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5" name="Gerade Verbindung mit Pfeil 34">
            <a:extLst>
              <a:ext uri="{FF2B5EF4-FFF2-40B4-BE49-F238E27FC236}">
                <a16:creationId xmlns:a16="http://schemas.microsoft.com/office/drawing/2014/main" id="{0F87D285-4837-9EF5-A8A6-1A168FF638F7}"/>
              </a:ext>
            </a:extLst>
          </p:cNvPr>
          <p:cNvCxnSpPr>
            <a:cxnSpLocks/>
            <a:stCxn id="7" idx="6"/>
            <a:endCxn id="9" idx="2"/>
          </p:cNvCxnSpPr>
          <p:nvPr/>
        </p:nvCxnSpPr>
        <p:spPr>
          <a:xfrm flipV="1">
            <a:off x="2869321" y="6439030"/>
            <a:ext cx="5518404" cy="291495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7" name="Gerade Verbindung mit Pfeil 36">
            <a:extLst>
              <a:ext uri="{FF2B5EF4-FFF2-40B4-BE49-F238E27FC236}">
                <a16:creationId xmlns:a16="http://schemas.microsoft.com/office/drawing/2014/main" id="{DA0CD8B5-6A5A-1B77-7BE7-963B11FF80B4}"/>
              </a:ext>
            </a:extLst>
          </p:cNvPr>
          <p:cNvCxnSpPr>
            <a:stCxn id="8" idx="6"/>
            <a:endCxn id="9" idx="2"/>
          </p:cNvCxnSpPr>
          <p:nvPr/>
        </p:nvCxnSpPr>
        <p:spPr>
          <a:xfrm flipV="1">
            <a:off x="2869321" y="6439030"/>
            <a:ext cx="5518404" cy="517522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8" name="TextBox 37"/>
          <p:cNvSpPr txBox="1"/>
          <p:nvPr/>
        </p:nvSpPr>
        <p:spPr>
          <a:xfrm>
            <a:off x="1307592" y="3520440"/>
            <a:ext cx="11695176" cy="502920"/>
          </a:xfrm>
          <a:prstGeom prst="rect">
            <a:avLst/>
          </a:prstGeom>
          <a:noFill/>
        </p:spPr>
        <p:txBody>
          <a:bodyPr wrap="square" lIns="0" rIns="0">
            <a:spAutoFit/>
          </a:bodyPr>
          <a:lstStyle/>
          <a:p>
            <a:pPr algn="l"/>
            <a:r>
              <a:rPr sz="1800">
                <a:solidFill>
                  <a:srgbClr val="6E6E6E"/>
                </a:solidFill>
              </a:rPr>
              <a:t>Değerler ölçeklendi:  3 oda → 0.3,   120 m² → 0.6,   10 yıl → 0.2,   5 km → 0.5,   850 bin € → 0.85</a:t>
            </a:r>
          </a:p>
        </p:txBody>
      </p:sp>
    </p:spTree>
    <p:extLst>
      <p:ext uri="{BB962C8B-B14F-4D97-AF65-F5344CB8AC3E}">
        <p14:creationId xmlns:p14="http://schemas.microsoft.com/office/powerpoint/2010/main" val="3708059844"/>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8A993-0926-5C81-4D1D-49205EA252F7}"/>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A65EB2D7-8933-041F-8419-87722BF02B0D}"/>
              </a:ext>
            </a:extLst>
          </p:cNvPr>
          <p:cNvSpPr>
            <a:spLocks noGrp="1"/>
          </p:cNvSpPr>
          <p:nvPr>
            <p:ph type="body" sz="quarter" idx="22"/>
          </p:nvPr>
        </p:nvSpPr>
        <p:spPr/>
        <p:txBody>
          <a:bodyPr/>
          <a:lstStyle/>
          <a:p>
            <a:r>
              <a:rPr lang="de-DE" dirty="0"/>
              <a:t>Forward </a:t>
            </a:r>
            <a:r>
              <a:rPr lang="de-DE" dirty="0" err="1"/>
              <a:t>Propagation</a:t>
            </a:r>
            <a:endParaRPr lang="de-DE" dirty="0"/>
          </a:p>
        </p:txBody>
      </p:sp>
      <p:sp>
        <p:nvSpPr>
          <p:cNvPr id="5" name="Shape 2">
            <a:extLst>
              <a:ext uri="{FF2B5EF4-FFF2-40B4-BE49-F238E27FC236}">
                <a16:creationId xmlns:a16="http://schemas.microsoft.com/office/drawing/2014/main" id="{0BE4E6DC-9805-4FEA-0F85-2F25896ED5BC}"/>
              </a:ext>
            </a:extLst>
          </p:cNvPr>
          <p:cNvSpPr/>
          <p:nvPr/>
        </p:nvSpPr>
        <p:spPr>
          <a:xfrm>
            <a:off x="1570873" y="4196625"/>
            <a:ext cx="1316736" cy="1416559"/>
          </a:xfrm>
          <a:prstGeom prst="ellipse">
            <a:avLst/>
          </a:prstGeom>
          <a:solidFill>
            <a:srgbClr val="1B9E8A"/>
          </a:solidFill>
          <a:ln/>
        </p:spPr>
        <p:txBody>
          <a:bodyPr/>
          <a:lstStyle/>
          <a:p>
            <a:endParaRPr lang="de-DE" dirty="0"/>
          </a:p>
        </p:txBody>
      </p:sp>
      <p:sp>
        <p:nvSpPr>
          <p:cNvPr id="6" name="Shape 2">
            <a:extLst>
              <a:ext uri="{FF2B5EF4-FFF2-40B4-BE49-F238E27FC236}">
                <a16:creationId xmlns:a16="http://schemas.microsoft.com/office/drawing/2014/main" id="{FCBC87A3-44CA-2BB7-4F3C-1FEC06E00C95}"/>
              </a:ext>
            </a:extLst>
          </p:cNvPr>
          <p:cNvSpPr/>
          <p:nvPr/>
        </p:nvSpPr>
        <p:spPr>
          <a:xfrm>
            <a:off x="1570873" y="6421165"/>
            <a:ext cx="1316736" cy="1416559"/>
          </a:xfrm>
          <a:prstGeom prst="ellipse">
            <a:avLst/>
          </a:prstGeom>
          <a:solidFill>
            <a:srgbClr val="1B9E8A"/>
          </a:solidFill>
          <a:ln/>
        </p:spPr>
        <p:txBody>
          <a:bodyPr/>
          <a:lstStyle/>
          <a:p>
            <a:endParaRPr lang="de-DE"/>
          </a:p>
        </p:txBody>
      </p:sp>
      <p:sp>
        <p:nvSpPr>
          <p:cNvPr id="7" name="Shape 2">
            <a:extLst>
              <a:ext uri="{FF2B5EF4-FFF2-40B4-BE49-F238E27FC236}">
                <a16:creationId xmlns:a16="http://schemas.microsoft.com/office/drawing/2014/main" id="{A63C49F8-F11D-1BD8-BCBA-41309B8B6FB9}"/>
              </a:ext>
            </a:extLst>
          </p:cNvPr>
          <p:cNvSpPr/>
          <p:nvPr/>
        </p:nvSpPr>
        <p:spPr>
          <a:xfrm>
            <a:off x="1552585" y="8645705"/>
            <a:ext cx="1316736" cy="1416559"/>
          </a:xfrm>
          <a:prstGeom prst="ellipse">
            <a:avLst/>
          </a:prstGeom>
          <a:solidFill>
            <a:srgbClr val="1B9E8A"/>
          </a:solidFill>
          <a:ln/>
        </p:spPr>
        <p:txBody>
          <a:bodyPr/>
          <a:lstStyle/>
          <a:p>
            <a:endParaRPr lang="de-DE"/>
          </a:p>
        </p:txBody>
      </p:sp>
      <p:sp>
        <p:nvSpPr>
          <p:cNvPr id="8" name="Shape 2">
            <a:extLst>
              <a:ext uri="{FF2B5EF4-FFF2-40B4-BE49-F238E27FC236}">
                <a16:creationId xmlns:a16="http://schemas.microsoft.com/office/drawing/2014/main" id="{15B70BA3-BE0D-1CDD-38CE-0AAE1FA59F1B}"/>
              </a:ext>
            </a:extLst>
          </p:cNvPr>
          <p:cNvSpPr/>
          <p:nvPr/>
        </p:nvSpPr>
        <p:spPr>
          <a:xfrm>
            <a:off x="1552585" y="10905974"/>
            <a:ext cx="1316736" cy="1416559"/>
          </a:xfrm>
          <a:prstGeom prst="ellipse">
            <a:avLst/>
          </a:prstGeom>
          <a:solidFill>
            <a:srgbClr val="1B9E8A"/>
          </a:solidFill>
          <a:ln/>
        </p:spPr>
        <p:txBody>
          <a:bodyPr/>
          <a:lstStyle/>
          <a:p>
            <a:endParaRPr lang="de-DE"/>
          </a:p>
        </p:txBody>
      </p:sp>
      <p:sp>
        <p:nvSpPr>
          <p:cNvPr id="9" name="Shape 2">
            <a:extLst>
              <a:ext uri="{FF2B5EF4-FFF2-40B4-BE49-F238E27FC236}">
                <a16:creationId xmlns:a16="http://schemas.microsoft.com/office/drawing/2014/main" id="{2CFF1997-AE64-927D-95A1-866FD4EF93EB}"/>
              </a:ext>
            </a:extLst>
          </p:cNvPr>
          <p:cNvSpPr/>
          <p:nvPr/>
        </p:nvSpPr>
        <p:spPr>
          <a:xfrm>
            <a:off x="8387725" y="5730750"/>
            <a:ext cx="1316736" cy="1416559"/>
          </a:xfrm>
          <a:prstGeom prst="ellipse">
            <a:avLst/>
          </a:prstGeom>
          <a:solidFill>
            <a:srgbClr val="1B9E8A"/>
          </a:solidFill>
          <a:ln/>
        </p:spPr>
        <p:txBody>
          <a:bodyPr/>
          <a:lstStyle/>
          <a:p>
            <a:endParaRPr lang="de-DE"/>
          </a:p>
        </p:txBody>
      </p:sp>
      <p:sp>
        <p:nvSpPr>
          <p:cNvPr id="10" name="Shape 2">
            <a:extLst>
              <a:ext uri="{FF2B5EF4-FFF2-40B4-BE49-F238E27FC236}">
                <a16:creationId xmlns:a16="http://schemas.microsoft.com/office/drawing/2014/main" id="{20FFEE80-3998-4554-AD3C-A0D1B95045A8}"/>
              </a:ext>
            </a:extLst>
          </p:cNvPr>
          <p:cNvSpPr/>
          <p:nvPr/>
        </p:nvSpPr>
        <p:spPr>
          <a:xfrm>
            <a:off x="8303534" y="8645704"/>
            <a:ext cx="1316736" cy="1416559"/>
          </a:xfrm>
          <a:prstGeom prst="ellipse">
            <a:avLst/>
          </a:prstGeom>
          <a:solidFill>
            <a:srgbClr val="1B9E8A"/>
          </a:solidFill>
          <a:ln/>
        </p:spPr>
        <p:txBody>
          <a:bodyPr/>
          <a:lstStyle/>
          <a:p>
            <a:endParaRPr lang="de-DE"/>
          </a:p>
        </p:txBody>
      </p:sp>
      <p:sp>
        <p:nvSpPr>
          <p:cNvPr id="12" name="Shape 24">
            <a:extLst>
              <a:ext uri="{FF2B5EF4-FFF2-40B4-BE49-F238E27FC236}">
                <a16:creationId xmlns:a16="http://schemas.microsoft.com/office/drawing/2014/main" id="{09B88AED-A663-10EC-006A-1069BC722526}"/>
              </a:ext>
            </a:extLst>
          </p:cNvPr>
          <p:cNvSpPr>
            <a:spLocks noGrp="1"/>
          </p:cNvSpPr>
          <p:nvPr>
            <p:ph type="body" sz="quarter" idx="23"/>
          </p:nvPr>
        </p:nvSpPr>
        <p:spPr>
          <a:xfrm>
            <a:off x="13007340" y="4904905"/>
            <a:ext cx="10271760" cy="6709349"/>
          </a:xfrm>
          <a:prstGeom prst="roundRect">
            <a:avLst>
              <a:gd name="adj" fmla="val 1714"/>
            </a:avLst>
          </a:prstGeom>
          <a:solidFill>
            <a:srgbClr val="F1F8F6"/>
          </a:solidFill>
          <a:ln/>
          <a:effectLst>
            <a:outerShdw blurRad="101600" dist="38100" dir="5400000" algn="bl" rotWithShape="0">
              <a:srgbClr val="000000">
                <a:alpha val="12000"/>
              </a:srgbClr>
            </a:outerShdw>
          </a:effectLst>
        </p:spPr>
        <p:txBody>
          <a:bodyPr/>
          <a:lstStyle/>
          <a:p>
            <a:endParaRPr lang="de-DE" dirty="0"/>
          </a:p>
          <a:p>
            <a:endParaRPr lang="de-DE" dirty="0"/>
          </a:p>
          <a:p>
            <a:endParaRPr lang="de-DE" dirty="0"/>
          </a:p>
          <a:p>
            <a:endParaRPr lang="de-DE" dirty="0"/>
          </a:p>
          <a:p>
            <a:endParaRPr lang="de-DE" dirty="0"/>
          </a:p>
        </p:txBody>
      </p:sp>
      <p:graphicFrame>
        <p:nvGraphicFramePr>
          <p:cNvPr id="14" name="Table 0">
            <a:extLst>
              <a:ext uri="{FF2B5EF4-FFF2-40B4-BE49-F238E27FC236}">
                <a16:creationId xmlns:a16="http://schemas.microsoft.com/office/drawing/2014/main" id="{85D43524-87B4-9F79-DD98-196EE881DE88}"/>
              </a:ext>
            </a:extLst>
          </p:cNvPr>
          <p:cNvGraphicFramePr>
            <a:graphicFrameLocks noGrp="1"/>
          </p:cNvGraphicFramePr>
          <p:nvPr>
            <p:extLst>
              <p:ext uri="{D42A27DB-BD31-4B8C-83A1-F6EECF244321}">
                <p14:modId xmlns:p14="http://schemas.microsoft.com/office/powerpoint/2010/main" val="3101351764"/>
              </p:ext>
            </p:extLst>
          </p:nvPr>
        </p:nvGraphicFramePr>
        <p:xfrm>
          <a:off x="1310640" y="2035680"/>
          <a:ext cx="11696700" cy="1416560"/>
        </p:xfrm>
        <a:graphic>
          <a:graphicData uri="http://schemas.openxmlformats.org/drawingml/2006/table">
            <a:tbl>
              <a:tblPr/>
              <a:tblGrid>
                <a:gridCol w="2339340">
                  <a:extLst>
                    <a:ext uri="{9D8B030D-6E8A-4147-A177-3AD203B41FA5}">
                      <a16:colId xmlns:a16="http://schemas.microsoft.com/office/drawing/2014/main" val="20000"/>
                    </a:ext>
                  </a:extLst>
                </a:gridCol>
                <a:gridCol w="2339340">
                  <a:extLst>
                    <a:ext uri="{9D8B030D-6E8A-4147-A177-3AD203B41FA5}">
                      <a16:colId xmlns:a16="http://schemas.microsoft.com/office/drawing/2014/main" val="20001"/>
                    </a:ext>
                  </a:extLst>
                </a:gridCol>
                <a:gridCol w="2339340">
                  <a:extLst>
                    <a:ext uri="{9D8B030D-6E8A-4147-A177-3AD203B41FA5}">
                      <a16:colId xmlns:a16="http://schemas.microsoft.com/office/drawing/2014/main" val="20002"/>
                    </a:ext>
                  </a:extLst>
                </a:gridCol>
                <a:gridCol w="2339340">
                  <a:extLst>
                    <a:ext uri="{9D8B030D-6E8A-4147-A177-3AD203B41FA5}">
                      <a16:colId xmlns:a16="http://schemas.microsoft.com/office/drawing/2014/main" val="20003"/>
                    </a:ext>
                  </a:extLst>
                </a:gridCol>
                <a:gridCol w="2339340">
                  <a:extLst>
                    <a:ext uri="{9D8B030D-6E8A-4147-A177-3AD203B41FA5}">
                      <a16:colId xmlns:a16="http://schemas.microsoft.com/office/drawing/2014/main" val="20004"/>
                    </a:ext>
                  </a:extLst>
                </a:gridCol>
              </a:tblGrid>
              <a:tr h="708280">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Oda</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m²</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Bina yaşı</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Merkeze uzaklık</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dirty="0">
                          <a:solidFill>
                            <a:srgbClr val="0F5257"/>
                          </a:solidFill>
                          <a:latin typeface="Chromatica"/>
                        </a:rPr>
                        <a:t>Fiyat</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extLst>
                  <a:ext uri="{0D108BD9-81ED-4DB2-BD59-A6C34878D82A}">
                    <a16:rowId xmlns:a16="http://schemas.microsoft.com/office/drawing/2014/main" val="10000"/>
                  </a:ext>
                </a:extLst>
              </a:tr>
              <a:tr h="708280">
                <a:tc>
                  <a:txBody>
                    <a:bodyPr/>
                    <a:lstStyle/>
                    <a:p>
                      <a:pPr marL="0" indent="0" algn="ctr">
                        <a:buNone/>
                      </a:pPr>
                      <a:r>
                        <a:rPr lang="en-US" sz="2400" b="1" dirty="0">
                          <a:solidFill>
                            <a:srgbClr val="1E2B2B"/>
                          </a:solidFill>
                          <a:latin typeface="Chromatica"/>
                        </a:rPr>
                        <a:t>0.3</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0.6</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0.2</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0.5</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0.85</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extLst>
                  <a:ext uri="{0D108BD9-81ED-4DB2-BD59-A6C34878D82A}">
                    <a16:rowId xmlns:a16="http://schemas.microsoft.com/office/drawing/2014/main" val="10001"/>
                  </a:ext>
                </a:extLst>
              </a:tr>
            </a:tbl>
          </a:graphicData>
        </a:graphic>
      </p:graphicFrame>
      <p:sp>
        <p:nvSpPr>
          <p:cNvPr id="16" name="Text 16">
            <a:extLst>
              <a:ext uri="{FF2B5EF4-FFF2-40B4-BE49-F238E27FC236}">
                <a16:creationId xmlns:a16="http://schemas.microsoft.com/office/drawing/2014/main" id="{1C1F80E1-68F5-FB40-7666-096F11BB95EC}"/>
              </a:ext>
            </a:extLst>
          </p:cNvPr>
          <p:cNvSpPr/>
          <p:nvPr/>
        </p:nvSpPr>
        <p:spPr>
          <a:xfrm>
            <a:off x="1779495" y="4490957"/>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0.3</a:t>
            </a:r>
            <a:endParaRPr lang="en-US" dirty="0">
              <a:latin typeface="Chromatica"/>
            </a:endParaRPr>
          </a:p>
        </p:txBody>
      </p:sp>
      <p:sp>
        <p:nvSpPr>
          <p:cNvPr id="17" name="Text 16">
            <a:extLst>
              <a:ext uri="{FF2B5EF4-FFF2-40B4-BE49-F238E27FC236}">
                <a16:creationId xmlns:a16="http://schemas.microsoft.com/office/drawing/2014/main" id="{53B32AC1-C944-C0F7-2585-E8AC36BA6C76}"/>
              </a:ext>
            </a:extLst>
          </p:cNvPr>
          <p:cNvSpPr/>
          <p:nvPr/>
        </p:nvSpPr>
        <p:spPr>
          <a:xfrm>
            <a:off x="1779495" y="6715496"/>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0.6</a:t>
            </a:r>
            <a:endParaRPr lang="en-US" dirty="0">
              <a:latin typeface="Chromatica"/>
            </a:endParaRPr>
          </a:p>
        </p:txBody>
      </p:sp>
      <p:sp>
        <p:nvSpPr>
          <p:cNvPr id="20" name="Text 16">
            <a:extLst>
              <a:ext uri="{FF2B5EF4-FFF2-40B4-BE49-F238E27FC236}">
                <a16:creationId xmlns:a16="http://schemas.microsoft.com/office/drawing/2014/main" id="{C96C26C7-8980-C0DA-4156-CB6B7FF4CB65}"/>
              </a:ext>
            </a:extLst>
          </p:cNvPr>
          <p:cNvSpPr/>
          <p:nvPr/>
        </p:nvSpPr>
        <p:spPr>
          <a:xfrm>
            <a:off x="1779494" y="8953283"/>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0.2</a:t>
            </a:r>
            <a:endParaRPr lang="en-US" dirty="0">
              <a:latin typeface="Chromatica"/>
            </a:endParaRPr>
          </a:p>
        </p:txBody>
      </p:sp>
      <p:sp>
        <p:nvSpPr>
          <p:cNvPr id="21" name="Text 16">
            <a:extLst>
              <a:ext uri="{FF2B5EF4-FFF2-40B4-BE49-F238E27FC236}">
                <a16:creationId xmlns:a16="http://schemas.microsoft.com/office/drawing/2014/main" id="{F9DA7214-7DAB-DC04-FBED-823BAA9D4500}"/>
              </a:ext>
            </a:extLst>
          </p:cNvPr>
          <p:cNvSpPr/>
          <p:nvPr/>
        </p:nvSpPr>
        <p:spPr>
          <a:xfrm>
            <a:off x="1797783" y="11200305"/>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0.5</a:t>
            </a:r>
            <a:endParaRPr lang="en-US" dirty="0">
              <a:latin typeface="Chromatica"/>
            </a:endParaRPr>
          </a:p>
        </p:txBody>
      </p:sp>
      <mc:AlternateContent xmlns:mc="http://schemas.openxmlformats.org/markup-compatibility/2006" xmlns:a14="http://schemas.microsoft.com/office/drawing/2010/main">
        <mc:Choice Requires="a14">
          <p:sp>
            <p:nvSpPr>
              <p:cNvPr id="23" name="Text 26">
                <a:extLst>
                  <a:ext uri="{FF2B5EF4-FFF2-40B4-BE49-F238E27FC236}">
                    <a16:creationId xmlns:a16="http://schemas.microsoft.com/office/drawing/2014/main" id="{1AF6621F-D7E4-051B-7073-3EF3FD794C64}"/>
                  </a:ext>
                </a:extLst>
              </p:cNvPr>
              <p:cNvSpPr/>
              <p:nvPr/>
            </p:nvSpPr>
            <p:spPr>
              <a:xfrm>
                <a:off x="13091531" y="5318853"/>
                <a:ext cx="6732661" cy="1762308"/>
              </a:xfrm>
              <a:prstGeom prst="rect">
                <a:avLst/>
              </a:prstGeom>
              <a:noFill/>
              <a:ln/>
            </p:spPr>
            <p:txBody>
              <a:bodyPr wrap="square" rtlCol="0" anchor="ctr"/>
              <a:lstStyle/>
              <a:p>
                <a:pPr algn="l">
                  <a:lnSpc>
                    <a:spcPct val="115000"/>
                  </a:lnSpc>
                </a:pPr>
                <a14:m>
                  <m:oMathPara xmlns:m="http://schemas.openxmlformats.org/officeDocument/2006/math">
                    <m:oMathParaPr>
                      <m:jc m:val="left"/>
                    </m:oMathParaPr>
                    <m:oMath xmlns:m="http://schemas.openxmlformats.org/officeDocument/2006/math">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r>
                        <a:rPr lang="en-US" i="1" smtClean="0">
                          <a:solidFill>
                            <a:schemeClr val="bg2">
                              <a:lumMod val="10000"/>
                            </a:schemeClr>
                          </a:solidFill>
                          <a:latin typeface="Cambria Math" panose="02040503050406030204" pitchFamily="18" charset="0"/>
                          <a:ea typeface="Courier New" pitchFamily="34" charset="-122"/>
                          <a:cs typeface="Courier New" pitchFamily="34" charset="-120"/>
                        </a:rPr>
                        <m:t>=</m:t>
                      </m:r>
                      <m:sSub>
                        <m:sSubPr>
                          <m:ctrlPr>
                            <a:rPr lang="en-US" i="1" smtClean="0">
                              <a:solidFill>
                                <a:schemeClr val="bg2">
                                  <a:lumMod val="10000"/>
                                </a:schemeClr>
                              </a:solidFill>
                              <a:latin typeface="Cambria Math" panose="02040503050406030204" pitchFamily="18" charset="0"/>
                              <a:cs typeface="Courier New" pitchFamily="34" charset="-120"/>
                            </a:rPr>
                          </m:ctrlPr>
                        </m:sSubPr>
                        <m:e>
                          <m:r>
                            <a:rPr lang="de-DE" b="0" i="1" smtClean="0">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1 </m:t>
                          </m:r>
                        </m:sub>
                      </m:sSub>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1</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2</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2</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3</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3</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4</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4</m:t>
                          </m:r>
                        </m:sup>
                      </m:sSubSup>
                      <m:r>
                        <a:rPr lang="de-DE" b="0" i="1" smtClean="0">
                          <a:solidFill>
                            <a:schemeClr val="bg2">
                              <a:lumMod val="10000"/>
                            </a:schemeClr>
                          </a:solidFill>
                          <a:latin typeface="Cambria Math" panose="02040503050406030204" pitchFamily="18" charset="0"/>
                          <a:cs typeface="Courier New" pitchFamily="34" charset="-120"/>
                        </a:rPr>
                        <m:t>+</m:t>
                      </m:r>
                      <m:sSubSup>
                        <m:sSubSupPr>
                          <m:ctrlPr>
                            <a:rPr lang="en-US" b="0"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𝑏</m:t>
                          </m:r>
                        </m:e>
                        <m:sub>
                          <m:r>
                            <a:rPr lang="de-DE" b="0" i="1" smtClean="0">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1</m:t>
                          </m:r>
                        </m:sup>
                      </m:sSubSup>
                    </m:oMath>
                  </m:oMathPara>
                </a14:m>
                <a:endParaRPr lang="en-US" dirty="0">
                  <a:solidFill>
                    <a:schemeClr val="bg2">
                      <a:lumMod val="10000"/>
                    </a:schemeClr>
                  </a:solidFill>
                  <a:latin typeface="Chromatica"/>
                </a:endParaRP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r>
                      <a:rPr lang="de-DE" i="1">
                        <a:solidFill>
                          <a:schemeClr val="bg2">
                            <a:lumMod val="10000"/>
                          </a:schemeClr>
                        </a:solidFill>
                        <a:latin typeface="Cambria Math" panose="02040503050406030204" pitchFamily="18" charset="0"/>
                        <a:cs typeface="Courier New" pitchFamily="34" charset="-120"/>
                      </a:rPr>
                      <m:t> </m:t>
                    </m:r>
                  </m:oMath>
                </a14:m>
                <a:r>
                  <a:rPr lang="en-US" dirty="0">
                    <a:solidFill>
                      <a:schemeClr val="bg2">
                        <a:lumMod val="10000"/>
                      </a:schemeClr>
                    </a:solidFill>
                    <a:latin typeface="Chromatica"/>
                    <a:ea typeface="Courier New" pitchFamily="34" charset="-122"/>
                    <a:cs typeface="Courier New" pitchFamily="34" charset="-120"/>
                  </a:rPr>
                  <a:t>= 0.3*0.1 + 0.6*0.3 + 0.2*0.5 + 0.5*0.7 + 0.1</a:t>
                </a: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oMath>
                </a14:m>
                <a:r>
                  <a:rPr lang="en-US" dirty="0">
                    <a:solidFill>
                      <a:schemeClr val="bg2">
                        <a:lumMod val="10000"/>
                      </a:schemeClr>
                    </a:solidFill>
                    <a:latin typeface="Chromatica"/>
                    <a:ea typeface="Courier New" pitchFamily="34" charset="-122"/>
                    <a:cs typeface="Courier New" pitchFamily="34" charset="-120"/>
                  </a:rPr>
                  <a:t> = 0.03 + 0.18 + 0.10 + 0.35 + 0.1</a:t>
                </a: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oMath>
                </a14:m>
                <a:r>
                  <a:rPr lang="en-US" dirty="0">
                    <a:solidFill>
                      <a:schemeClr val="bg2">
                        <a:lumMod val="10000"/>
                      </a:schemeClr>
                    </a:solidFill>
                    <a:latin typeface="Chromatica"/>
                    <a:ea typeface="Courier New" pitchFamily="34" charset="-122"/>
                    <a:cs typeface="Courier New" pitchFamily="34" charset="-120"/>
                  </a:rPr>
                  <a:t> = 0.76</a:t>
                </a:r>
              </a:p>
              <a:p>
                <a:pPr algn="l">
                  <a:lnSpc>
                    <a:spcPct val="115000"/>
                  </a:lnSpc>
                </a:pPr>
                <a14:m>
                  <m:oMath xmlns:m="http://schemas.openxmlformats.org/officeDocument/2006/math">
                    <m:sSubSup>
                      <m:sSubSupPr>
                        <m:ctrlPr>
                          <a:rPr lang="en-US" b="1" i="1">
                            <a:solidFill>
                              <a:schemeClr val="bg2">
                                <a:lumMod val="10000"/>
                              </a:schemeClr>
                            </a:solidFill>
                            <a:latin typeface="Cambria Math" panose="02040503050406030204" pitchFamily="18" charset="0"/>
                            <a:cs typeface="Courier New" pitchFamily="34" charset="-120"/>
                          </a:rPr>
                        </m:ctrlPr>
                      </m:sSubSupPr>
                      <m:e>
                        <m:r>
                          <a:rPr lang="de-DE" b="1" i="1" smtClean="0">
                            <a:solidFill>
                              <a:schemeClr val="bg2">
                                <a:lumMod val="10000"/>
                              </a:schemeClr>
                            </a:solidFill>
                            <a:latin typeface="Cambria Math" panose="02040503050406030204" pitchFamily="18" charset="0"/>
                            <a:cs typeface="Courier New" pitchFamily="34" charset="-120"/>
                          </a:rPr>
                          <m:t>𝒂</m:t>
                        </m:r>
                      </m:e>
                      <m:sub>
                        <m:r>
                          <a:rPr lang="de-DE" b="1" i="1" smtClean="0">
                            <a:solidFill>
                              <a:schemeClr val="bg2">
                                <a:lumMod val="10000"/>
                              </a:schemeClr>
                            </a:solidFill>
                            <a:latin typeface="Cambria Math" panose="02040503050406030204" pitchFamily="18" charset="0"/>
                            <a:cs typeface="Courier New" pitchFamily="34" charset="-120"/>
                          </a:rPr>
                          <m:t>𝟏</m:t>
                        </m:r>
                      </m:sub>
                      <m:sup>
                        <m:r>
                          <a:rPr lang="de-DE" b="1" i="1">
                            <a:solidFill>
                              <a:schemeClr val="bg2">
                                <a:lumMod val="10000"/>
                              </a:schemeClr>
                            </a:solidFill>
                            <a:latin typeface="Cambria Math" panose="02040503050406030204" pitchFamily="18" charset="0"/>
                            <a:cs typeface="Courier New" pitchFamily="34" charset="-120"/>
                          </a:rPr>
                          <m:t>𝟏</m:t>
                        </m:r>
                      </m:sup>
                    </m:sSubSup>
                  </m:oMath>
                </a14:m>
                <a:r>
                  <a:rPr lang="en-US" b="1" dirty="0">
                    <a:solidFill>
                      <a:schemeClr val="bg2">
                        <a:lumMod val="10000"/>
                      </a:schemeClr>
                    </a:solidFill>
                    <a:latin typeface="Chromatica"/>
                    <a:ea typeface="Courier New" pitchFamily="34" charset="-122"/>
                    <a:cs typeface="Courier New" pitchFamily="34" charset="-120"/>
                  </a:rPr>
                  <a:t> = ReLU(0.76) = 0.76</a:t>
                </a:r>
                <a:endParaRPr lang="en-US" b="1" dirty="0">
                  <a:solidFill>
                    <a:schemeClr val="bg2">
                      <a:lumMod val="10000"/>
                    </a:schemeClr>
                  </a:solidFill>
                  <a:latin typeface="Chromatica"/>
                </a:endParaRPr>
              </a:p>
            </p:txBody>
          </p:sp>
        </mc:Choice>
        <mc:Fallback xmlns="">
          <p:sp>
            <p:nvSpPr>
              <p:cNvPr id="23" name="Text 26">
                <a:extLst>
                  <a:ext uri="{FF2B5EF4-FFF2-40B4-BE49-F238E27FC236}">
                    <a16:creationId xmlns:a16="http://schemas.microsoft.com/office/drawing/2014/main" id="{1AF6621F-D7E4-051B-7073-3EF3FD794C64}"/>
                  </a:ext>
                </a:extLst>
              </p:cNvPr>
              <p:cNvSpPr>
                <a:spLocks noRot="1" noChangeAspect="1" noMove="1" noResize="1" noEditPoints="1" noAdjustHandles="1" noChangeArrowheads="1" noChangeShapeType="1" noTextEdit="1"/>
              </p:cNvSpPr>
              <p:nvPr/>
            </p:nvSpPr>
            <p:spPr>
              <a:xfrm>
                <a:off x="13091531" y="5318853"/>
                <a:ext cx="6732661" cy="1762308"/>
              </a:xfrm>
              <a:prstGeom prst="rect">
                <a:avLst/>
              </a:prstGeom>
              <a:blipFill>
                <a:blip r:embed="rId2"/>
                <a:stretch>
                  <a:fillRect t="-6574" b="-20415"/>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5" name="Text 16">
                <a:extLst>
                  <a:ext uri="{FF2B5EF4-FFF2-40B4-BE49-F238E27FC236}">
                    <a16:creationId xmlns:a16="http://schemas.microsoft.com/office/drawing/2014/main" id="{9919879F-1B7E-8EAF-00F8-0DCDB5F479CF}"/>
                  </a:ext>
                </a:extLst>
              </p:cNvPr>
              <p:cNvSpPr/>
              <p:nvPr/>
            </p:nvSpPr>
            <p:spPr>
              <a:xfrm>
                <a:off x="8614635" y="6007217"/>
                <a:ext cx="862915" cy="827896"/>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𝒛</m:t>
                          </m:r>
                        </m:e>
                        <m:sub>
                          <m:r>
                            <a:rPr lang="de-DE" b="1" i="1" smtClean="0">
                              <a:solidFill>
                                <a:srgbClr val="FFFFFF"/>
                              </a:solidFill>
                              <a:latin typeface="Cambria Math" panose="02040503050406030204" pitchFamily="18" charset="0"/>
                              <a:cs typeface="Arial" pitchFamily="34" charset="-120"/>
                            </a:rPr>
                            <m:t>𝟏</m:t>
                          </m:r>
                        </m:sub>
                        <m:sup>
                          <m:r>
                            <a:rPr lang="de-DE" b="1" i="1" smtClean="0">
                              <a:solidFill>
                                <a:srgbClr val="FFFFFF"/>
                              </a:solidFill>
                              <a:latin typeface="Cambria Math" panose="02040503050406030204" pitchFamily="18" charset="0"/>
                              <a:cs typeface="Arial" pitchFamily="34" charset="-120"/>
                            </a:rPr>
                            <m:t>𝟏</m:t>
                          </m:r>
                        </m:sup>
                      </m:sSubSup>
                    </m:oMath>
                  </m:oMathPara>
                </a14:m>
                <a:endParaRPr lang="en-US" dirty="0">
                  <a:latin typeface="Chromatica"/>
                </a:endParaRPr>
              </a:p>
            </p:txBody>
          </p:sp>
        </mc:Choice>
        <mc:Fallback xmlns="">
          <p:sp>
            <p:nvSpPr>
              <p:cNvPr id="25" name="Text 16">
                <a:extLst>
                  <a:ext uri="{FF2B5EF4-FFF2-40B4-BE49-F238E27FC236}">
                    <a16:creationId xmlns:a16="http://schemas.microsoft.com/office/drawing/2014/main" id="{9919879F-1B7E-8EAF-00F8-0DCDB5F479CF}"/>
                  </a:ext>
                </a:extLst>
              </p:cNvPr>
              <p:cNvSpPr>
                <a:spLocks noRot="1" noChangeAspect="1" noMove="1" noResize="1" noEditPoints="1" noAdjustHandles="1" noChangeArrowheads="1" noChangeShapeType="1" noTextEdit="1"/>
              </p:cNvSpPr>
              <p:nvPr/>
            </p:nvSpPr>
            <p:spPr>
              <a:xfrm>
                <a:off x="8614635" y="6007217"/>
                <a:ext cx="862915" cy="827896"/>
              </a:xfrm>
              <a:prstGeom prst="rect">
                <a:avLst/>
              </a:prstGeom>
              <a:blipFill>
                <a:blip r:embed="rId3"/>
                <a:stretch>
                  <a:fillRect/>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7" name="Text 16">
                <a:extLst>
                  <a:ext uri="{FF2B5EF4-FFF2-40B4-BE49-F238E27FC236}">
                    <a16:creationId xmlns:a16="http://schemas.microsoft.com/office/drawing/2014/main" id="{8C78A0AE-B1EE-8796-F376-8E5D22CB6818}"/>
                  </a:ext>
                </a:extLst>
              </p:cNvPr>
              <p:cNvSpPr/>
              <p:nvPr/>
            </p:nvSpPr>
            <p:spPr>
              <a:xfrm>
                <a:off x="8530444" y="8940035"/>
                <a:ext cx="862915" cy="827896"/>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𝒛</m:t>
                          </m:r>
                        </m:e>
                        <m:sub>
                          <m:r>
                            <a:rPr lang="de-DE" b="1" i="1" smtClean="0">
                              <a:solidFill>
                                <a:srgbClr val="FFFFFF"/>
                              </a:solidFill>
                              <a:latin typeface="Cambria Math" panose="02040503050406030204" pitchFamily="18" charset="0"/>
                              <a:cs typeface="Arial" pitchFamily="34" charset="-120"/>
                            </a:rPr>
                            <m:t>𝟐</m:t>
                          </m:r>
                        </m:sub>
                        <m:sup>
                          <m:r>
                            <a:rPr lang="de-DE" b="1" i="1" smtClean="0">
                              <a:solidFill>
                                <a:srgbClr val="FFFFFF"/>
                              </a:solidFill>
                              <a:latin typeface="Cambria Math" panose="02040503050406030204" pitchFamily="18" charset="0"/>
                              <a:cs typeface="Arial" pitchFamily="34" charset="-120"/>
                            </a:rPr>
                            <m:t>𝟏</m:t>
                          </m:r>
                        </m:sup>
                      </m:sSubSup>
                    </m:oMath>
                  </m:oMathPara>
                </a14:m>
                <a:endParaRPr lang="en-US" dirty="0">
                  <a:latin typeface="Chromatica"/>
                </a:endParaRPr>
              </a:p>
            </p:txBody>
          </p:sp>
        </mc:Choice>
        <mc:Fallback xmlns="">
          <p:sp>
            <p:nvSpPr>
              <p:cNvPr id="27" name="Text 16">
                <a:extLst>
                  <a:ext uri="{FF2B5EF4-FFF2-40B4-BE49-F238E27FC236}">
                    <a16:creationId xmlns:a16="http://schemas.microsoft.com/office/drawing/2014/main" id="{8C78A0AE-B1EE-8796-F376-8E5D22CB6818}"/>
                  </a:ext>
                </a:extLst>
              </p:cNvPr>
              <p:cNvSpPr>
                <a:spLocks noRot="1" noChangeAspect="1" noMove="1" noResize="1" noEditPoints="1" noAdjustHandles="1" noChangeArrowheads="1" noChangeShapeType="1" noTextEdit="1"/>
              </p:cNvSpPr>
              <p:nvPr/>
            </p:nvSpPr>
            <p:spPr>
              <a:xfrm>
                <a:off x="8530444" y="8940035"/>
                <a:ext cx="862915" cy="827896"/>
              </a:xfrm>
              <a:prstGeom prst="rect">
                <a:avLst/>
              </a:prstGeom>
              <a:blipFill>
                <a:blip r:embed="rId4"/>
                <a:stretch>
                  <a:fillRect/>
                </a:stretch>
              </a:blipFill>
              <a:ln/>
            </p:spPr>
            <p:txBody>
              <a:bodyPr/>
              <a:lstStyle/>
              <a:p>
                <a:r>
                  <a:rPr lang="de-DE">
                    <a:noFill/>
                  </a:rPr>
                  <a:t> </a:t>
                </a:r>
              </a:p>
            </p:txBody>
          </p:sp>
        </mc:Fallback>
      </mc:AlternateContent>
      <p:cxnSp>
        <p:nvCxnSpPr>
          <p:cNvPr id="31" name="Gerade Verbindung mit Pfeil 30">
            <a:extLst>
              <a:ext uri="{FF2B5EF4-FFF2-40B4-BE49-F238E27FC236}">
                <a16:creationId xmlns:a16="http://schemas.microsoft.com/office/drawing/2014/main" id="{793167C5-C40F-E7F7-02EA-9337231B9562}"/>
              </a:ext>
            </a:extLst>
          </p:cNvPr>
          <p:cNvCxnSpPr>
            <a:cxnSpLocks/>
            <a:stCxn id="5" idx="6"/>
            <a:endCxn id="9" idx="2"/>
          </p:cNvCxnSpPr>
          <p:nvPr/>
        </p:nvCxnSpPr>
        <p:spPr>
          <a:xfrm>
            <a:off x="2887609" y="4904905"/>
            <a:ext cx="5500116" cy="153412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3" name="Gerade Verbindung mit Pfeil 32">
            <a:extLst>
              <a:ext uri="{FF2B5EF4-FFF2-40B4-BE49-F238E27FC236}">
                <a16:creationId xmlns:a16="http://schemas.microsoft.com/office/drawing/2014/main" id="{794D8832-4DCD-6CC2-992C-B27BE39C8A06}"/>
              </a:ext>
            </a:extLst>
          </p:cNvPr>
          <p:cNvCxnSpPr>
            <a:cxnSpLocks/>
            <a:stCxn id="6" idx="6"/>
            <a:endCxn id="9" idx="2"/>
          </p:cNvCxnSpPr>
          <p:nvPr/>
        </p:nvCxnSpPr>
        <p:spPr>
          <a:xfrm flipV="1">
            <a:off x="2887609" y="6439030"/>
            <a:ext cx="5500116" cy="69041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5" name="Gerade Verbindung mit Pfeil 34">
            <a:extLst>
              <a:ext uri="{FF2B5EF4-FFF2-40B4-BE49-F238E27FC236}">
                <a16:creationId xmlns:a16="http://schemas.microsoft.com/office/drawing/2014/main" id="{A45A7437-CF5C-3118-541C-43949BFF60B6}"/>
              </a:ext>
            </a:extLst>
          </p:cNvPr>
          <p:cNvCxnSpPr>
            <a:cxnSpLocks/>
            <a:stCxn id="7" idx="6"/>
            <a:endCxn id="9" idx="2"/>
          </p:cNvCxnSpPr>
          <p:nvPr/>
        </p:nvCxnSpPr>
        <p:spPr>
          <a:xfrm flipV="1">
            <a:off x="2869321" y="6439030"/>
            <a:ext cx="5518404" cy="291495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7" name="Gerade Verbindung mit Pfeil 36">
            <a:extLst>
              <a:ext uri="{FF2B5EF4-FFF2-40B4-BE49-F238E27FC236}">
                <a16:creationId xmlns:a16="http://schemas.microsoft.com/office/drawing/2014/main" id="{7793C227-3D19-5BDE-E4F1-ADC4DE8F21FF}"/>
              </a:ext>
            </a:extLst>
          </p:cNvPr>
          <p:cNvCxnSpPr>
            <a:stCxn id="8" idx="6"/>
            <a:endCxn id="9" idx="2"/>
          </p:cNvCxnSpPr>
          <p:nvPr/>
        </p:nvCxnSpPr>
        <p:spPr>
          <a:xfrm flipV="1">
            <a:off x="2869321" y="6439030"/>
            <a:ext cx="5518404" cy="517522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8" name="TextBox 37"/>
          <p:cNvSpPr txBox="1"/>
          <p:nvPr/>
        </p:nvSpPr>
        <p:spPr>
          <a:xfrm>
            <a:off x="1307592" y="3520440"/>
            <a:ext cx="11695176" cy="502920"/>
          </a:xfrm>
          <a:prstGeom prst="rect">
            <a:avLst/>
          </a:prstGeom>
          <a:noFill/>
        </p:spPr>
        <p:txBody>
          <a:bodyPr wrap="square" lIns="0" rIns="0">
            <a:spAutoFit/>
          </a:bodyPr>
          <a:lstStyle/>
          <a:p>
            <a:pPr algn="l"/>
            <a:r>
              <a:rPr sz="1800">
                <a:solidFill>
                  <a:srgbClr val="6E6E6E"/>
                </a:solidFill>
              </a:rPr>
              <a:t>Değerler ölçeklendi:  3 oda → 0.3,   120 m² → 0.6,   10 yıl → 0.2,   5 km → 0.5,   850 bin € → 0.85</a:t>
            </a:r>
          </a:p>
        </p:txBody>
      </p:sp>
    </p:spTree>
    <p:extLst>
      <p:ext uri="{BB962C8B-B14F-4D97-AF65-F5344CB8AC3E}">
        <p14:creationId xmlns:p14="http://schemas.microsoft.com/office/powerpoint/2010/main" val="347232180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32A80-9B08-B27D-726D-3562E694D580}"/>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5C60FB50-D43C-D641-FDEA-E33F81CF874A}"/>
              </a:ext>
            </a:extLst>
          </p:cNvPr>
          <p:cNvSpPr>
            <a:spLocks noGrp="1"/>
          </p:cNvSpPr>
          <p:nvPr>
            <p:ph type="body" sz="quarter" idx="22"/>
          </p:nvPr>
        </p:nvSpPr>
        <p:spPr/>
        <p:txBody>
          <a:bodyPr/>
          <a:lstStyle/>
          <a:p>
            <a:r>
              <a:rPr lang="de-DE" dirty="0"/>
              <a:t>Forward </a:t>
            </a:r>
            <a:r>
              <a:rPr lang="de-DE" dirty="0" err="1"/>
              <a:t>Propagation</a:t>
            </a:r>
            <a:endParaRPr lang="de-DE" dirty="0"/>
          </a:p>
        </p:txBody>
      </p:sp>
      <p:sp>
        <p:nvSpPr>
          <p:cNvPr id="5" name="Shape 2">
            <a:extLst>
              <a:ext uri="{FF2B5EF4-FFF2-40B4-BE49-F238E27FC236}">
                <a16:creationId xmlns:a16="http://schemas.microsoft.com/office/drawing/2014/main" id="{54587B33-A54C-2A71-2313-11018B832B0B}"/>
              </a:ext>
            </a:extLst>
          </p:cNvPr>
          <p:cNvSpPr/>
          <p:nvPr/>
        </p:nvSpPr>
        <p:spPr>
          <a:xfrm>
            <a:off x="1570873" y="4196625"/>
            <a:ext cx="1316736" cy="1416559"/>
          </a:xfrm>
          <a:prstGeom prst="ellipse">
            <a:avLst/>
          </a:prstGeom>
          <a:solidFill>
            <a:srgbClr val="1B9E8A"/>
          </a:solidFill>
          <a:ln/>
        </p:spPr>
        <p:txBody>
          <a:bodyPr/>
          <a:lstStyle/>
          <a:p>
            <a:endParaRPr lang="de-DE" dirty="0"/>
          </a:p>
        </p:txBody>
      </p:sp>
      <p:sp>
        <p:nvSpPr>
          <p:cNvPr id="6" name="Shape 2">
            <a:extLst>
              <a:ext uri="{FF2B5EF4-FFF2-40B4-BE49-F238E27FC236}">
                <a16:creationId xmlns:a16="http://schemas.microsoft.com/office/drawing/2014/main" id="{5304B4D2-C171-F7BA-5B9C-1140FCC3E33B}"/>
              </a:ext>
            </a:extLst>
          </p:cNvPr>
          <p:cNvSpPr/>
          <p:nvPr/>
        </p:nvSpPr>
        <p:spPr>
          <a:xfrm>
            <a:off x="1570873" y="6421165"/>
            <a:ext cx="1316736" cy="1416559"/>
          </a:xfrm>
          <a:prstGeom prst="ellipse">
            <a:avLst/>
          </a:prstGeom>
          <a:solidFill>
            <a:srgbClr val="1B9E8A"/>
          </a:solidFill>
          <a:ln/>
        </p:spPr>
        <p:txBody>
          <a:bodyPr/>
          <a:lstStyle/>
          <a:p>
            <a:endParaRPr lang="de-DE"/>
          </a:p>
        </p:txBody>
      </p:sp>
      <p:sp>
        <p:nvSpPr>
          <p:cNvPr id="7" name="Shape 2">
            <a:extLst>
              <a:ext uri="{FF2B5EF4-FFF2-40B4-BE49-F238E27FC236}">
                <a16:creationId xmlns:a16="http://schemas.microsoft.com/office/drawing/2014/main" id="{0556B94D-04F5-186F-2C10-A4FFB1A3BC8F}"/>
              </a:ext>
            </a:extLst>
          </p:cNvPr>
          <p:cNvSpPr/>
          <p:nvPr/>
        </p:nvSpPr>
        <p:spPr>
          <a:xfrm>
            <a:off x="1552585" y="8645705"/>
            <a:ext cx="1316736" cy="1416559"/>
          </a:xfrm>
          <a:prstGeom prst="ellipse">
            <a:avLst/>
          </a:prstGeom>
          <a:solidFill>
            <a:srgbClr val="1B9E8A"/>
          </a:solidFill>
          <a:ln/>
        </p:spPr>
        <p:txBody>
          <a:bodyPr/>
          <a:lstStyle/>
          <a:p>
            <a:endParaRPr lang="de-DE"/>
          </a:p>
        </p:txBody>
      </p:sp>
      <p:sp>
        <p:nvSpPr>
          <p:cNvPr id="8" name="Shape 2">
            <a:extLst>
              <a:ext uri="{FF2B5EF4-FFF2-40B4-BE49-F238E27FC236}">
                <a16:creationId xmlns:a16="http://schemas.microsoft.com/office/drawing/2014/main" id="{57D738C2-E3D6-2207-15B3-BF691B3F63AD}"/>
              </a:ext>
            </a:extLst>
          </p:cNvPr>
          <p:cNvSpPr/>
          <p:nvPr/>
        </p:nvSpPr>
        <p:spPr>
          <a:xfrm>
            <a:off x="1552585" y="10905974"/>
            <a:ext cx="1316736" cy="1416559"/>
          </a:xfrm>
          <a:prstGeom prst="ellipse">
            <a:avLst/>
          </a:prstGeom>
          <a:solidFill>
            <a:srgbClr val="1B9E8A"/>
          </a:solidFill>
          <a:ln/>
        </p:spPr>
        <p:txBody>
          <a:bodyPr/>
          <a:lstStyle/>
          <a:p>
            <a:endParaRPr lang="de-DE"/>
          </a:p>
        </p:txBody>
      </p:sp>
      <p:sp>
        <p:nvSpPr>
          <p:cNvPr id="9" name="Shape 2">
            <a:extLst>
              <a:ext uri="{FF2B5EF4-FFF2-40B4-BE49-F238E27FC236}">
                <a16:creationId xmlns:a16="http://schemas.microsoft.com/office/drawing/2014/main" id="{DBDE146E-7946-FB3A-0B39-E13D7532F0D6}"/>
              </a:ext>
            </a:extLst>
          </p:cNvPr>
          <p:cNvSpPr/>
          <p:nvPr/>
        </p:nvSpPr>
        <p:spPr>
          <a:xfrm>
            <a:off x="8387725" y="5730750"/>
            <a:ext cx="1316736" cy="1416559"/>
          </a:xfrm>
          <a:prstGeom prst="ellipse">
            <a:avLst/>
          </a:prstGeom>
          <a:solidFill>
            <a:srgbClr val="1B9E8A"/>
          </a:solidFill>
          <a:ln/>
        </p:spPr>
        <p:txBody>
          <a:bodyPr/>
          <a:lstStyle/>
          <a:p>
            <a:endParaRPr lang="de-DE"/>
          </a:p>
        </p:txBody>
      </p:sp>
      <p:sp>
        <p:nvSpPr>
          <p:cNvPr id="10" name="Shape 2">
            <a:extLst>
              <a:ext uri="{FF2B5EF4-FFF2-40B4-BE49-F238E27FC236}">
                <a16:creationId xmlns:a16="http://schemas.microsoft.com/office/drawing/2014/main" id="{7FA48CF0-9D61-B2A3-D4C4-F35FBBB92F64}"/>
              </a:ext>
            </a:extLst>
          </p:cNvPr>
          <p:cNvSpPr/>
          <p:nvPr/>
        </p:nvSpPr>
        <p:spPr>
          <a:xfrm>
            <a:off x="8303534" y="8645704"/>
            <a:ext cx="1316736" cy="1416559"/>
          </a:xfrm>
          <a:prstGeom prst="ellipse">
            <a:avLst/>
          </a:prstGeom>
          <a:solidFill>
            <a:srgbClr val="1B9E8A"/>
          </a:solidFill>
          <a:ln/>
        </p:spPr>
        <p:txBody>
          <a:bodyPr/>
          <a:lstStyle/>
          <a:p>
            <a:endParaRPr lang="de-DE"/>
          </a:p>
        </p:txBody>
      </p:sp>
      <p:sp>
        <p:nvSpPr>
          <p:cNvPr id="12" name="Shape 24">
            <a:extLst>
              <a:ext uri="{FF2B5EF4-FFF2-40B4-BE49-F238E27FC236}">
                <a16:creationId xmlns:a16="http://schemas.microsoft.com/office/drawing/2014/main" id="{764E0DE3-C556-7F77-F07B-39742AA46366}"/>
              </a:ext>
            </a:extLst>
          </p:cNvPr>
          <p:cNvSpPr>
            <a:spLocks noGrp="1"/>
          </p:cNvSpPr>
          <p:nvPr>
            <p:ph type="body" sz="quarter" idx="23"/>
          </p:nvPr>
        </p:nvSpPr>
        <p:spPr>
          <a:xfrm>
            <a:off x="13007340" y="4904905"/>
            <a:ext cx="10271760" cy="6709349"/>
          </a:xfrm>
          <a:prstGeom prst="roundRect">
            <a:avLst>
              <a:gd name="adj" fmla="val 1714"/>
            </a:avLst>
          </a:prstGeom>
          <a:solidFill>
            <a:srgbClr val="F1F8F6"/>
          </a:solidFill>
          <a:ln/>
          <a:effectLst>
            <a:outerShdw blurRad="101600" dist="38100" dir="5400000" algn="bl" rotWithShape="0">
              <a:srgbClr val="000000">
                <a:alpha val="12000"/>
              </a:srgbClr>
            </a:outerShdw>
          </a:effectLst>
        </p:spPr>
        <p:txBody>
          <a:bodyPr/>
          <a:lstStyle/>
          <a:p>
            <a:endParaRPr lang="de-DE" dirty="0"/>
          </a:p>
          <a:p>
            <a:endParaRPr lang="de-DE" dirty="0"/>
          </a:p>
          <a:p>
            <a:endParaRPr lang="de-DE" dirty="0"/>
          </a:p>
          <a:p>
            <a:endParaRPr lang="de-DE" dirty="0"/>
          </a:p>
          <a:p>
            <a:endParaRPr lang="de-DE" dirty="0"/>
          </a:p>
        </p:txBody>
      </p:sp>
      <p:graphicFrame>
        <p:nvGraphicFramePr>
          <p:cNvPr id="14" name="Table 0">
            <a:extLst>
              <a:ext uri="{FF2B5EF4-FFF2-40B4-BE49-F238E27FC236}">
                <a16:creationId xmlns:a16="http://schemas.microsoft.com/office/drawing/2014/main" id="{42A033E4-9C5B-E46F-044C-CB111ECACDCD}"/>
              </a:ext>
            </a:extLst>
          </p:cNvPr>
          <p:cNvGraphicFramePr>
            <a:graphicFrameLocks noGrp="1"/>
          </p:cNvGraphicFramePr>
          <p:nvPr>
            <p:extLst>
              <p:ext uri="{D42A27DB-BD31-4B8C-83A1-F6EECF244321}">
                <p14:modId xmlns:p14="http://schemas.microsoft.com/office/powerpoint/2010/main" val="3855809317"/>
              </p:ext>
            </p:extLst>
          </p:nvPr>
        </p:nvGraphicFramePr>
        <p:xfrm>
          <a:off x="1310640" y="2035680"/>
          <a:ext cx="11696700" cy="1416560"/>
        </p:xfrm>
        <a:graphic>
          <a:graphicData uri="http://schemas.openxmlformats.org/drawingml/2006/table">
            <a:tbl>
              <a:tblPr/>
              <a:tblGrid>
                <a:gridCol w="2339340">
                  <a:extLst>
                    <a:ext uri="{9D8B030D-6E8A-4147-A177-3AD203B41FA5}">
                      <a16:colId xmlns:a16="http://schemas.microsoft.com/office/drawing/2014/main" val="20000"/>
                    </a:ext>
                  </a:extLst>
                </a:gridCol>
                <a:gridCol w="2339340">
                  <a:extLst>
                    <a:ext uri="{9D8B030D-6E8A-4147-A177-3AD203B41FA5}">
                      <a16:colId xmlns:a16="http://schemas.microsoft.com/office/drawing/2014/main" val="20001"/>
                    </a:ext>
                  </a:extLst>
                </a:gridCol>
                <a:gridCol w="2339340">
                  <a:extLst>
                    <a:ext uri="{9D8B030D-6E8A-4147-A177-3AD203B41FA5}">
                      <a16:colId xmlns:a16="http://schemas.microsoft.com/office/drawing/2014/main" val="20002"/>
                    </a:ext>
                  </a:extLst>
                </a:gridCol>
                <a:gridCol w="2339340">
                  <a:extLst>
                    <a:ext uri="{9D8B030D-6E8A-4147-A177-3AD203B41FA5}">
                      <a16:colId xmlns:a16="http://schemas.microsoft.com/office/drawing/2014/main" val="20003"/>
                    </a:ext>
                  </a:extLst>
                </a:gridCol>
                <a:gridCol w="2339340">
                  <a:extLst>
                    <a:ext uri="{9D8B030D-6E8A-4147-A177-3AD203B41FA5}">
                      <a16:colId xmlns:a16="http://schemas.microsoft.com/office/drawing/2014/main" val="20004"/>
                    </a:ext>
                  </a:extLst>
                </a:gridCol>
              </a:tblGrid>
              <a:tr h="708280">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Oda</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m²</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Bina yaşı</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Merkeze uzaklık</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dirty="0">
                          <a:solidFill>
                            <a:srgbClr val="0F5257"/>
                          </a:solidFill>
                          <a:latin typeface="Chromatica"/>
                        </a:rPr>
                        <a:t>Fiyat</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extLst>
                  <a:ext uri="{0D108BD9-81ED-4DB2-BD59-A6C34878D82A}">
                    <a16:rowId xmlns:a16="http://schemas.microsoft.com/office/drawing/2014/main" val="10000"/>
                  </a:ext>
                </a:extLst>
              </a:tr>
              <a:tr h="708280">
                <a:tc>
                  <a:txBody>
                    <a:bodyPr/>
                    <a:lstStyle/>
                    <a:p>
                      <a:pPr marL="0" indent="0" algn="ctr">
                        <a:buNone/>
                      </a:pPr>
                      <a:r>
                        <a:rPr lang="en-US" sz="2400" b="1" dirty="0">
                          <a:solidFill>
                            <a:srgbClr val="1E2B2B"/>
                          </a:solidFill>
                          <a:latin typeface="Chromatica"/>
                        </a:rPr>
                        <a:t>0.3</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0.6</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0.2</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0.5</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0.85</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extLst>
                  <a:ext uri="{0D108BD9-81ED-4DB2-BD59-A6C34878D82A}">
                    <a16:rowId xmlns:a16="http://schemas.microsoft.com/office/drawing/2014/main" val="10001"/>
                  </a:ext>
                </a:extLst>
              </a:tr>
            </a:tbl>
          </a:graphicData>
        </a:graphic>
      </p:graphicFrame>
      <p:sp>
        <p:nvSpPr>
          <p:cNvPr id="16" name="Text 16">
            <a:extLst>
              <a:ext uri="{FF2B5EF4-FFF2-40B4-BE49-F238E27FC236}">
                <a16:creationId xmlns:a16="http://schemas.microsoft.com/office/drawing/2014/main" id="{582C544A-91BD-50E8-B873-D45AC8B50BF5}"/>
              </a:ext>
            </a:extLst>
          </p:cNvPr>
          <p:cNvSpPr/>
          <p:nvPr/>
        </p:nvSpPr>
        <p:spPr>
          <a:xfrm>
            <a:off x="1779495" y="4490957"/>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0.3</a:t>
            </a:r>
            <a:endParaRPr lang="en-US" dirty="0">
              <a:latin typeface="Chromatica"/>
            </a:endParaRPr>
          </a:p>
        </p:txBody>
      </p:sp>
      <p:sp>
        <p:nvSpPr>
          <p:cNvPr id="17" name="Text 16">
            <a:extLst>
              <a:ext uri="{FF2B5EF4-FFF2-40B4-BE49-F238E27FC236}">
                <a16:creationId xmlns:a16="http://schemas.microsoft.com/office/drawing/2014/main" id="{D217651A-A045-15FC-0F73-58D5F428D97E}"/>
              </a:ext>
            </a:extLst>
          </p:cNvPr>
          <p:cNvSpPr/>
          <p:nvPr/>
        </p:nvSpPr>
        <p:spPr>
          <a:xfrm>
            <a:off x="1779495" y="6715496"/>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0.6</a:t>
            </a:r>
            <a:endParaRPr lang="en-US" dirty="0">
              <a:latin typeface="Chromatica"/>
            </a:endParaRPr>
          </a:p>
        </p:txBody>
      </p:sp>
      <p:sp>
        <p:nvSpPr>
          <p:cNvPr id="20" name="Text 16">
            <a:extLst>
              <a:ext uri="{FF2B5EF4-FFF2-40B4-BE49-F238E27FC236}">
                <a16:creationId xmlns:a16="http://schemas.microsoft.com/office/drawing/2014/main" id="{65C25883-7F20-3D1F-2615-B3817AF86751}"/>
              </a:ext>
            </a:extLst>
          </p:cNvPr>
          <p:cNvSpPr/>
          <p:nvPr/>
        </p:nvSpPr>
        <p:spPr>
          <a:xfrm>
            <a:off x="1779494" y="8953283"/>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0.2</a:t>
            </a:r>
            <a:endParaRPr lang="en-US" dirty="0">
              <a:latin typeface="Chromatica"/>
            </a:endParaRPr>
          </a:p>
        </p:txBody>
      </p:sp>
      <p:sp>
        <p:nvSpPr>
          <p:cNvPr id="21" name="Text 16">
            <a:extLst>
              <a:ext uri="{FF2B5EF4-FFF2-40B4-BE49-F238E27FC236}">
                <a16:creationId xmlns:a16="http://schemas.microsoft.com/office/drawing/2014/main" id="{38DF376E-B128-4288-714D-BAF3377AA3A9}"/>
              </a:ext>
            </a:extLst>
          </p:cNvPr>
          <p:cNvSpPr/>
          <p:nvPr/>
        </p:nvSpPr>
        <p:spPr>
          <a:xfrm>
            <a:off x="1797783" y="11200305"/>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0.5</a:t>
            </a:r>
            <a:endParaRPr lang="en-US" dirty="0">
              <a:latin typeface="Chromatica"/>
            </a:endParaRPr>
          </a:p>
        </p:txBody>
      </p:sp>
      <mc:AlternateContent xmlns:mc="http://schemas.openxmlformats.org/markup-compatibility/2006" xmlns:a14="http://schemas.microsoft.com/office/drawing/2010/main">
        <mc:Choice Requires="a14">
          <p:sp>
            <p:nvSpPr>
              <p:cNvPr id="23" name="Text 26">
                <a:extLst>
                  <a:ext uri="{FF2B5EF4-FFF2-40B4-BE49-F238E27FC236}">
                    <a16:creationId xmlns:a16="http://schemas.microsoft.com/office/drawing/2014/main" id="{0B2A2766-46D8-2A5F-D460-38D8A0C0E522}"/>
                  </a:ext>
                </a:extLst>
              </p:cNvPr>
              <p:cNvSpPr/>
              <p:nvPr/>
            </p:nvSpPr>
            <p:spPr>
              <a:xfrm>
                <a:off x="13091531" y="5318853"/>
                <a:ext cx="6732661" cy="1762308"/>
              </a:xfrm>
              <a:prstGeom prst="rect">
                <a:avLst/>
              </a:prstGeom>
              <a:noFill/>
              <a:ln/>
            </p:spPr>
            <p:txBody>
              <a:bodyPr wrap="square" rtlCol="0" anchor="ctr"/>
              <a:lstStyle/>
              <a:p>
                <a:pPr algn="l">
                  <a:lnSpc>
                    <a:spcPct val="115000"/>
                  </a:lnSpc>
                </a:pPr>
                <a14:m>
                  <m:oMathPara xmlns:m="http://schemas.openxmlformats.org/officeDocument/2006/math">
                    <m:oMathParaPr>
                      <m:jc m:val="left"/>
                    </m:oMathParaPr>
                    <m:oMath xmlns:m="http://schemas.openxmlformats.org/officeDocument/2006/math">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r>
                        <a:rPr lang="en-US" i="1" smtClean="0">
                          <a:solidFill>
                            <a:schemeClr val="bg2">
                              <a:lumMod val="10000"/>
                            </a:schemeClr>
                          </a:solidFill>
                          <a:latin typeface="Cambria Math" panose="02040503050406030204" pitchFamily="18" charset="0"/>
                          <a:ea typeface="Courier New" pitchFamily="34" charset="-122"/>
                          <a:cs typeface="Courier New" pitchFamily="34" charset="-120"/>
                        </a:rPr>
                        <m:t>=</m:t>
                      </m:r>
                      <m:sSub>
                        <m:sSubPr>
                          <m:ctrlPr>
                            <a:rPr lang="en-US" i="1" smtClean="0">
                              <a:solidFill>
                                <a:schemeClr val="bg2">
                                  <a:lumMod val="10000"/>
                                </a:schemeClr>
                              </a:solidFill>
                              <a:latin typeface="Cambria Math" panose="02040503050406030204" pitchFamily="18" charset="0"/>
                              <a:cs typeface="Courier New" pitchFamily="34" charset="-120"/>
                            </a:rPr>
                          </m:ctrlPr>
                        </m:sSubPr>
                        <m:e>
                          <m:r>
                            <a:rPr lang="de-DE" b="0" i="1" smtClean="0">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1 </m:t>
                          </m:r>
                        </m:sub>
                      </m:sSub>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1</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2</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2</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3</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3</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4</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4</m:t>
                          </m:r>
                        </m:sup>
                      </m:sSubSup>
                      <m:r>
                        <a:rPr lang="de-DE" b="0" i="1" smtClean="0">
                          <a:solidFill>
                            <a:schemeClr val="bg2">
                              <a:lumMod val="10000"/>
                            </a:schemeClr>
                          </a:solidFill>
                          <a:latin typeface="Cambria Math" panose="02040503050406030204" pitchFamily="18" charset="0"/>
                          <a:cs typeface="Courier New" pitchFamily="34" charset="-120"/>
                        </a:rPr>
                        <m:t>+</m:t>
                      </m:r>
                      <m:sSubSup>
                        <m:sSubSupPr>
                          <m:ctrlPr>
                            <a:rPr lang="en-US" b="0"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𝑏</m:t>
                          </m:r>
                        </m:e>
                        <m:sub>
                          <m:r>
                            <a:rPr lang="de-DE" b="0" i="1" smtClean="0">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1</m:t>
                          </m:r>
                        </m:sup>
                      </m:sSubSup>
                    </m:oMath>
                  </m:oMathPara>
                </a14:m>
                <a:endParaRPr lang="en-US" dirty="0">
                  <a:solidFill>
                    <a:schemeClr val="bg2">
                      <a:lumMod val="10000"/>
                    </a:schemeClr>
                  </a:solidFill>
                  <a:latin typeface="Chromatica"/>
                </a:endParaRP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r>
                      <a:rPr lang="de-DE" i="1">
                        <a:solidFill>
                          <a:schemeClr val="bg2">
                            <a:lumMod val="10000"/>
                          </a:schemeClr>
                        </a:solidFill>
                        <a:latin typeface="Cambria Math" panose="02040503050406030204" pitchFamily="18" charset="0"/>
                        <a:cs typeface="Courier New" pitchFamily="34" charset="-120"/>
                      </a:rPr>
                      <m:t> </m:t>
                    </m:r>
                  </m:oMath>
                </a14:m>
                <a:r>
                  <a:rPr lang="en-US" dirty="0">
                    <a:solidFill>
                      <a:schemeClr val="bg2">
                        <a:lumMod val="10000"/>
                      </a:schemeClr>
                    </a:solidFill>
                    <a:latin typeface="Chromatica"/>
                    <a:ea typeface="Courier New" pitchFamily="34" charset="-122"/>
                    <a:cs typeface="Courier New" pitchFamily="34" charset="-120"/>
                  </a:rPr>
                  <a:t>= 0.3*0.1 + 0.6*0.3 + 0.2*0.5 + 0.5*0.7 + 0.1</a:t>
                </a: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oMath>
                </a14:m>
                <a:r>
                  <a:rPr lang="en-US" dirty="0">
                    <a:solidFill>
                      <a:schemeClr val="bg2">
                        <a:lumMod val="10000"/>
                      </a:schemeClr>
                    </a:solidFill>
                    <a:latin typeface="Chromatica"/>
                    <a:ea typeface="Courier New" pitchFamily="34" charset="-122"/>
                    <a:cs typeface="Courier New" pitchFamily="34" charset="-120"/>
                  </a:rPr>
                  <a:t> = 0.03 + 0.18 + 0.10 + 0.35 + 0.1</a:t>
                </a: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oMath>
                </a14:m>
                <a:r>
                  <a:rPr lang="en-US" dirty="0">
                    <a:solidFill>
                      <a:schemeClr val="bg2">
                        <a:lumMod val="10000"/>
                      </a:schemeClr>
                    </a:solidFill>
                    <a:latin typeface="Chromatica"/>
                    <a:ea typeface="Courier New" pitchFamily="34" charset="-122"/>
                    <a:cs typeface="Courier New" pitchFamily="34" charset="-120"/>
                  </a:rPr>
                  <a:t> = 0.76</a:t>
                </a:r>
              </a:p>
              <a:p>
                <a:pPr algn="l">
                  <a:lnSpc>
                    <a:spcPct val="115000"/>
                  </a:lnSpc>
                </a:pPr>
                <a14:m>
                  <m:oMath xmlns:m="http://schemas.openxmlformats.org/officeDocument/2006/math">
                    <m:sSubSup>
                      <m:sSubSupPr>
                        <m:ctrlPr>
                          <a:rPr lang="en-US" b="1" i="1">
                            <a:solidFill>
                              <a:schemeClr val="bg2">
                                <a:lumMod val="10000"/>
                              </a:schemeClr>
                            </a:solidFill>
                            <a:latin typeface="Cambria Math" panose="02040503050406030204" pitchFamily="18" charset="0"/>
                            <a:cs typeface="Courier New" pitchFamily="34" charset="-120"/>
                          </a:rPr>
                        </m:ctrlPr>
                      </m:sSubSupPr>
                      <m:e>
                        <m:r>
                          <a:rPr lang="de-DE" b="1" i="1" smtClean="0">
                            <a:solidFill>
                              <a:schemeClr val="bg2">
                                <a:lumMod val="10000"/>
                              </a:schemeClr>
                            </a:solidFill>
                            <a:latin typeface="Cambria Math" panose="02040503050406030204" pitchFamily="18" charset="0"/>
                            <a:cs typeface="Courier New" pitchFamily="34" charset="-120"/>
                          </a:rPr>
                          <m:t>𝒂</m:t>
                        </m:r>
                      </m:e>
                      <m:sub>
                        <m:r>
                          <a:rPr lang="de-DE" b="1" i="1" smtClean="0">
                            <a:solidFill>
                              <a:schemeClr val="bg2">
                                <a:lumMod val="10000"/>
                              </a:schemeClr>
                            </a:solidFill>
                            <a:latin typeface="Cambria Math" panose="02040503050406030204" pitchFamily="18" charset="0"/>
                            <a:cs typeface="Courier New" pitchFamily="34" charset="-120"/>
                          </a:rPr>
                          <m:t>𝟏</m:t>
                        </m:r>
                      </m:sub>
                      <m:sup>
                        <m:r>
                          <a:rPr lang="de-DE" b="1" i="1">
                            <a:solidFill>
                              <a:schemeClr val="bg2">
                                <a:lumMod val="10000"/>
                              </a:schemeClr>
                            </a:solidFill>
                            <a:latin typeface="Cambria Math" panose="02040503050406030204" pitchFamily="18" charset="0"/>
                            <a:cs typeface="Courier New" pitchFamily="34" charset="-120"/>
                          </a:rPr>
                          <m:t>𝟏</m:t>
                        </m:r>
                      </m:sup>
                    </m:sSubSup>
                  </m:oMath>
                </a14:m>
                <a:r>
                  <a:rPr lang="en-US" b="1" dirty="0">
                    <a:solidFill>
                      <a:schemeClr val="bg2">
                        <a:lumMod val="10000"/>
                      </a:schemeClr>
                    </a:solidFill>
                    <a:latin typeface="Chromatica"/>
                    <a:ea typeface="Courier New" pitchFamily="34" charset="-122"/>
                    <a:cs typeface="Courier New" pitchFamily="34" charset="-120"/>
                  </a:rPr>
                  <a:t> = ReLU(0.76) = 0.76</a:t>
                </a:r>
                <a:endParaRPr lang="en-US" b="1" dirty="0">
                  <a:solidFill>
                    <a:schemeClr val="bg2">
                      <a:lumMod val="10000"/>
                    </a:schemeClr>
                  </a:solidFill>
                  <a:latin typeface="Chromatica"/>
                </a:endParaRPr>
              </a:p>
            </p:txBody>
          </p:sp>
        </mc:Choice>
        <mc:Fallback xmlns="">
          <p:sp>
            <p:nvSpPr>
              <p:cNvPr id="23" name="Text 26">
                <a:extLst>
                  <a:ext uri="{FF2B5EF4-FFF2-40B4-BE49-F238E27FC236}">
                    <a16:creationId xmlns:a16="http://schemas.microsoft.com/office/drawing/2014/main" id="{0B2A2766-46D8-2A5F-D460-38D8A0C0E522}"/>
                  </a:ext>
                </a:extLst>
              </p:cNvPr>
              <p:cNvSpPr>
                <a:spLocks noRot="1" noChangeAspect="1" noMove="1" noResize="1" noEditPoints="1" noAdjustHandles="1" noChangeArrowheads="1" noChangeShapeType="1" noTextEdit="1"/>
              </p:cNvSpPr>
              <p:nvPr/>
            </p:nvSpPr>
            <p:spPr>
              <a:xfrm>
                <a:off x="13091531" y="5318853"/>
                <a:ext cx="6732661" cy="1762308"/>
              </a:xfrm>
              <a:prstGeom prst="rect">
                <a:avLst/>
              </a:prstGeom>
              <a:blipFill>
                <a:blip r:embed="rId3"/>
                <a:stretch>
                  <a:fillRect t="-6574" b="-20415"/>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5" name="Text 16">
                <a:extLst>
                  <a:ext uri="{FF2B5EF4-FFF2-40B4-BE49-F238E27FC236}">
                    <a16:creationId xmlns:a16="http://schemas.microsoft.com/office/drawing/2014/main" id="{0702D48B-9668-663A-45BA-F7FEA926715A}"/>
                  </a:ext>
                </a:extLst>
              </p:cNvPr>
              <p:cNvSpPr/>
              <p:nvPr/>
            </p:nvSpPr>
            <p:spPr>
              <a:xfrm>
                <a:off x="8614635" y="6007217"/>
                <a:ext cx="862915" cy="827896"/>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𝒛</m:t>
                          </m:r>
                        </m:e>
                        <m:sub>
                          <m:r>
                            <a:rPr lang="de-DE" b="1" i="1" smtClean="0">
                              <a:solidFill>
                                <a:srgbClr val="FFFFFF"/>
                              </a:solidFill>
                              <a:latin typeface="Cambria Math" panose="02040503050406030204" pitchFamily="18" charset="0"/>
                              <a:cs typeface="Arial" pitchFamily="34" charset="-120"/>
                            </a:rPr>
                            <m:t>𝟏</m:t>
                          </m:r>
                        </m:sub>
                        <m:sup>
                          <m:r>
                            <a:rPr lang="de-DE" b="1" i="1" smtClean="0">
                              <a:solidFill>
                                <a:srgbClr val="FFFFFF"/>
                              </a:solidFill>
                              <a:latin typeface="Cambria Math" panose="02040503050406030204" pitchFamily="18" charset="0"/>
                              <a:cs typeface="Arial" pitchFamily="34" charset="-120"/>
                            </a:rPr>
                            <m:t>𝟏</m:t>
                          </m:r>
                        </m:sup>
                      </m:sSubSup>
                    </m:oMath>
                  </m:oMathPara>
                </a14:m>
                <a:endParaRPr lang="en-US" dirty="0">
                  <a:latin typeface="Chromatica"/>
                </a:endParaRPr>
              </a:p>
            </p:txBody>
          </p:sp>
        </mc:Choice>
        <mc:Fallback xmlns="">
          <p:sp>
            <p:nvSpPr>
              <p:cNvPr id="25" name="Text 16">
                <a:extLst>
                  <a:ext uri="{FF2B5EF4-FFF2-40B4-BE49-F238E27FC236}">
                    <a16:creationId xmlns:a16="http://schemas.microsoft.com/office/drawing/2014/main" id="{0702D48B-9668-663A-45BA-F7FEA926715A}"/>
                  </a:ext>
                </a:extLst>
              </p:cNvPr>
              <p:cNvSpPr>
                <a:spLocks noRot="1" noChangeAspect="1" noMove="1" noResize="1" noEditPoints="1" noAdjustHandles="1" noChangeArrowheads="1" noChangeShapeType="1" noTextEdit="1"/>
              </p:cNvSpPr>
              <p:nvPr/>
            </p:nvSpPr>
            <p:spPr>
              <a:xfrm>
                <a:off x="8614635" y="6007217"/>
                <a:ext cx="862915" cy="827896"/>
              </a:xfrm>
              <a:prstGeom prst="rect">
                <a:avLst/>
              </a:prstGeom>
              <a:blipFill>
                <a:blip r:embed="rId4"/>
                <a:stretch>
                  <a:fillRect/>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7" name="Text 16">
                <a:extLst>
                  <a:ext uri="{FF2B5EF4-FFF2-40B4-BE49-F238E27FC236}">
                    <a16:creationId xmlns:a16="http://schemas.microsoft.com/office/drawing/2014/main" id="{7C8BA602-8C3D-67AF-DBF6-5D699458CD93}"/>
                  </a:ext>
                </a:extLst>
              </p:cNvPr>
              <p:cNvSpPr/>
              <p:nvPr/>
            </p:nvSpPr>
            <p:spPr>
              <a:xfrm>
                <a:off x="8530444" y="8940035"/>
                <a:ext cx="862915" cy="827896"/>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𝒛</m:t>
                          </m:r>
                        </m:e>
                        <m:sub>
                          <m:r>
                            <a:rPr lang="de-DE" b="1" i="1" smtClean="0">
                              <a:solidFill>
                                <a:srgbClr val="FFFFFF"/>
                              </a:solidFill>
                              <a:latin typeface="Cambria Math" panose="02040503050406030204" pitchFamily="18" charset="0"/>
                              <a:cs typeface="Arial" pitchFamily="34" charset="-120"/>
                            </a:rPr>
                            <m:t>𝟐</m:t>
                          </m:r>
                        </m:sub>
                        <m:sup>
                          <m:r>
                            <a:rPr lang="de-DE" b="1" i="1" smtClean="0">
                              <a:solidFill>
                                <a:srgbClr val="FFFFFF"/>
                              </a:solidFill>
                              <a:latin typeface="Cambria Math" panose="02040503050406030204" pitchFamily="18" charset="0"/>
                              <a:cs typeface="Arial" pitchFamily="34" charset="-120"/>
                            </a:rPr>
                            <m:t>𝟏</m:t>
                          </m:r>
                        </m:sup>
                      </m:sSubSup>
                    </m:oMath>
                  </m:oMathPara>
                </a14:m>
                <a:endParaRPr lang="en-US" dirty="0">
                  <a:latin typeface="Chromatica"/>
                </a:endParaRPr>
              </a:p>
            </p:txBody>
          </p:sp>
        </mc:Choice>
        <mc:Fallback xmlns="">
          <p:sp>
            <p:nvSpPr>
              <p:cNvPr id="27" name="Text 16">
                <a:extLst>
                  <a:ext uri="{FF2B5EF4-FFF2-40B4-BE49-F238E27FC236}">
                    <a16:creationId xmlns:a16="http://schemas.microsoft.com/office/drawing/2014/main" id="{7C8BA602-8C3D-67AF-DBF6-5D699458CD93}"/>
                  </a:ext>
                </a:extLst>
              </p:cNvPr>
              <p:cNvSpPr>
                <a:spLocks noRot="1" noChangeAspect="1" noMove="1" noResize="1" noEditPoints="1" noAdjustHandles="1" noChangeArrowheads="1" noChangeShapeType="1" noTextEdit="1"/>
              </p:cNvSpPr>
              <p:nvPr/>
            </p:nvSpPr>
            <p:spPr>
              <a:xfrm>
                <a:off x="8530444" y="8940035"/>
                <a:ext cx="862915" cy="827896"/>
              </a:xfrm>
              <a:prstGeom prst="rect">
                <a:avLst/>
              </a:prstGeom>
              <a:blipFill>
                <a:blip r:embed="rId5"/>
                <a:stretch>
                  <a:fillRect/>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9" name="Text 26">
                <a:extLst>
                  <a:ext uri="{FF2B5EF4-FFF2-40B4-BE49-F238E27FC236}">
                    <a16:creationId xmlns:a16="http://schemas.microsoft.com/office/drawing/2014/main" id="{7E5EB02C-49B5-A133-47B4-E691A311F464}"/>
                  </a:ext>
                </a:extLst>
              </p:cNvPr>
              <p:cNvSpPr/>
              <p:nvPr/>
            </p:nvSpPr>
            <p:spPr>
              <a:xfrm>
                <a:off x="13109819" y="9017198"/>
                <a:ext cx="6732661" cy="1762308"/>
              </a:xfrm>
              <a:prstGeom prst="rect">
                <a:avLst/>
              </a:prstGeom>
              <a:noFill/>
              <a:ln/>
            </p:spPr>
            <p:txBody>
              <a:bodyPr wrap="square" rtlCol="0" anchor="ctr"/>
              <a:lstStyle/>
              <a:p>
                <a:pPr algn="l">
                  <a:lnSpc>
                    <a:spcPct val="115000"/>
                  </a:lnSpc>
                </a:pPr>
                <a14:m>
                  <m:oMathPara xmlns:m="http://schemas.openxmlformats.org/officeDocument/2006/math">
                    <m:oMathParaPr>
                      <m:jc m:val="left"/>
                    </m:oMathParaPr>
                    <m:oMath xmlns:m="http://schemas.openxmlformats.org/officeDocument/2006/math">
                      <m:sSubSup>
                        <m:sSubSupPr>
                          <m:ctrlPr>
                            <a:rPr lang="en-US" b="1" i="1" smtClean="0">
                              <a:solidFill>
                                <a:schemeClr val="bg2">
                                  <a:lumMod val="10000"/>
                                </a:schemeClr>
                              </a:solidFill>
                              <a:latin typeface="Cambria Math" panose="02040503050406030204" pitchFamily="18" charset="0"/>
                              <a:cs typeface="Courier New" pitchFamily="34" charset="-120"/>
                            </a:rPr>
                          </m:ctrlPr>
                        </m:sSubSupPr>
                        <m:e>
                          <m:r>
                            <a:rPr lang="de-DE" b="1" i="1">
                              <a:solidFill>
                                <a:schemeClr val="bg2">
                                  <a:lumMod val="10000"/>
                                </a:schemeClr>
                              </a:solidFill>
                              <a:latin typeface="Cambria Math" panose="02040503050406030204" pitchFamily="18" charset="0"/>
                              <a:cs typeface="Courier New" pitchFamily="34" charset="-120"/>
                            </a:rPr>
                            <m:t>𝒛</m:t>
                          </m:r>
                        </m:e>
                        <m:sub>
                          <m:r>
                            <a:rPr lang="de-DE" b="1" i="1" smtClean="0">
                              <a:solidFill>
                                <a:schemeClr val="bg2">
                                  <a:lumMod val="10000"/>
                                </a:schemeClr>
                              </a:solidFill>
                              <a:latin typeface="Cambria Math" panose="02040503050406030204" pitchFamily="18" charset="0"/>
                              <a:cs typeface="Courier New" pitchFamily="34" charset="-120"/>
                            </a:rPr>
                            <m:t>𝟐</m:t>
                          </m:r>
                        </m:sub>
                        <m:sup>
                          <m:r>
                            <a:rPr lang="de-DE" b="1" i="1">
                              <a:solidFill>
                                <a:schemeClr val="bg2">
                                  <a:lumMod val="10000"/>
                                </a:schemeClr>
                              </a:solidFill>
                              <a:latin typeface="Cambria Math" panose="02040503050406030204" pitchFamily="18" charset="0"/>
                              <a:cs typeface="Courier New" pitchFamily="34" charset="-120"/>
                            </a:rPr>
                            <m:t>𝟏</m:t>
                          </m:r>
                        </m:sup>
                      </m:sSubSup>
                      <m:r>
                        <a:rPr lang="en-US" b="1" i="1" smtClean="0">
                          <a:solidFill>
                            <a:schemeClr val="bg2">
                              <a:lumMod val="10000"/>
                            </a:schemeClr>
                          </a:solidFill>
                          <a:latin typeface="Cambria Math" panose="02040503050406030204" pitchFamily="18" charset="0"/>
                          <a:ea typeface="Courier New" pitchFamily="34" charset="-122"/>
                          <a:cs typeface="Courier New" pitchFamily="34" charset="-120"/>
                        </a:rPr>
                        <m:t>=</m:t>
                      </m:r>
                      <m:sSub>
                        <m:sSubPr>
                          <m:ctrlPr>
                            <a:rPr lang="en-US" b="1" i="1" smtClean="0">
                              <a:solidFill>
                                <a:schemeClr val="bg2">
                                  <a:lumMod val="10000"/>
                                </a:schemeClr>
                              </a:solidFill>
                              <a:latin typeface="Cambria Math" panose="02040503050406030204" pitchFamily="18" charset="0"/>
                              <a:cs typeface="Courier New" pitchFamily="34" charset="-120"/>
                            </a:rPr>
                          </m:ctrlPr>
                        </m:sSubPr>
                        <m:e>
                          <m:r>
                            <a:rPr lang="de-DE" b="1" i="1" smtClean="0">
                              <a:solidFill>
                                <a:schemeClr val="bg2">
                                  <a:lumMod val="10000"/>
                                </a:schemeClr>
                              </a:solidFill>
                              <a:latin typeface="Cambria Math" panose="02040503050406030204" pitchFamily="18" charset="0"/>
                              <a:cs typeface="Courier New" pitchFamily="34" charset="-120"/>
                            </a:rPr>
                            <m:t>𝒙</m:t>
                          </m:r>
                        </m:e>
                        <m:sub>
                          <m:r>
                            <a:rPr lang="de-DE" b="1" i="1" smtClean="0">
                              <a:solidFill>
                                <a:schemeClr val="bg2">
                                  <a:lumMod val="10000"/>
                                </a:schemeClr>
                              </a:solidFill>
                              <a:latin typeface="Cambria Math" panose="02040503050406030204" pitchFamily="18" charset="0"/>
                              <a:cs typeface="Courier New" pitchFamily="34" charset="-120"/>
                            </a:rPr>
                            <m:t>𝟏</m:t>
                          </m:r>
                          <m:r>
                            <a:rPr lang="de-DE" b="1" i="1" smtClean="0">
                              <a:solidFill>
                                <a:schemeClr val="bg2">
                                  <a:lumMod val="10000"/>
                                </a:schemeClr>
                              </a:solidFill>
                              <a:latin typeface="Cambria Math" panose="02040503050406030204" pitchFamily="18" charset="0"/>
                              <a:cs typeface="Courier New" pitchFamily="34" charset="-120"/>
                            </a:rPr>
                            <m:t> </m:t>
                          </m:r>
                        </m:sub>
                      </m:sSub>
                      <m:sSubSup>
                        <m:sSubSupPr>
                          <m:ctrlPr>
                            <a:rPr lang="en-US" b="1" i="1" smtClean="0">
                              <a:solidFill>
                                <a:schemeClr val="bg2">
                                  <a:lumMod val="10000"/>
                                </a:schemeClr>
                              </a:solidFill>
                              <a:latin typeface="Cambria Math" panose="02040503050406030204" pitchFamily="18" charset="0"/>
                              <a:cs typeface="Courier New" pitchFamily="34" charset="-120"/>
                            </a:rPr>
                          </m:ctrlPr>
                        </m:sSubSupPr>
                        <m:e>
                          <m:r>
                            <a:rPr lang="de-DE" b="1" i="1" smtClean="0">
                              <a:solidFill>
                                <a:schemeClr val="bg2">
                                  <a:lumMod val="10000"/>
                                </a:schemeClr>
                              </a:solidFill>
                              <a:latin typeface="Cambria Math" panose="02040503050406030204" pitchFamily="18" charset="0"/>
                              <a:cs typeface="Courier New" pitchFamily="34" charset="-120"/>
                            </a:rPr>
                            <m:t>𝒘</m:t>
                          </m:r>
                        </m:e>
                        <m:sub>
                          <m:r>
                            <a:rPr lang="de-DE" b="1" i="1" smtClean="0">
                              <a:solidFill>
                                <a:schemeClr val="bg2">
                                  <a:lumMod val="10000"/>
                                </a:schemeClr>
                              </a:solidFill>
                              <a:latin typeface="Cambria Math" panose="02040503050406030204" pitchFamily="18" charset="0"/>
                              <a:cs typeface="Courier New" pitchFamily="34" charset="-120"/>
                            </a:rPr>
                            <m:t>𝟐</m:t>
                          </m:r>
                        </m:sub>
                        <m:sup>
                          <m:r>
                            <a:rPr lang="de-DE" b="1" i="1" smtClean="0">
                              <a:solidFill>
                                <a:schemeClr val="bg2">
                                  <a:lumMod val="10000"/>
                                </a:schemeClr>
                              </a:solidFill>
                              <a:latin typeface="Cambria Math" panose="02040503050406030204" pitchFamily="18" charset="0"/>
                              <a:cs typeface="Courier New" pitchFamily="34" charset="-120"/>
                            </a:rPr>
                            <m:t>𝟏</m:t>
                          </m:r>
                        </m:sup>
                      </m:sSubSup>
                      <m:r>
                        <a:rPr lang="de-DE" b="1" i="1" smtClean="0">
                          <a:solidFill>
                            <a:schemeClr val="bg2">
                              <a:lumMod val="10000"/>
                            </a:schemeClr>
                          </a:solidFill>
                          <a:latin typeface="Cambria Math" panose="02040503050406030204" pitchFamily="18" charset="0"/>
                          <a:cs typeface="Courier New" pitchFamily="34" charset="-120"/>
                        </a:rPr>
                        <m:t>+</m:t>
                      </m:r>
                      <m:sSub>
                        <m:sSubPr>
                          <m:ctrlPr>
                            <a:rPr lang="en-US" b="1" i="1">
                              <a:solidFill>
                                <a:schemeClr val="bg2">
                                  <a:lumMod val="10000"/>
                                </a:schemeClr>
                              </a:solidFill>
                              <a:latin typeface="Cambria Math" panose="02040503050406030204" pitchFamily="18" charset="0"/>
                              <a:cs typeface="Courier New" pitchFamily="34" charset="-120"/>
                            </a:rPr>
                          </m:ctrlPr>
                        </m:sSubPr>
                        <m:e>
                          <m:r>
                            <a:rPr lang="de-DE" b="1" i="1">
                              <a:solidFill>
                                <a:schemeClr val="bg2">
                                  <a:lumMod val="10000"/>
                                </a:schemeClr>
                              </a:solidFill>
                              <a:latin typeface="Cambria Math" panose="02040503050406030204" pitchFamily="18" charset="0"/>
                              <a:cs typeface="Courier New" pitchFamily="34" charset="-120"/>
                            </a:rPr>
                            <m:t>𝒙</m:t>
                          </m:r>
                        </m:e>
                        <m:sub>
                          <m:r>
                            <a:rPr lang="de-DE" b="1" i="1" smtClean="0">
                              <a:solidFill>
                                <a:schemeClr val="bg2">
                                  <a:lumMod val="10000"/>
                                </a:schemeClr>
                              </a:solidFill>
                              <a:latin typeface="Cambria Math" panose="02040503050406030204" pitchFamily="18" charset="0"/>
                              <a:cs typeface="Courier New" pitchFamily="34" charset="-120"/>
                            </a:rPr>
                            <m:t>𝟐</m:t>
                          </m:r>
                          <m:r>
                            <a:rPr lang="de-DE" b="1" i="1">
                              <a:solidFill>
                                <a:schemeClr val="bg2">
                                  <a:lumMod val="10000"/>
                                </a:schemeClr>
                              </a:solidFill>
                              <a:latin typeface="Cambria Math" panose="02040503050406030204" pitchFamily="18" charset="0"/>
                              <a:cs typeface="Courier New" pitchFamily="34" charset="-120"/>
                            </a:rPr>
                            <m:t> </m:t>
                          </m:r>
                        </m:sub>
                      </m:sSub>
                      <m:sSubSup>
                        <m:sSubSupPr>
                          <m:ctrlPr>
                            <a:rPr lang="en-US" b="1" i="1">
                              <a:solidFill>
                                <a:schemeClr val="bg2">
                                  <a:lumMod val="10000"/>
                                </a:schemeClr>
                              </a:solidFill>
                              <a:latin typeface="Cambria Math" panose="02040503050406030204" pitchFamily="18" charset="0"/>
                              <a:cs typeface="Courier New" pitchFamily="34" charset="-120"/>
                            </a:rPr>
                          </m:ctrlPr>
                        </m:sSubSupPr>
                        <m:e>
                          <m:r>
                            <a:rPr lang="de-DE" b="1" i="1">
                              <a:solidFill>
                                <a:schemeClr val="bg2">
                                  <a:lumMod val="10000"/>
                                </a:schemeClr>
                              </a:solidFill>
                              <a:latin typeface="Cambria Math" panose="02040503050406030204" pitchFamily="18" charset="0"/>
                              <a:cs typeface="Courier New" pitchFamily="34" charset="-120"/>
                            </a:rPr>
                            <m:t>𝒘</m:t>
                          </m:r>
                        </m:e>
                        <m:sub>
                          <m:r>
                            <a:rPr lang="de-DE" b="1" i="1" smtClean="0">
                              <a:solidFill>
                                <a:schemeClr val="bg2">
                                  <a:lumMod val="10000"/>
                                </a:schemeClr>
                              </a:solidFill>
                              <a:latin typeface="Cambria Math" panose="02040503050406030204" pitchFamily="18" charset="0"/>
                              <a:cs typeface="Courier New" pitchFamily="34" charset="-120"/>
                            </a:rPr>
                            <m:t>𝟐</m:t>
                          </m:r>
                        </m:sub>
                        <m:sup>
                          <m:r>
                            <a:rPr lang="de-DE" b="1" i="1" smtClean="0">
                              <a:solidFill>
                                <a:schemeClr val="bg2">
                                  <a:lumMod val="10000"/>
                                </a:schemeClr>
                              </a:solidFill>
                              <a:latin typeface="Cambria Math" panose="02040503050406030204" pitchFamily="18" charset="0"/>
                              <a:cs typeface="Courier New" pitchFamily="34" charset="-120"/>
                            </a:rPr>
                            <m:t>𝟐</m:t>
                          </m:r>
                        </m:sup>
                      </m:sSubSup>
                      <m:r>
                        <a:rPr lang="de-DE" b="1" i="1" smtClean="0">
                          <a:solidFill>
                            <a:schemeClr val="bg2">
                              <a:lumMod val="10000"/>
                            </a:schemeClr>
                          </a:solidFill>
                          <a:latin typeface="Cambria Math" panose="02040503050406030204" pitchFamily="18" charset="0"/>
                          <a:cs typeface="Courier New" pitchFamily="34" charset="-120"/>
                        </a:rPr>
                        <m:t>+</m:t>
                      </m:r>
                      <m:sSub>
                        <m:sSubPr>
                          <m:ctrlPr>
                            <a:rPr lang="en-US" b="1" i="1">
                              <a:solidFill>
                                <a:schemeClr val="bg2">
                                  <a:lumMod val="10000"/>
                                </a:schemeClr>
                              </a:solidFill>
                              <a:latin typeface="Cambria Math" panose="02040503050406030204" pitchFamily="18" charset="0"/>
                              <a:cs typeface="Courier New" pitchFamily="34" charset="-120"/>
                            </a:rPr>
                          </m:ctrlPr>
                        </m:sSubPr>
                        <m:e>
                          <m:r>
                            <a:rPr lang="de-DE" b="1" i="1">
                              <a:solidFill>
                                <a:schemeClr val="bg2">
                                  <a:lumMod val="10000"/>
                                </a:schemeClr>
                              </a:solidFill>
                              <a:latin typeface="Cambria Math" panose="02040503050406030204" pitchFamily="18" charset="0"/>
                              <a:cs typeface="Courier New" pitchFamily="34" charset="-120"/>
                            </a:rPr>
                            <m:t>𝒙</m:t>
                          </m:r>
                        </m:e>
                        <m:sub>
                          <m:r>
                            <a:rPr lang="de-DE" b="1" i="1" smtClean="0">
                              <a:solidFill>
                                <a:schemeClr val="bg2">
                                  <a:lumMod val="10000"/>
                                </a:schemeClr>
                              </a:solidFill>
                              <a:latin typeface="Cambria Math" panose="02040503050406030204" pitchFamily="18" charset="0"/>
                              <a:cs typeface="Courier New" pitchFamily="34" charset="-120"/>
                            </a:rPr>
                            <m:t>𝟑</m:t>
                          </m:r>
                          <m:r>
                            <a:rPr lang="de-DE" b="1" i="1">
                              <a:solidFill>
                                <a:schemeClr val="bg2">
                                  <a:lumMod val="10000"/>
                                </a:schemeClr>
                              </a:solidFill>
                              <a:latin typeface="Cambria Math" panose="02040503050406030204" pitchFamily="18" charset="0"/>
                              <a:cs typeface="Courier New" pitchFamily="34" charset="-120"/>
                            </a:rPr>
                            <m:t> </m:t>
                          </m:r>
                        </m:sub>
                      </m:sSub>
                      <m:sSubSup>
                        <m:sSubSupPr>
                          <m:ctrlPr>
                            <a:rPr lang="en-US" b="1" i="1">
                              <a:solidFill>
                                <a:schemeClr val="bg2">
                                  <a:lumMod val="10000"/>
                                </a:schemeClr>
                              </a:solidFill>
                              <a:latin typeface="Cambria Math" panose="02040503050406030204" pitchFamily="18" charset="0"/>
                              <a:cs typeface="Courier New" pitchFamily="34" charset="-120"/>
                            </a:rPr>
                          </m:ctrlPr>
                        </m:sSubSupPr>
                        <m:e>
                          <m:r>
                            <a:rPr lang="de-DE" b="1" i="1">
                              <a:solidFill>
                                <a:schemeClr val="bg2">
                                  <a:lumMod val="10000"/>
                                </a:schemeClr>
                              </a:solidFill>
                              <a:latin typeface="Cambria Math" panose="02040503050406030204" pitchFamily="18" charset="0"/>
                              <a:cs typeface="Courier New" pitchFamily="34" charset="-120"/>
                            </a:rPr>
                            <m:t>𝒘</m:t>
                          </m:r>
                        </m:e>
                        <m:sub>
                          <m:r>
                            <a:rPr lang="de-DE" b="1" i="1" smtClean="0">
                              <a:solidFill>
                                <a:schemeClr val="bg2">
                                  <a:lumMod val="10000"/>
                                </a:schemeClr>
                              </a:solidFill>
                              <a:latin typeface="Cambria Math" panose="02040503050406030204" pitchFamily="18" charset="0"/>
                              <a:cs typeface="Courier New" pitchFamily="34" charset="-120"/>
                            </a:rPr>
                            <m:t>𝟐</m:t>
                          </m:r>
                        </m:sub>
                        <m:sup>
                          <m:r>
                            <a:rPr lang="de-DE" b="1" i="1" smtClean="0">
                              <a:solidFill>
                                <a:schemeClr val="bg2">
                                  <a:lumMod val="10000"/>
                                </a:schemeClr>
                              </a:solidFill>
                              <a:latin typeface="Cambria Math" panose="02040503050406030204" pitchFamily="18" charset="0"/>
                              <a:cs typeface="Courier New" pitchFamily="34" charset="-120"/>
                            </a:rPr>
                            <m:t>𝟑</m:t>
                          </m:r>
                        </m:sup>
                      </m:sSubSup>
                      <m:r>
                        <a:rPr lang="de-DE" b="1" i="1" smtClean="0">
                          <a:solidFill>
                            <a:schemeClr val="bg2">
                              <a:lumMod val="10000"/>
                            </a:schemeClr>
                          </a:solidFill>
                          <a:latin typeface="Cambria Math" panose="02040503050406030204" pitchFamily="18" charset="0"/>
                          <a:cs typeface="Courier New" pitchFamily="34" charset="-120"/>
                        </a:rPr>
                        <m:t>+</m:t>
                      </m:r>
                      <m:sSub>
                        <m:sSubPr>
                          <m:ctrlPr>
                            <a:rPr lang="en-US" b="1" i="1">
                              <a:solidFill>
                                <a:schemeClr val="bg2">
                                  <a:lumMod val="10000"/>
                                </a:schemeClr>
                              </a:solidFill>
                              <a:latin typeface="Cambria Math" panose="02040503050406030204" pitchFamily="18" charset="0"/>
                              <a:cs typeface="Courier New" pitchFamily="34" charset="-120"/>
                            </a:rPr>
                          </m:ctrlPr>
                        </m:sSubPr>
                        <m:e>
                          <m:r>
                            <a:rPr lang="de-DE" b="1" i="1">
                              <a:solidFill>
                                <a:schemeClr val="bg2">
                                  <a:lumMod val="10000"/>
                                </a:schemeClr>
                              </a:solidFill>
                              <a:latin typeface="Cambria Math" panose="02040503050406030204" pitchFamily="18" charset="0"/>
                              <a:cs typeface="Courier New" pitchFamily="34" charset="-120"/>
                            </a:rPr>
                            <m:t>𝒙</m:t>
                          </m:r>
                        </m:e>
                        <m:sub>
                          <m:r>
                            <a:rPr lang="de-DE" b="1" i="1" smtClean="0">
                              <a:solidFill>
                                <a:schemeClr val="bg2">
                                  <a:lumMod val="10000"/>
                                </a:schemeClr>
                              </a:solidFill>
                              <a:latin typeface="Cambria Math" panose="02040503050406030204" pitchFamily="18" charset="0"/>
                              <a:cs typeface="Courier New" pitchFamily="34" charset="-120"/>
                            </a:rPr>
                            <m:t>𝟒</m:t>
                          </m:r>
                          <m:r>
                            <a:rPr lang="de-DE" b="1" i="1">
                              <a:solidFill>
                                <a:schemeClr val="bg2">
                                  <a:lumMod val="10000"/>
                                </a:schemeClr>
                              </a:solidFill>
                              <a:latin typeface="Cambria Math" panose="02040503050406030204" pitchFamily="18" charset="0"/>
                              <a:cs typeface="Courier New" pitchFamily="34" charset="-120"/>
                            </a:rPr>
                            <m:t> </m:t>
                          </m:r>
                        </m:sub>
                      </m:sSub>
                      <m:sSubSup>
                        <m:sSubSupPr>
                          <m:ctrlPr>
                            <a:rPr lang="en-US" b="1" i="1">
                              <a:solidFill>
                                <a:schemeClr val="bg2">
                                  <a:lumMod val="10000"/>
                                </a:schemeClr>
                              </a:solidFill>
                              <a:latin typeface="Cambria Math" panose="02040503050406030204" pitchFamily="18" charset="0"/>
                              <a:cs typeface="Courier New" pitchFamily="34" charset="-120"/>
                            </a:rPr>
                          </m:ctrlPr>
                        </m:sSubSupPr>
                        <m:e>
                          <m:r>
                            <a:rPr lang="de-DE" b="1" i="1">
                              <a:solidFill>
                                <a:schemeClr val="bg2">
                                  <a:lumMod val="10000"/>
                                </a:schemeClr>
                              </a:solidFill>
                              <a:latin typeface="Cambria Math" panose="02040503050406030204" pitchFamily="18" charset="0"/>
                              <a:cs typeface="Courier New" pitchFamily="34" charset="-120"/>
                            </a:rPr>
                            <m:t>𝒘</m:t>
                          </m:r>
                        </m:e>
                        <m:sub>
                          <m:r>
                            <a:rPr lang="de-DE" b="1" i="1" smtClean="0">
                              <a:solidFill>
                                <a:schemeClr val="bg2">
                                  <a:lumMod val="10000"/>
                                </a:schemeClr>
                              </a:solidFill>
                              <a:latin typeface="Cambria Math" panose="02040503050406030204" pitchFamily="18" charset="0"/>
                              <a:cs typeface="Courier New" pitchFamily="34" charset="-120"/>
                            </a:rPr>
                            <m:t>𝟐</m:t>
                          </m:r>
                        </m:sub>
                        <m:sup>
                          <m:r>
                            <a:rPr lang="de-DE" b="1" i="1" smtClean="0">
                              <a:solidFill>
                                <a:schemeClr val="bg2">
                                  <a:lumMod val="10000"/>
                                </a:schemeClr>
                              </a:solidFill>
                              <a:latin typeface="Cambria Math" panose="02040503050406030204" pitchFamily="18" charset="0"/>
                              <a:cs typeface="Courier New" pitchFamily="34" charset="-120"/>
                            </a:rPr>
                            <m:t>𝟒</m:t>
                          </m:r>
                        </m:sup>
                      </m:sSubSup>
                      <m:r>
                        <a:rPr lang="de-DE" b="1" i="1" smtClean="0">
                          <a:solidFill>
                            <a:schemeClr val="bg2">
                              <a:lumMod val="10000"/>
                            </a:schemeClr>
                          </a:solidFill>
                          <a:latin typeface="Cambria Math" panose="02040503050406030204" pitchFamily="18" charset="0"/>
                          <a:cs typeface="Courier New" pitchFamily="34" charset="-120"/>
                        </a:rPr>
                        <m:t>+</m:t>
                      </m:r>
                      <m:sSubSup>
                        <m:sSubSupPr>
                          <m:ctrlPr>
                            <a:rPr lang="en-US" b="1" i="1" smtClean="0">
                              <a:solidFill>
                                <a:schemeClr val="bg2">
                                  <a:lumMod val="10000"/>
                                </a:schemeClr>
                              </a:solidFill>
                              <a:latin typeface="Cambria Math" panose="02040503050406030204" pitchFamily="18" charset="0"/>
                              <a:cs typeface="Courier New" pitchFamily="34" charset="-120"/>
                            </a:rPr>
                          </m:ctrlPr>
                        </m:sSubSupPr>
                        <m:e>
                          <m:r>
                            <a:rPr lang="de-DE" b="1" i="1" smtClean="0">
                              <a:solidFill>
                                <a:schemeClr val="bg2">
                                  <a:lumMod val="10000"/>
                                </a:schemeClr>
                              </a:solidFill>
                              <a:latin typeface="Cambria Math" panose="02040503050406030204" pitchFamily="18" charset="0"/>
                              <a:cs typeface="Courier New" pitchFamily="34" charset="-120"/>
                            </a:rPr>
                            <m:t>𝒃</m:t>
                          </m:r>
                        </m:e>
                        <m:sub>
                          <m:r>
                            <a:rPr lang="de-DE" b="1" i="1" smtClean="0">
                              <a:solidFill>
                                <a:schemeClr val="bg2">
                                  <a:lumMod val="10000"/>
                                </a:schemeClr>
                              </a:solidFill>
                              <a:latin typeface="Cambria Math" panose="02040503050406030204" pitchFamily="18" charset="0"/>
                              <a:cs typeface="Courier New" pitchFamily="34" charset="-120"/>
                            </a:rPr>
                            <m:t>𝟐</m:t>
                          </m:r>
                        </m:sub>
                        <m:sup>
                          <m:r>
                            <a:rPr lang="de-DE" b="1" i="1" smtClean="0">
                              <a:solidFill>
                                <a:schemeClr val="bg2">
                                  <a:lumMod val="10000"/>
                                </a:schemeClr>
                              </a:solidFill>
                              <a:latin typeface="Cambria Math" panose="02040503050406030204" pitchFamily="18" charset="0"/>
                              <a:cs typeface="Courier New" pitchFamily="34" charset="-120"/>
                            </a:rPr>
                            <m:t>𝟏</m:t>
                          </m:r>
                        </m:sup>
                      </m:sSubSup>
                    </m:oMath>
                  </m:oMathPara>
                </a14:m>
                <a:endParaRPr lang="en-US" b="1" dirty="0">
                  <a:solidFill>
                    <a:schemeClr val="bg2">
                      <a:lumMod val="10000"/>
                    </a:schemeClr>
                  </a:solidFill>
                  <a:latin typeface="Chromatica"/>
                </a:endParaRPr>
              </a:p>
            </p:txBody>
          </p:sp>
        </mc:Choice>
        <mc:Fallback xmlns="">
          <p:sp>
            <p:nvSpPr>
              <p:cNvPr id="29" name="Text 26">
                <a:extLst>
                  <a:ext uri="{FF2B5EF4-FFF2-40B4-BE49-F238E27FC236}">
                    <a16:creationId xmlns:a16="http://schemas.microsoft.com/office/drawing/2014/main" id="{7E5EB02C-49B5-A133-47B4-E691A311F464}"/>
                  </a:ext>
                </a:extLst>
              </p:cNvPr>
              <p:cNvSpPr>
                <a:spLocks noRot="1" noChangeAspect="1" noMove="1" noResize="1" noEditPoints="1" noAdjustHandles="1" noChangeArrowheads="1" noChangeShapeType="1" noTextEdit="1"/>
              </p:cNvSpPr>
              <p:nvPr/>
            </p:nvSpPr>
            <p:spPr>
              <a:xfrm>
                <a:off x="13109819" y="9017198"/>
                <a:ext cx="6732661" cy="1762308"/>
              </a:xfrm>
              <a:prstGeom prst="rect">
                <a:avLst/>
              </a:prstGeom>
              <a:blipFill>
                <a:blip r:embed="rId6"/>
                <a:stretch>
                  <a:fillRect/>
                </a:stretch>
              </a:blipFill>
              <a:ln/>
            </p:spPr>
            <p:txBody>
              <a:bodyPr/>
              <a:lstStyle/>
              <a:p>
                <a:r>
                  <a:rPr lang="de-DE">
                    <a:noFill/>
                  </a:rPr>
                  <a:t> </a:t>
                </a:r>
              </a:p>
            </p:txBody>
          </p:sp>
        </mc:Fallback>
      </mc:AlternateContent>
      <p:cxnSp>
        <p:nvCxnSpPr>
          <p:cNvPr id="31" name="Gerade Verbindung mit Pfeil 30">
            <a:extLst>
              <a:ext uri="{FF2B5EF4-FFF2-40B4-BE49-F238E27FC236}">
                <a16:creationId xmlns:a16="http://schemas.microsoft.com/office/drawing/2014/main" id="{86007B06-DB86-B1A7-36C3-F88D3D125278}"/>
              </a:ext>
            </a:extLst>
          </p:cNvPr>
          <p:cNvCxnSpPr>
            <a:cxnSpLocks/>
            <a:stCxn id="5" idx="6"/>
            <a:endCxn id="9" idx="2"/>
          </p:cNvCxnSpPr>
          <p:nvPr/>
        </p:nvCxnSpPr>
        <p:spPr>
          <a:xfrm>
            <a:off x="2887609" y="4904905"/>
            <a:ext cx="5500116" cy="1534125"/>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33" name="Gerade Verbindung mit Pfeil 32">
            <a:extLst>
              <a:ext uri="{FF2B5EF4-FFF2-40B4-BE49-F238E27FC236}">
                <a16:creationId xmlns:a16="http://schemas.microsoft.com/office/drawing/2014/main" id="{082800B0-D13C-ECF5-C242-AF53C5066D54}"/>
              </a:ext>
            </a:extLst>
          </p:cNvPr>
          <p:cNvCxnSpPr>
            <a:cxnSpLocks/>
            <a:stCxn id="6" idx="6"/>
            <a:endCxn id="9" idx="2"/>
          </p:cNvCxnSpPr>
          <p:nvPr/>
        </p:nvCxnSpPr>
        <p:spPr>
          <a:xfrm flipV="1">
            <a:off x="2887609" y="6439030"/>
            <a:ext cx="5500116" cy="690415"/>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35" name="Gerade Verbindung mit Pfeil 34">
            <a:extLst>
              <a:ext uri="{FF2B5EF4-FFF2-40B4-BE49-F238E27FC236}">
                <a16:creationId xmlns:a16="http://schemas.microsoft.com/office/drawing/2014/main" id="{5F526F77-1522-7822-65D8-B71DF1ABF1CF}"/>
              </a:ext>
            </a:extLst>
          </p:cNvPr>
          <p:cNvCxnSpPr>
            <a:cxnSpLocks/>
            <a:stCxn id="7" idx="6"/>
            <a:endCxn id="9" idx="2"/>
          </p:cNvCxnSpPr>
          <p:nvPr/>
        </p:nvCxnSpPr>
        <p:spPr>
          <a:xfrm flipV="1">
            <a:off x="2869321" y="6439030"/>
            <a:ext cx="5518404" cy="2914955"/>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37" name="Gerade Verbindung mit Pfeil 36">
            <a:extLst>
              <a:ext uri="{FF2B5EF4-FFF2-40B4-BE49-F238E27FC236}">
                <a16:creationId xmlns:a16="http://schemas.microsoft.com/office/drawing/2014/main" id="{D76EB613-571F-74D2-553B-FA539C193766}"/>
              </a:ext>
            </a:extLst>
          </p:cNvPr>
          <p:cNvCxnSpPr>
            <a:stCxn id="8" idx="6"/>
            <a:endCxn id="9" idx="2"/>
          </p:cNvCxnSpPr>
          <p:nvPr/>
        </p:nvCxnSpPr>
        <p:spPr>
          <a:xfrm flipV="1">
            <a:off x="2869321" y="6439030"/>
            <a:ext cx="5518404" cy="5175224"/>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4" name="Gerade Verbindung mit Pfeil 3">
            <a:extLst>
              <a:ext uri="{FF2B5EF4-FFF2-40B4-BE49-F238E27FC236}">
                <a16:creationId xmlns:a16="http://schemas.microsoft.com/office/drawing/2014/main" id="{42E36367-7FB3-044B-D0ED-5AA4220ED712}"/>
              </a:ext>
            </a:extLst>
          </p:cNvPr>
          <p:cNvCxnSpPr>
            <a:stCxn id="5" idx="6"/>
            <a:endCxn id="10" idx="2"/>
          </p:cNvCxnSpPr>
          <p:nvPr/>
        </p:nvCxnSpPr>
        <p:spPr>
          <a:xfrm>
            <a:off x="2887609" y="4904905"/>
            <a:ext cx="5415925" cy="444907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 name="Gerade Verbindung mit Pfeil 12">
            <a:extLst>
              <a:ext uri="{FF2B5EF4-FFF2-40B4-BE49-F238E27FC236}">
                <a16:creationId xmlns:a16="http://schemas.microsoft.com/office/drawing/2014/main" id="{074BCDA2-94E1-A4A1-5E9B-6DE3B3B6DE34}"/>
              </a:ext>
            </a:extLst>
          </p:cNvPr>
          <p:cNvCxnSpPr>
            <a:stCxn id="6" idx="6"/>
          </p:cNvCxnSpPr>
          <p:nvPr/>
        </p:nvCxnSpPr>
        <p:spPr>
          <a:xfrm>
            <a:off x="2887609" y="7129445"/>
            <a:ext cx="5415925" cy="222454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8" name="Gerade Verbindung mit Pfeil 17">
            <a:extLst>
              <a:ext uri="{FF2B5EF4-FFF2-40B4-BE49-F238E27FC236}">
                <a16:creationId xmlns:a16="http://schemas.microsoft.com/office/drawing/2014/main" id="{7885879C-549C-0199-B0E0-235B69D59238}"/>
              </a:ext>
            </a:extLst>
          </p:cNvPr>
          <p:cNvCxnSpPr>
            <a:cxnSpLocks/>
            <a:stCxn id="7" idx="6"/>
            <a:endCxn id="10" idx="2"/>
          </p:cNvCxnSpPr>
          <p:nvPr/>
        </p:nvCxnSpPr>
        <p:spPr>
          <a:xfrm flipV="1">
            <a:off x="2869321" y="9353984"/>
            <a:ext cx="5434213"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4" name="Gerade Verbindung mit Pfeil 23">
            <a:extLst>
              <a:ext uri="{FF2B5EF4-FFF2-40B4-BE49-F238E27FC236}">
                <a16:creationId xmlns:a16="http://schemas.microsoft.com/office/drawing/2014/main" id="{FAB86A35-AC17-15AE-4793-09181E778BB9}"/>
              </a:ext>
            </a:extLst>
          </p:cNvPr>
          <p:cNvCxnSpPr>
            <a:stCxn id="8" idx="6"/>
            <a:endCxn id="10" idx="2"/>
          </p:cNvCxnSpPr>
          <p:nvPr/>
        </p:nvCxnSpPr>
        <p:spPr>
          <a:xfrm flipV="1">
            <a:off x="2869321" y="9353984"/>
            <a:ext cx="5434213" cy="226027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8" name="TextBox 37"/>
          <p:cNvSpPr txBox="1"/>
          <p:nvPr/>
        </p:nvSpPr>
        <p:spPr>
          <a:xfrm>
            <a:off x="1307592" y="3520440"/>
            <a:ext cx="11695176" cy="502920"/>
          </a:xfrm>
          <a:prstGeom prst="rect">
            <a:avLst/>
          </a:prstGeom>
          <a:noFill/>
        </p:spPr>
        <p:txBody>
          <a:bodyPr wrap="square" lIns="0" rIns="0">
            <a:spAutoFit/>
          </a:bodyPr>
          <a:lstStyle/>
          <a:p>
            <a:pPr algn="l"/>
            <a:r>
              <a:rPr sz="1800">
                <a:solidFill>
                  <a:srgbClr val="6E6E6E"/>
                </a:solidFill>
              </a:rPr>
              <a:t>Değerler ölçeklendi:  3 oda → 0.3,   120 m² → 0.6,   10 yıl → 0.2,   5 km → 0.5,   850 bin € → 0.85</a:t>
            </a:r>
          </a:p>
        </p:txBody>
      </p:sp>
    </p:spTree>
    <p:extLst>
      <p:ext uri="{BB962C8B-B14F-4D97-AF65-F5344CB8AC3E}">
        <p14:creationId xmlns:p14="http://schemas.microsoft.com/office/powerpoint/2010/main" val="2541352740"/>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CDB02-1BF7-82A5-FB62-600B5D4B1E16}"/>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B37840F7-03F5-CE31-6136-936803B69C7E}"/>
              </a:ext>
            </a:extLst>
          </p:cNvPr>
          <p:cNvSpPr>
            <a:spLocks noGrp="1"/>
          </p:cNvSpPr>
          <p:nvPr>
            <p:ph type="body" sz="quarter" idx="22"/>
          </p:nvPr>
        </p:nvSpPr>
        <p:spPr/>
        <p:txBody>
          <a:bodyPr/>
          <a:lstStyle/>
          <a:p>
            <a:r>
              <a:rPr lang="de-DE" dirty="0"/>
              <a:t>Forward </a:t>
            </a:r>
            <a:r>
              <a:rPr lang="de-DE" dirty="0" err="1"/>
              <a:t>Propagation</a:t>
            </a:r>
            <a:endParaRPr lang="de-DE" dirty="0"/>
          </a:p>
        </p:txBody>
      </p:sp>
      <p:sp>
        <p:nvSpPr>
          <p:cNvPr id="5" name="Shape 2">
            <a:extLst>
              <a:ext uri="{FF2B5EF4-FFF2-40B4-BE49-F238E27FC236}">
                <a16:creationId xmlns:a16="http://schemas.microsoft.com/office/drawing/2014/main" id="{DA9F45A3-F57A-E638-05DF-B181BC8C695E}"/>
              </a:ext>
            </a:extLst>
          </p:cNvPr>
          <p:cNvSpPr/>
          <p:nvPr/>
        </p:nvSpPr>
        <p:spPr>
          <a:xfrm>
            <a:off x="1570873" y="4196625"/>
            <a:ext cx="1316736" cy="1416559"/>
          </a:xfrm>
          <a:prstGeom prst="ellipse">
            <a:avLst/>
          </a:prstGeom>
          <a:solidFill>
            <a:srgbClr val="1B9E8A"/>
          </a:solidFill>
          <a:ln/>
        </p:spPr>
        <p:txBody>
          <a:bodyPr/>
          <a:lstStyle/>
          <a:p>
            <a:endParaRPr lang="de-DE" dirty="0"/>
          </a:p>
        </p:txBody>
      </p:sp>
      <p:sp>
        <p:nvSpPr>
          <p:cNvPr id="6" name="Shape 2">
            <a:extLst>
              <a:ext uri="{FF2B5EF4-FFF2-40B4-BE49-F238E27FC236}">
                <a16:creationId xmlns:a16="http://schemas.microsoft.com/office/drawing/2014/main" id="{9CC94B5A-F433-F424-54B2-4BF318DAFC11}"/>
              </a:ext>
            </a:extLst>
          </p:cNvPr>
          <p:cNvSpPr/>
          <p:nvPr/>
        </p:nvSpPr>
        <p:spPr>
          <a:xfrm>
            <a:off x="1570873" y="6421165"/>
            <a:ext cx="1316736" cy="1416559"/>
          </a:xfrm>
          <a:prstGeom prst="ellipse">
            <a:avLst/>
          </a:prstGeom>
          <a:solidFill>
            <a:srgbClr val="1B9E8A"/>
          </a:solidFill>
          <a:ln/>
        </p:spPr>
        <p:txBody>
          <a:bodyPr/>
          <a:lstStyle/>
          <a:p>
            <a:endParaRPr lang="de-DE"/>
          </a:p>
        </p:txBody>
      </p:sp>
      <p:sp>
        <p:nvSpPr>
          <p:cNvPr id="7" name="Shape 2">
            <a:extLst>
              <a:ext uri="{FF2B5EF4-FFF2-40B4-BE49-F238E27FC236}">
                <a16:creationId xmlns:a16="http://schemas.microsoft.com/office/drawing/2014/main" id="{4163890B-E81F-078E-6BF4-7A8126BA5724}"/>
              </a:ext>
            </a:extLst>
          </p:cNvPr>
          <p:cNvSpPr/>
          <p:nvPr/>
        </p:nvSpPr>
        <p:spPr>
          <a:xfrm>
            <a:off x="1552585" y="8645705"/>
            <a:ext cx="1316736" cy="1416559"/>
          </a:xfrm>
          <a:prstGeom prst="ellipse">
            <a:avLst/>
          </a:prstGeom>
          <a:solidFill>
            <a:srgbClr val="1B9E8A"/>
          </a:solidFill>
          <a:ln/>
        </p:spPr>
        <p:txBody>
          <a:bodyPr/>
          <a:lstStyle/>
          <a:p>
            <a:endParaRPr lang="de-DE"/>
          </a:p>
        </p:txBody>
      </p:sp>
      <p:sp>
        <p:nvSpPr>
          <p:cNvPr id="8" name="Shape 2">
            <a:extLst>
              <a:ext uri="{FF2B5EF4-FFF2-40B4-BE49-F238E27FC236}">
                <a16:creationId xmlns:a16="http://schemas.microsoft.com/office/drawing/2014/main" id="{0FD7FF66-05C4-B030-3B33-C8DB510782A7}"/>
              </a:ext>
            </a:extLst>
          </p:cNvPr>
          <p:cNvSpPr/>
          <p:nvPr/>
        </p:nvSpPr>
        <p:spPr>
          <a:xfrm>
            <a:off x="1552585" y="10905974"/>
            <a:ext cx="1316736" cy="1416559"/>
          </a:xfrm>
          <a:prstGeom prst="ellipse">
            <a:avLst/>
          </a:prstGeom>
          <a:solidFill>
            <a:srgbClr val="1B9E8A"/>
          </a:solidFill>
          <a:ln/>
        </p:spPr>
        <p:txBody>
          <a:bodyPr/>
          <a:lstStyle/>
          <a:p>
            <a:endParaRPr lang="de-DE"/>
          </a:p>
        </p:txBody>
      </p:sp>
      <p:sp>
        <p:nvSpPr>
          <p:cNvPr id="9" name="Shape 2">
            <a:extLst>
              <a:ext uri="{FF2B5EF4-FFF2-40B4-BE49-F238E27FC236}">
                <a16:creationId xmlns:a16="http://schemas.microsoft.com/office/drawing/2014/main" id="{A2F45DAB-616D-FB4B-B18F-3500034C68B1}"/>
              </a:ext>
            </a:extLst>
          </p:cNvPr>
          <p:cNvSpPr/>
          <p:nvPr/>
        </p:nvSpPr>
        <p:spPr>
          <a:xfrm>
            <a:off x="8387725" y="5730750"/>
            <a:ext cx="1316736" cy="1416559"/>
          </a:xfrm>
          <a:prstGeom prst="ellipse">
            <a:avLst/>
          </a:prstGeom>
          <a:solidFill>
            <a:srgbClr val="1B9E8A"/>
          </a:solidFill>
          <a:ln/>
        </p:spPr>
        <p:txBody>
          <a:bodyPr/>
          <a:lstStyle/>
          <a:p>
            <a:endParaRPr lang="de-DE"/>
          </a:p>
        </p:txBody>
      </p:sp>
      <p:sp>
        <p:nvSpPr>
          <p:cNvPr id="10" name="Shape 2">
            <a:extLst>
              <a:ext uri="{FF2B5EF4-FFF2-40B4-BE49-F238E27FC236}">
                <a16:creationId xmlns:a16="http://schemas.microsoft.com/office/drawing/2014/main" id="{48ADBCC1-15B8-700D-94F1-37DF2B7A8DEB}"/>
              </a:ext>
            </a:extLst>
          </p:cNvPr>
          <p:cNvSpPr/>
          <p:nvPr/>
        </p:nvSpPr>
        <p:spPr>
          <a:xfrm>
            <a:off x="8303534" y="8645704"/>
            <a:ext cx="1316736" cy="1416559"/>
          </a:xfrm>
          <a:prstGeom prst="ellipse">
            <a:avLst/>
          </a:prstGeom>
          <a:solidFill>
            <a:srgbClr val="1B9E8A"/>
          </a:solidFill>
          <a:ln/>
        </p:spPr>
        <p:txBody>
          <a:bodyPr/>
          <a:lstStyle/>
          <a:p>
            <a:endParaRPr lang="de-DE"/>
          </a:p>
        </p:txBody>
      </p:sp>
      <p:sp>
        <p:nvSpPr>
          <p:cNvPr id="12" name="Shape 24">
            <a:extLst>
              <a:ext uri="{FF2B5EF4-FFF2-40B4-BE49-F238E27FC236}">
                <a16:creationId xmlns:a16="http://schemas.microsoft.com/office/drawing/2014/main" id="{3997B8B4-6E91-C9E8-5FFF-3FFE6B75A95C}"/>
              </a:ext>
            </a:extLst>
          </p:cNvPr>
          <p:cNvSpPr>
            <a:spLocks noGrp="1"/>
          </p:cNvSpPr>
          <p:nvPr>
            <p:ph type="body" sz="quarter" idx="23"/>
          </p:nvPr>
        </p:nvSpPr>
        <p:spPr>
          <a:xfrm>
            <a:off x="13007340" y="4904905"/>
            <a:ext cx="10271760" cy="6709349"/>
          </a:xfrm>
          <a:prstGeom prst="roundRect">
            <a:avLst>
              <a:gd name="adj" fmla="val 1714"/>
            </a:avLst>
          </a:prstGeom>
          <a:solidFill>
            <a:srgbClr val="F1F8F6"/>
          </a:solidFill>
          <a:ln/>
          <a:effectLst>
            <a:outerShdw blurRad="101600" dist="38100" dir="5400000" algn="bl" rotWithShape="0">
              <a:srgbClr val="000000">
                <a:alpha val="12000"/>
              </a:srgbClr>
            </a:outerShdw>
          </a:effectLst>
        </p:spPr>
        <p:txBody>
          <a:bodyPr/>
          <a:lstStyle/>
          <a:p>
            <a:endParaRPr lang="de-DE" dirty="0"/>
          </a:p>
          <a:p>
            <a:endParaRPr lang="de-DE" dirty="0"/>
          </a:p>
          <a:p>
            <a:endParaRPr lang="de-DE" dirty="0"/>
          </a:p>
          <a:p>
            <a:endParaRPr lang="de-DE" dirty="0"/>
          </a:p>
          <a:p>
            <a:endParaRPr lang="de-DE" dirty="0"/>
          </a:p>
        </p:txBody>
      </p:sp>
      <p:graphicFrame>
        <p:nvGraphicFramePr>
          <p:cNvPr id="14" name="Table 0">
            <a:extLst>
              <a:ext uri="{FF2B5EF4-FFF2-40B4-BE49-F238E27FC236}">
                <a16:creationId xmlns:a16="http://schemas.microsoft.com/office/drawing/2014/main" id="{74298158-2DDE-DE88-4873-F6E2242BE893}"/>
              </a:ext>
            </a:extLst>
          </p:cNvPr>
          <p:cNvGraphicFramePr>
            <a:graphicFrameLocks noGrp="1"/>
          </p:cNvGraphicFramePr>
          <p:nvPr>
            <p:extLst>
              <p:ext uri="{D42A27DB-BD31-4B8C-83A1-F6EECF244321}">
                <p14:modId xmlns:p14="http://schemas.microsoft.com/office/powerpoint/2010/main" val="534160864"/>
              </p:ext>
            </p:extLst>
          </p:nvPr>
        </p:nvGraphicFramePr>
        <p:xfrm>
          <a:off x="1310640" y="2035680"/>
          <a:ext cx="11696700" cy="1416560"/>
        </p:xfrm>
        <a:graphic>
          <a:graphicData uri="http://schemas.openxmlformats.org/drawingml/2006/table">
            <a:tbl>
              <a:tblPr/>
              <a:tblGrid>
                <a:gridCol w="2339340">
                  <a:extLst>
                    <a:ext uri="{9D8B030D-6E8A-4147-A177-3AD203B41FA5}">
                      <a16:colId xmlns:a16="http://schemas.microsoft.com/office/drawing/2014/main" val="20000"/>
                    </a:ext>
                  </a:extLst>
                </a:gridCol>
                <a:gridCol w="2339340">
                  <a:extLst>
                    <a:ext uri="{9D8B030D-6E8A-4147-A177-3AD203B41FA5}">
                      <a16:colId xmlns:a16="http://schemas.microsoft.com/office/drawing/2014/main" val="20001"/>
                    </a:ext>
                  </a:extLst>
                </a:gridCol>
                <a:gridCol w="2339340">
                  <a:extLst>
                    <a:ext uri="{9D8B030D-6E8A-4147-A177-3AD203B41FA5}">
                      <a16:colId xmlns:a16="http://schemas.microsoft.com/office/drawing/2014/main" val="20002"/>
                    </a:ext>
                  </a:extLst>
                </a:gridCol>
                <a:gridCol w="2339340">
                  <a:extLst>
                    <a:ext uri="{9D8B030D-6E8A-4147-A177-3AD203B41FA5}">
                      <a16:colId xmlns:a16="http://schemas.microsoft.com/office/drawing/2014/main" val="20003"/>
                    </a:ext>
                  </a:extLst>
                </a:gridCol>
                <a:gridCol w="2339340">
                  <a:extLst>
                    <a:ext uri="{9D8B030D-6E8A-4147-A177-3AD203B41FA5}">
                      <a16:colId xmlns:a16="http://schemas.microsoft.com/office/drawing/2014/main" val="20004"/>
                    </a:ext>
                  </a:extLst>
                </a:gridCol>
              </a:tblGrid>
              <a:tr h="708280">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Oda</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m²</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Bina yaşı</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Merkeze uzaklık</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dirty="0">
                          <a:solidFill>
                            <a:srgbClr val="0F5257"/>
                          </a:solidFill>
                          <a:latin typeface="Chromatica"/>
                        </a:rPr>
                        <a:t>Fiyat</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extLst>
                  <a:ext uri="{0D108BD9-81ED-4DB2-BD59-A6C34878D82A}">
                    <a16:rowId xmlns:a16="http://schemas.microsoft.com/office/drawing/2014/main" val="10000"/>
                  </a:ext>
                </a:extLst>
              </a:tr>
              <a:tr h="708280">
                <a:tc>
                  <a:txBody>
                    <a:bodyPr/>
                    <a:lstStyle/>
                    <a:p>
                      <a:pPr marL="0" indent="0" algn="ctr">
                        <a:buNone/>
                      </a:pPr>
                      <a:r>
                        <a:rPr lang="en-US" sz="2400" b="1" dirty="0">
                          <a:solidFill>
                            <a:srgbClr val="1E2B2B"/>
                          </a:solidFill>
                          <a:latin typeface="Chromatica"/>
                        </a:rPr>
                        <a:t>0.3</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0.6</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0.2</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0.5</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0.85</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extLst>
                  <a:ext uri="{0D108BD9-81ED-4DB2-BD59-A6C34878D82A}">
                    <a16:rowId xmlns:a16="http://schemas.microsoft.com/office/drawing/2014/main" val="10001"/>
                  </a:ext>
                </a:extLst>
              </a:tr>
            </a:tbl>
          </a:graphicData>
        </a:graphic>
      </p:graphicFrame>
      <p:sp>
        <p:nvSpPr>
          <p:cNvPr id="16" name="Text 16">
            <a:extLst>
              <a:ext uri="{FF2B5EF4-FFF2-40B4-BE49-F238E27FC236}">
                <a16:creationId xmlns:a16="http://schemas.microsoft.com/office/drawing/2014/main" id="{048C8F3C-7FF0-3D16-14D5-A1227BF97AB3}"/>
              </a:ext>
            </a:extLst>
          </p:cNvPr>
          <p:cNvSpPr/>
          <p:nvPr/>
        </p:nvSpPr>
        <p:spPr>
          <a:xfrm>
            <a:off x="1779495" y="4490957"/>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0.3</a:t>
            </a:r>
            <a:endParaRPr lang="en-US" dirty="0">
              <a:latin typeface="Chromatica"/>
            </a:endParaRPr>
          </a:p>
        </p:txBody>
      </p:sp>
      <p:sp>
        <p:nvSpPr>
          <p:cNvPr id="17" name="Text 16">
            <a:extLst>
              <a:ext uri="{FF2B5EF4-FFF2-40B4-BE49-F238E27FC236}">
                <a16:creationId xmlns:a16="http://schemas.microsoft.com/office/drawing/2014/main" id="{F59884A9-7C41-95EF-C971-1C57AB0A69CC}"/>
              </a:ext>
            </a:extLst>
          </p:cNvPr>
          <p:cNvSpPr/>
          <p:nvPr/>
        </p:nvSpPr>
        <p:spPr>
          <a:xfrm>
            <a:off x="1779495" y="6715496"/>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0.6</a:t>
            </a:r>
            <a:endParaRPr lang="en-US" dirty="0">
              <a:latin typeface="Chromatica"/>
            </a:endParaRPr>
          </a:p>
        </p:txBody>
      </p:sp>
      <p:sp>
        <p:nvSpPr>
          <p:cNvPr id="20" name="Text 16">
            <a:extLst>
              <a:ext uri="{FF2B5EF4-FFF2-40B4-BE49-F238E27FC236}">
                <a16:creationId xmlns:a16="http://schemas.microsoft.com/office/drawing/2014/main" id="{EC5F4053-370B-AF0B-78BB-D0DB16509D40}"/>
              </a:ext>
            </a:extLst>
          </p:cNvPr>
          <p:cNvSpPr/>
          <p:nvPr/>
        </p:nvSpPr>
        <p:spPr>
          <a:xfrm>
            <a:off x="1779494" y="8953283"/>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0.2</a:t>
            </a:r>
            <a:endParaRPr lang="en-US" dirty="0">
              <a:latin typeface="Chromatica"/>
            </a:endParaRPr>
          </a:p>
        </p:txBody>
      </p:sp>
      <p:sp>
        <p:nvSpPr>
          <p:cNvPr id="21" name="Text 16">
            <a:extLst>
              <a:ext uri="{FF2B5EF4-FFF2-40B4-BE49-F238E27FC236}">
                <a16:creationId xmlns:a16="http://schemas.microsoft.com/office/drawing/2014/main" id="{684E1CED-8F54-EDD0-DDF0-83C637F85573}"/>
              </a:ext>
            </a:extLst>
          </p:cNvPr>
          <p:cNvSpPr/>
          <p:nvPr/>
        </p:nvSpPr>
        <p:spPr>
          <a:xfrm>
            <a:off x="1797783" y="11200305"/>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0.5</a:t>
            </a:r>
            <a:endParaRPr lang="en-US" dirty="0">
              <a:latin typeface="Chromatica"/>
            </a:endParaRPr>
          </a:p>
        </p:txBody>
      </p:sp>
      <mc:AlternateContent xmlns:mc="http://schemas.openxmlformats.org/markup-compatibility/2006" xmlns:a14="http://schemas.microsoft.com/office/drawing/2010/main">
        <mc:Choice Requires="a14">
          <p:sp>
            <p:nvSpPr>
              <p:cNvPr id="23" name="Text 26">
                <a:extLst>
                  <a:ext uri="{FF2B5EF4-FFF2-40B4-BE49-F238E27FC236}">
                    <a16:creationId xmlns:a16="http://schemas.microsoft.com/office/drawing/2014/main" id="{6377768E-DBE9-4DBB-5A97-72151FB41BE6}"/>
                  </a:ext>
                </a:extLst>
              </p:cNvPr>
              <p:cNvSpPr/>
              <p:nvPr/>
            </p:nvSpPr>
            <p:spPr>
              <a:xfrm>
                <a:off x="13091531" y="5318853"/>
                <a:ext cx="6732661" cy="1762308"/>
              </a:xfrm>
              <a:prstGeom prst="rect">
                <a:avLst/>
              </a:prstGeom>
              <a:noFill/>
              <a:ln/>
            </p:spPr>
            <p:txBody>
              <a:bodyPr wrap="square" rtlCol="0" anchor="ctr"/>
              <a:lstStyle/>
              <a:p>
                <a:pPr algn="l">
                  <a:lnSpc>
                    <a:spcPct val="115000"/>
                  </a:lnSpc>
                </a:pPr>
                <a14:m>
                  <m:oMathPara xmlns:m="http://schemas.openxmlformats.org/officeDocument/2006/math">
                    <m:oMathParaPr>
                      <m:jc m:val="left"/>
                    </m:oMathParaPr>
                    <m:oMath xmlns:m="http://schemas.openxmlformats.org/officeDocument/2006/math">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r>
                        <a:rPr lang="en-US" i="1" smtClean="0">
                          <a:solidFill>
                            <a:schemeClr val="bg2">
                              <a:lumMod val="10000"/>
                            </a:schemeClr>
                          </a:solidFill>
                          <a:latin typeface="Cambria Math" panose="02040503050406030204" pitchFamily="18" charset="0"/>
                          <a:ea typeface="Courier New" pitchFamily="34" charset="-122"/>
                          <a:cs typeface="Courier New" pitchFamily="34" charset="-120"/>
                        </a:rPr>
                        <m:t>=</m:t>
                      </m:r>
                      <m:sSub>
                        <m:sSubPr>
                          <m:ctrlPr>
                            <a:rPr lang="en-US" i="1" smtClean="0">
                              <a:solidFill>
                                <a:schemeClr val="bg2">
                                  <a:lumMod val="10000"/>
                                </a:schemeClr>
                              </a:solidFill>
                              <a:latin typeface="Cambria Math" panose="02040503050406030204" pitchFamily="18" charset="0"/>
                              <a:cs typeface="Courier New" pitchFamily="34" charset="-120"/>
                            </a:rPr>
                          </m:ctrlPr>
                        </m:sSubPr>
                        <m:e>
                          <m:r>
                            <a:rPr lang="de-DE" b="0" i="1" smtClean="0">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1 </m:t>
                          </m:r>
                        </m:sub>
                      </m:sSub>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1</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2</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2</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3</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3</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4</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4</m:t>
                          </m:r>
                        </m:sup>
                      </m:sSubSup>
                      <m:r>
                        <a:rPr lang="de-DE" b="0" i="1" smtClean="0">
                          <a:solidFill>
                            <a:schemeClr val="bg2">
                              <a:lumMod val="10000"/>
                            </a:schemeClr>
                          </a:solidFill>
                          <a:latin typeface="Cambria Math" panose="02040503050406030204" pitchFamily="18" charset="0"/>
                          <a:cs typeface="Courier New" pitchFamily="34" charset="-120"/>
                        </a:rPr>
                        <m:t>+</m:t>
                      </m:r>
                      <m:sSubSup>
                        <m:sSubSupPr>
                          <m:ctrlPr>
                            <a:rPr lang="en-US" b="0"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𝑏</m:t>
                          </m:r>
                        </m:e>
                        <m:sub>
                          <m:r>
                            <a:rPr lang="de-DE" b="0" i="1" smtClean="0">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1</m:t>
                          </m:r>
                        </m:sup>
                      </m:sSubSup>
                    </m:oMath>
                  </m:oMathPara>
                </a14:m>
                <a:endParaRPr lang="en-US" dirty="0">
                  <a:solidFill>
                    <a:schemeClr val="bg2">
                      <a:lumMod val="10000"/>
                    </a:schemeClr>
                  </a:solidFill>
                  <a:latin typeface="Chromatica"/>
                </a:endParaRP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r>
                      <a:rPr lang="de-DE" i="1">
                        <a:solidFill>
                          <a:schemeClr val="bg2">
                            <a:lumMod val="10000"/>
                          </a:schemeClr>
                        </a:solidFill>
                        <a:latin typeface="Cambria Math" panose="02040503050406030204" pitchFamily="18" charset="0"/>
                        <a:cs typeface="Courier New" pitchFamily="34" charset="-120"/>
                      </a:rPr>
                      <m:t> </m:t>
                    </m:r>
                  </m:oMath>
                </a14:m>
                <a:r>
                  <a:rPr lang="en-US" dirty="0">
                    <a:solidFill>
                      <a:schemeClr val="bg2">
                        <a:lumMod val="10000"/>
                      </a:schemeClr>
                    </a:solidFill>
                    <a:latin typeface="Chromatica"/>
                    <a:ea typeface="Courier New" pitchFamily="34" charset="-122"/>
                    <a:cs typeface="Courier New" pitchFamily="34" charset="-120"/>
                  </a:rPr>
                  <a:t>= 0.3*0.1 + 0.6*0.3 + 0.2*0.5 + 0.5*0.7 + 0.1</a:t>
                </a: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oMath>
                </a14:m>
                <a:r>
                  <a:rPr lang="en-US" dirty="0">
                    <a:solidFill>
                      <a:schemeClr val="bg2">
                        <a:lumMod val="10000"/>
                      </a:schemeClr>
                    </a:solidFill>
                    <a:latin typeface="Chromatica"/>
                    <a:ea typeface="Courier New" pitchFamily="34" charset="-122"/>
                    <a:cs typeface="Courier New" pitchFamily="34" charset="-120"/>
                  </a:rPr>
                  <a:t> = 0.03 + 0.18 + 0.10 + 0.35 + 0.1</a:t>
                </a: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oMath>
                </a14:m>
                <a:r>
                  <a:rPr lang="en-US" dirty="0">
                    <a:solidFill>
                      <a:schemeClr val="bg2">
                        <a:lumMod val="10000"/>
                      </a:schemeClr>
                    </a:solidFill>
                    <a:latin typeface="Chromatica"/>
                    <a:ea typeface="Courier New" pitchFamily="34" charset="-122"/>
                    <a:cs typeface="Courier New" pitchFamily="34" charset="-120"/>
                  </a:rPr>
                  <a:t> = 0.76</a:t>
                </a:r>
              </a:p>
              <a:p>
                <a:pPr algn="l">
                  <a:lnSpc>
                    <a:spcPct val="115000"/>
                  </a:lnSpc>
                </a:pPr>
                <a14:m>
                  <m:oMath xmlns:m="http://schemas.openxmlformats.org/officeDocument/2006/math">
                    <m:sSubSup>
                      <m:sSubSupPr>
                        <m:ctrlPr>
                          <a:rPr lang="en-US" b="1" i="1">
                            <a:solidFill>
                              <a:schemeClr val="bg2">
                                <a:lumMod val="10000"/>
                              </a:schemeClr>
                            </a:solidFill>
                            <a:latin typeface="Cambria Math" panose="02040503050406030204" pitchFamily="18" charset="0"/>
                            <a:cs typeface="Courier New" pitchFamily="34" charset="-120"/>
                          </a:rPr>
                        </m:ctrlPr>
                      </m:sSubSupPr>
                      <m:e>
                        <m:r>
                          <a:rPr lang="de-DE" b="1" i="1" smtClean="0">
                            <a:solidFill>
                              <a:schemeClr val="bg2">
                                <a:lumMod val="10000"/>
                              </a:schemeClr>
                            </a:solidFill>
                            <a:latin typeface="Cambria Math" panose="02040503050406030204" pitchFamily="18" charset="0"/>
                            <a:cs typeface="Courier New" pitchFamily="34" charset="-120"/>
                          </a:rPr>
                          <m:t>𝒂</m:t>
                        </m:r>
                      </m:e>
                      <m:sub>
                        <m:r>
                          <a:rPr lang="de-DE" b="1" i="1" smtClean="0">
                            <a:solidFill>
                              <a:schemeClr val="bg2">
                                <a:lumMod val="10000"/>
                              </a:schemeClr>
                            </a:solidFill>
                            <a:latin typeface="Cambria Math" panose="02040503050406030204" pitchFamily="18" charset="0"/>
                            <a:cs typeface="Courier New" pitchFamily="34" charset="-120"/>
                          </a:rPr>
                          <m:t>𝟏</m:t>
                        </m:r>
                      </m:sub>
                      <m:sup>
                        <m:r>
                          <a:rPr lang="de-DE" b="1" i="1">
                            <a:solidFill>
                              <a:schemeClr val="bg2">
                                <a:lumMod val="10000"/>
                              </a:schemeClr>
                            </a:solidFill>
                            <a:latin typeface="Cambria Math" panose="02040503050406030204" pitchFamily="18" charset="0"/>
                            <a:cs typeface="Courier New" pitchFamily="34" charset="-120"/>
                          </a:rPr>
                          <m:t>𝟏</m:t>
                        </m:r>
                      </m:sup>
                    </m:sSubSup>
                  </m:oMath>
                </a14:m>
                <a:r>
                  <a:rPr lang="en-US" b="1" dirty="0">
                    <a:solidFill>
                      <a:schemeClr val="bg2">
                        <a:lumMod val="10000"/>
                      </a:schemeClr>
                    </a:solidFill>
                    <a:latin typeface="Chromatica"/>
                    <a:ea typeface="Courier New" pitchFamily="34" charset="-122"/>
                    <a:cs typeface="Courier New" pitchFamily="34" charset="-120"/>
                  </a:rPr>
                  <a:t> = ReLU(0.76) = 0.76</a:t>
                </a:r>
                <a:endParaRPr lang="en-US" b="1" dirty="0">
                  <a:solidFill>
                    <a:schemeClr val="bg2">
                      <a:lumMod val="10000"/>
                    </a:schemeClr>
                  </a:solidFill>
                  <a:latin typeface="Chromatica"/>
                </a:endParaRPr>
              </a:p>
            </p:txBody>
          </p:sp>
        </mc:Choice>
        <mc:Fallback xmlns="">
          <p:sp>
            <p:nvSpPr>
              <p:cNvPr id="23" name="Text 26">
                <a:extLst>
                  <a:ext uri="{FF2B5EF4-FFF2-40B4-BE49-F238E27FC236}">
                    <a16:creationId xmlns:a16="http://schemas.microsoft.com/office/drawing/2014/main" id="{6377768E-DBE9-4DBB-5A97-72151FB41BE6}"/>
                  </a:ext>
                </a:extLst>
              </p:cNvPr>
              <p:cNvSpPr>
                <a:spLocks noRot="1" noChangeAspect="1" noMove="1" noResize="1" noEditPoints="1" noAdjustHandles="1" noChangeArrowheads="1" noChangeShapeType="1" noTextEdit="1"/>
              </p:cNvSpPr>
              <p:nvPr/>
            </p:nvSpPr>
            <p:spPr>
              <a:xfrm>
                <a:off x="13091531" y="5318853"/>
                <a:ext cx="6732661" cy="1762308"/>
              </a:xfrm>
              <a:prstGeom prst="rect">
                <a:avLst/>
              </a:prstGeom>
              <a:blipFill>
                <a:blip r:embed="rId2"/>
                <a:stretch>
                  <a:fillRect t="-6574" b="-20415"/>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5" name="Text 16">
                <a:extLst>
                  <a:ext uri="{FF2B5EF4-FFF2-40B4-BE49-F238E27FC236}">
                    <a16:creationId xmlns:a16="http://schemas.microsoft.com/office/drawing/2014/main" id="{2E4797CE-BF6C-5602-6135-5D1F9C1E5B94}"/>
                  </a:ext>
                </a:extLst>
              </p:cNvPr>
              <p:cNvSpPr/>
              <p:nvPr/>
            </p:nvSpPr>
            <p:spPr>
              <a:xfrm>
                <a:off x="8614635" y="6007217"/>
                <a:ext cx="862915" cy="827896"/>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𝒛</m:t>
                          </m:r>
                        </m:e>
                        <m:sub>
                          <m:r>
                            <a:rPr lang="de-DE" b="1" i="1" smtClean="0">
                              <a:solidFill>
                                <a:srgbClr val="FFFFFF"/>
                              </a:solidFill>
                              <a:latin typeface="Cambria Math" panose="02040503050406030204" pitchFamily="18" charset="0"/>
                              <a:cs typeface="Arial" pitchFamily="34" charset="-120"/>
                            </a:rPr>
                            <m:t>𝟏</m:t>
                          </m:r>
                        </m:sub>
                        <m:sup>
                          <m:r>
                            <a:rPr lang="de-DE" b="1" i="1" smtClean="0">
                              <a:solidFill>
                                <a:srgbClr val="FFFFFF"/>
                              </a:solidFill>
                              <a:latin typeface="Cambria Math" panose="02040503050406030204" pitchFamily="18" charset="0"/>
                              <a:cs typeface="Arial" pitchFamily="34" charset="-120"/>
                            </a:rPr>
                            <m:t>𝟏</m:t>
                          </m:r>
                        </m:sup>
                      </m:sSubSup>
                    </m:oMath>
                  </m:oMathPara>
                </a14:m>
                <a:endParaRPr lang="en-US" dirty="0">
                  <a:latin typeface="Chromatica"/>
                </a:endParaRPr>
              </a:p>
            </p:txBody>
          </p:sp>
        </mc:Choice>
        <mc:Fallback xmlns="">
          <p:sp>
            <p:nvSpPr>
              <p:cNvPr id="25" name="Text 16">
                <a:extLst>
                  <a:ext uri="{FF2B5EF4-FFF2-40B4-BE49-F238E27FC236}">
                    <a16:creationId xmlns:a16="http://schemas.microsoft.com/office/drawing/2014/main" id="{2E4797CE-BF6C-5602-6135-5D1F9C1E5B94}"/>
                  </a:ext>
                </a:extLst>
              </p:cNvPr>
              <p:cNvSpPr>
                <a:spLocks noRot="1" noChangeAspect="1" noMove="1" noResize="1" noEditPoints="1" noAdjustHandles="1" noChangeArrowheads="1" noChangeShapeType="1" noTextEdit="1"/>
              </p:cNvSpPr>
              <p:nvPr/>
            </p:nvSpPr>
            <p:spPr>
              <a:xfrm>
                <a:off x="8614635" y="6007217"/>
                <a:ext cx="862915" cy="827896"/>
              </a:xfrm>
              <a:prstGeom prst="rect">
                <a:avLst/>
              </a:prstGeom>
              <a:blipFill>
                <a:blip r:embed="rId3"/>
                <a:stretch>
                  <a:fillRect/>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7" name="Text 16">
                <a:extLst>
                  <a:ext uri="{FF2B5EF4-FFF2-40B4-BE49-F238E27FC236}">
                    <a16:creationId xmlns:a16="http://schemas.microsoft.com/office/drawing/2014/main" id="{5A0B16BA-4CB1-580E-2F8F-DFE8A9F76377}"/>
                  </a:ext>
                </a:extLst>
              </p:cNvPr>
              <p:cNvSpPr/>
              <p:nvPr/>
            </p:nvSpPr>
            <p:spPr>
              <a:xfrm>
                <a:off x="8530444" y="8940035"/>
                <a:ext cx="862915" cy="827896"/>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𝒛</m:t>
                          </m:r>
                        </m:e>
                        <m:sub>
                          <m:r>
                            <a:rPr lang="de-DE" b="1" i="1" smtClean="0">
                              <a:solidFill>
                                <a:srgbClr val="FFFFFF"/>
                              </a:solidFill>
                              <a:latin typeface="Cambria Math" panose="02040503050406030204" pitchFamily="18" charset="0"/>
                              <a:cs typeface="Arial" pitchFamily="34" charset="-120"/>
                            </a:rPr>
                            <m:t>𝟐</m:t>
                          </m:r>
                        </m:sub>
                        <m:sup>
                          <m:r>
                            <a:rPr lang="de-DE" b="1" i="1" smtClean="0">
                              <a:solidFill>
                                <a:srgbClr val="FFFFFF"/>
                              </a:solidFill>
                              <a:latin typeface="Cambria Math" panose="02040503050406030204" pitchFamily="18" charset="0"/>
                              <a:cs typeface="Arial" pitchFamily="34" charset="-120"/>
                            </a:rPr>
                            <m:t>𝟏</m:t>
                          </m:r>
                        </m:sup>
                      </m:sSubSup>
                    </m:oMath>
                  </m:oMathPara>
                </a14:m>
                <a:endParaRPr lang="en-US" dirty="0">
                  <a:latin typeface="Chromatica"/>
                </a:endParaRPr>
              </a:p>
            </p:txBody>
          </p:sp>
        </mc:Choice>
        <mc:Fallback xmlns="">
          <p:sp>
            <p:nvSpPr>
              <p:cNvPr id="27" name="Text 16">
                <a:extLst>
                  <a:ext uri="{FF2B5EF4-FFF2-40B4-BE49-F238E27FC236}">
                    <a16:creationId xmlns:a16="http://schemas.microsoft.com/office/drawing/2014/main" id="{5A0B16BA-4CB1-580E-2F8F-DFE8A9F76377}"/>
                  </a:ext>
                </a:extLst>
              </p:cNvPr>
              <p:cNvSpPr>
                <a:spLocks noRot="1" noChangeAspect="1" noMove="1" noResize="1" noEditPoints="1" noAdjustHandles="1" noChangeArrowheads="1" noChangeShapeType="1" noTextEdit="1"/>
              </p:cNvSpPr>
              <p:nvPr/>
            </p:nvSpPr>
            <p:spPr>
              <a:xfrm>
                <a:off x="8530444" y="8940035"/>
                <a:ext cx="862915" cy="827896"/>
              </a:xfrm>
              <a:prstGeom prst="rect">
                <a:avLst/>
              </a:prstGeom>
              <a:blipFill>
                <a:blip r:embed="rId4"/>
                <a:stretch>
                  <a:fillRect/>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9" name="Text 26">
                <a:extLst>
                  <a:ext uri="{FF2B5EF4-FFF2-40B4-BE49-F238E27FC236}">
                    <a16:creationId xmlns:a16="http://schemas.microsoft.com/office/drawing/2014/main" id="{91A557B2-052F-7916-D358-415A707CD44E}"/>
                  </a:ext>
                </a:extLst>
              </p:cNvPr>
              <p:cNvSpPr/>
              <p:nvPr/>
            </p:nvSpPr>
            <p:spPr>
              <a:xfrm>
                <a:off x="13109819" y="9017198"/>
                <a:ext cx="6732661" cy="1762308"/>
              </a:xfrm>
              <a:prstGeom prst="rect">
                <a:avLst/>
              </a:prstGeom>
              <a:noFill/>
              <a:ln/>
            </p:spPr>
            <p:txBody>
              <a:bodyPr wrap="square" rtlCol="0" anchor="ctr"/>
              <a:lstStyle/>
              <a:p>
                <a:pPr algn="l">
                  <a:lnSpc>
                    <a:spcPct val="115000"/>
                  </a:lnSpc>
                </a:pPr>
                <a14:m>
                  <m:oMathPara xmlns:m="http://schemas.openxmlformats.org/officeDocument/2006/math">
                    <m:oMathParaPr>
                      <m:jc m:val="left"/>
                    </m:oMathParaPr>
                    <m:oMath xmlns:m="http://schemas.openxmlformats.org/officeDocument/2006/math">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i="1">
                              <a:solidFill>
                                <a:schemeClr val="bg2">
                                  <a:lumMod val="10000"/>
                                </a:schemeClr>
                              </a:solidFill>
                              <a:latin typeface="Cambria Math" panose="02040503050406030204" pitchFamily="18" charset="0"/>
                              <a:cs typeface="Courier New" pitchFamily="34" charset="-120"/>
                            </a:rPr>
                            <m:t>1</m:t>
                          </m:r>
                        </m:sup>
                      </m:sSubSup>
                      <m:r>
                        <a:rPr lang="en-US" i="1" smtClean="0">
                          <a:solidFill>
                            <a:schemeClr val="bg2">
                              <a:lumMod val="10000"/>
                            </a:schemeClr>
                          </a:solidFill>
                          <a:latin typeface="Cambria Math" panose="02040503050406030204" pitchFamily="18" charset="0"/>
                          <a:ea typeface="Courier New" pitchFamily="34" charset="-122"/>
                          <a:cs typeface="Courier New" pitchFamily="34" charset="-120"/>
                        </a:rPr>
                        <m:t>=</m:t>
                      </m:r>
                      <m:sSub>
                        <m:sSubPr>
                          <m:ctrlPr>
                            <a:rPr lang="en-US" i="1" smtClean="0">
                              <a:solidFill>
                                <a:schemeClr val="bg2">
                                  <a:lumMod val="10000"/>
                                </a:schemeClr>
                              </a:solidFill>
                              <a:latin typeface="Cambria Math" panose="02040503050406030204" pitchFamily="18" charset="0"/>
                              <a:cs typeface="Courier New" pitchFamily="34" charset="-120"/>
                            </a:rPr>
                          </m:ctrlPr>
                        </m:sSubPr>
                        <m:e>
                          <m:r>
                            <a:rPr lang="de-DE" b="0" i="1" smtClean="0">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1 </m:t>
                          </m:r>
                        </m:sub>
                      </m:sSub>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b="0" i="1" smtClean="0">
                              <a:solidFill>
                                <a:schemeClr val="bg2">
                                  <a:lumMod val="10000"/>
                                </a:schemeClr>
                              </a:solidFill>
                              <a:latin typeface="Cambria Math" panose="02040503050406030204" pitchFamily="18" charset="0"/>
                              <a:cs typeface="Courier New" pitchFamily="34" charset="-120"/>
                            </a:rPr>
                            <m:t>1</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2</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b="0" i="1" smtClean="0">
                              <a:solidFill>
                                <a:schemeClr val="bg2">
                                  <a:lumMod val="10000"/>
                                </a:schemeClr>
                              </a:solidFill>
                              <a:latin typeface="Cambria Math" panose="02040503050406030204" pitchFamily="18" charset="0"/>
                              <a:cs typeface="Courier New" pitchFamily="34" charset="-120"/>
                            </a:rPr>
                            <m:t>2</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3</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b="0" i="1" smtClean="0">
                              <a:solidFill>
                                <a:schemeClr val="bg2">
                                  <a:lumMod val="10000"/>
                                </a:schemeClr>
                              </a:solidFill>
                              <a:latin typeface="Cambria Math" panose="02040503050406030204" pitchFamily="18" charset="0"/>
                              <a:cs typeface="Courier New" pitchFamily="34" charset="-120"/>
                            </a:rPr>
                            <m:t>3</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4</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b="0" i="1" smtClean="0">
                              <a:solidFill>
                                <a:schemeClr val="bg2">
                                  <a:lumMod val="10000"/>
                                </a:schemeClr>
                              </a:solidFill>
                              <a:latin typeface="Cambria Math" panose="02040503050406030204" pitchFamily="18" charset="0"/>
                              <a:cs typeface="Courier New" pitchFamily="34" charset="-120"/>
                            </a:rPr>
                            <m:t>4</m:t>
                          </m:r>
                        </m:sup>
                      </m:sSubSup>
                      <m:r>
                        <a:rPr lang="de-DE" b="0" i="1" smtClean="0">
                          <a:solidFill>
                            <a:schemeClr val="bg2">
                              <a:lumMod val="10000"/>
                            </a:schemeClr>
                          </a:solidFill>
                          <a:latin typeface="Cambria Math" panose="02040503050406030204" pitchFamily="18" charset="0"/>
                          <a:cs typeface="Courier New" pitchFamily="34" charset="-120"/>
                        </a:rPr>
                        <m:t>+</m:t>
                      </m:r>
                      <m:sSubSup>
                        <m:sSubSupPr>
                          <m:ctrlPr>
                            <a:rPr lang="en-US" b="0"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𝑏</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b="0" i="1" smtClean="0">
                              <a:solidFill>
                                <a:schemeClr val="bg2">
                                  <a:lumMod val="10000"/>
                                </a:schemeClr>
                              </a:solidFill>
                              <a:latin typeface="Cambria Math" panose="02040503050406030204" pitchFamily="18" charset="0"/>
                              <a:cs typeface="Courier New" pitchFamily="34" charset="-120"/>
                            </a:rPr>
                            <m:t>1</m:t>
                          </m:r>
                        </m:sup>
                      </m:sSubSup>
                    </m:oMath>
                  </m:oMathPara>
                </a14:m>
                <a:endParaRPr lang="en-US" dirty="0">
                  <a:solidFill>
                    <a:schemeClr val="bg2">
                      <a:lumMod val="10000"/>
                    </a:schemeClr>
                  </a:solidFill>
                  <a:latin typeface="Chromatica"/>
                </a:endParaRP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i="1">
                            <a:solidFill>
                              <a:schemeClr val="bg2">
                                <a:lumMod val="10000"/>
                              </a:schemeClr>
                            </a:solidFill>
                            <a:latin typeface="Cambria Math" panose="02040503050406030204" pitchFamily="18" charset="0"/>
                            <a:cs typeface="Courier New" pitchFamily="34" charset="-120"/>
                          </a:rPr>
                          <m:t>1</m:t>
                        </m:r>
                      </m:sup>
                    </m:sSubSup>
                    <m:r>
                      <a:rPr lang="de-DE" i="1">
                        <a:solidFill>
                          <a:schemeClr val="bg2">
                            <a:lumMod val="10000"/>
                          </a:schemeClr>
                        </a:solidFill>
                        <a:latin typeface="Cambria Math" panose="02040503050406030204" pitchFamily="18" charset="0"/>
                        <a:cs typeface="Courier New" pitchFamily="34" charset="-120"/>
                      </a:rPr>
                      <m:t> </m:t>
                    </m:r>
                  </m:oMath>
                </a14:m>
                <a:r>
                  <a:rPr lang="en-US" dirty="0">
                    <a:solidFill>
                      <a:schemeClr val="bg2">
                        <a:lumMod val="10000"/>
                      </a:schemeClr>
                    </a:solidFill>
                    <a:latin typeface="Chromatica"/>
                    <a:ea typeface="Courier New" pitchFamily="34" charset="-122"/>
                    <a:cs typeface="Courier New" pitchFamily="34" charset="-120"/>
                  </a:rPr>
                  <a:t>= 0.3*0.2 + 0.6*0.4 + 0.2*0.6 + 0.5*0.8 + 0.1</a:t>
                </a:r>
              </a:p>
            </p:txBody>
          </p:sp>
        </mc:Choice>
        <mc:Fallback xmlns="">
          <p:sp>
            <p:nvSpPr>
              <p:cNvPr id="29" name="Text 26">
                <a:extLst>
                  <a:ext uri="{FF2B5EF4-FFF2-40B4-BE49-F238E27FC236}">
                    <a16:creationId xmlns:a16="http://schemas.microsoft.com/office/drawing/2014/main" id="{91A557B2-052F-7916-D358-415A707CD44E}"/>
                  </a:ext>
                </a:extLst>
              </p:cNvPr>
              <p:cNvSpPr>
                <a:spLocks noRot="1" noChangeAspect="1" noMove="1" noResize="1" noEditPoints="1" noAdjustHandles="1" noChangeArrowheads="1" noChangeShapeType="1" noTextEdit="1"/>
              </p:cNvSpPr>
              <p:nvPr/>
            </p:nvSpPr>
            <p:spPr>
              <a:xfrm>
                <a:off x="13109819" y="9017198"/>
                <a:ext cx="6732661" cy="1762308"/>
              </a:xfrm>
              <a:prstGeom prst="rect">
                <a:avLst/>
              </a:prstGeom>
              <a:blipFill>
                <a:blip r:embed="rId5"/>
                <a:stretch>
                  <a:fillRect/>
                </a:stretch>
              </a:blipFill>
              <a:ln/>
            </p:spPr>
            <p:txBody>
              <a:bodyPr/>
              <a:lstStyle/>
              <a:p>
                <a:r>
                  <a:rPr lang="de-DE">
                    <a:noFill/>
                  </a:rPr>
                  <a:t> </a:t>
                </a:r>
              </a:p>
            </p:txBody>
          </p:sp>
        </mc:Fallback>
      </mc:AlternateContent>
      <p:cxnSp>
        <p:nvCxnSpPr>
          <p:cNvPr id="31" name="Gerade Verbindung mit Pfeil 30">
            <a:extLst>
              <a:ext uri="{FF2B5EF4-FFF2-40B4-BE49-F238E27FC236}">
                <a16:creationId xmlns:a16="http://schemas.microsoft.com/office/drawing/2014/main" id="{9ADFB0BD-E8DB-0F50-DF51-6B3E50A5D19C}"/>
              </a:ext>
            </a:extLst>
          </p:cNvPr>
          <p:cNvCxnSpPr>
            <a:cxnSpLocks/>
            <a:stCxn id="5" idx="6"/>
            <a:endCxn id="9" idx="2"/>
          </p:cNvCxnSpPr>
          <p:nvPr/>
        </p:nvCxnSpPr>
        <p:spPr>
          <a:xfrm>
            <a:off x="2887609" y="4904905"/>
            <a:ext cx="5500116" cy="1534125"/>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33" name="Gerade Verbindung mit Pfeil 32">
            <a:extLst>
              <a:ext uri="{FF2B5EF4-FFF2-40B4-BE49-F238E27FC236}">
                <a16:creationId xmlns:a16="http://schemas.microsoft.com/office/drawing/2014/main" id="{A2B2A48D-AB15-F352-4A54-859F32425D18}"/>
              </a:ext>
            </a:extLst>
          </p:cNvPr>
          <p:cNvCxnSpPr>
            <a:cxnSpLocks/>
            <a:stCxn id="6" idx="6"/>
            <a:endCxn id="9" idx="2"/>
          </p:cNvCxnSpPr>
          <p:nvPr/>
        </p:nvCxnSpPr>
        <p:spPr>
          <a:xfrm flipV="1">
            <a:off x="2887609" y="6439030"/>
            <a:ext cx="5500116" cy="690415"/>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35" name="Gerade Verbindung mit Pfeil 34">
            <a:extLst>
              <a:ext uri="{FF2B5EF4-FFF2-40B4-BE49-F238E27FC236}">
                <a16:creationId xmlns:a16="http://schemas.microsoft.com/office/drawing/2014/main" id="{A77A964C-37C9-37B9-9583-C54F588492C4}"/>
              </a:ext>
            </a:extLst>
          </p:cNvPr>
          <p:cNvCxnSpPr>
            <a:cxnSpLocks/>
            <a:stCxn id="7" idx="6"/>
            <a:endCxn id="9" idx="2"/>
          </p:cNvCxnSpPr>
          <p:nvPr/>
        </p:nvCxnSpPr>
        <p:spPr>
          <a:xfrm flipV="1">
            <a:off x="2869321" y="6439030"/>
            <a:ext cx="5518404" cy="2914955"/>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37" name="Gerade Verbindung mit Pfeil 36">
            <a:extLst>
              <a:ext uri="{FF2B5EF4-FFF2-40B4-BE49-F238E27FC236}">
                <a16:creationId xmlns:a16="http://schemas.microsoft.com/office/drawing/2014/main" id="{65DA156F-42AF-CFC4-D178-4F7432E47A6B}"/>
              </a:ext>
            </a:extLst>
          </p:cNvPr>
          <p:cNvCxnSpPr>
            <a:stCxn id="8" idx="6"/>
            <a:endCxn id="9" idx="2"/>
          </p:cNvCxnSpPr>
          <p:nvPr/>
        </p:nvCxnSpPr>
        <p:spPr>
          <a:xfrm flipV="1">
            <a:off x="2869321" y="6439030"/>
            <a:ext cx="5518404" cy="5175224"/>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4" name="Gerade Verbindung mit Pfeil 3">
            <a:extLst>
              <a:ext uri="{FF2B5EF4-FFF2-40B4-BE49-F238E27FC236}">
                <a16:creationId xmlns:a16="http://schemas.microsoft.com/office/drawing/2014/main" id="{D9DC0EB2-6E2C-CC1D-2455-9BE936895FC2}"/>
              </a:ext>
            </a:extLst>
          </p:cNvPr>
          <p:cNvCxnSpPr>
            <a:stCxn id="5" idx="6"/>
            <a:endCxn id="10" idx="2"/>
          </p:cNvCxnSpPr>
          <p:nvPr/>
        </p:nvCxnSpPr>
        <p:spPr>
          <a:xfrm>
            <a:off x="2887609" y="4904905"/>
            <a:ext cx="5415925" cy="444907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 name="Gerade Verbindung mit Pfeil 12">
            <a:extLst>
              <a:ext uri="{FF2B5EF4-FFF2-40B4-BE49-F238E27FC236}">
                <a16:creationId xmlns:a16="http://schemas.microsoft.com/office/drawing/2014/main" id="{D6BD0647-1B2D-1140-4CD2-6939ABED2C36}"/>
              </a:ext>
            </a:extLst>
          </p:cNvPr>
          <p:cNvCxnSpPr>
            <a:stCxn id="6" idx="6"/>
          </p:cNvCxnSpPr>
          <p:nvPr/>
        </p:nvCxnSpPr>
        <p:spPr>
          <a:xfrm>
            <a:off x="2887609" y="7129445"/>
            <a:ext cx="5415925" cy="222454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8" name="Gerade Verbindung mit Pfeil 17">
            <a:extLst>
              <a:ext uri="{FF2B5EF4-FFF2-40B4-BE49-F238E27FC236}">
                <a16:creationId xmlns:a16="http://schemas.microsoft.com/office/drawing/2014/main" id="{408A550D-8C89-FA79-9245-32A2D7EA4077}"/>
              </a:ext>
            </a:extLst>
          </p:cNvPr>
          <p:cNvCxnSpPr>
            <a:cxnSpLocks/>
            <a:stCxn id="7" idx="6"/>
            <a:endCxn id="10" idx="2"/>
          </p:cNvCxnSpPr>
          <p:nvPr/>
        </p:nvCxnSpPr>
        <p:spPr>
          <a:xfrm flipV="1">
            <a:off x="2869321" y="9353984"/>
            <a:ext cx="5434213"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4" name="Gerade Verbindung mit Pfeil 23">
            <a:extLst>
              <a:ext uri="{FF2B5EF4-FFF2-40B4-BE49-F238E27FC236}">
                <a16:creationId xmlns:a16="http://schemas.microsoft.com/office/drawing/2014/main" id="{8E6133EE-52EA-91CF-AE69-0C1E57A7A719}"/>
              </a:ext>
            </a:extLst>
          </p:cNvPr>
          <p:cNvCxnSpPr>
            <a:stCxn id="8" idx="6"/>
            <a:endCxn id="10" idx="2"/>
          </p:cNvCxnSpPr>
          <p:nvPr/>
        </p:nvCxnSpPr>
        <p:spPr>
          <a:xfrm flipV="1">
            <a:off x="2869321" y="9353984"/>
            <a:ext cx="5434213" cy="226027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8" name="TextBox 37"/>
          <p:cNvSpPr txBox="1"/>
          <p:nvPr/>
        </p:nvSpPr>
        <p:spPr>
          <a:xfrm>
            <a:off x="1307592" y="3520440"/>
            <a:ext cx="11695176" cy="502920"/>
          </a:xfrm>
          <a:prstGeom prst="rect">
            <a:avLst/>
          </a:prstGeom>
          <a:noFill/>
        </p:spPr>
        <p:txBody>
          <a:bodyPr wrap="square" lIns="0" rIns="0">
            <a:spAutoFit/>
          </a:bodyPr>
          <a:lstStyle/>
          <a:p>
            <a:pPr algn="l"/>
            <a:r>
              <a:rPr sz="1800">
                <a:solidFill>
                  <a:srgbClr val="6E6E6E"/>
                </a:solidFill>
              </a:rPr>
              <a:t>Değerler ölçeklendi:  3 oda → 0.3,   120 m² → 0.6,   10 yıl → 0.2,   5 km → 0.5,   850 bin € → 0.85</a:t>
            </a:r>
          </a:p>
        </p:txBody>
      </p:sp>
    </p:spTree>
    <p:extLst>
      <p:ext uri="{BB962C8B-B14F-4D97-AF65-F5344CB8AC3E}">
        <p14:creationId xmlns:p14="http://schemas.microsoft.com/office/powerpoint/2010/main" val="297146390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D0D26-D19A-60DF-429E-D95977D91B8C}"/>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DC452FBE-CFD6-B6BE-A994-7FF84CE259FA}"/>
              </a:ext>
            </a:extLst>
          </p:cNvPr>
          <p:cNvSpPr>
            <a:spLocks noGrp="1"/>
          </p:cNvSpPr>
          <p:nvPr>
            <p:ph type="body" sz="quarter" idx="22"/>
          </p:nvPr>
        </p:nvSpPr>
        <p:spPr/>
        <p:txBody>
          <a:bodyPr/>
          <a:lstStyle/>
          <a:p>
            <a:r>
              <a:rPr lang="de-DE" dirty="0"/>
              <a:t>Forward </a:t>
            </a:r>
            <a:r>
              <a:rPr lang="de-DE" dirty="0" err="1"/>
              <a:t>Propagation</a:t>
            </a:r>
            <a:endParaRPr lang="de-DE" dirty="0"/>
          </a:p>
        </p:txBody>
      </p:sp>
      <p:sp>
        <p:nvSpPr>
          <p:cNvPr id="5" name="Shape 2">
            <a:extLst>
              <a:ext uri="{FF2B5EF4-FFF2-40B4-BE49-F238E27FC236}">
                <a16:creationId xmlns:a16="http://schemas.microsoft.com/office/drawing/2014/main" id="{E2971581-B391-5D06-03A8-1D7D8A4E5C05}"/>
              </a:ext>
            </a:extLst>
          </p:cNvPr>
          <p:cNvSpPr/>
          <p:nvPr/>
        </p:nvSpPr>
        <p:spPr>
          <a:xfrm>
            <a:off x="1570873" y="4196625"/>
            <a:ext cx="1316736" cy="1416559"/>
          </a:xfrm>
          <a:prstGeom prst="ellipse">
            <a:avLst/>
          </a:prstGeom>
          <a:solidFill>
            <a:srgbClr val="1B9E8A"/>
          </a:solidFill>
          <a:ln/>
        </p:spPr>
        <p:txBody>
          <a:bodyPr/>
          <a:lstStyle/>
          <a:p>
            <a:endParaRPr lang="de-DE" dirty="0"/>
          </a:p>
        </p:txBody>
      </p:sp>
      <p:sp>
        <p:nvSpPr>
          <p:cNvPr id="6" name="Shape 2">
            <a:extLst>
              <a:ext uri="{FF2B5EF4-FFF2-40B4-BE49-F238E27FC236}">
                <a16:creationId xmlns:a16="http://schemas.microsoft.com/office/drawing/2014/main" id="{F9B50A43-0389-27EA-0456-AD07E8F5707B}"/>
              </a:ext>
            </a:extLst>
          </p:cNvPr>
          <p:cNvSpPr/>
          <p:nvPr/>
        </p:nvSpPr>
        <p:spPr>
          <a:xfrm>
            <a:off x="1570873" y="6421165"/>
            <a:ext cx="1316736" cy="1416559"/>
          </a:xfrm>
          <a:prstGeom prst="ellipse">
            <a:avLst/>
          </a:prstGeom>
          <a:solidFill>
            <a:srgbClr val="1B9E8A"/>
          </a:solidFill>
          <a:ln/>
        </p:spPr>
        <p:txBody>
          <a:bodyPr/>
          <a:lstStyle/>
          <a:p>
            <a:endParaRPr lang="de-DE"/>
          </a:p>
        </p:txBody>
      </p:sp>
      <p:sp>
        <p:nvSpPr>
          <p:cNvPr id="7" name="Shape 2">
            <a:extLst>
              <a:ext uri="{FF2B5EF4-FFF2-40B4-BE49-F238E27FC236}">
                <a16:creationId xmlns:a16="http://schemas.microsoft.com/office/drawing/2014/main" id="{08AF55BE-D9E8-2A68-8EA2-1478F1682223}"/>
              </a:ext>
            </a:extLst>
          </p:cNvPr>
          <p:cNvSpPr/>
          <p:nvPr/>
        </p:nvSpPr>
        <p:spPr>
          <a:xfrm>
            <a:off x="1552585" y="8645705"/>
            <a:ext cx="1316736" cy="1416559"/>
          </a:xfrm>
          <a:prstGeom prst="ellipse">
            <a:avLst/>
          </a:prstGeom>
          <a:solidFill>
            <a:srgbClr val="1B9E8A"/>
          </a:solidFill>
          <a:ln/>
        </p:spPr>
        <p:txBody>
          <a:bodyPr/>
          <a:lstStyle/>
          <a:p>
            <a:endParaRPr lang="de-DE"/>
          </a:p>
        </p:txBody>
      </p:sp>
      <p:sp>
        <p:nvSpPr>
          <p:cNvPr id="8" name="Shape 2">
            <a:extLst>
              <a:ext uri="{FF2B5EF4-FFF2-40B4-BE49-F238E27FC236}">
                <a16:creationId xmlns:a16="http://schemas.microsoft.com/office/drawing/2014/main" id="{AE9AAC6F-8D40-F380-2E45-8D7ED828EFBE}"/>
              </a:ext>
            </a:extLst>
          </p:cNvPr>
          <p:cNvSpPr/>
          <p:nvPr/>
        </p:nvSpPr>
        <p:spPr>
          <a:xfrm>
            <a:off x="1552585" y="10905974"/>
            <a:ext cx="1316736" cy="1416559"/>
          </a:xfrm>
          <a:prstGeom prst="ellipse">
            <a:avLst/>
          </a:prstGeom>
          <a:solidFill>
            <a:srgbClr val="1B9E8A"/>
          </a:solidFill>
          <a:ln/>
        </p:spPr>
        <p:txBody>
          <a:bodyPr/>
          <a:lstStyle/>
          <a:p>
            <a:endParaRPr lang="de-DE"/>
          </a:p>
        </p:txBody>
      </p:sp>
      <p:sp>
        <p:nvSpPr>
          <p:cNvPr id="9" name="Shape 2">
            <a:extLst>
              <a:ext uri="{FF2B5EF4-FFF2-40B4-BE49-F238E27FC236}">
                <a16:creationId xmlns:a16="http://schemas.microsoft.com/office/drawing/2014/main" id="{AB1326F3-5822-A745-0070-8490B71B2750}"/>
              </a:ext>
            </a:extLst>
          </p:cNvPr>
          <p:cNvSpPr/>
          <p:nvPr/>
        </p:nvSpPr>
        <p:spPr>
          <a:xfrm>
            <a:off x="8387725" y="5730750"/>
            <a:ext cx="1316736" cy="1416559"/>
          </a:xfrm>
          <a:prstGeom prst="ellipse">
            <a:avLst/>
          </a:prstGeom>
          <a:solidFill>
            <a:srgbClr val="1B9E8A"/>
          </a:solidFill>
          <a:ln/>
        </p:spPr>
        <p:txBody>
          <a:bodyPr/>
          <a:lstStyle/>
          <a:p>
            <a:endParaRPr lang="de-DE"/>
          </a:p>
        </p:txBody>
      </p:sp>
      <p:sp>
        <p:nvSpPr>
          <p:cNvPr id="10" name="Shape 2">
            <a:extLst>
              <a:ext uri="{FF2B5EF4-FFF2-40B4-BE49-F238E27FC236}">
                <a16:creationId xmlns:a16="http://schemas.microsoft.com/office/drawing/2014/main" id="{361C9C7C-5246-3272-DD97-71A81574D739}"/>
              </a:ext>
            </a:extLst>
          </p:cNvPr>
          <p:cNvSpPr/>
          <p:nvPr/>
        </p:nvSpPr>
        <p:spPr>
          <a:xfrm>
            <a:off x="8303534" y="8645704"/>
            <a:ext cx="1316736" cy="1416559"/>
          </a:xfrm>
          <a:prstGeom prst="ellipse">
            <a:avLst/>
          </a:prstGeom>
          <a:solidFill>
            <a:srgbClr val="1B9E8A"/>
          </a:solidFill>
          <a:ln/>
        </p:spPr>
        <p:txBody>
          <a:bodyPr/>
          <a:lstStyle/>
          <a:p>
            <a:endParaRPr lang="de-DE"/>
          </a:p>
        </p:txBody>
      </p:sp>
      <p:sp>
        <p:nvSpPr>
          <p:cNvPr id="12" name="Shape 24">
            <a:extLst>
              <a:ext uri="{FF2B5EF4-FFF2-40B4-BE49-F238E27FC236}">
                <a16:creationId xmlns:a16="http://schemas.microsoft.com/office/drawing/2014/main" id="{EE597916-FFDA-EC0F-27FE-26C1A23C3233}"/>
              </a:ext>
            </a:extLst>
          </p:cNvPr>
          <p:cNvSpPr>
            <a:spLocks noGrp="1"/>
          </p:cNvSpPr>
          <p:nvPr>
            <p:ph type="body" sz="quarter" idx="23"/>
          </p:nvPr>
        </p:nvSpPr>
        <p:spPr>
          <a:xfrm>
            <a:off x="13007340" y="4904905"/>
            <a:ext cx="10271760" cy="6709349"/>
          </a:xfrm>
          <a:prstGeom prst="roundRect">
            <a:avLst>
              <a:gd name="adj" fmla="val 1714"/>
            </a:avLst>
          </a:prstGeom>
          <a:solidFill>
            <a:srgbClr val="F1F8F6"/>
          </a:solidFill>
          <a:ln/>
          <a:effectLst>
            <a:outerShdw blurRad="101600" dist="38100" dir="5400000" algn="bl" rotWithShape="0">
              <a:srgbClr val="000000">
                <a:alpha val="12000"/>
              </a:srgbClr>
            </a:outerShdw>
          </a:effectLst>
        </p:spPr>
        <p:txBody>
          <a:bodyPr/>
          <a:lstStyle/>
          <a:p>
            <a:endParaRPr lang="de-DE" dirty="0"/>
          </a:p>
          <a:p>
            <a:endParaRPr lang="de-DE" dirty="0"/>
          </a:p>
          <a:p>
            <a:endParaRPr lang="de-DE" dirty="0"/>
          </a:p>
          <a:p>
            <a:endParaRPr lang="de-DE" dirty="0"/>
          </a:p>
          <a:p>
            <a:endParaRPr lang="de-DE" dirty="0"/>
          </a:p>
        </p:txBody>
      </p:sp>
      <p:graphicFrame>
        <p:nvGraphicFramePr>
          <p:cNvPr id="14" name="Table 0">
            <a:extLst>
              <a:ext uri="{FF2B5EF4-FFF2-40B4-BE49-F238E27FC236}">
                <a16:creationId xmlns:a16="http://schemas.microsoft.com/office/drawing/2014/main" id="{26FEC11B-E076-2CE2-6707-73584A3C22E5}"/>
              </a:ext>
            </a:extLst>
          </p:cNvPr>
          <p:cNvGraphicFramePr>
            <a:graphicFrameLocks noGrp="1"/>
          </p:cNvGraphicFramePr>
          <p:nvPr>
            <p:extLst>
              <p:ext uri="{D42A27DB-BD31-4B8C-83A1-F6EECF244321}">
                <p14:modId xmlns:p14="http://schemas.microsoft.com/office/powerpoint/2010/main" val="1588485774"/>
              </p:ext>
            </p:extLst>
          </p:nvPr>
        </p:nvGraphicFramePr>
        <p:xfrm>
          <a:off x="1310640" y="2035680"/>
          <a:ext cx="11696700" cy="1416560"/>
        </p:xfrm>
        <a:graphic>
          <a:graphicData uri="http://schemas.openxmlformats.org/drawingml/2006/table">
            <a:tbl>
              <a:tblPr/>
              <a:tblGrid>
                <a:gridCol w="2339340">
                  <a:extLst>
                    <a:ext uri="{9D8B030D-6E8A-4147-A177-3AD203B41FA5}">
                      <a16:colId xmlns:a16="http://schemas.microsoft.com/office/drawing/2014/main" val="20000"/>
                    </a:ext>
                  </a:extLst>
                </a:gridCol>
                <a:gridCol w="2339340">
                  <a:extLst>
                    <a:ext uri="{9D8B030D-6E8A-4147-A177-3AD203B41FA5}">
                      <a16:colId xmlns:a16="http://schemas.microsoft.com/office/drawing/2014/main" val="20001"/>
                    </a:ext>
                  </a:extLst>
                </a:gridCol>
                <a:gridCol w="2339340">
                  <a:extLst>
                    <a:ext uri="{9D8B030D-6E8A-4147-A177-3AD203B41FA5}">
                      <a16:colId xmlns:a16="http://schemas.microsoft.com/office/drawing/2014/main" val="20002"/>
                    </a:ext>
                  </a:extLst>
                </a:gridCol>
                <a:gridCol w="2339340">
                  <a:extLst>
                    <a:ext uri="{9D8B030D-6E8A-4147-A177-3AD203B41FA5}">
                      <a16:colId xmlns:a16="http://schemas.microsoft.com/office/drawing/2014/main" val="20003"/>
                    </a:ext>
                  </a:extLst>
                </a:gridCol>
                <a:gridCol w="2339340">
                  <a:extLst>
                    <a:ext uri="{9D8B030D-6E8A-4147-A177-3AD203B41FA5}">
                      <a16:colId xmlns:a16="http://schemas.microsoft.com/office/drawing/2014/main" val="20004"/>
                    </a:ext>
                  </a:extLst>
                </a:gridCol>
              </a:tblGrid>
              <a:tr h="708280">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Oda</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m²</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Bina yaşı</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Merkeze uzaklık</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dirty="0">
                          <a:solidFill>
                            <a:srgbClr val="0F5257"/>
                          </a:solidFill>
                          <a:latin typeface="Chromatica"/>
                        </a:rPr>
                        <a:t>Fiyat</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extLst>
                  <a:ext uri="{0D108BD9-81ED-4DB2-BD59-A6C34878D82A}">
                    <a16:rowId xmlns:a16="http://schemas.microsoft.com/office/drawing/2014/main" val="10000"/>
                  </a:ext>
                </a:extLst>
              </a:tr>
              <a:tr h="708280">
                <a:tc>
                  <a:txBody>
                    <a:bodyPr/>
                    <a:lstStyle/>
                    <a:p>
                      <a:pPr marL="0" indent="0" algn="ctr">
                        <a:buNone/>
                      </a:pPr>
                      <a:r>
                        <a:rPr lang="en-US" sz="2400" b="1" dirty="0">
                          <a:solidFill>
                            <a:srgbClr val="1E2B2B"/>
                          </a:solidFill>
                          <a:latin typeface="Chromatica"/>
                        </a:rPr>
                        <a:t>0.3</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0.6</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0.2</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0.5</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0.85</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extLst>
                  <a:ext uri="{0D108BD9-81ED-4DB2-BD59-A6C34878D82A}">
                    <a16:rowId xmlns:a16="http://schemas.microsoft.com/office/drawing/2014/main" val="10001"/>
                  </a:ext>
                </a:extLst>
              </a:tr>
            </a:tbl>
          </a:graphicData>
        </a:graphic>
      </p:graphicFrame>
      <p:sp>
        <p:nvSpPr>
          <p:cNvPr id="16" name="Text 16">
            <a:extLst>
              <a:ext uri="{FF2B5EF4-FFF2-40B4-BE49-F238E27FC236}">
                <a16:creationId xmlns:a16="http://schemas.microsoft.com/office/drawing/2014/main" id="{003D2946-9D21-A8D3-8068-BC4DE9F08816}"/>
              </a:ext>
            </a:extLst>
          </p:cNvPr>
          <p:cNvSpPr/>
          <p:nvPr/>
        </p:nvSpPr>
        <p:spPr>
          <a:xfrm>
            <a:off x="1779495" y="4490957"/>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0.3</a:t>
            </a:r>
            <a:endParaRPr lang="en-US" dirty="0">
              <a:latin typeface="Chromatica"/>
            </a:endParaRPr>
          </a:p>
        </p:txBody>
      </p:sp>
      <p:sp>
        <p:nvSpPr>
          <p:cNvPr id="17" name="Text 16">
            <a:extLst>
              <a:ext uri="{FF2B5EF4-FFF2-40B4-BE49-F238E27FC236}">
                <a16:creationId xmlns:a16="http://schemas.microsoft.com/office/drawing/2014/main" id="{58D98151-CAC1-427B-1752-E89D81B8227E}"/>
              </a:ext>
            </a:extLst>
          </p:cNvPr>
          <p:cNvSpPr/>
          <p:nvPr/>
        </p:nvSpPr>
        <p:spPr>
          <a:xfrm>
            <a:off x="1779495" y="6715496"/>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0.6</a:t>
            </a:r>
            <a:endParaRPr lang="en-US" dirty="0">
              <a:latin typeface="Chromatica"/>
            </a:endParaRPr>
          </a:p>
        </p:txBody>
      </p:sp>
      <p:sp>
        <p:nvSpPr>
          <p:cNvPr id="20" name="Text 16">
            <a:extLst>
              <a:ext uri="{FF2B5EF4-FFF2-40B4-BE49-F238E27FC236}">
                <a16:creationId xmlns:a16="http://schemas.microsoft.com/office/drawing/2014/main" id="{3348780A-8F99-E540-D1AB-6B36F0A0BF4E}"/>
              </a:ext>
            </a:extLst>
          </p:cNvPr>
          <p:cNvSpPr/>
          <p:nvPr/>
        </p:nvSpPr>
        <p:spPr>
          <a:xfrm>
            <a:off x="1779494" y="8953283"/>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0.2</a:t>
            </a:r>
            <a:endParaRPr lang="en-US" dirty="0">
              <a:latin typeface="Chromatica"/>
            </a:endParaRPr>
          </a:p>
        </p:txBody>
      </p:sp>
      <p:sp>
        <p:nvSpPr>
          <p:cNvPr id="21" name="Text 16">
            <a:extLst>
              <a:ext uri="{FF2B5EF4-FFF2-40B4-BE49-F238E27FC236}">
                <a16:creationId xmlns:a16="http://schemas.microsoft.com/office/drawing/2014/main" id="{CE3C098E-1037-B229-5B06-D57AF426C234}"/>
              </a:ext>
            </a:extLst>
          </p:cNvPr>
          <p:cNvSpPr/>
          <p:nvPr/>
        </p:nvSpPr>
        <p:spPr>
          <a:xfrm>
            <a:off x="1797783" y="11200305"/>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0.5</a:t>
            </a:r>
            <a:endParaRPr lang="en-US" dirty="0">
              <a:latin typeface="Chromatica"/>
            </a:endParaRPr>
          </a:p>
        </p:txBody>
      </p:sp>
      <mc:AlternateContent xmlns:mc="http://schemas.openxmlformats.org/markup-compatibility/2006" xmlns:a14="http://schemas.microsoft.com/office/drawing/2010/main">
        <mc:Choice Requires="a14">
          <p:sp>
            <p:nvSpPr>
              <p:cNvPr id="23" name="Text 26">
                <a:extLst>
                  <a:ext uri="{FF2B5EF4-FFF2-40B4-BE49-F238E27FC236}">
                    <a16:creationId xmlns:a16="http://schemas.microsoft.com/office/drawing/2014/main" id="{02E1623D-7E5E-80BB-E35A-77AC2853464E}"/>
                  </a:ext>
                </a:extLst>
              </p:cNvPr>
              <p:cNvSpPr/>
              <p:nvPr/>
            </p:nvSpPr>
            <p:spPr>
              <a:xfrm>
                <a:off x="13091531" y="5318853"/>
                <a:ext cx="6732661" cy="1762308"/>
              </a:xfrm>
              <a:prstGeom prst="rect">
                <a:avLst/>
              </a:prstGeom>
              <a:noFill/>
              <a:ln/>
            </p:spPr>
            <p:txBody>
              <a:bodyPr wrap="square" rtlCol="0" anchor="ctr"/>
              <a:lstStyle/>
              <a:p>
                <a:pPr algn="l">
                  <a:lnSpc>
                    <a:spcPct val="115000"/>
                  </a:lnSpc>
                </a:pPr>
                <a14:m>
                  <m:oMathPara xmlns:m="http://schemas.openxmlformats.org/officeDocument/2006/math">
                    <m:oMathParaPr>
                      <m:jc m:val="left"/>
                    </m:oMathParaPr>
                    <m:oMath xmlns:m="http://schemas.openxmlformats.org/officeDocument/2006/math">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r>
                        <a:rPr lang="en-US" i="1" smtClean="0">
                          <a:solidFill>
                            <a:schemeClr val="bg2">
                              <a:lumMod val="10000"/>
                            </a:schemeClr>
                          </a:solidFill>
                          <a:latin typeface="Cambria Math" panose="02040503050406030204" pitchFamily="18" charset="0"/>
                          <a:ea typeface="Courier New" pitchFamily="34" charset="-122"/>
                          <a:cs typeface="Courier New" pitchFamily="34" charset="-120"/>
                        </a:rPr>
                        <m:t>=</m:t>
                      </m:r>
                      <m:sSub>
                        <m:sSubPr>
                          <m:ctrlPr>
                            <a:rPr lang="en-US" i="1" smtClean="0">
                              <a:solidFill>
                                <a:schemeClr val="bg2">
                                  <a:lumMod val="10000"/>
                                </a:schemeClr>
                              </a:solidFill>
                              <a:latin typeface="Cambria Math" panose="02040503050406030204" pitchFamily="18" charset="0"/>
                              <a:cs typeface="Courier New" pitchFamily="34" charset="-120"/>
                            </a:rPr>
                          </m:ctrlPr>
                        </m:sSubPr>
                        <m:e>
                          <m:r>
                            <a:rPr lang="de-DE" b="0" i="1" smtClean="0">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1 </m:t>
                          </m:r>
                        </m:sub>
                      </m:sSub>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1</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2</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2</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3</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3</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4</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4</m:t>
                          </m:r>
                        </m:sup>
                      </m:sSubSup>
                      <m:r>
                        <a:rPr lang="de-DE" b="0" i="1" smtClean="0">
                          <a:solidFill>
                            <a:schemeClr val="bg2">
                              <a:lumMod val="10000"/>
                            </a:schemeClr>
                          </a:solidFill>
                          <a:latin typeface="Cambria Math" panose="02040503050406030204" pitchFamily="18" charset="0"/>
                          <a:cs typeface="Courier New" pitchFamily="34" charset="-120"/>
                        </a:rPr>
                        <m:t>+</m:t>
                      </m:r>
                      <m:sSubSup>
                        <m:sSubSupPr>
                          <m:ctrlPr>
                            <a:rPr lang="en-US" b="0"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𝑏</m:t>
                          </m:r>
                        </m:e>
                        <m:sub>
                          <m:r>
                            <a:rPr lang="de-DE" b="0" i="1" smtClean="0">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1</m:t>
                          </m:r>
                        </m:sup>
                      </m:sSubSup>
                    </m:oMath>
                  </m:oMathPara>
                </a14:m>
                <a:endParaRPr lang="en-US" dirty="0">
                  <a:solidFill>
                    <a:schemeClr val="bg2">
                      <a:lumMod val="10000"/>
                    </a:schemeClr>
                  </a:solidFill>
                  <a:latin typeface="Chromatica"/>
                </a:endParaRP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r>
                      <a:rPr lang="de-DE" i="1">
                        <a:solidFill>
                          <a:schemeClr val="bg2">
                            <a:lumMod val="10000"/>
                          </a:schemeClr>
                        </a:solidFill>
                        <a:latin typeface="Cambria Math" panose="02040503050406030204" pitchFamily="18" charset="0"/>
                        <a:cs typeface="Courier New" pitchFamily="34" charset="-120"/>
                      </a:rPr>
                      <m:t> </m:t>
                    </m:r>
                  </m:oMath>
                </a14:m>
                <a:r>
                  <a:rPr lang="en-US" dirty="0">
                    <a:solidFill>
                      <a:schemeClr val="bg2">
                        <a:lumMod val="10000"/>
                      </a:schemeClr>
                    </a:solidFill>
                    <a:latin typeface="Chromatica"/>
                    <a:ea typeface="Courier New" pitchFamily="34" charset="-122"/>
                    <a:cs typeface="Courier New" pitchFamily="34" charset="-120"/>
                  </a:rPr>
                  <a:t>= 0.3*0.1 + 0.6*0.3 + 0.2*0.5 + 0.5*0.7 + 0.1</a:t>
                </a: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oMath>
                </a14:m>
                <a:r>
                  <a:rPr lang="en-US" dirty="0">
                    <a:solidFill>
                      <a:schemeClr val="bg2">
                        <a:lumMod val="10000"/>
                      </a:schemeClr>
                    </a:solidFill>
                    <a:latin typeface="Chromatica"/>
                    <a:ea typeface="Courier New" pitchFamily="34" charset="-122"/>
                    <a:cs typeface="Courier New" pitchFamily="34" charset="-120"/>
                  </a:rPr>
                  <a:t> = 0.03 + 0.18 + 0.10 + 0.35 + 0.1</a:t>
                </a: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oMath>
                </a14:m>
                <a:r>
                  <a:rPr lang="en-US" dirty="0">
                    <a:solidFill>
                      <a:schemeClr val="bg2">
                        <a:lumMod val="10000"/>
                      </a:schemeClr>
                    </a:solidFill>
                    <a:latin typeface="Chromatica"/>
                    <a:ea typeface="Courier New" pitchFamily="34" charset="-122"/>
                    <a:cs typeface="Courier New" pitchFamily="34" charset="-120"/>
                  </a:rPr>
                  <a:t> = 0.76</a:t>
                </a:r>
              </a:p>
              <a:p>
                <a:pPr algn="l">
                  <a:lnSpc>
                    <a:spcPct val="115000"/>
                  </a:lnSpc>
                </a:pPr>
                <a14:m>
                  <m:oMath xmlns:m="http://schemas.openxmlformats.org/officeDocument/2006/math">
                    <m:sSubSup>
                      <m:sSubSupPr>
                        <m:ctrlPr>
                          <a:rPr lang="en-US" b="1" i="1">
                            <a:solidFill>
                              <a:schemeClr val="bg2">
                                <a:lumMod val="10000"/>
                              </a:schemeClr>
                            </a:solidFill>
                            <a:latin typeface="Cambria Math" panose="02040503050406030204" pitchFamily="18" charset="0"/>
                            <a:cs typeface="Courier New" pitchFamily="34" charset="-120"/>
                          </a:rPr>
                        </m:ctrlPr>
                      </m:sSubSupPr>
                      <m:e>
                        <m:r>
                          <a:rPr lang="de-DE" b="1" i="1" smtClean="0">
                            <a:solidFill>
                              <a:schemeClr val="bg2">
                                <a:lumMod val="10000"/>
                              </a:schemeClr>
                            </a:solidFill>
                            <a:latin typeface="Cambria Math" panose="02040503050406030204" pitchFamily="18" charset="0"/>
                            <a:cs typeface="Courier New" pitchFamily="34" charset="-120"/>
                          </a:rPr>
                          <m:t>𝒂</m:t>
                        </m:r>
                      </m:e>
                      <m:sub>
                        <m:r>
                          <a:rPr lang="de-DE" b="1" i="1" smtClean="0">
                            <a:solidFill>
                              <a:schemeClr val="bg2">
                                <a:lumMod val="10000"/>
                              </a:schemeClr>
                            </a:solidFill>
                            <a:latin typeface="Cambria Math" panose="02040503050406030204" pitchFamily="18" charset="0"/>
                            <a:cs typeface="Courier New" pitchFamily="34" charset="-120"/>
                          </a:rPr>
                          <m:t>𝟏</m:t>
                        </m:r>
                      </m:sub>
                      <m:sup>
                        <m:r>
                          <a:rPr lang="de-DE" b="1" i="1">
                            <a:solidFill>
                              <a:schemeClr val="bg2">
                                <a:lumMod val="10000"/>
                              </a:schemeClr>
                            </a:solidFill>
                            <a:latin typeface="Cambria Math" panose="02040503050406030204" pitchFamily="18" charset="0"/>
                            <a:cs typeface="Courier New" pitchFamily="34" charset="-120"/>
                          </a:rPr>
                          <m:t>𝟏</m:t>
                        </m:r>
                      </m:sup>
                    </m:sSubSup>
                  </m:oMath>
                </a14:m>
                <a:r>
                  <a:rPr lang="en-US" b="1" dirty="0">
                    <a:solidFill>
                      <a:schemeClr val="bg2">
                        <a:lumMod val="10000"/>
                      </a:schemeClr>
                    </a:solidFill>
                    <a:latin typeface="Chromatica"/>
                    <a:ea typeface="Courier New" pitchFamily="34" charset="-122"/>
                    <a:cs typeface="Courier New" pitchFamily="34" charset="-120"/>
                  </a:rPr>
                  <a:t> = ReLU(0.76) = 0.76</a:t>
                </a:r>
                <a:endParaRPr lang="en-US" b="1" dirty="0">
                  <a:solidFill>
                    <a:schemeClr val="bg2">
                      <a:lumMod val="10000"/>
                    </a:schemeClr>
                  </a:solidFill>
                  <a:latin typeface="Chromatica"/>
                </a:endParaRPr>
              </a:p>
            </p:txBody>
          </p:sp>
        </mc:Choice>
        <mc:Fallback xmlns="">
          <p:sp>
            <p:nvSpPr>
              <p:cNvPr id="23" name="Text 26">
                <a:extLst>
                  <a:ext uri="{FF2B5EF4-FFF2-40B4-BE49-F238E27FC236}">
                    <a16:creationId xmlns:a16="http://schemas.microsoft.com/office/drawing/2014/main" id="{02E1623D-7E5E-80BB-E35A-77AC2853464E}"/>
                  </a:ext>
                </a:extLst>
              </p:cNvPr>
              <p:cNvSpPr>
                <a:spLocks noRot="1" noChangeAspect="1" noMove="1" noResize="1" noEditPoints="1" noAdjustHandles="1" noChangeArrowheads="1" noChangeShapeType="1" noTextEdit="1"/>
              </p:cNvSpPr>
              <p:nvPr/>
            </p:nvSpPr>
            <p:spPr>
              <a:xfrm>
                <a:off x="13091531" y="5318853"/>
                <a:ext cx="6732661" cy="1762308"/>
              </a:xfrm>
              <a:prstGeom prst="rect">
                <a:avLst/>
              </a:prstGeom>
              <a:blipFill>
                <a:blip r:embed="rId2"/>
                <a:stretch>
                  <a:fillRect t="-6574" b="-20415"/>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5" name="Text 16">
                <a:extLst>
                  <a:ext uri="{FF2B5EF4-FFF2-40B4-BE49-F238E27FC236}">
                    <a16:creationId xmlns:a16="http://schemas.microsoft.com/office/drawing/2014/main" id="{10C5552C-0D0A-6185-FE95-412A1C6873ED}"/>
                  </a:ext>
                </a:extLst>
              </p:cNvPr>
              <p:cNvSpPr/>
              <p:nvPr/>
            </p:nvSpPr>
            <p:spPr>
              <a:xfrm>
                <a:off x="8614635" y="6007217"/>
                <a:ext cx="862915" cy="827896"/>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𝒛</m:t>
                          </m:r>
                        </m:e>
                        <m:sub>
                          <m:r>
                            <a:rPr lang="de-DE" b="1" i="1" smtClean="0">
                              <a:solidFill>
                                <a:srgbClr val="FFFFFF"/>
                              </a:solidFill>
                              <a:latin typeface="Cambria Math" panose="02040503050406030204" pitchFamily="18" charset="0"/>
                              <a:cs typeface="Arial" pitchFamily="34" charset="-120"/>
                            </a:rPr>
                            <m:t>𝟏</m:t>
                          </m:r>
                        </m:sub>
                        <m:sup>
                          <m:r>
                            <a:rPr lang="de-DE" b="1" i="1" smtClean="0">
                              <a:solidFill>
                                <a:srgbClr val="FFFFFF"/>
                              </a:solidFill>
                              <a:latin typeface="Cambria Math" panose="02040503050406030204" pitchFamily="18" charset="0"/>
                              <a:cs typeface="Arial" pitchFamily="34" charset="-120"/>
                            </a:rPr>
                            <m:t>𝟏</m:t>
                          </m:r>
                        </m:sup>
                      </m:sSubSup>
                    </m:oMath>
                  </m:oMathPara>
                </a14:m>
                <a:endParaRPr lang="en-US" dirty="0">
                  <a:latin typeface="Chromatica"/>
                </a:endParaRPr>
              </a:p>
            </p:txBody>
          </p:sp>
        </mc:Choice>
        <mc:Fallback xmlns="">
          <p:sp>
            <p:nvSpPr>
              <p:cNvPr id="25" name="Text 16">
                <a:extLst>
                  <a:ext uri="{FF2B5EF4-FFF2-40B4-BE49-F238E27FC236}">
                    <a16:creationId xmlns:a16="http://schemas.microsoft.com/office/drawing/2014/main" id="{10C5552C-0D0A-6185-FE95-412A1C6873ED}"/>
                  </a:ext>
                </a:extLst>
              </p:cNvPr>
              <p:cNvSpPr>
                <a:spLocks noRot="1" noChangeAspect="1" noMove="1" noResize="1" noEditPoints="1" noAdjustHandles="1" noChangeArrowheads="1" noChangeShapeType="1" noTextEdit="1"/>
              </p:cNvSpPr>
              <p:nvPr/>
            </p:nvSpPr>
            <p:spPr>
              <a:xfrm>
                <a:off x="8614635" y="6007217"/>
                <a:ext cx="862915" cy="827896"/>
              </a:xfrm>
              <a:prstGeom prst="rect">
                <a:avLst/>
              </a:prstGeom>
              <a:blipFill>
                <a:blip r:embed="rId3"/>
                <a:stretch>
                  <a:fillRect/>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7" name="Text 16">
                <a:extLst>
                  <a:ext uri="{FF2B5EF4-FFF2-40B4-BE49-F238E27FC236}">
                    <a16:creationId xmlns:a16="http://schemas.microsoft.com/office/drawing/2014/main" id="{5E86D417-779B-DCFC-D19C-134398679833}"/>
                  </a:ext>
                </a:extLst>
              </p:cNvPr>
              <p:cNvSpPr/>
              <p:nvPr/>
            </p:nvSpPr>
            <p:spPr>
              <a:xfrm>
                <a:off x="8530444" y="8940035"/>
                <a:ext cx="862915" cy="827896"/>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𝒛</m:t>
                          </m:r>
                        </m:e>
                        <m:sub>
                          <m:r>
                            <a:rPr lang="de-DE" b="1" i="1" smtClean="0">
                              <a:solidFill>
                                <a:srgbClr val="FFFFFF"/>
                              </a:solidFill>
                              <a:latin typeface="Cambria Math" panose="02040503050406030204" pitchFamily="18" charset="0"/>
                              <a:cs typeface="Arial" pitchFamily="34" charset="-120"/>
                            </a:rPr>
                            <m:t>𝟐</m:t>
                          </m:r>
                        </m:sub>
                        <m:sup>
                          <m:r>
                            <a:rPr lang="de-DE" b="1" i="1" smtClean="0">
                              <a:solidFill>
                                <a:srgbClr val="FFFFFF"/>
                              </a:solidFill>
                              <a:latin typeface="Cambria Math" panose="02040503050406030204" pitchFamily="18" charset="0"/>
                              <a:cs typeface="Arial" pitchFamily="34" charset="-120"/>
                            </a:rPr>
                            <m:t>𝟏</m:t>
                          </m:r>
                        </m:sup>
                      </m:sSubSup>
                    </m:oMath>
                  </m:oMathPara>
                </a14:m>
                <a:endParaRPr lang="en-US" dirty="0">
                  <a:latin typeface="Chromatica"/>
                </a:endParaRPr>
              </a:p>
            </p:txBody>
          </p:sp>
        </mc:Choice>
        <mc:Fallback xmlns="">
          <p:sp>
            <p:nvSpPr>
              <p:cNvPr id="27" name="Text 16">
                <a:extLst>
                  <a:ext uri="{FF2B5EF4-FFF2-40B4-BE49-F238E27FC236}">
                    <a16:creationId xmlns:a16="http://schemas.microsoft.com/office/drawing/2014/main" id="{5E86D417-779B-DCFC-D19C-134398679833}"/>
                  </a:ext>
                </a:extLst>
              </p:cNvPr>
              <p:cNvSpPr>
                <a:spLocks noRot="1" noChangeAspect="1" noMove="1" noResize="1" noEditPoints="1" noAdjustHandles="1" noChangeArrowheads="1" noChangeShapeType="1" noTextEdit="1"/>
              </p:cNvSpPr>
              <p:nvPr/>
            </p:nvSpPr>
            <p:spPr>
              <a:xfrm>
                <a:off x="8530444" y="8940035"/>
                <a:ext cx="862915" cy="827896"/>
              </a:xfrm>
              <a:prstGeom prst="rect">
                <a:avLst/>
              </a:prstGeom>
              <a:blipFill>
                <a:blip r:embed="rId4"/>
                <a:stretch>
                  <a:fillRect/>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9" name="Text 26">
                <a:extLst>
                  <a:ext uri="{FF2B5EF4-FFF2-40B4-BE49-F238E27FC236}">
                    <a16:creationId xmlns:a16="http://schemas.microsoft.com/office/drawing/2014/main" id="{BBE840EE-0809-F054-0621-1F4FC0BE2AD4}"/>
                  </a:ext>
                </a:extLst>
              </p:cNvPr>
              <p:cNvSpPr/>
              <p:nvPr/>
            </p:nvSpPr>
            <p:spPr>
              <a:xfrm>
                <a:off x="13109819" y="9017198"/>
                <a:ext cx="6732661" cy="1762308"/>
              </a:xfrm>
              <a:prstGeom prst="rect">
                <a:avLst/>
              </a:prstGeom>
              <a:noFill/>
              <a:ln/>
            </p:spPr>
            <p:txBody>
              <a:bodyPr wrap="square" rtlCol="0" anchor="ctr"/>
              <a:lstStyle/>
              <a:p>
                <a:pPr algn="l">
                  <a:lnSpc>
                    <a:spcPct val="115000"/>
                  </a:lnSpc>
                </a:pPr>
                <a14:m>
                  <m:oMathPara xmlns:m="http://schemas.openxmlformats.org/officeDocument/2006/math">
                    <m:oMathParaPr>
                      <m:jc m:val="left"/>
                    </m:oMathParaPr>
                    <m:oMath xmlns:m="http://schemas.openxmlformats.org/officeDocument/2006/math">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i="1">
                              <a:solidFill>
                                <a:schemeClr val="bg2">
                                  <a:lumMod val="10000"/>
                                </a:schemeClr>
                              </a:solidFill>
                              <a:latin typeface="Cambria Math" panose="02040503050406030204" pitchFamily="18" charset="0"/>
                              <a:cs typeface="Courier New" pitchFamily="34" charset="-120"/>
                            </a:rPr>
                            <m:t>1</m:t>
                          </m:r>
                        </m:sup>
                      </m:sSubSup>
                      <m:r>
                        <a:rPr lang="en-US" i="1" smtClean="0">
                          <a:solidFill>
                            <a:schemeClr val="bg2">
                              <a:lumMod val="10000"/>
                            </a:schemeClr>
                          </a:solidFill>
                          <a:latin typeface="Cambria Math" panose="02040503050406030204" pitchFamily="18" charset="0"/>
                          <a:ea typeface="Courier New" pitchFamily="34" charset="-122"/>
                          <a:cs typeface="Courier New" pitchFamily="34" charset="-120"/>
                        </a:rPr>
                        <m:t>=</m:t>
                      </m:r>
                      <m:sSub>
                        <m:sSubPr>
                          <m:ctrlPr>
                            <a:rPr lang="en-US" i="1" smtClean="0">
                              <a:solidFill>
                                <a:schemeClr val="bg2">
                                  <a:lumMod val="10000"/>
                                </a:schemeClr>
                              </a:solidFill>
                              <a:latin typeface="Cambria Math" panose="02040503050406030204" pitchFamily="18" charset="0"/>
                              <a:cs typeface="Courier New" pitchFamily="34" charset="-120"/>
                            </a:rPr>
                          </m:ctrlPr>
                        </m:sSubPr>
                        <m:e>
                          <m:r>
                            <a:rPr lang="de-DE" b="0" i="1" smtClean="0">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1 </m:t>
                          </m:r>
                        </m:sub>
                      </m:sSub>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b="0" i="1" smtClean="0">
                              <a:solidFill>
                                <a:schemeClr val="bg2">
                                  <a:lumMod val="10000"/>
                                </a:schemeClr>
                              </a:solidFill>
                              <a:latin typeface="Cambria Math" panose="02040503050406030204" pitchFamily="18" charset="0"/>
                              <a:cs typeface="Courier New" pitchFamily="34" charset="-120"/>
                            </a:rPr>
                            <m:t>1</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2</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b="0" i="1" smtClean="0">
                              <a:solidFill>
                                <a:schemeClr val="bg2">
                                  <a:lumMod val="10000"/>
                                </a:schemeClr>
                              </a:solidFill>
                              <a:latin typeface="Cambria Math" panose="02040503050406030204" pitchFamily="18" charset="0"/>
                              <a:cs typeface="Courier New" pitchFamily="34" charset="-120"/>
                            </a:rPr>
                            <m:t>2</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3</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b="0" i="1" smtClean="0">
                              <a:solidFill>
                                <a:schemeClr val="bg2">
                                  <a:lumMod val="10000"/>
                                </a:schemeClr>
                              </a:solidFill>
                              <a:latin typeface="Cambria Math" panose="02040503050406030204" pitchFamily="18" charset="0"/>
                              <a:cs typeface="Courier New" pitchFamily="34" charset="-120"/>
                            </a:rPr>
                            <m:t>3</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4</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b="0" i="1" smtClean="0">
                              <a:solidFill>
                                <a:schemeClr val="bg2">
                                  <a:lumMod val="10000"/>
                                </a:schemeClr>
                              </a:solidFill>
                              <a:latin typeface="Cambria Math" panose="02040503050406030204" pitchFamily="18" charset="0"/>
                              <a:cs typeface="Courier New" pitchFamily="34" charset="-120"/>
                            </a:rPr>
                            <m:t>4</m:t>
                          </m:r>
                        </m:sup>
                      </m:sSubSup>
                      <m:r>
                        <a:rPr lang="de-DE" b="0" i="1" smtClean="0">
                          <a:solidFill>
                            <a:schemeClr val="bg2">
                              <a:lumMod val="10000"/>
                            </a:schemeClr>
                          </a:solidFill>
                          <a:latin typeface="Cambria Math" panose="02040503050406030204" pitchFamily="18" charset="0"/>
                          <a:cs typeface="Courier New" pitchFamily="34" charset="-120"/>
                        </a:rPr>
                        <m:t>+</m:t>
                      </m:r>
                      <m:sSubSup>
                        <m:sSubSupPr>
                          <m:ctrlPr>
                            <a:rPr lang="en-US" b="0"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𝑏</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b="0" i="1" smtClean="0">
                              <a:solidFill>
                                <a:schemeClr val="bg2">
                                  <a:lumMod val="10000"/>
                                </a:schemeClr>
                              </a:solidFill>
                              <a:latin typeface="Cambria Math" panose="02040503050406030204" pitchFamily="18" charset="0"/>
                              <a:cs typeface="Courier New" pitchFamily="34" charset="-120"/>
                            </a:rPr>
                            <m:t>1</m:t>
                          </m:r>
                        </m:sup>
                      </m:sSubSup>
                    </m:oMath>
                  </m:oMathPara>
                </a14:m>
                <a:endParaRPr lang="en-US" dirty="0">
                  <a:solidFill>
                    <a:schemeClr val="bg2">
                      <a:lumMod val="10000"/>
                    </a:schemeClr>
                  </a:solidFill>
                  <a:latin typeface="Chromatica"/>
                </a:endParaRP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i="1">
                            <a:solidFill>
                              <a:schemeClr val="bg2">
                                <a:lumMod val="10000"/>
                              </a:schemeClr>
                            </a:solidFill>
                            <a:latin typeface="Cambria Math" panose="02040503050406030204" pitchFamily="18" charset="0"/>
                            <a:cs typeface="Courier New" pitchFamily="34" charset="-120"/>
                          </a:rPr>
                          <m:t>1</m:t>
                        </m:r>
                      </m:sup>
                    </m:sSubSup>
                    <m:r>
                      <a:rPr lang="de-DE" i="1">
                        <a:solidFill>
                          <a:schemeClr val="bg2">
                            <a:lumMod val="10000"/>
                          </a:schemeClr>
                        </a:solidFill>
                        <a:latin typeface="Cambria Math" panose="02040503050406030204" pitchFamily="18" charset="0"/>
                        <a:cs typeface="Courier New" pitchFamily="34" charset="-120"/>
                      </a:rPr>
                      <m:t> </m:t>
                    </m:r>
                  </m:oMath>
                </a14:m>
                <a:r>
                  <a:rPr lang="en-US" dirty="0">
                    <a:solidFill>
                      <a:schemeClr val="bg2">
                        <a:lumMod val="10000"/>
                      </a:schemeClr>
                    </a:solidFill>
                    <a:latin typeface="Chromatica"/>
                    <a:ea typeface="Courier New" pitchFamily="34" charset="-122"/>
                    <a:cs typeface="Courier New" pitchFamily="34" charset="-120"/>
                  </a:rPr>
                  <a:t>= 0.3*0.2 + 0.6*0.4 + 0.2*0.6 + 0.5*0.8 + 0.1</a:t>
                </a: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i="1">
                            <a:solidFill>
                              <a:schemeClr val="bg2">
                                <a:lumMod val="10000"/>
                              </a:schemeClr>
                            </a:solidFill>
                            <a:latin typeface="Cambria Math" panose="02040503050406030204" pitchFamily="18" charset="0"/>
                            <a:cs typeface="Courier New" pitchFamily="34" charset="-120"/>
                          </a:rPr>
                          <m:t>1</m:t>
                        </m:r>
                      </m:sup>
                    </m:sSubSup>
                  </m:oMath>
                </a14:m>
                <a:r>
                  <a:rPr lang="en-US" dirty="0">
                    <a:solidFill>
                      <a:schemeClr val="bg2">
                        <a:lumMod val="10000"/>
                      </a:schemeClr>
                    </a:solidFill>
                    <a:latin typeface="Chromatica"/>
                    <a:ea typeface="Courier New" pitchFamily="34" charset="-122"/>
                    <a:cs typeface="Courier New" pitchFamily="34" charset="-120"/>
                  </a:rPr>
                  <a:t> = 0.06 + 0.24 + 0.12 + 0.40 + 0.1</a:t>
                </a: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i="1">
                            <a:solidFill>
                              <a:schemeClr val="bg2">
                                <a:lumMod val="10000"/>
                              </a:schemeClr>
                            </a:solidFill>
                            <a:latin typeface="Cambria Math" panose="02040503050406030204" pitchFamily="18" charset="0"/>
                            <a:cs typeface="Courier New" pitchFamily="34" charset="-120"/>
                          </a:rPr>
                          <m:t>1</m:t>
                        </m:r>
                      </m:sup>
                    </m:sSubSup>
                  </m:oMath>
                </a14:m>
                <a:r>
                  <a:rPr lang="en-US" dirty="0">
                    <a:solidFill>
                      <a:schemeClr val="bg2">
                        <a:lumMod val="10000"/>
                      </a:schemeClr>
                    </a:solidFill>
                    <a:latin typeface="Chromatica"/>
                    <a:ea typeface="Courier New" pitchFamily="34" charset="-122"/>
                    <a:cs typeface="Courier New" pitchFamily="34" charset="-120"/>
                  </a:rPr>
                  <a:t> = 0.92</a:t>
                </a:r>
              </a:p>
            </p:txBody>
          </p:sp>
        </mc:Choice>
        <mc:Fallback xmlns="">
          <p:sp>
            <p:nvSpPr>
              <p:cNvPr id="29" name="Text 26">
                <a:extLst>
                  <a:ext uri="{FF2B5EF4-FFF2-40B4-BE49-F238E27FC236}">
                    <a16:creationId xmlns:a16="http://schemas.microsoft.com/office/drawing/2014/main" id="{BBE840EE-0809-F054-0621-1F4FC0BE2AD4}"/>
                  </a:ext>
                </a:extLst>
              </p:cNvPr>
              <p:cNvSpPr>
                <a:spLocks noRot="1" noChangeAspect="1" noMove="1" noResize="1" noEditPoints="1" noAdjustHandles="1" noChangeArrowheads="1" noChangeShapeType="1" noTextEdit="1"/>
              </p:cNvSpPr>
              <p:nvPr/>
            </p:nvSpPr>
            <p:spPr>
              <a:xfrm>
                <a:off x="13109819" y="9017198"/>
                <a:ext cx="6732661" cy="1762308"/>
              </a:xfrm>
              <a:prstGeom prst="rect">
                <a:avLst/>
              </a:prstGeom>
              <a:blipFill>
                <a:blip r:embed="rId5"/>
                <a:stretch>
                  <a:fillRect b="-8304"/>
                </a:stretch>
              </a:blipFill>
              <a:ln/>
            </p:spPr>
            <p:txBody>
              <a:bodyPr/>
              <a:lstStyle/>
              <a:p>
                <a:r>
                  <a:rPr lang="de-DE">
                    <a:noFill/>
                  </a:rPr>
                  <a:t> </a:t>
                </a:r>
              </a:p>
            </p:txBody>
          </p:sp>
        </mc:Fallback>
      </mc:AlternateContent>
      <p:cxnSp>
        <p:nvCxnSpPr>
          <p:cNvPr id="31" name="Gerade Verbindung mit Pfeil 30">
            <a:extLst>
              <a:ext uri="{FF2B5EF4-FFF2-40B4-BE49-F238E27FC236}">
                <a16:creationId xmlns:a16="http://schemas.microsoft.com/office/drawing/2014/main" id="{EB95959F-87B6-3C7B-9371-A506FF78CF92}"/>
              </a:ext>
            </a:extLst>
          </p:cNvPr>
          <p:cNvCxnSpPr>
            <a:cxnSpLocks/>
            <a:stCxn id="5" idx="6"/>
            <a:endCxn id="9" idx="2"/>
          </p:cNvCxnSpPr>
          <p:nvPr/>
        </p:nvCxnSpPr>
        <p:spPr>
          <a:xfrm>
            <a:off x="2887609" y="4904905"/>
            <a:ext cx="5500116" cy="1534125"/>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33" name="Gerade Verbindung mit Pfeil 32">
            <a:extLst>
              <a:ext uri="{FF2B5EF4-FFF2-40B4-BE49-F238E27FC236}">
                <a16:creationId xmlns:a16="http://schemas.microsoft.com/office/drawing/2014/main" id="{DBA6A95F-8BA7-BFF9-2606-B0C48A1D0B8D}"/>
              </a:ext>
            </a:extLst>
          </p:cNvPr>
          <p:cNvCxnSpPr>
            <a:cxnSpLocks/>
            <a:stCxn id="6" idx="6"/>
            <a:endCxn id="9" idx="2"/>
          </p:cNvCxnSpPr>
          <p:nvPr/>
        </p:nvCxnSpPr>
        <p:spPr>
          <a:xfrm flipV="1">
            <a:off x="2887609" y="6439030"/>
            <a:ext cx="5500116" cy="690415"/>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35" name="Gerade Verbindung mit Pfeil 34">
            <a:extLst>
              <a:ext uri="{FF2B5EF4-FFF2-40B4-BE49-F238E27FC236}">
                <a16:creationId xmlns:a16="http://schemas.microsoft.com/office/drawing/2014/main" id="{9C90771D-2543-26C8-F46C-815F6F6FAD7E}"/>
              </a:ext>
            </a:extLst>
          </p:cNvPr>
          <p:cNvCxnSpPr>
            <a:cxnSpLocks/>
            <a:stCxn id="7" idx="6"/>
            <a:endCxn id="9" idx="2"/>
          </p:cNvCxnSpPr>
          <p:nvPr/>
        </p:nvCxnSpPr>
        <p:spPr>
          <a:xfrm flipV="1">
            <a:off x="2869321" y="6439030"/>
            <a:ext cx="5518404" cy="2914955"/>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37" name="Gerade Verbindung mit Pfeil 36">
            <a:extLst>
              <a:ext uri="{FF2B5EF4-FFF2-40B4-BE49-F238E27FC236}">
                <a16:creationId xmlns:a16="http://schemas.microsoft.com/office/drawing/2014/main" id="{B1B87A11-6F38-CF42-1A0C-3FBDD1EFC45D}"/>
              </a:ext>
            </a:extLst>
          </p:cNvPr>
          <p:cNvCxnSpPr>
            <a:stCxn id="8" idx="6"/>
            <a:endCxn id="9" idx="2"/>
          </p:cNvCxnSpPr>
          <p:nvPr/>
        </p:nvCxnSpPr>
        <p:spPr>
          <a:xfrm flipV="1">
            <a:off x="2869321" y="6439030"/>
            <a:ext cx="5518404" cy="5175224"/>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4" name="Gerade Verbindung mit Pfeil 3">
            <a:extLst>
              <a:ext uri="{FF2B5EF4-FFF2-40B4-BE49-F238E27FC236}">
                <a16:creationId xmlns:a16="http://schemas.microsoft.com/office/drawing/2014/main" id="{DD119CE4-DB0E-5399-7CD7-4DC9C7C84034}"/>
              </a:ext>
            </a:extLst>
          </p:cNvPr>
          <p:cNvCxnSpPr>
            <a:stCxn id="5" idx="6"/>
            <a:endCxn id="10" idx="2"/>
          </p:cNvCxnSpPr>
          <p:nvPr/>
        </p:nvCxnSpPr>
        <p:spPr>
          <a:xfrm>
            <a:off x="2887609" y="4904905"/>
            <a:ext cx="5415925" cy="444907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 name="Gerade Verbindung mit Pfeil 12">
            <a:extLst>
              <a:ext uri="{FF2B5EF4-FFF2-40B4-BE49-F238E27FC236}">
                <a16:creationId xmlns:a16="http://schemas.microsoft.com/office/drawing/2014/main" id="{398680BA-D046-315F-76BD-8BD41A5D9B58}"/>
              </a:ext>
            </a:extLst>
          </p:cNvPr>
          <p:cNvCxnSpPr>
            <a:stCxn id="6" idx="6"/>
          </p:cNvCxnSpPr>
          <p:nvPr/>
        </p:nvCxnSpPr>
        <p:spPr>
          <a:xfrm>
            <a:off x="2887609" y="7129445"/>
            <a:ext cx="5415925" cy="222454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8" name="Gerade Verbindung mit Pfeil 17">
            <a:extLst>
              <a:ext uri="{FF2B5EF4-FFF2-40B4-BE49-F238E27FC236}">
                <a16:creationId xmlns:a16="http://schemas.microsoft.com/office/drawing/2014/main" id="{637FA1CB-4A20-8E9C-1AE1-C4DC35A34BD6}"/>
              </a:ext>
            </a:extLst>
          </p:cNvPr>
          <p:cNvCxnSpPr>
            <a:cxnSpLocks/>
            <a:stCxn id="7" idx="6"/>
            <a:endCxn id="10" idx="2"/>
          </p:cNvCxnSpPr>
          <p:nvPr/>
        </p:nvCxnSpPr>
        <p:spPr>
          <a:xfrm flipV="1">
            <a:off x="2869321" y="9353984"/>
            <a:ext cx="5434213"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4" name="Gerade Verbindung mit Pfeil 23">
            <a:extLst>
              <a:ext uri="{FF2B5EF4-FFF2-40B4-BE49-F238E27FC236}">
                <a16:creationId xmlns:a16="http://schemas.microsoft.com/office/drawing/2014/main" id="{3768EF4E-6E62-2736-018D-784DDD845429}"/>
              </a:ext>
            </a:extLst>
          </p:cNvPr>
          <p:cNvCxnSpPr>
            <a:stCxn id="8" idx="6"/>
            <a:endCxn id="10" idx="2"/>
          </p:cNvCxnSpPr>
          <p:nvPr/>
        </p:nvCxnSpPr>
        <p:spPr>
          <a:xfrm flipV="1">
            <a:off x="2869321" y="9353984"/>
            <a:ext cx="5434213" cy="226027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8" name="TextBox 37"/>
          <p:cNvSpPr txBox="1"/>
          <p:nvPr/>
        </p:nvSpPr>
        <p:spPr>
          <a:xfrm>
            <a:off x="1307592" y="3520440"/>
            <a:ext cx="11695176" cy="502920"/>
          </a:xfrm>
          <a:prstGeom prst="rect">
            <a:avLst/>
          </a:prstGeom>
          <a:noFill/>
        </p:spPr>
        <p:txBody>
          <a:bodyPr wrap="square" lIns="0" rIns="0">
            <a:spAutoFit/>
          </a:bodyPr>
          <a:lstStyle/>
          <a:p>
            <a:pPr algn="l"/>
            <a:r>
              <a:rPr sz="1800">
                <a:solidFill>
                  <a:srgbClr val="6E6E6E"/>
                </a:solidFill>
              </a:rPr>
              <a:t>Değerler ölçeklendi:  3 oda → 0.3,   120 m² → 0.6,   10 yıl → 0.2,   5 km → 0.5,   850 bin € → 0.85</a:t>
            </a:r>
          </a:p>
        </p:txBody>
      </p:sp>
    </p:spTree>
    <p:extLst>
      <p:ext uri="{BB962C8B-B14F-4D97-AF65-F5344CB8AC3E}">
        <p14:creationId xmlns:p14="http://schemas.microsoft.com/office/powerpoint/2010/main" val="4056219687"/>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A6C97-5735-2ED8-B001-F2F3496920D2}"/>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AA469FE1-D24C-F944-29B3-33898C2F998C}"/>
              </a:ext>
            </a:extLst>
          </p:cNvPr>
          <p:cNvSpPr>
            <a:spLocks noGrp="1"/>
          </p:cNvSpPr>
          <p:nvPr>
            <p:ph type="body" sz="quarter" idx="22"/>
          </p:nvPr>
        </p:nvSpPr>
        <p:spPr/>
        <p:txBody>
          <a:bodyPr/>
          <a:lstStyle/>
          <a:p>
            <a:r>
              <a:rPr lang="de-DE" dirty="0"/>
              <a:t>Forward </a:t>
            </a:r>
            <a:r>
              <a:rPr lang="de-DE" dirty="0" err="1"/>
              <a:t>Propagation</a:t>
            </a:r>
            <a:endParaRPr lang="de-DE" dirty="0"/>
          </a:p>
        </p:txBody>
      </p:sp>
      <p:sp>
        <p:nvSpPr>
          <p:cNvPr id="5" name="Shape 2">
            <a:extLst>
              <a:ext uri="{FF2B5EF4-FFF2-40B4-BE49-F238E27FC236}">
                <a16:creationId xmlns:a16="http://schemas.microsoft.com/office/drawing/2014/main" id="{46202F41-52B4-93B8-A00E-6F8A6A7438DC}"/>
              </a:ext>
            </a:extLst>
          </p:cNvPr>
          <p:cNvSpPr/>
          <p:nvPr/>
        </p:nvSpPr>
        <p:spPr>
          <a:xfrm>
            <a:off x="1570873" y="4196625"/>
            <a:ext cx="1316736" cy="1416559"/>
          </a:xfrm>
          <a:prstGeom prst="ellipse">
            <a:avLst/>
          </a:prstGeom>
          <a:solidFill>
            <a:srgbClr val="1B9E8A"/>
          </a:solidFill>
          <a:ln/>
        </p:spPr>
        <p:txBody>
          <a:bodyPr/>
          <a:lstStyle/>
          <a:p>
            <a:endParaRPr lang="de-DE" dirty="0"/>
          </a:p>
        </p:txBody>
      </p:sp>
      <p:sp>
        <p:nvSpPr>
          <p:cNvPr id="6" name="Shape 2">
            <a:extLst>
              <a:ext uri="{FF2B5EF4-FFF2-40B4-BE49-F238E27FC236}">
                <a16:creationId xmlns:a16="http://schemas.microsoft.com/office/drawing/2014/main" id="{14701F1B-59F6-4415-FF5C-B7FFC116A3CA}"/>
              </a:ext>
            </a:extLst>
          </p:cNvPr>
          <p:cNvSpPr/>
          <p:nvPr/>
        </p:nvSpPr>
        <p:spPr>
          <a:xfrm>
            <a:off x="1570873" y="6421165"/>
            <a:ext cx="1316736" cy="1416559"/>
          </a:xfrm>
          <a:prstGeom prst="ellipse">
            <a:avLst/>
          </a:prstGeom>
          <a:solidFill>
            <a:srgbClr val="1B9E8A"/>
          </a:solidFill>
          <a:ln/>
        </p:spPr>
        <p:txBody>
          <a:bodyPr/>
          <a:lstStyle/>
          <a:p>
            <a:endParaRPr lang="de-DE"/>
          </a:p>
        </p:txBody>
      </p:sp>
      <p:sp>
        <p:nvSpPr>
          <p:cNvPr id="7" name="Shape 2">
            <a:extLst>
              <a:ext uri="{FF2B5EF4-FFF2-40B4-BE49-F238E27FC236}">
                <a16:creationId xmlns:a16="http://schemas.microsoft.com/office/drawing/2014/main" id="{363F4DBE-3F3D-CA95-7D5F-039ABBE41C0B}"/>
              </a:ext>
            </a:extLst>
          </p:cNvPr>
          <p:cNvSpPr/>
          <p:nvPr/>
        </p:nvSpPr>
        <p:spPr>
          <a:xfrm>
            <a:off x="1552585" y="8645705"/>
            <a:ext cx="1316736" cy="1416559"/>
          </a:xfrm>
          <a:prstGeom prst="ellipse">
            <a:avLst/>
          </a:prstGeom>
          <a:solidFill>
            <a:srgbClr val="1B9E8A"/>
          </a:solidFill>
          <a:ln/>
        </p:spPr>
        <p:txBody>
          <a:bodyPr/>
          <a:lstStyle/>
          <a:p>
            <a:endParaRPr lang="de-DE"/>
          </a:p>
        </p:txBody>
      </p:sp>
      <p:sp>
        <p:nvSpPr>
          <p:cNvPr id="8" name="Shape 2">
            <a:extLst>
              <a:ext uri="{FF2B5EF4-FFF2-40B4-BE49-F238E27FC236}">
                <a16:creationId xmlns:a16="http://schemas.microsoft.com/office/drawing/2014/main" id="{1E661BF5-0AA9-F8C6-783C-815A0D3C8AD1}"/>
              </a:ext>
            </a:extLst>
          </p:cNvPr>
          <p:cNvSpPr/>
          <p:nvPr/>
        </p:nvSpPr>
        <p:spPr>
          <a:xfrm>
            <a:off x="1552585" y="10905974"/>
            <a:ext cx="1316736" cy="1416559"/>
          </a:xfrm>
          <a:prstGeom prst="ellipse">
            <a:avLst/>
          </a:prstGeom>
          <a:solidFill>
            <a:srgbClr val="1B9E8A"/>
          </a:solidFill>
          <a:ln/>
        </p:spPr>
        <p:txBody>
          <a:bodyPr/>
          <a:lstStyle/>
          <a:p>
            <a:endParaRPr lang="de-DE"/>
          </a:p>
        </p:txBody>
      </p:sp>
      <p:sp>
        <p:nvSpPr>
          <p:cNvPr id="9" name="Shape 2">
            <a:extLst>
              <a:ext uri="{FF2B5EF4-FFF2-40B4-BE49-F238E27FC236}">
                <a16:creationId xmlns:a16="http://schemas.microsoft.com/office/drawing/2014/main" id="{37621CDE-9544-B5A3-E7C4-059FD5733069}"/>
              </a:ext>
            </a:extLst>
          </p:cNvPr>
          <p:cNvSpPr/>
          <p:nvPr/>
        </p:nvSpPr>
        <p:spPr>
          <a:xfrm>
            <a:off x="8387725" y="5730750"/>
            <a:ext cx="1316736" cy="1416559"/>
          </a:xfrm>
          <a:prstGeom prst="ellipse">
            <a:avLst/>
          </a:prstGeom>
          <a:solidFill>
            <a:srgbClr val="1B9E8A"/>
          </a:solidFill>
          <a:ln/>
        </p:spPr>
        <p:txBody>
          <a:bodyPr/>
          <a:lstStyle/>
          <a:p>
            <a:endParaRPr lang="de-DE"/>
          </a:p>
        </p:txBody>
      </p:sp>
      <p:sp>
        <p:nvSpPr>
          <p:cNvPr id="10" name="Shape 2">
            <a:extLst>
              <a:ext uri="{FF2B5EF4-FFF2-40B4-BE49-F238E27FC236}">
                <a16:creationId xmlns:a16="http://schemas.microsoft.com/office/drawing/2014/main" id="{05A05937-B8E6-6A4C-D8A4-37B065FE4B55}"/>
              </a:ext>
            </a:extLst>
          </p:cNvPr>
          <p:cNvSpPr/>
          <p:nvPr/>
        </p:nvSpPr>
        <p:spPr>
          <a:xfrm>
            <a:off x="8303534" y="8645704"/>
            <a:ext cx="1316736" cy="1416559"/>
          </a:xfrm>
          <a:prstGeom prst="ellipse">
            <a:avLst/>
          </a:prstGeom>
          <a:solidFill>
            <a:srgbClr val="1B9E8A"/>
          </a:solidFill>
          <a:ln/>
        </p:spPr>
        <p:txBody>
          <a:bodyPr/>
          <a:lstStyle/>
          <a:p>
            <a:endParaRPr lang="de-DE"/>
          </a:p>
        </p:txBody>
      </p:sp>
      <p:sp>
        <p:nvSpPr>
          <p:cNvPr id="12" name="Shape 24">
            <a:extLst>
              <a:ext uri="{FF2B5EF4-FFF2-40B4-BE49-F238E27FC236}">
                <a16:creationId xmlns:a16="http://schemas.microsoft.com/office/drawing/2014/main" id="{390C8A6C-3756-F3EF-426A-92A20E8C3AB7}"/>
              </a:ext>
            </a:extLst>
          </p:cNvPr>
          <p:cNvSpPr>
            <a:spLocks noGrp="1"/>
          </p:cNvSpPr>
          <p:nvPr>
            <p:ph type="body" sz="quarter" idx="23"/>
          </p:nvPr>
        </p:nvSpPr>
        <p:spPr>
          <a:xfrm>
            <a:off x="13007340" y="4904905"/>
            <a:ext cx="10271760" cy="6709349"/>
          </a:xfrm>
          <a:prstGeom prst="roundRect">
            <a:avLst>
              <a:gd name="adj" fmla="val 1714"/>
            </a:avLst>
          </a:prstGeom>
          <a:solidFill>
            <a:srgbClr val="F1F8F6"/>
          </a:solidFill>
          <a:ln/>
          <a:effectLst>
            <a:outerShdw blurRad="101600" dist="38100" dir="5400000" algn="bl" rotWithShape="0">
              <a:srgbClr val="000000">
                <a:alpha val="12000"/>
              </a:srgbClr>
            </a:outerShdw>
          </a:effectLst>
        </p:spPr>
        <p:txBody>
          <a:bodyPr/>
          <a:lstStyle/>
          <a:p>
            <a:endParaRPr lang="de-DE" dirty="0"/>
          </a:p>
          <a:p>
            <a:endParaRPr lang="de-DE" dirty="0"/>
          </a:p>
          <a:p>
            <a:endParaRPr lang="de-DE" dirty="0"/>
          </a:p>
          <a:p>
            <a:endParaRPr lang="de-DE" dirty="0"/>
          </a:p>
          <a:p>
            <a:endParaRPr lang="de-DE" dirty="0"/>
          </a:p>
        </p:txBody>
      </p:sp>
      <p:graphicFrame>
        <p:nvGraphicFramePr>
          <p:cNvPr id="14" name="Table 0">
            <a:extLst>
              <a:ext uri="{FF2B5EF4-FFF2-40B4-BE49-F238E27FC236}">
                <a16:creationId xmlns:a16="http://schemas.microsoft.com/office/drawing/2014/main" id="{CCE43AC7-F46D-E9E1-8369-8D67D73BB3DF}"/>
              </a:ext>
            </a:extLst>
          </p:cNvPr>
          <p:cNvGraphicFramePr>
            <a:graphicFrameLocks noGrp="1"/>
          </p:cNvGraphicFramePr>
          <p:nvPr>
            <p:extLst>
              <p:ext uri="{D42A27DB-BD31-4B8C-83A1-F6EECF244321}">
                <p14:modId xmlns:p14="http://schemas.microsoft.com/office/powerpoint/2010/main" val="1910500896"/>
              </p:ext>
            </p:extLst>
          </p:nvPr>
        </p:nvGraphicFramePr>
        <p:xfrm>
          <a:off x="1310640" y="2035680"/>
          <a:ext cx="11696700" cy="1416560"/>
        </p:xfrm>
        <a:graphic>
          <a:graphicData uri="http://schemas.openxmlformats.org/drawingml/2006/table">
            <a:tbl>
              <a:tblPr/>
              <a:tblGrid>
                <a:gridCol w="2339340">
                  <a:extLst>
                    <a:ext uri="{9D8B030D-6E8A-4147-A177-3AD203B41FA5}">
                      <a16:colId xmlns:a16="http://schemas.microsoft.com/office/drawing/2014/main" val="20000"/>
                    </a:ext>
                  </a:extLst>
                </a:gridCol>
                <a:gridCol w="2339340">
                  <a:extLst>
                    <a:ext uri="{9D8B030D-6E8A-4147-A177-3AD203B41FA5}">
                      <a16:colId xmlns:a16="http://schemas.microsoft.com/office/drawing/2014/main" val="20001"/>
                    </a:ext>
                  </a:extLst>
                </a:gridCol>
                <a:gridCol w="2339340">
                  <a:extLst>
                    <a:ext uri="{9D8B030D-6E8A-4147-A177-3AD203B41FA5}">
                      <a16:colId xmlns:a16="http://schemas.microsoft.com/office/drawing/2014/main" val="20002"/>
                    </a:ext>
                  </a:extLst>
                </a:gridCol>
                <a:gridCol w="2339340">
                  <a:extLst>
                    <a:ext uri="{9D8B030D-6E8A-4147-A177-3AD203B41FA5}">
                      <a16:colId xmlns:a16="http://schemas.microsoft.com/office/drawing/2014/main" val="20003"/>
                    </a:ext>
                  </a:extLst>
                </a:gridCol>
                <a:gridCol w="2339340">
                  <a:extLst>
                    <a:ext uri="{9D8B030D-6E8A-4147-A177-3AD203B41FA5}">
                      <a16:colId xmlns:a16="http://schemas.microsoft.com/office/drawing/2014/main" val="20004"/>
                    </a:ext>
                  </a:extLst>
                </a:gridCol>
              </a:tblGrid>
              <a:tr h="708280">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Oda</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m²</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Bina yaşı</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Merkeze uzaklık</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dirty="0">
                          <a:solidFill>
                            <a:srgbClr val="0F5257"/>
                          </a:solidFill>
                          <a:latin typeface="Chromatica"/>
                        </a:rPr>
                        <a:t>Fiyat</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extLst>
                  <a:ext uri="{0D108BD9-81ED-4DB2-BD59-A6C34878D82A}">
                    <a16:rowId xmlns:a16="http://schemas.microsoft.com/office/drawing/2014/main" val="10000"/>
                  </a:ext>
                </a:extLst>
              </a:tr>
              <a:tr h="708280">
                <a:tc>
                  <a:txBody>
                    <a:bodyPr/>
                    <a:lstStyle/>
                    <a:p>
                      <a:pPr marL="0" indent="0" algn="ctr">
                        <a:buNone/>
                      </a:pPr>
                      <a:r>
                        <a:rPr lang="en-US" sz="2400" b="1" dirty="0">
                          <a:solidFill>
                            <a:srgbClr val="1E2B2B"/>
                          </a:solidFill>
                          <a:latin typeface="Chromatica"/>
                        </a:rPr>
                        <a:t>0.3</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0.6</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0.2</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0.5</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0.85</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extLst>
                  <a:ext uri="{0D108BD9-81ED-4DB2-BD59-A6C34878D82A}">
                    <a16:rowId xmlns:a16="http://schemas.microsoft.com/office/drawing/2014/main" val="10001"/>
                  </a:ext>
                </a:extLst>
              </a:tr>
            </a:tbl>
          </a:graphicData>
        </a:graphic>
      </p:graphicFrame>
      <p:sp>
        <p:nvSpPr>
          <p:cNvPr id="16" name="Text 16">
            <a:extLst>
              <a:ext uri="{FF2B5EF4-FFF2-40B4-BE49-F238E27FC236}">
                <a16:creationId xmlns:a16="http://schemas.microsoft.com/office/drawing/2014/main" id="{C714E87D-06D9-CAAF-5801-CE6859CB9852}"/>
              </a:ext>
            </a:extLst>
          </p:cNvPr>
          <p:cNvSpPr/>
          <p:nvPr/>
        </p:nvSpPr>
        <p:spPr>
          <a:xfrm>
            <a:off x="1779495" y="4490957"/>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0.3</a:t>
            </a:r>
            <a:endParaRPr lang="en-US" dirty="0">
              <a:latin typeface="Chromatica"/>
            </a:endParaRPr>
          </a:p>
        </p:txBody>
      </p:sp>
      <p:sp>
        <p:nvSpPr>
          <p:cNvPr id="17" name="Text 16">
            <a:extLst>
              <a:ext uri="{FF2B5EF4-FFF2-40B4-BE49-F238E27FC236}">
                <a16:creationId xmlns:a16="http://schemas.microsoft.com/office/drawing/2014/main" id="{69B2BC5F-62A4-54C6-4E2A-BE80765D8E6D}"/>
              </a:ext>
            </a:extLst>
          </p:cNvPr>
          <p:cNvSpPr/>
          <p:nvPr/>
        </p:nvSpPr>
        <p:spPr>
          <a:xfrm>
            <a:off x="1779495" y="6715496"/>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0.6</a:t>
            </a:r>
            <a:endParaRPr lang="en-US" dirty="0">
              <a:latin typeface="Chromatica"/>
            </a:endParaRPr>
          </a:p>
        </p:txBody>
      </p:sp>
      <p:sp>
        <p:nvSpPr>
          <p:cNvPr id="20" name="Text 16">
            <a:extLst>
              <a:ext uri="{FF2B5EF4-FFF2-40B4-BE49-F238E27FC236}">
                <a16:creationId xmlns:a16="http://schemas.microsoft.com/office/drawing/2014/main" id="{5DD7E8AE-F725-28DC-2DA5-74CEE3688EDA}"/>
              </a:ext>
            </a:extLst>
          </p:cNvPr>
          <p:cNvSpPr/>
          <p:nvPr/>
        </p:nvSpPr>
        <p:spPr>
          <a:xfrm>
            <a:off x="1779494" y="8953283"/>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0.2</a:t>
            </a:r>
            <a:endParaRPr lang="en-US" dirty="0">
              <a:latin typeface="Chromatica"/>
            </a:endParaRPr>
          </a:p>
        </p:txBody>
      </p:sp>
      <p:sp>
        <p:nvSpPr>
          <p:cNvPr id="21" name="Text 16">
            <a:extLst>
              <a:ext uri="{FF2B5EF4-FFF2-40B4-BE49-F238E27FC236}">
                <a16:creationId xmlns:a16="http://schemas.microsoft.com/office/drawing/2014/main" id="{826EDCDE-8B34-16A6-8E58-24A23C43DED1}"/>
              </a:ext>
            </a:extLst>
          </p:cNvPr>
          <p:cNvSpPr/>
          <p:nvPr/>
        </p:nvSpPr>
        <p:spPr>
          <a:xfrm>
            <a:off x="1797783" y="11200305"/>
            <a:ext cx="862915" cy="827896"/>
          </a:xfrm>
          <a:prstGeom prst="rect">
            <a:avLst/>
          </a:prstGeom>
          <a:noFill/>
          <a:ln/>
        </p:spPr>
        <p:txBody>
          <a:bodyPr wrap="square" rtlCol="0" anchor="ctr"/>
          <a:lstStyle/>
          <a:p>
            <a:pPr marL="0" indent="0" algn="ctr">
              <a:buNone/>
            </a:pPr>
            <a:r>
              <a:rPr lang="en-US" b="1" dirty="0">
                <a:solidFill>
                  <a:srgbClr val="FFFFFF"/>
                </a:solidFill>
                <a:latin typeface="Chromatica"/>
                <a:ea typeface="Arial" pitchFamily="34" charset="-122"/>
                <a:cs typeface="Arial" pitchFamily="34" charset="-120"/>
              </a:rPr>
              <a:t>0.5</a:t>
            </a:r>
            <a:endParaRPr lang="en-US" dirty="0">
              <a:latin typeface="Chromatica"/>
            </a:endParaRPr>
          </a:p>
        </p:txBody>
      </p:sp>
      <mc:AlternateContent xmlns:mc="http://schemas.openxmlformats.org/markup-compatibility/2006" xmlns:a14="http://schemas.microsoft.com/office/drawing/2010/main">
        <mc:Choice Requires="a14">
          <p:sp>
            <p:nvSpPr>
              <p:cNvPr id="23" name="Text 26">
                <a:extLst>
                  <a:ext uri="{FF2B5EF4-FFF2-40B4-BE49-F238E27FC236}">
                    <a16:creationId xmlns:a16="http://schemas.microsoft.com/office/drawing/2014/main" id="{1E088802-E856-C3D0-136D-8AA67C77C7DA}"/>
                  </a:ext>
                </a:extLst>
              </p:cNvPr>
              <p:cNvSpPr/>
              <p:nvPr/>
            </p:nvSpPr>
            <p:spPr>
              <a:xfrm>
                <a:off x="13091531" y="5318853"/>
                <a:ext cx="6732661" cy="1762308"/>
              </a:xfrm>
              <a:prstGeom prst="rect">
                <a:avLst/>
              </a:prstGeom>
              <a:noFill/>
              <a:ln/>
            </p:spPr>
            <p:txBody>
              <a:bodyPr wrap="square" rtlCol="0" anchor="ctr"/>
              <a:lstStyle/>
              <a:p>
                <a:pPr algn="l">
                  <a:lnSpc>
                    <a:spcPct val="115000"/>
                  </a:lnSpc>
                </a:pPr>
                <a14:m>
                  <m:oMathPara xmlns:m="http://schemas.openxmlformats.org/officeDocument/2006/math">
                    <m:oMathParaPr>
                      <m:jc m:val="left"/>
                    </m:oMathParaPr>
                    <m:oMath xmlns:m="http://schemas.openxmlformats.org/officeDocument/2006/math">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r>
                        <a:rPr lang="en-US" i="1" smtClean="0">
                          <a:solidFill>
                            <a:schemeClr val="bg2">
                              <a:lumMod val="10000"/>
                            </a:schemeClr>
                          </a:solidFill>
                          <a:latin typeface="Cambria Math" panose="02040503050406030204" pitchFamily="18" charset="0"/>
                          <a:ea typeface="Courier New" pitchFamily="34" charset="-122"/>
                          <a:cs typeface="Courier New" pitchFamily="34" charset="-120"/>
                        </a:rPr>
                        <m:t>=</m:t>
                      </m:r>
                      <m:sSub>
                        <m:sSubPr>
                          <m:ctrlPr>
                            <a:rPr lang="en-US" i="1" smtClean="0">
                              <a:solidFill>
                                <a:schemeClr val="bg2">
                                  <a:lumMod val="10000"/>
                                </a:schemeClr>
                              </a:solidFill>
                              <a:latin typeface="Cambria Math" panose="02040503050406030204" pitchFamily="18" charset="0"/>
                              <a:cs typeface="Courier New" pitchFamily="34" charset="-120"/>
                            </a:rPr>
                          </m:ctrlPr>
                        </m:sSubPr>
                        <m:e>
                          <m:r>
                            <a:rPr lang="de-DE" b="0" i="1" smtClean="0">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1 </m:t>
                          </m:r>
                        </m:sub>
                      </m:sSub>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1</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2</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2</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3</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3</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4</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4</m:t>
                          </m:r>
                        </m:sup>
                      </m:sSubSup>
                      <m:r>
                        <a:rPr lang="de-DE" b="0" i="1" smtClean="0">
                          <a:solidFill>
                            <a:schemeClr val="bg2">
                              <a:lumMod val="10000"/>
                            </a:schemeClr>
                          </a:solidFill>
                          <a:latin typeface="Cambria Math" panose="02040503050406030204" pitchFamily="18" charset="0"/>
                          <a:cs typeface="Courier New" pitchFamily="34" charset="-120"/>
                        </a:rPr>
                        <m:t>+</m:t>
                      </m:r>
                      <m:sSubSup>
                        <m:sSubSupPr>
                          <m:ctrlPr>
                            <a:rPr lang="en-US" b="0"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𝑏</m:t>
                          </m:r>
                        </m:e>
                        <m:sub>
                          <m:r>
                            <a:rPr lang="de-DE" b="0" i="1" smtClean="0">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1</m:t>
                          </m:r>
                        </m:sup>
                      </m:sSubSup>
                    </m:oMath>
                  </m:oMathPara>
                </a14:m>
                <a:endParaRPr lang="en-US" dirty="0">
                  <a:solidFill>
                    <a:schemeClr val="bg2">
                      <a:lumMod val="10000"/>
                    </a:schemeClr>
                  </a:solidFill>
                  <a:latin typeface="Chromatica"/>
                </a:endParaRP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r>
                      <a:rPr lang="de-DE" i="1">
                        <a:solidFill>
                          <a:schemeClr val="bg2">
                            <a:lumMod val="10000"/>
                          </a:schemeClr>
                        </a:solidFill>
                        <a:latin typeface="Cambria Math" panose="02040503050406030204" pitchFamily="18" charset="0"/>
                        <a:cs typeface="Courier New" pitchFamily="34" charset="-120"/>
                      </a:rPr>
                      <m:t> </m:t>
                    </m:r>
                  </m:oMath>
                </a14:m>
                <a:r>
                  <a:rPr lang="en-US" dirty="0">
                    <a:solidFill>
                      <a:schemeClr val="bg2">
                        <a:lumMod val="10000"/>
                      </a:schemeClr>
                    </a:solidFill>
                    <a:latin typeface="Chromatica"/>
                    <a:ea typeface="Courier New" pitchFamily="34" charset="-122"/>
                    <a:cs typeface="Courier New" pitchFamily="34" charset="-120"/>
                  </a:rPr>
                  <a:t>= 0.3*0.1 + 0.6*0.3 + 0.2*0.5 + 0.5*0.7 + 0.1</a:t>
                </a: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oMath>
                </a14:m>
                <a:r>
                  <a:rPr lang="en-US" dirty="0">
                    <a:solidFill>
                      <a:schemeClr val="bg2">
                        <a:lumMod val="10000"/>
                      </a:schemeClr>
                    </a:solidFill>
                    <a:latin typeface="Chromatica"/>
                    <a:ea typeface="Courier New" pitchFamily="34" charset="-122"/>
                    <a:cs typeface="Courier New" pitchFamily="34" charset="-120"/>
                  </a:rPr>
                  <a:t> = 0.03 + 0.18 + 0.10 + 0.35 + 0.1</a:t>
                </a: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oMath>
                </a14:m>
                <a:r>
                  <a:rPr lang="en-US" dirty="0">
                    <a:solidFill>
                      <a:schemeClr val="bg2">
                        <a:lumMod val="10000"/>
                      </a:schemeClr>
                    </a:solidFill>
                    <a:latin typeface="Chromatica"/>
                    <a:ea typeface="Courier New" pitchFamily="34" charset="-122"/>
                    <a:cs typeface="Courier New" pitchFamily="34" charset="-120"/>
                  </a:rPr>
                  <a:t> = 0.76</a:t>
                </a:r>
              </a:p>
              <a:p>
                <a:pPr algn="l">
                  <a:lnSpc>
                    <a:spcPct val="115000"/>
                  </a:lnSpc>
                </a:pPr>
                <a14:m>
                  <m:oMath xmlns:m="http://schemas.openxmlformats.org/officeDocument/2006/math">
                    <m:sSubSup>
                      <m:sSubSupPr>
                        <m:ctrlPr>
                          <a:rPr lang="en-US" b="1" i="1">
                            <a:solidFill>
                              <a:schemeClr val="bg2">
                                <a:lumMod val="10000"/>
                              </a:schemeClr>
                            </a:solidFill>
                            <a:latin typeface="Cambria Math" panose="02040503050406030204" pitchFamily="18" charset="0"/>
                            <a:cs typeface="Courier New" pitchFamily="34" charset="-120"/>
                          </a:rPr>
                        </m:ctrlPr>
                      </m:sSubSupPr>
                      <m:e>
                        <m:r>
                          <a:rPr lang="de-DE" b="1" i="1" smtClean="0">
                            <a:solidFill>
                              <a:schemeClr val="bg2">
                                <a:lumMod val="10000"/>
                              </a:schemeClr>
                            </a:solidFill>
                            <a:latin typeface="Cambria Math" panose="02040503050406030204" pitchFamily="18" charset="0"/>
                            <a:cs typeface="Courier New" pitchFamily="34" charset="-120"/>
                          </a:rPr>
                          <m:t>𝒂</m:t>
                        </m:r>
                      </m:e>
                      <m:sub>
                        <m:r>
                          <a:rPr lang="de-DE" b="1" i="1" smtClean="0">
                            <a:solidFill>
                              <a:schemeClr val="bg2">
                                <a:lumMod val="10000"/>
                              </a:schemeClr>
                            </a:solidFill>
                            <a:latin typeface="Cambria Math" panose="02040503050406030204" pitchFamily="18" charset="0"/>
                            <a:cs typeface="Courier New" pitchFamily="34" charset="-120"/>
                          </a:rPr>
                          <m:t>𝟏</m:t>
                        </m:r>
                      </m:sub>
                      <m:sup>
                        <m:r>
                          <a:rPr lang="de-DE" b="1" i="1">
                            <a:solidFill>
                              <a:schemeClr val="bg2">
                                <a:lumMod val="10000"/>
                              </a:schemeClr>
                            </a:solidFill>
                            <a:latin typeface="Cambria Math" panose="02040503050406030204" pitchFamily="18" charset="0"/>
                            <a:cs typeface="Courier New" pitchFamily="34" charset="-120"/>
                          </a:rPr>
                          <m:t>𝟏</m:t>
                        </m:r>
                      </m:sup>
                    </m:sSubSup>
                  </m:oMath>
                </a14:m>
                <a:r>
                  <a:rPr lang="en-US" b="1" dirty="0">
                    <a:solidFill>
                      <a:schemeClr val="bg2">
                        <a:lumMod val="10000"/>
                      </a:schemeClr>
                    </a:solidFill>
                    <a:latin typeface="Chromatica"/>
                    <a:ea typeface="Courier New" pitchFamily="34" charset="-122"/>
                    <a:cs typeface="Courier New" pitchFamily="34" charset="-120"/>
                  </a:rPr>
                  <a:t> = ReLU(0.76) = 0.76</a:t>
                </a:r>
                <a:endParaRPr lang="en-US" b="1" dirty="0">
                  <a:solidFill>
                    <a:schemeClr val="bg2">
                      <a:lumMod val="10000"/>
                    </a:schemeClr>
                  </a:solidFill>
                  <a:latin typeface="Chromatica"/>
                </a:endParaRPr>
              </a:p>
            </p:txBody>
          </p:sp>
        </mc:Choice>
        <mc:Fallback xmlns="">
          <p:sp>
            <p:nvSpPr>
              <p:cNvPr id="23" name="Text 26">
                <a:extLst>
                  <a:ext uri="{FF2B5EF4-FFF2-40B4-BE49-F238E27FC236}">
                    <a16:creationId xmlns:a16="http://schemas.microsoft.com/office/drawing/2014/main" id="{1E088802-E856-C3D0-136D-8AA67C77C7DA}"/>
                  </a:ext>
                </a:extLst>
              </p:cNvPr>
              <p:cNvSpPr>
                <a:spLocks noRot="1" noChangeAspect="1" noMove="1" noResize="1" noEditPoints="1" noAdjustHandles="1" noChangeArrowheads="1" noChangeShapeType="1" noTextEdit="1"/>
              </p:cNvSpPr>
              <p:nvPr/>
            </p:nvSpPr>
            <p:spPr>
              <a:xfrm>
                <a:off x="13091531" y="5318853"/>
                <a:ext cx="6732661" cy="1762308"/>
              </a:xfrm>
              <a:prstGeom prst="rect">
                <a:avLst/>
              </a:prstGeom>
              <a:blipFill>
                <a:blip r:embed="rId3"/>
                <a:stretch>
                  <a:fillRect t="-6574" b="-20415"/>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5" name="Text 16">
                <a:extLst>
                  <a:ext uri="{FF2B5EF4-FFF2-40B4-BE49-F238E27FC236}">
                    <a16:creationId xmlns:a16="http://schemas.microsoft.com/office/drawing/2014/main" id="{22A2E122-604F-93E9-6714-D373B07504D7}"/>
                  </a:ext>
                </a:extLst>
              </p:cNvPr>
              <p:cNvSpPr/>
              <p:nvPr/>
            </p:nvSpPr>
            <p:spPr>
              <a:xfrm>
                <a:off x="8614635" y="6007217"/>
                <a:ext cx="862915" cy="827896"/>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𝒛</m:t>
                          </m:r>
                        </m:e>
                        <m:sub>
                          <m:r>
                            <a:rPr lang="de-DE" b="1" i="1" smtClean="0">
                              <a:solidFill>
                                <a:srgbClr val="FFFFFF"/>
                              </a:solidFill>
                              <a:latin typeface="Cambria Math" panose="02040503050406030204" pitchFamily="18" charset="0"/>
                              <a:cs typeface="Arial" pitchFamily="34" charset="-120"/>
                            </a:rPr>
                            <m:t>𝟏</m:t>
                          </m:r>
                        </m:sub>
                        <m:sup>
                          <m:r>
                            <a:rPr lang="de-DE" b="1" i="1" smtClean="0">
                              <a:solidFill>
                                <a:srgbClr val="FFFFFF"/>
                              </a:solidFill>
                              <a:latin typeface="Cambria Math" panose="02040503050406030204" pitchFamily="18" charset="0"/>
                              <a:cs typeface="Arial" pitchFamily="34" charset="-120"/>
                            </a:rPr>
                            <m:t>𝟏</m:t>
                          </m:r>
                        </m:sup>
                      </m:sSubSup>
                    </m:oMath>
                  </m:oMathPara>
                </a14:m>
                <a:endParaRPr lang="en-US" dirty="0">
                  <a:latin typeface="Chromatica"/>
                </a:endParaRPr>
              </a:p>
            </p:txBody>
          </p:sp>
        </mc:Choice>
        <mc:Fallback xmlns="">
          <p:sp>
            <p:nvSpPr>
              <p:cNvPr id="25" name="Text 16">
                <a:extLst>
                  <a:ext uri="{FF2B5EF4-FFF2-40B4-BE49-F238E27FC236}">
                    <a16:creationId xmlns:a16="http://schemas.microsoft.com/office/drawing/2014/main" id="{22A2E122-604F-93E9-6714-D373B07504D7}"/>
                  </a:ext>
                </a:extLst>
              </p:cNvPr>
              <p:cNvSpPr>
                <a:spLocks noRot="1" noChangeAspect="1" noMove="1" noResize="1" noEditPoints="1" noAdjustHandles="1" noChangeArrowheads="1" noChangeShapeType="1" noTextEdit="1"/>
              </p:cNvSpPr>
              <p:nvPr/>
            </p:nvSpPr>
            <p:spPr>
              <a:xfrm>
                <a:off x="8614635" y="6007217"/>
                <a:ext cx="862915" cy="827896"/>
              </a:xfrm>
              <a:prstGeom prst="rect">
                <a:avLst/>
              </a:prstGeom>
              <a:blipFill>
                <a:blip r:embed="rId4"/>
                <a:stretch>
                  <a:fillRect/>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7" name="Text 16">
                <a:extLst>
                  <a:ext uri="{FF2B5EF4-FFF2-40B4-BE49-F238E27FC236}">
                    <a16:creationId xmlns:a16="http://schemas.microsoft.com/office/drawing/2014/main" id="{04212DF3-6C32-25D2-6F38-159D2893A9DA}"/>
                  </a:ext>
                </a:extLst>
              </p:cNvPr>
              <p:cNvSpPr/>
              <p:nvPr/>
            </p:nvSpPr>
            <p:spPr>
              <a:xfrm>
                <a:off x="8530444" y="8940035"/>
                <a:ext cx="862915" cy="827896"/>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𝒛</m:t>
                          </m:r>
                        </m:e>
                        <m:sub>
                          <m:r>
                            <a:rPr lang="de-DE" b="1" i="1" smtClean="0">
                              <a:solidFill>
                                <a:srgbClr val="FFFFFF"/>
                              </a:solidFill>
                              <a:latin typeface="Cambria Math" panose="02040503050406030204" pitchFamily="18" charset="0"/>
                              <a:cs typeface="Arial" pitchFamily="34" charset="-120"/>
                            </a:rPr>
                            <m:t>𝟐</m:t>
                          </m:r>
                        </m:sub>
                        <m:sup>
                          <m:r>
                            <a:rPr lang="de-DE" b="1" i="1" smtClean="0">
                              <a:solidFill>
                                <a:srgbClr val="FFFFFF"/>
                              </a:solidFill>
                              <a:latin typeface="Cambria Math" panose="02040503050406030204" pitchFamily="18" charset="0"/>
                              <a:cs typeface="Arial" pitchFamily="34" charset="-120"/>
                            </a:rPr>
                            <m:t>𝟏</m:t>
                          </m:r>
                        </m:sup>
                      </m:sSubSup>
                    </m:oMath>
                  </m:oMathPara>
                </a14:m>
                <a:endParaRPr lang="en-US" dirty="0">
                  <a:latin typeface="Chromatica"/>
                </a:endParaRPr>
              </a:p>
            </p:txBody>
          </p:sp>
        </mc:Choice>
        <mc:Fallback xmlns="">
          <p:sp>
            <p:nvSpPr>
              <p:cNvPr id="27" name="Text 16">
                <a:extLst>
                  <a:ext uri="{FF2B5EF4-FFF2-40B4-BE49-F238E27FC236}">
                    <a16:creationId xmlns:a16="http://schemas.microsoft.com/office/drawing/2014/main" id="{04212DF3-6C32-25D2-6F38-159D2893A9DA}"/>
                  </a:ext>
                </a:extLst>
              </p:cNvPr>
              <p:cNvSpPr>
                <a:spLocks noRot="1" noChangeAspect="1" noMove="1" noResize="1" noEditPoints="1" noAdjustHandles="1" noChangeArrowheads="1" noChangeShapeType="1" noTextEdit="1"/>
              </p:cNvSpPr>
              <p:nvPr/>
            </p:nvSpPr>
            <p:spPr>
              <a:xfrm>
                <a:off x="8530444" y="8940035"/>
                <a:ext cx="862915" cy="827896"/>
              </a:xfrm>
              <a:prstGeom prst="rect">
                <a:avLst/>
              </a:prstGeom>
              <a:blipFill>
                <a:blip r:embed="rId5"/>
                <a:stretch>
                  <a:fillRect/>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9" name="Text 26">
                <a:extLst>
                  <a:ext uri="{FF2B5EF4-FFF2-40B4-BE49-F238E27FC236}">
                    <a16:creationId xmlns:a16="http://schemas.microsoft.com/office/drawing/2014/main" id="{C76ADB25-2183-DBDC-FE78-4B35FBF0D1CD}"/>
                  </a:ext>
                </a:extLst>
              </p:cNvPr>
              <p:cNvSpPr/>
              <p:nvPr/>
            </p:nvSpPr>
            <p:spPr>
              <a:xfrm>
                <a:off x="13109819" y="9017198"/>
                <a:ext cx="6732661" cy="1762308"/>
              </a:xfrm>
              <a:prstGeom prst="rect">
                <a:avLst/>
              </a:prstGeom>
              <a:noFill/>
              <a:ln/>
            </p:spPr>
            <p:txBody>
              <a:bodyPr wrap="square" rtlCol="0" anchor="ctr"/>
              <a:lstStyle/>
              <a:p>
                <a:pPr algn="l">
                  <a:lnSpc>
                    <a:spcPct val="115000"/>
                  </a:lnSpc>
                </a:pPr>
                <a14:m>
                  <m:oMathPara xmlns:m="http://schemas.openxmlformats.org/officeDocument/2006/math">
                    <m:oMathParaPr>
                      <m:jc m:val="left"/>
                    </m:oMathParaPr>
                    <m:oMath xmlns:m="http://schemas.openxmlformats.org/officeDocument/2006/math">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i="1">
                              <a:solidFill>
                                <a:schemeClr val="bg2">
                                  <a:lumMod val="10000"/>
                                </a:schemeClr>
                              </a:solidFill>
                              <a:latin typeface="Cambria Math" panose="02040503050406030204" pitchFamily="18" charset="0"/>
                              <a:cs typeface="Courier New" pitchFamily="34" charset="-120"/>
                            </a:rPr>
                            <m:t>1</m:t>
                          </m:r>
                        </m:sup>
                      </m:sSubSup>
                      <m:r>
                        <a:rPr lang="en-US" i="1" smtClean="0">
                          <a:solidFill>
                            <a:schemeClr val="bg2">
                              <a:lumMod val="10000"/>
                            </a:schemeClr>
                          </a:solidFill>
                          <a:latin typeface="Cambria Math" panose="02040503050406030204" pitchFamily="18" charset="0"/>
                          <a:ea typeface="Courier New" pitchFamily="34" charset="-122"/>
                          <a:cs typeface="Courier New" pitchFamily="34" charset="-120"/>
                        </a:rPr>
                        <m:t>=</m:t>
                      </m:r>
                      <m:sSub>
                        <m:sSubPr>
                          <m:ctrlPr>
                            <a:rPr lang="en-US" i="1" smtClean="0">
                              <a:solidFill>
                                <a:schemeClr val="bg2">
                                  <a:lumMod val="10000"/>
                                </a:schemeClr>
                              </a:solidFill>
                              <a:latin typeface="Cambria Math" panose="02040503050406030204" pitchFamily="18" charset="0"/>
                              <a:cs typeface="Courier New" pitchFamily="34" charset="-120"/>
                            </a:rPr>
                          </m:ctrlPr>
                        </m:sSubPr>
                        <m:e>
                          <m:r>
                            <a:rPr lang="de-DE" b="0" i="1" smtClean="0">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1 </m:t>
                          </m:r>
                        </m:sub>
                      </m:sSub>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b="0" i="1" smtClean="0">
                              <a:solidFill>
                                <a:schemeClr val="bg2">
                                  <a:lumMod val="10000"/>
                                </a:schemeClr>
                              </a:solidFill>
                              <a:latin typeface="Cambria Math" panose="02040503050406030204" pitchFamily="18" charset="0"/>
                              <a:cs typeface="Courier New" pitchFamily="34" charset="-120"/>
                            </a:rPr>
                            <m:t>1</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2</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b="0" i="1" smtClean="0">
                              <a:solidFill>
                                <a:schemeClr val="bg2">
                                  <a:lumMod val="10000"/>
                                </a:schemeClr>
                              </a:solidFill>
                              <a:latin typeface="Cambria Math" panose="02040503050406030204" pitchFamily="18" charset="0"/>
                              <a:cs typeface="Courier New" pitchFamily="34" charset="-120"/>
                            </a:rPr>
                            <m:t>2</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3</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b="0" i="1" smtClean="0">
                              <a:solidFill>
                                <a:schemeClr val="bg2">
                                  <a:lumMod val="10000"/>
                                </a:schemeClr>
                              </a:solidFill>
                              <a:latin typeface="Cambria Math" panose="02040503050406030204" pitchFamily="18" charset="0"/>
                              <a:cs typeface="Courier New" pitchFamily="34" charset="-120"/>
                            </a:rPr>
                            <m:t>3</m:t>
                          </m:r>
                        </m:sup>
                      </m:sSubSup>
                      <m:r>
                        <a:rPr lang="de-DE" b="0" i="1" smtClean="0">
                          <a:solidFill>
                            <a:schemeClr val="bg2">
                              <a:lumMod val="10000"/>
                            </a:schemeClr>
                          </a:solidFill>
                          <a:latin typeface="Cambria Math" panose="02040503050406030204" pitchFamily="18" charset="0"/>
                          <a:cs typeface="Courier New" pitchFamily="34" charset="-120"/>
                        </a:rPr>
                        <m:t>+</m:t>
                      </m:r>
                      <m:sSub>
                        <m:sSubPr>
                          <m:ctrlPr>
                            <a:rPr lang="en-US" i="1">
                              <a:solidFill>
                                <a:schemeClr val="bg2">
                                  <a:lumMod val="10000"/>
                                </a:schemeClr>
                              </a:solidFill>
                              <a:latin typeface="Cambria Math" panose="02040503050406030204" pitchFamily="18" charset="0"/>
                              <a:cs typeface="Courier New" pitchFamily="34" charset="-120"/>
                            </a:rPr>
                          </m:ctrlPr>
                        </m:sSubPr>
                        <m:e>
                          <m:r>
                            <a:rPr lang="de-DE" i="1">
                              <a:solidFill>
                                <a:schemeClr val="bg2">
                                  <a:lumMod val="10000"/>
                                </a:schemeClr>
                              </a:solidFill>
                              <a:latin typeface="Cambria Math" panose="02040503050406030204" pitchFamily="18" charset="0"/>
                              <a:cs typeface="Courier New" pitchFamily="34" charset="-120"/>
                            </a:rPr>
                            <m:t>𝑥</m:t>
                          </m:r>
                        </m:e>
                        <m:sub>
                          <m:r>
                            <a:rPr lang="de-DE" b="0" i="1" smtClean="0">
                              <a:solidFill>
                                <a:schemeClr val="bg2">
                                  <a:lumMod val="10000"/>
                                </a:schemeClr>
                              </a:solidFill>
                              <a:latin typeface="Cambria Math" panose="02040503050406030204" pitchFamily="18" charset="0"/>
                              <a:cs typeface="Courier New" pitchFamily="34" charset="-120"/>
                            </a:rPr>
                            <m:t>4</m:t>
                          </m:r>
                          <m:r>
                            <a:rPr lang="de-DE" i="1">
                              <a:solidFill>
                                <a:schemeClr val="bg2">
                                  <a:lumMod val="10000"/>
                                </a:schemeClr>
                              </a:solidFill>
                              <a:latin typeface="Cambria Math" panose="02040503050406030204" pitchFamily="18" charset="0"/>
                              <a:cs typeface="Courier New" pitchFamily="34" charset="-120"/>
                            </a:rPr>
                            <m:t> </m:t>
                          </m:r>
                        </m:sub>
                      </m:sSub>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b="0" i="1" smtClean="0">
                              <a:solidFill>
                                <a:schemeClr val="bg2">
                                  <a:lumMod val="10000"/>
                                </a:schemeClr>
                              </a:solidFill>
                              <a:latin typeface="Cambria Math" panose="02040503050406030204" pitchFamily="18" charset="0"/>
                              <a:cs typeface="Courier New" pitchFamily="34" charset="-120"/>
                            </a:rPr>
                            <m:t>4</m:t>
                          </m:r>
                        </m:sup>
                      </m:sSubSup>
                      <m:r>
                        <a:rPr lang="de-DE" b="0" i="1" smtClean="0">
                          <a:solidFill>
                            <a:schemeClr val="bg2">
                              <a:lumMod val="10000"/>
                            </a:schemeClr>
                          </a:solidFill>
                          <a:latin typeface="Cambria Math" panose="02040503050406030204" pitchFamily="18" charset="0"/>
                          <a:cs typeface="Courier New" pitchFamily="34" charset="-120"/>
                        </a:rPr>
                        <m:t>+</m:t>
                      </m:r>
                      <m:sSubSup>
                        <m:sSubSupPr>
                          <m:ctrlPr>
                            <a:rPr lang="en-US" b="0"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𝑏</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b="0" i="1" smtClean="0">
                              <a:solidFill>
                                <a:schemeClr val="bg2">
                                  <a:lumMod val="10000"/>
                                </a:schemeClr>
                              </a:solidFill>
                              <a:latin typeface="Cambria Math" panose="02040503050406030204" pitchFamily="18" charset="0"/>
                              <a:cs typeface="Courier New" pitchFamily="34" charset="-120"/>
                            </a:rPr>
                            <m:t>1</m:t>
                          </m:r>
                        </m:sup>
                      </m:sSubSup>
                    </m:oMath>
                  </m:oMathPara>
                </a14:m>
                <a:endParaRPr lang="en-US" dirty="0">
                  <a:solidFill>
                    <a:schemeClr val="bg2">
                      <a:lumMod val="10000"/>
                    </a:schemeClr>
                  </a:solidFill>
                  <a:latin typeface="Chromatica"/>
                </a:endParaRP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i="1">
                            <a:solidFill>
                              <a:schemeClr val="bg2">
                                <a:lumMod val="10000"/>
                              </a:schemeClr>
                            </a:solidFill>
                            <a:latin typeface="Cambria Math" panose="02040503050406030204" pitchFamily="18" charset="0"/>
                            <a:cs typeface="Courier New" pitchFamily="34" charset="-120"/>
                          </a:rPr>
                          <m:t>1</m:t>
                        </m:r>
                      </m:sup>
                    </m:sSubSup>
                    <m:r>
                      <a:rPr lang="de-DE" i="1">
                        <a:solidFill>
                          <a:schemeClr val="bg2">
                            <a:lumMod val="10000"/>
                          </a:schemeClr>
                        </a:solidFill>
                        <a:latin typeface="Cambria Math" panose="02040503050406030204" pitchFamily="18" charset="0"/>
                        <a:cs typeface="Courier New" pitchFamily="34" charset="-120"/>
                      </a:rPr>
                      <m:t> </m:t>
                    </m:r>
                  </m:oMath>
                </a14:m>
                <a:r>
                  <a:rPr lang="en-US" dirty="0">
                    <a:solidFill>
                      <a:schemeClr val="bg2">
                        <a:lumMod val="10000"/>
                      </a:schemeClr>
                    </a:solidFill>
                    <a:latin typeface="Chromatica"/>
                    <a:ea typeface="Courier New" pitchFamily="34" charset="-122"/>
                    <a:cs typeface="Courier New" pitchFamily="34" charset="-120"/>
                  </a:rPr>
                  <a:t>= 0.3*0.2 + 0.6*0.4 + 0.2*0.6 + 0.5*0.8 + 0.1</a:t>
                </a: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i="1">
                            <a:solidFill>
                              <a:schemeClr val="bg2">
                                <a:lumMod val="10000"/>
                              </a:schemeClr>
                            </a:solidFill>
                            <a:latin typeface="Cambria Math" panose="02040503050406030204" pitchFamily="18" charset="0"/>
                            <a:cs typeface="Courier New" pitchFamily="34" charset="-120"/>
                          </a:rPr>
                          <m:t>1</m:t>
                        </m:r>
                      </m:sup>
                    </m:sSubSup>
                  </m:oMath>
                </a14:m>
                <a:r>
                  <a:rPr lang="en-US" dirty="0">
                    <a:solidFill>
                      <a:schemeClr val="bg2">
                        <a:lumMod val="10000"/>
                      </a:schemeClr>
                    </a:solidFill>
                    <a:latin typeface="Chromatica"/>
                    <a:ea typeface="Courier New" pitchFamily="34" charset="-122"/>
                    <a:cs typeface="Courier New" pitchFamily="34" charset="-120"/>
                  </a:rPr>
                  <a:t> = 0.06 + 0.24 + 0.12 + 0.40 + 0.1</a:t>
                </a: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i="1">
                            <a:solidFill>
                              <a:schemeClr val="bg2">
                                <a:lumMod val="10000"/>
                              </a:schemeClr>
                            </a:solidFill>
                            <a:latin typeface="Cambria Math" panose="02040503050406030204" pitchFamily="18" charset="0"/>
                            <a:cs typeface="Courier New" pitchFamily="34" charset="-120"/>
                          </a:rPr>
                          <m:t>1</m:t>
                        </m:r>
                      </m:sup>
                    </m:sSubSup>
                  </m:oMath>
                </a14:m>
                <a:r>
                  <a:rPr lang="en-US" dirty="0">
                    <a:solidFill>
                      <a:schemeClr val="bg2">
                        <a:lumMod val="10000"/>
                      </a:schemeClr>
                    </a:solidFill>
                    <a:latin typeface="Chromatica"/>
                    <a:ea typeface="Courier New" pitchFamily="34" charset="-122"/>
                    <a:cs typeface="Courier New" pitchFamily="34" charset="-120"/>
                  </a:rPr>
                  <a:t> = 0.92</a:t>
                </a:r>
              </a:p>
              <a:p>
                <a:pPr algn="l">
                  <a:lnSpc>
                    <a:spcPct val="115000"/>
                  </a:lnSpc>
                </a:pPr>
                <a14:m>
                  <m:oMath xmlns:m="http://schemas.openxmlformats.org/officeDocument/2006/math">
                    <m:sSubSup>
                      <m:sSubSupPr>
                        <m:ctrlPr>
                          <a:rPr lang="en-US" b="1" i="1">
                            <a:solidFill>
                              <a:schemeClr val="bg2">
                                <a:lumMod val="10000"/>
                              </a:schemeClr>
                            </a:solidFill>
                            <a:latin typeface="Cambria Math" panose="02040503050406030204" pitchFamily="18" charset="0"/>
                            <a:cs typeface="Courier New" pitchFamily="34" charset="-120"/>
                          </a:rPr>
                        </m:ctrlPr>
                      </m:sSubSupPr>
                      <m:e>
                        <m:r>
                          <a:rPr lang="de-DE" b="1" i="1" smtClean="0">
                            <a:solidFill>
                              <a:schemeClr val="bg2">
                                <a:lumMod val="10000"/>
                              </a:schemeClr>
                            </a:solidFill>
                            <a:latin typeface="Cambria Math" panose="02040503050406030204" pitchFamily="18" charset="0"/>
                            <a:cs typeface="Courier New" pitchFamily="34" charset="-120"/>
                          </a:rPr>
                          <m:t>𝒂</m:t>
                        </m:r>
                      </m:e>
                      <m:sub>
                        <m:r>
                          <a:rPr lang="de-DE" b="1" i="1" smtClean="0">
                            <a:solidFill>
                              <a:schemeClr val="bg2">
                                <a:lumMod val="10000"/>
                              </a:schemeClr>
                            </a:solidFill>
                            <a:latin typeface="Cambria Math" panose="02040503050406030204" pitchFamily="18" charset="0"/>
                            <a:cs typeface="Courier New" pitchFamily="34" charset="-120"/>
                          </a:rPr>
                          <m:t>𝟐</m:t>
                        </m:r>
                      </m:sub>
                      <m:sup>
                        <m:r>
                          <a:rPr lang="de-DE" b="1" i="1">
                            <a:solidFill>
                              <a:schemeClr val="bg2">
                                <a:lumMod val="10000"/>
                              </a:schemeClr>
                            </a:solidFill>
                            <a:latin typeface="Cambria Math" panose="02040503050406030204" pitchFamily="18" charset="0"/>
                            <a:cs typeface="Courier New" pitchFamily="34" charset="-120"/>
                          </a:rPr>
                          <m:t>𝟏</m:t>
                        </m:r>
                      </m:sup>
                    </m:sSubSup>
                  </m:oMath>
                </a14:m>
                <a:r>
                  <a:rPr lang="en-US" b="1" dirty="0">
                    <a:solidFill>
                      <a:schemeClr val="bg2">
                        <a:lumMod val="10000"/>
                      </a:schemeClr>
                    </a:solidFill>
                    <a:latin typeface="Chromatica"/>
                    <a:ea typeface="Courier New" pitchFamily="34" charset="-122"/>
                    <a:cs typeface="Courier New" pitchFamily="34" charset="-120"/>
                  </a:rPr>
                  <a:t> = ReLU(0.92) = 0.92</a:t>
                </a:r>
                <a:endParaRPr lang="en-US" b="1" dirty="0">
                  <a:solidFill>
                    <a:schemeClr val="bg2">
                      <a:lumMod val="10000"/>
                    </a:schemeClr>
                  </a:solidFill>
                  <a:latin typeface="Chromatica"/>
                </a:endParaRPr>
              </a:p>
            </p:txBody>
          </p:sp>
        </mc:Choice>
        <mc:Fallback xmlns="">
          <p:sp>
            <p:nvSpPr>
              <p:cNvPr id="29" name="Text 26">
                <a:extLst>
                  <a:ext uri="{FF2B5EF4-FFF2-40B4-BE49-F238E27FC236}">
                    <a16:creationId xmlns:a16="http://schemas.microsoft.com/office/drawing/2014/main" id="{C76ADB25-2183-DBDC-FE78-4B35FBF0D1CD}"/>
                  </a:ext>
                </a:extLst>
              </p:cNvPr>
              <p:cNvSpPr>
                <a:spLocks noRot="1" noChangeAspect="1" noMove="1" noResize="1" noEditPoints="1" noAdjustHandles="1" noChangeArrowheads="1" noChangeShapeType="1" noTextEdit="1"/>
              </p:cNvSpPr>
              <p:nvPr/>
            </p:nvSpPr>
            <p:spPr>
              <a:xfrm>
                <a:off x="13109819" y="9017198"/>
                <a:ext cx="6732661" cy="1762308"/>
              </a:xfrm>
              <a:prstGeom prst="rect">
                <a:avLst/>
              </a:prstGeom>
              <a:blipFill>
                <a:blip r:embed="rId6"/>
                <a:stretch>
                  <a:fillRect t="-6574" b="-20761"/>
                </a:stretch>
              </a:blipFill>
              <a:ln/>
            </p:spPr>
            <p:txBody>
              <a:bodyPr/>
              <a:lstStyle/>
              <a:p>
                <a:r>
                  <a:rPr lang="de-DE">
                    <a:noFill/>
                  </a:rPr>
                  <a:t> </a:t>
                </a:r>
              </a:p>
            </p:txBody>
          </p:sp>
        </mc:Fallback>
      </mc:AlternateContent>
      <p:cxnSp>
        <p:nvCxnSpPr>
          <p:cNvPr id="31" name="Gerade Verbindung mit Pfeil 30">
            <a:extLst>
              <a:ext uri="{FF2B5EF4-FFF2-40B4-BE49-F238E27FC236}">
                <a16:creationId xmlns:a16="http://schemas.microsoft.com/office/drawing/2014/main" id="{0E474AD2-D019-3E48-DFE4-BEA3C8F49CE7}"/>
              </a:ext>
            </a:extLst>
          </p:cNvPr>
          <p:cNvCxnSpPr>
            <a:cxnSpLocks/>
            <a:stCxn id="5" idx="6"/>
            <a:endCxn id="9" idx="2"/>
          </p:cNvCxnSpPr>
          <p:nvPr/>
        </p:nvCxnSpPr>
        <p:spPr>
          <a:xfrm>
            <a:off x="2887609" y="4904905"/>
            <a:ext cx="5500116" cy="1534125"/>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33" name="Gerade Verbindung mit Pfeil 32">
            <a:extLst>
              <a:ext uri="{FF2B5EF4-FFF2-40B4-BE49-F238E27FC236}">
                <a16:creationId xmlns:a16="http://schemas.microsoft.com/office/drawing/2014/main" id="{9AC06417-66DE-553F-C56A-D0F73E49BA30}"/>
              </a:ext>
            </a:extLst>
          </p:cNvPr>
          <p:cNvCxnSpPr>
            <a:cxnSpLocks/>
            <a:stCxn id="6" idx="6"/>
            <a:endCxn id="9" idx="2"/>
          </p:cNvCxnSpPr>
          <p:nvPr/>
        </p:nvCxnSpPr>
        <p:spPr>
          <a:xfrm flipV="1">
            <a:off x="2887609" y="6439030"/>
            <a:ext cx="5500116" cy="690415"/>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35" name="Gerade Verbindung mit Pfeil 34">
            <a:extLst>
              <a:ext uri="{FF2B5EF4-FFF2-40B4-BE49-F238E27FC236}">
                <a16:creationId xmlns:a16="http://schemas.microsoft.com/office/drawing/2014/main" id="{1DB5B294-CDF4-5BCC-7FD7-933E7613570B}"/>
              </a:ext>
            </a:extLst>
          </p:cNvPr>
          <p:cNvCxnSpPr>
            <a:cxnSpLocks/>
            <a:stCxn id="7" idx="6"/>
            <a:endCxn id="9" idx="2"/>
          </p:cNvCxnSpPr>
          <p:nvPr/>
        </p:nvCxnSpPr>
        <p:spPr>
          <a:xfrm flipV="1">
            <a:off x="2869321" y="6439030"/>
            <a:ext cx="5518404" cy="2914955"/>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37" name="Gerade Verbindung mit Pfeil 36">
            <a:extLst>
              <a:ext uri="{FF2B5EF4-FFF2-40B4-BE49-F238E27FC236}">
                <a16:creationId xmlns:a16="http://schemas.microsoft.com/office/drawing/2014/main" id="{A48A80A9-86D8-8764-B7E4-33247498DAC5}"/>
              </a:ext>
            </a:extLst>
          </p:cNvPr>
          <p:cNvCxnSpPr>
            <a:stCxn id="8" idx="6"/>
            <a:endCxn id="9" idx="2"/>
          </p:cNvCxnSpPr>
          <p:nvPr/>
        </p:nvCxnSpPr>
        <p:spPr>
          <a:xfrm flipV="1">
            <a:off x="2869321" y="6439030"/>
            <a:ext cx="5518404" cy="5175224"/>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4" name="Gerade Verbindung mit Pfeil 3">
            <a:extLst>
              <a:ext uri="{FF2B5EF4-FFF2-40B4-BE49-F238E27FC236}">
                <a16:creationId xmlns:a16="http://schemas.microsoft.com/office/drawing/2014/main" id="{B9A2D78F-9B7D-D499-B656-3B23A7C3BC8C}"/>
              </a:ext>
            </a:extLst>
          </p:cNvPr>
          <p:cNvCxnSpPr>
            <a:stCxn id="5" idx="6"/>
            <a:endCxn id="10" idx="2"/>
          </p:cNvCxnSpPr>
          <p:nvPr/>
        </p:nvCxnSpPr>
        <p:spPr>
          <a:xfrm>
            <a:off x="2887609" y="4904905"/>
            <a:ext cx="5415925" cy="444907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 name="Gerade Verbindung mit Pfeil 12">
            <a:extLst>
              <a:ext uri="{FF2B5EF4-FFF2-40B4-BE49-F238E27FC236}">
                <a16:creationId xmlns:a16="http://schemas.microsoft.com/office/drawing/2014/main" id="{909AEB0C-06AB-4ACD-5E6B-1FE2864C2117}"/>
              </a:ext>
            </a:extLst>
          </p:cNvPr>
          <p:cNvCxnSpPr>
            <a:stCxn id="6" idx="6"/>
          </p:cNvCxnSpPr>
          <p:nvPr/>
        </p:nvCxnSpPr>
        <p:spPr>
          <a:xfrm>
            <a:off x="2887609" y="7129445"/>
            <a:ext cx="5415925" cy="222454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8" name="Gerade Verbindung mit Pfeil 17">
            <a:extLst>
              <a:ext uri="{FF2B5EF4-FFF2-40B4-BE49-F238E27FC236}">
                <a16:creationId xmlns:a16="http://schemas.microsoft.com/office/drawing/2014/main" id="{BAF847F2-DF89-9247-2FC0-0A8E71BEC5A4}"/>
              </a:ext>
            </a:extLst>
          </p:cNvPr>
          <p:cNvCxnSpPr>
            <a:cxnSpLocks/>
            <a:stCxn id="7" idx="6"/>
            <a:endCxn id="10" idx="2"/>
          </p:cNvCxnSpPr>
          <p:nvPr/>
        </p:nvCxnSpPr>
        <p:spPr>
          <a:xfrm flipV="1">
            <a:off x="2869321" y="9353984"/>
            <a:ext cx="5434213"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4" name="Gerade Verbindung mit Pfeil 23">
            <a:extLst>
              <a:ext uri="{FF2B5EF4-FFF2-40B4-BE49-F238E27FC236}">
                <a16:creationId xmlns:a16="http://schemas.microsoft.com/office/drawing/2014/main" id="{D26EE28A-4A75-F02E-B564-99144C33E472}"/>
              </a:ext>
            </a:extLst>
          </p:cNvPr>
          <p:cNvCxnSpPr>
            <a:stCxn id="8" idx="6"/>
            <a:endCxn id="10" idx="2"/>
          </p:cNvCxnSpPr>
          <p:nvPr/>
        </p:nvCxnSpPr>
        <p:spPr>
          <a:xfrm flipV="1">
            <a:off x="2869321" y="9353984"/>
            <a:ext cx="5434213" cy="226027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8" name="TextBox 37"/>
          <p:cNvSpPr txBox="1"/>
          <p:nvPr/>
        </p:nvSpPr>
        <p:spPr>
          <a:xfrm>
            <a:off x="1307592" y="3520440"/>
            <a:ext cx="11695176" cy="502920"/>
          </a:xfrm>
          <a:prstGeom prst="rect">
            <a:avLst/>
          </a:prstGeom>
          <a:noFill/>
        </p:spPr>
        <p:txBody>
          <a:bodyPr wrap="square" lIns="0" rIns="0">
            <a:spAutoFit/>
          </a:bodyPr>
          <a:lstStyle/>
          <a:p>
            <a:pPr algn="l"/>
            <a:r>
              <a:rPr sz="1800">
                <a:solidFill>
                  <a:srgbClr val="6E6E6E"/>
                </a:solidFill>
              </a:rPr>
              <a:t>Değerler ölçeklendi:  3 oda → 0.3,   120 m² → 0.6,   10 yıl → 0.2,   5 km → 0.5,   850 bin € → 0.85</a:t>
            </a:r>
          </a:p>
        </p:txBody>
      </p:sp>
    </p:spTree>
    <p:extLst>
      <p:ext uri="{BB962C8B-B14F-4D97-AF65-F5344CB8AC3E}">
        <p14:creationId xmlns:p14="http://schemas.microsoft.com/office/powerpoint/2010/main" val="517772917"/>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DA9EA-BBD5-A365-1ED5-1188B8F83855}"/>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31AB29C9-F5B6-1C3B-EA26-D52D51023599}"/>
              </a:ext>
            </a:extLst>
          </p:cNvPr>
          <p:cNvSpPr>
            <a:spLocks noGrp="1"/>
          </p:cNvSpPr>
          <p:nvPr>
            <p:ph type="body" sz="quarter" idx="22"/>
          </p:nvPr>
        </p:nvSpPr>
        <p:spPr/>
        <p:txBody>
          <a:bodyPr/>
          <a:lstStyle/>
          <a:p>
            <a:r>
              <a:rPr lang="de-DE" dirty="0"/>
              <a:t>Forward </a:t>
            </a:r>
            <a:r>
              <a:rPr lang="de-DE" dirty="0" err="1"/>
              <a:t>Propagation</a:t>
            </a:r>
            <a:endParaRPr lang="de-DE" dirty="0"/>
          </a:p>
        </p:txBody>
      </p:sp>
      <p:sp>
        <p:nvSpPr>
          <p:cNvPr id="5" name="Shape 2">
            <a:extLst>
              <a:ext uri="{FF2B5EF4-FFF2-40B4-BE49-F238E27FC236}">
                <a16:creationId xmlns:a16="http://schemas.microsoft.com/office/drawing/2014/main" id="{04B84F05-3AA2-BD15-1A85-F67A7E8CF268}"/>
              </a:ext>
            </a:extLst>
          </p:cNvPr>
          <p:cNvSpPr/>
          <p:nvPr/>
        </p:nvSpPr>
        <p:spPr>
          <a:xfrm>
            <a:off x="1570873" y="4196625"/>
            <a:ext cx="1316736" cy="1416559"/>
          </a:xfrm>
          <a:prstGeom prst="ellipse">
            <a:avLst/>
          </a:prstGeom>
          <a:solidFill>
            <a:srgbClr val="1B9E8A"/>
          </a:solidFill>
          <a:ln/>
        </p:spPr>
        <p:txBody>
          <a:bodyPr/>
          <a:lstStyle/>
          <a:p>
            <a:endParaRPr lang="de-DE" dirty="0"/>
          </a:p>
        </p:txBody>
      </p:sp>
      <p:sp>
        <p:nvSpPr>
          <p:cNvPr id="7" name="Shape 2">
            <a:extLst>
              <a:ext uri="{FF2B5EF4-FFF2-40B4-BE49-F238E27FC236}">
                <a16:creationId xmlns:a16="http://schemas.microsoft.com/office/drawing/2014/main" id="{2AFAE66C-2B81-CD04-D72E-B3A17457F90D}"/>
              </a:ext>
            </a:extLst>
          </p:cNvPr>
          <p:cNvSpPr/>
          <p:nvPr/>
        </p:nvSpPr>
        <p:spPr>
          <a:xfrm>
            <a:off x="1552585" y="8645705"/>
            <a:ext cx="1316736" cy="1416559"/>
          </a:xfrm>
          <a:prstGeom prst="ellipse">
            <a:avLst/>
          </a:prstGeom>
          <a:solidFill>
            <a:srgbClr val="1B9E8A"/>
          </a:solidFill>
          <a:ln/>
        </p:spPr>
        <p:txBody>
          <a:bodyPr/>
          <a:lstStyle/>
          <a:p>
            <a:endParaRPr lang="de-DE"/>
          </a:p>
        </p:txBody>
      </p:sp>
      <p:sp>
        <p:nvSpPr>
          <p:cNvPr id="9" name="Shape 2">
            <a:extLst>
              <a:ext uri="{FF2B5EF4-FFF2-40B4-BE49-F238E27FC236}">
                <a16:creationId xmlns:a16="http://schemas.microsoft.com/office/drawing/2014/main" id="{600CC4CE-BBEB-D4EA-E19A-2CAE9032FF1E}"/>
              </a:ext>
            </a:extLst>
          </p:cNvPr>
          <p:cNvSpPr/>
          <p:nvPr/>
        </p:nvSpPr>
        <p:spPr>
          <a:xfrm>
            <a:off x="8387725" y="5730750"/>
            <a:ext cx="1316736" cy="1416559"/>
          </a:xfrm>
          <a:prstGeom prst="ellipse">
            <a:avLst/>
          </a:prstGeom>
          <a:solidFill>
            <a:srgbClr val="1B9E8A"/>
          </a:solidFill>
          <a:ln/>
        </p:spPr>
        <p:txBody>
          <a:bodyPr/>
          <a:lstStyle/>
          <a:p>
            <a:endParaRPr lang="de-DE"/>
          </a:p>
        </p:txBody>
      </p:sp>
      <p:sp>
        <p:nvSpPr>
          <p:cNvPr id="12" name="Shape 24">
            <a:extLst>
              <a:ext uri="{FF2B5EF4-FFF2-40B4-BE49-F238E27FC236}">
                <a16:creationId xmlns:a16="http://schemas.microsoft.com/office/drawing/2014/main" id="{6E8097FE-DE85-1DA0-0D05-687DBE8E79EF}"/>
              </a:ext>
            </a:extLst>
          </p:cNvPr>
          <p:cNvSpPr>
            <a:spLocks noGrp="1"/>
          </p:cNvSpPr>
          <p:nvPr>
            <p:ph type="body" sz="quarter" idx="23"/>
          </p:nvPr>
        </p:nvSpPr>
        <p:spPr>
          <a:xfrm>
            <a:off x="13007340" y="4904905"/>
            <a:ext cx="10271760" cy="6709349"/>
          </a:xfrm>
          <a:prstGeom prst="roundRect">
            <a:avLst>
              <a:gd name="adj" fmla="val 1714"/>
            </a:avLst>
          </a:prstGeom>
          <a:solidFill>
            <a:srgbClr val="F1F8F6"/>
          </a:solidFill>
          <a:ln/>
          <a:effectLst>
            <a:outerShdw blurRad="101600" dist="38100" dir="5400000" algn="bl" rotWithShape="0">
              <a:srgbClr val="000000">
                <a:alpha val="12000"/>
              </a:srgbClr>
            </a:outerShdw>
          </a:effectLst>
        </p:spPr>
        <p:txBody>
          <a:bodyPr/>
          <a:lstStyle/>
          <a:p>
            <a:r>
              <a:rPr lang="en-US" sz="2400" dirty="0" err="1">
                <a:solidFill>
                  <a:schemeClr val="bg2">
                    <a:lumMod val="10000"/>
                  </a:schemeClr>
                </a:solidFill>
                <a:latin typeface="Chromatica"/>
                <a:ea typeface="Arial" pitchFamily="34" charset="-122"/>
                <a:cs typeface="Arial" pitchFamily="34" charset="-120"/>
              </a:rPr>
              <a:t>Gizli</a:t>
            </a:r>
            <a:r>
              <a:rPr lang="en-US" sz="2400" dirty="0">
                <a:solidFill>
                  <a:schemeClr val="bg2">
                    <a:lumMod val="10000"/>
                  </a:schemeClr>
                </a:solidFill>
                <a:latin typeface="Chromatica"/>
                <a:ea typeface="Arial" pitchFamily="34" charset="-122"/>
                <a:cs typeface="Arial" pitchFamily="34" charset="-120"/>
              </a:rPr>
              <a:t> </a:t>
            </a:r>
            <a:r>
              <a:rPr lang="en-US" sz="2400" dirty="0" err="1">
                <a:solidFill>
                  <a:schemeClr val="bg2">
                    <a:lumMod val="10000"/>
                  </a:schemeClr>
                </a:solidFill>
                <a:latin typeface="Chromatica"/>
                <a:ea typeface="Arial" pitchFamily="34" charset="-122"/>
                <a:cs typeface="Arial" pitchFamily="34" charset="-120"/>
              </a:rPr>
              <a:t>katmandan</a:t>
            </a:r>
            <a:r>
              <a:rPr lang="en-US" sz="2400" dirty="0">
                <a:solidFill>
                  <a:schemeClr val="bg2">
                    <a:lumMod val="10000"/>
                  </a:schemeClr>
                </a:solidFill>
                <a:latin typeface="Chromatica"/>
                <a:ea typeface="Arial" pitchFamily="34" charset="-122"/>
                <a:cs typeface="Arial" pitchFamily="34" charset="-120"/>
              </a:rPr>
              <a:t> </a:t>
            </a:r>
            <a:r>
              <a:rPr lang="en-US" sz="2400" dirty="0" err="1">
                <a:solidFill>
                  <a:schemeClr val="bg2">
                    <a:lumMod val="10000"/>
                  </a:schemeClr>
                </a:solidFill>
                <a:latin typeface="Chromatica"/>
                <a:ea typeface="Arial" pitchFamily="34" charset="-122"/>
                <a:cs typeface="Arial" pitchFamily="34" charset="-120"/>
              </a:rPr>
              <a:t>gelen</a:t>
            </a:r>
            <a:r>
              <a:rPr lang="en-US" sz="2400" dirty="0">
                <a:solidFill>
                  <a:schemeClr val="bg2">
                    <a:lumMod val="10000"/>
                  </a:schemeClr>
                </a:solidFill>
                <a:latin typeface="Chromatica"/>
                <a:ea typeface="Arial" pitchFamily="34" charset="-122"/>
                <a:cs typeface="Arial" pitchFamily="34" charset="-120"/>
              </a:rPr>
              <a:t> </a:t>
            </a:r>
            <a:r>
              <a:rPr lang="en-US" sz="2400" dirty="0" err="1">
                <a:solidFill>
                  <a:schemeClr val="bg2">
                    <a:lumMod val="10000"/>
                  </a:schemeClr>
                </a:solidFill>
                <a:latin typeface="Chromatica"/>
                <a:ea typeface="Arial" pitchFamily="34" charset="-122"/>
                <a:cs typeface="Arial" pitchFamily="34" charset="-120"/>
              </a:rPr>
              <a:t>aktivasyonlar</a:t>
            </a:r>
            <a:r>
              <a:rPr lang="en-US" sz="2400" dirty="0">
                <a:solidFill>
                  <a:schemeClr val="bg2">
                    <a:lumMod val="10000"/>
                  </a:schemeClr>
                </a:solidFill>
                <a:latin typeface="Chromatica"/>
                <a:ea typeface="Arial" pitchFamily="34" charset="-122"/>
                <a:cs typeface="Arial" pitchFamily="34" charset="-120"/>
              </a:rPr>
              <a:t> (a¹₁, a¹₂) </a:t>
            </a:r>
            <a:r>
              <a:rPr lang="en-US" sz="2400" dirty="0" err="1">
                <a:solidFill>
                  <a:schemeClr val="bg2">
                    <a:lumMod val="10000"/>
                  </a:schemeClr>
                </a:solidFill>
                <a:latin typeface="Chromatica"/>
                <a:ea typeface="Arial" pitchFamily="34" charset="-122"/>
                <a:cs typeface="Arial" pitchFamily="34" charset="-120"/>
              </a:rPr>
              <a:t>ağırlıklarla</a:t>
            </a:r>
            <a:r>
              <a:rPr lang="en-US" sz="2400" dirty="0">
                <a:solidFill>
                  <a:schemeClr val="bg2">
                    <a:lumMod val="10000"/>
                  </a:schemeClr>
                </a:solidFill>
                <a:latin typeface="Chromatica"/>
                <a:ea typeface="Arial" pitchFamily="34" charset="-122"/>
                <a:cs typeface="Arial" pitchFamily="34" charset="-120"/>
              </a:rPr>
              <a:t> </a:t>
            </a:r>
            <a:r>
              <a:rPr lang="en-US" sz="2400" dirty="0" err="1">
                <a:solidFill>
                  <a:schemeClr val="bg2">
                    <a:lumMod val="10000"/>
                  </a:schemeClr>
                </a:solidFill>
                <a:latin typeface="Chromatica"/>
                <a:ea typeface="Arial" pitchFamily="34" charset="-122"/>
                <a:cs typeface="Arial" pitchFamily="34" charset="-120"/>
              </a:rPr>
              <a:t>çarpılır</a:t>
            </a:r>
            <a:r>
              <a:rPr lang="en-US" sz="2400" dirty="0">
                <a:solidFill>
                  <a:schemeClr val="bg2">
                    <a:lumMod val="10000"/>
                  </a:schemeClr>
                </a:solidFill>
                <a:latin typeface="Chromatica"/>
                <a:ea typeface="Arial" pitchFamily="34" charset="-122"/>
                <a:cs typeface="Arial" pitchFamily="34" charset="-120"/>
              </a:rPr>
              <a:t>, bias </a:t>
            </a:r>
            <a:r>
              <a:rPr lang="en-US" sz="2400" dirty="0" err="1">
                <a:solidFill>
                  <a:schemeClr val="bg2">
                    <a:lumMod val="10000"/>
                  </a:schemeClr>
                </a:solidFill>
                <a:latin typeface="Chromatica"/>
                <a:ea typeface="Arial" pitchFamily="34" charset="-122"/>
                <a:cs typeface="Arial" pitchFamily="34" charset="-120"/>
              </a:rPr>
              <a:t>eklenir</a:t>
            </a:r>
            <a:r>
              <a:rPr lang="en-US" sz="2400" dirty="0">
                <a:solidFill>
                  <a:schemeClr val="bg2">
                    <a:lumMod val="10000"/>
                  </a:schemeClr>
                </a:solidFill>
                <a:latin typeface="Chromatica"/>
                <a:ea typeface="Arial" pitchFamily="34" charset="-122"/>
                <a:cs typeface="Arial" pitchFamily="34" charset="-120"/>
              </a:rPr>
              <a:t> </a:t>
            </a:r>
            <a:r>
              <a:rPr lang="en-US" sz="2400" dirty="0" err="1">
                <a:solidFill>
                  <a:schemeClr val="bg2">
                    <a:lumMod val="10000"/>
                  </a:schemeClr>
                </a:solidFill>
                <a:latin typeface="Chromatica"/>
                <a:ea typeface="Arial" pitchFamily="34" charset="-122"/>
                <a:cs typeface="Arial" pitchFamily="34" charset="-120"/>
              </a:rPr>
              <a:t>ve</a:t>
            </a:r>
            <a:r>
              <a:rPr lang="en-US" sz="2400" dirty="0">
                <a:solidFill>
                  <a:schemeClr val="bg2">
                    <a:lumMod val="10000"/>
                  </a:schemeClr>
                </a:solidFill>
                <a:latin typeface="Chromatica"/>
                <a:ea typeface="Arial" pitchFamily="34" charset="-122"/>
                <a:cs typeface="Arial" pitchFamily="34" charset="-120"/>
              </a:rPr>
              <a:t> son </a:t>
            </a:r>
            <a:r>
              <a:rPr lang="en-US" sz="2400" dirty="0" err="1">
                <a:solidFill>
                  <a:schemeClr val="bg2">
                    <a:lumMod val="10000"/>
                  </a:schemeClr>
                </a:solidFill>
                <a:latin typeface="Chromatica"/>
                <a:ea typeface="Arial" pitchFamily="34" charset="-122"/>
                <a:cs typeface="Arial" pitchFamily="34" charset="-120"/>
              </a:rPr>
              <a:t>tahmin</a:t>
            </a:r>
            <a:r>
              <a:rPr lang="en-US" sz="2400" dirty="0">
                <a:solidFill>
                  <a:schemeClr val="bg2">
                    <a:lumMod val="10000"/>
                  </a:schemeClr>
                </a:solidFill>
                <a:latin typeface="Chromatica"/>
                <a:ea typeface="Arial" pitchFamily="34" charset="-122"/>
                <a:cs typeface="Arial" pitchFamily="34" charset="-120"/>
              </a:rPr>
              <a:t> (y-hat) </a:t>
            </a:r>
            <a:r>
              <a:rPr lang="en-US" sz="2400" dirty="0" err="1">
                <a:solidFill>
                  <a:schemeClr val="bg2">
                    <a:lumMod val="10000"/>
                  </a:schemeClr>
                </a:solidFill>
                <a:latin typeface="Chromatica"/>
                <a:ea typeface="Arial" pitchFamily="34" charset="-122"/>
                <a:cs typeface="Arial" pitchFamily="34" charset="-120"/>
              </a:rPr>
              <a:t>üretilir</a:t>
            </a:r>
            <a:r>
              <a:rPr lang="en-US" sz="2400" dirty="0">
                <a:solidFill>
                  <a:schemeClr val="bg2">
                    <a:lumMod val="10000"/>
                  </a:schemeClr>
                </a:solidFill>
                <a:latin typeface="Chromatica"/>
                <a:ea typeface="Arial" pitchFamily="34" charset="-122"/>
                <a:cs typeface="Arial" pitchFamily="34" charset="-120"/>
              </a:rPr>
              <a:t>.</a:t>
            </a:r>
            <a:endParaRPr lang="en-US" sz="2400" dirty="0">
              <a:solidFill>
                <a:schemeClr val="bg2">
                  <a:lumMod val="10000"/>
                </a:schemeClr>
              </a:solidFill>
              <a:latin typeface="Chromatica"/>
            </a:endParaRPr>
          </a:p>
          <a:p>
            <a:endParaRPr lang="de-DE" dirty="0"/>
          </a:p>
        </p:txBody>
      </p:sp>
      <p:graphicFrame>
        <p:nvGraphicFramePr>
          <p:cNvPr id="14" name="Table 0">
            <a:extLst>
              <a:ext uri="{FF2B5EF4-FFF2-40B4-BE49-F238E27FC236}">
                <a16:creationId xmlns:a16="http://schemas.microsoft.com/office/drawing/2014/main" id="{BE3AC9E6-D571-6751-06D0-4A3B3DB6EA36}"/>
              </a:ext>
            </a:extLst>
          </p:cNvPr>
          <p:cNvGraphicFramePr>
            <a:graphicFrameLocks noGrp="1"/>
          </p:cNvGraphicFramePr>
          <p:nvPr>
            <p:extLst>
              <p:ext uri="{D42A27DB-BD31-4B8C-83A1-F6EECF244321}">
                <p14:modId xmlns:p14="http://schemas.microsoft.com/office/powerpoint/2010/main" val="2931164964"/>
              </p:ext>
            </p:extLst>
          </p:nvPr>
        </p:nvGraphicFramePr>
        <p:xfrm>
          <a:off x="1310640" y="2035680"/>
          <a:ext cx="11696700" cy="1416560"/>
        </p:xfrm>
        <a:graphic>
          <a:graphicData uri="http://schemas.openxmlformats.org/drawingml/2006/table">
            <a:tbl>
              <a:tblPr/>
              <a:tblGrid>
                <a:gridCol w="2339340">
                  <a:extLst>
                    <a:ext uri="{9D8B030D-6E8A-4147-A177-3AD203B41FA5}">
                      <a16:colId xmlns:a16="http://schemas.microsoft.com/office/drawing/2014/main" val="20000"/>
                    </a:ext>
                  </a:extLst>
                </a:gridCol>
                <a:gridCol w="2339340">
                  <a:extLst>
                    <a:ext uri="{9D8B030D-6E8A-4147-A177-3AD203B41FA5}">
                      <a16:colId xmlns:a16="http://schemas.microsoft.com/office/drawing/2014/main" val="20001"/>
                    </a:ext>
                  </a:extLst>
                </a:gridCol>
                <a:gridCol w="2339340">
                  <a:extLst>
                    <a:ext uri="{9D8B030D-6E8A-4147-A177-3AD203B41FA5}">
                      <a16:colId xmlns:a16="http://schemas.microsoft.com/office/drawing/2014/main" val="20002"/>
                    </a:ext>
                  </a:extLst>
                </a:gridCol>
                <a:gridCol w="2339340">
                  <a:extLst>
                    <a:ext uri="{9D8B030D-6E8A-4147-A177-3AD203B41FA5}">
                      <a16:colId xmlns:a16="http://schemas.microsoft.com/office/drawing/2014/main" val="20003"/>
                    </a:ext>
                  </a:extLst>
                </a:gridCol>
                <a:gridCol w="2339340">
                  <a:extLst>
                    <a:ext uri="{9D8B030D-6E8A-4147-A177-3AD203B41FA5}">
                      <a16:colId xmlns:a16="http://schemas.microsoft.com/office/drawing/2014/main" val="20004"/>
                    </a:ext>
                  </a:extLst>
                </a:gridCol>
              </a:tblGrid>
              <a:tr h="708280">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Oda</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m²</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Bina yaşı</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Merkeze uzaklık</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dirty="0">
                          <a:solidFill>
                            <a:srgbClr val="0F5257"/>
                          </a:solidFill>
                          <a:latin typeface="Chromatica"/>
                        </a:rPr>
                        <a:t>Fiyat</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extLst>
                  <a:ext uri="{0D108BD9-81ED-4DB2-BD59-A6C34878D82A}">
                    <a16:rowId xmlns:a16="http://schemas.microsoft.com/office/drawing/2014/main" val="10000"/>
                  </a:ext>
                </a:extLst>
              </a:tr>
              <a:tr h="708280">
                <a:tc>
                  <a:txBody>
                    <a:bodyPr/>
                    <a:lstStyle/>
                    <a:p>
                      <a:pPr marL="0" indent="0" algn="ctr">
                        <a:buNone/>
                      </a:pPr>
                      <a:r>
                        <a:rPr lang="en-US" sz="2400" b="1" dirty="0">
                          <a:solidFill>
                            <a:srgbClr val="1E2B2B"/>
                          </a:solidFill>
                          <a:latin typeface="Chromatica"/>
                        </a:rPr>
                        <a:t>0.3</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0.6</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0.2</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0.5</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0.85</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16" name="Text 16">
                <a:extLst>
                  <a:ext uri="{FF2B5EF4-FFF2-40B4-BE49-F238E27FC236}">
                    <a16:creationId xmlns:a16="http://schemas.microsoft.com/office/drawing/2014/main" id="{B58D4CAC-FCBD-1F17-43EF-973A6F9DD06D}"/>
                  </a:ext>
                </a:extLst>
              </p:cNvPr>
              <p:cNvSpPr/>
              <p:nvPr/>
            </p:nvSpPr>
            <p:spPr>
              <a:xfrm>
                <a:off x="1779495" y="4490957"/>
                <a:ext cx="862915" cy="827896"/>
              </a:xfrm>
              <a:prstGeom prst="rect">
                <a:avLst/>
              </a:prstGeom>
              <a:noFill/>
              <a:ln/>
            </p:spPr>
            <p:txBody>
              <a:bodyPr wrap="square" rtlCol="0" anchor="ctr"/>
              <a:lstStyle/>
              <a:p>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𝒂</m:t>
                          </m:r>
                        </m:e>
                        <m:sub>
                          <m:r>
                            <a:rPr lang="de-DE" b="1" i="1" smtClean="0">
                              <a:solidFill>
                                <a:srgbClr val="FFFFFF"/>
                              </a:solidFill>
                              <a:latin typeface="Cambria Math" panose="02040503050406030204" pitchFamily="18" charset="0"/>
                              <a:cs typeface="Arial" pitchFamily="34" charset="-120"/>
                            </a:rPr>
                            <m:t>𝟏</m:t>
                          </m:r>
                        </m:sub>
                        <m:sup>
                          <m:r>
                            <a:rPr lang="de-DE" b="1" i="1" smtClean="0">
                              <a:solidFill>
                                <a:srgbClr val="FFFFFF"/>
                              </a:solidFill>
                              <a:latin typeface="Cambria Math" panose="02040503050406030204" pitchFamily="18" charset="0"/>
                              <a:cs typeface="Arial" pitchFamily="34" charset="-120"/>
                            </a:rPr>
                            <m:t>𝟏</m:t>
                          </m:r>
                        </m:sup>
                      </m:sSubSup>
                    </m:oMath>
                  </m:oMathPara>
                </a14:m>
                <a:endParaRPr lang="en-US" dirty="0">
                  <a:latin typeface="Chromatica"/>
                </a:endParaRPr>
              </a:p>
            </p:txBody>
          </p:sp>
        </mc:Choice>
        <mc:Fallback xmlns="">
          <p:sp>
            <p:nvSpPr>
              <p:cNvPr id="16" name="Text 16">
                <a:extLst>
                  <a:ext uri="{FF2B5EF4-FFF2-40B4-BE49-F238E27FC236}">
                    <a16:creationId xmlns:a16="http://schemas.microsoft.com/office/drawing/2014/main" id="{B58D4CAC-FCBD-1F17-43EF-973A6F9DD06D}"/>
                  </a:ext>
                </a:extLst>
              </p:cNvPr>
              <p:cNvSpPr>
                <a:spLocks noRot="1" noChangeAspect="1" noMove="1" noResize="1" noEditPoints="1" noAdjustHandles="1" noChangeArrowheads="1" noChangeShapeType="1" noTextEdit="1"/>
              </p:cNvSpPr>
              <p:nvPr/>
            </p:nvSpPr>
            <p:spPr>
              <a:xfrm>
                <a:off x="1779495" y="4490957"/>
                <a:ext cx="862915" cy="827896"/>
              </a:xfrm>
              <a:prstGeom prst="rect">
                <a:avLst/>
              </a:prstGeom>
              <a:blipFill>
                <a:blip r:embed="rId3"/>
                <a:stretch>
                  <a:fillRect/>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0" name="Text 16">
                <a:extLst>
                  <a:ext uri="{FF2B5EF4-FFF2-40B4-BE49-F238E27FC236}">
                    <a16:creationId xmlns:a16="http://schemas.microsoft.com/office/drawing/2014/main" id="{E2E9D198-C8BD-F974-9BFA-433384B02F7C}"/>
                  </a:ext>
                </a:extLst>
              </p:cNvPr>
              <p:cNvSpPr/>
              <p:nvPr/>
            </p:nvSpPr>
            <p:spPr>
              <a:xfrm>
                <a:off x="1779494" y="8953283"/>
                <a:ext cx="862915" cy="827896"/>
              </a:xfrm>
              <a:prstGeom prst="rect">
                <a:avLst/>
              </a:prstGeom>
              <a:noFill/>
              <a:ln/>
            </p:spPr>
            <p:txBody>
              <a:bodyPr wrap="square" rtlCol="0" anchor="ctr"/>
              <a:lstStyle/>
              <a:p>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𝒂</m:t>
                          </m:r>
                        </m:e>
                        <m:sub>
                          <m:r>
                            <a:rPr lang="de-DE" b="1" i="1" smtClean="0">
                              <a:solidFill>
                                <a:srgbClr val="FFFFFF"/>
                              </a:solidFill>
                              <a:latin typeface="Cambria Math" panose="02040503050406030204" pitchFamily="18" charset="0"/>
                              <a:cs typeface="Arial" pitchFamily="34" charset="-120"/>
                            </a:rPr>
                            <m:t>𝟐</m:t>
                          </m:r>
                        </m:sub>
                        <m:sup>
                          <m:r>
                            <a:rPr lang="de-DE" b="1" i="1" smtClean="0">
                              <a:solidFill>
                                <a:srgbClr val="FFFFFF"/>
                              </a:solidFill>
                              <a:latin typeface="Cambria Math" panose="02040503050406030204" pitchFamily="18" charset="0"/>
                              <a:cs typeface="Arial" pitchFamily="34" charset="-120"/>
                            </a:rPr>
                            <m:t>𝟏</m:t>
                          </m:r>
                        </m:sup>
                      </m:sSubSup>
                    </m:oMath>
                  </m:oMathPara>
                </a14:m>
                <a:endParaRPr lang="en-US" dirty="0">
                  <a:latin typeface="Chromatica"/>
                </a:endParaRPr>
              </a:p>
            </p:txBody>
          </p:sp>
        </mc:Choice>
        <mc:Fallback xmlns="">
          <p:sp>
            <p:nvSpPr>
              <p:cNvPr id="20" name="Text 16">
                <a:extLst>
                  <a:ext uri="{FF2B5EF4-FFF2-40B4-BE49-F238E27FC236}">
                    <a16:creationId xmlns:a16="http://schemas.microsoft.com/office/drawing/2014/main" id="{E2E9D198-C8BD-F974-9BFA-433384B02F7C}"/>
                  </a:ext>
                </a:extLst>
              </p:cNvPr>
              <p:cNvSpPr>
                <a:spLocks noRot="1" noChangeAspect="1" noMove="1" noResize="1" noEditPoints="1" noAdjustHandles="1" noChangeArrowheads="1" noChangeShapeType="1" noTextEdit="1"/>
              </p:cNvSpPr>
              <p:nvPr/>
            </p:nvSpPr>
            <p:spPr>
              <a:xfrm>
                <a:off x="1779494" y="8953283"/>
                <a:ext cx="862915" cy="827896"/>
              </a:xfrm>
              <a:prstGeom prst="rect">
                <a:avLst/>
              </a:prstGeom>
              <a:blipFill>
                <a:blip r:embed="rId4"/>
                <a:stretch>
                  <a:fillRect/>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3" name="Text 26">
                <a:extLst>
                  <a:ext uri="{FF2B5EF4-FFF2-40B4-BE49-F238E27FC236}">
                    <a16:creationId xmlns:a16="http://schemas.microsoft.com/office/drawing/2014/main" id="{D5FF0A76-F7EC-6136-A732-5A59A7992130}"/>
                  </a:ext>
                </a:extLst>
              </p:cNvPr>
              <p:cNvSpPr/>
              <p:nvPr/>
            </p:nvSpPr>
            <p:spPr>
              <a:xfrm>
                <a:off x="13007340" y="5953959"/>
                <a:ext cx="6732661" cy="1762308"/>
              </a:xfrm>
              <a:prstGeom prst="rect">
                <a:avLst/>
              </a:prstGeom>
              <a:noFill/>
              <a:ln/>
            </p:spPr>
            <p:txBody>
              <a:bodyPr wrap="square" rtlCol="0" anchor="ctr"/>
              <a:lstStyle/>
              <a:p>
                <a:pPr algn="l">
                  <a:lnSpc>
                    <a:spcPct val="115000"/>
                  </a:lnSpc>
                </a:pPr>
                <a14:m>
                  <m:oMathPara xmlns:m="http://schemas.openxmlformats.org/officeDocument/2006/math">
                    <m:oMathParaPr>
                      <m:jc m:val="left"/>
                    </m:oMathParaPr>
                    <m:oMath xmlns:m="http://schemas.openxmlformats.org/officeDocument/2006/math">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2</m:t>
                          </m:r>
                        </m:sup>
                      </m:sSubSup>
                      <m:r>
                        <a:rPr lang="en-US" i="1" smtClean="0">
                          <a:solidFill>
                            <a:schemeClr val="bg2">
                              <a:lumMod val="10000"/>
                            </a:schemeClr>
                          </a:solidFill>
                          <a:latin typeface="Cambria Math" panose="02040503050406030204" pitchFamily="18" charset="0"/>
                          <a:ea typeface="Courier New" pitchFamily="34" charset="-122"/>
                          <a:cs typeface="Courier New" pitchFamily="34" charset="-120"/>
                        </a:rPr>
                        <m:t>=</m:t>
                      </m:r>
                      <m:sSubSup>
                        <m:sSubSupPr>
                          <m:ctrlPr>
                            <a:rPr lang="en-US" i="1" smtClean="0">
                              <a:solidFill>
                                <a:schemeClr val="bg2">
                                  <a:lumMod val="10000"/>
                                </a:schemeClr>
                              </a:solidFill>
                              <a:latin typeface="Cambria Math" panose="02040503050406030204" pitchFamily="18" charset="0"/>
                              <a:cs typeface="Courier New" pitchFamily="34" charset="-120"/>
                            </a:rPr>
                          </m:ctrlPr>
                        </m:sSubSupPr>
                        <m:e>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𝑎</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r>
                            <a:rPr lang="de-DE" b="0" i="1" smtClean="0">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11</m:t>
                          </m:r>
                        </m:sub>
                        <m:sup>
                          <m:r>
                            <a:rPr lang="de-DE" b="0" i="1" smtClean="0">
                              <a:solidFill>
                                <a:schemeClr val="bg2">
                                  <a:lumMod val="10000"/>
                                </a:schemeClr>
                              </a:solidFill>
                              <a:latin typeface="Cambria Math" panose="02040503050406030204" pitchFamily="18" charset="0"/>
                              <a:cs typeface="Courier New" pitchFamily="34" charset="-120"/>
                            </a:rPr>
                            <m:t>2</m:t>
                          </m:r>
                        </m:sup>
                      </m:sSubSup>
                      <m:r>
                        <a:rPr lang="de-DE" b="0" i="1" smtClean="0">
                          <a:solidFill>
                            <a:schemeClr val="bg2">
                              <a:lumMod val="10000"/>
                            </a:schemeClr>
                          </a:solidFill>
                          <a:latin typeface="Cambria Math" panose="02040503050406030204" pitchFamily="18" charset="0"/>
                          <a:cs typeface="Courier New" pitchFamily="34" charset="-120"/>
                        </a:rPr>
                        <m:t>+</m:t>
                      </m:r>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𝑎</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i="1">
                              <a:solidFill>
                                <a:schemeClr val="bg2">
                                  <a:lumMod val="10000"/>
                                </a:schemeClr>
                              </a:solidFill>
                              <a:latin typeface="Cambria Math" panose="02040503050406030204" pitchFamily="18" charset="0"/>
                              <a:cs typeface="Courier New" pitchFamily="34" charset="-120"/>
                            </a:rPr>
                            <m:t>1</m:t>
                          </m:r>
                        </m:sup>
                      </m:sSubSup>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2</m:t>
                          </m:r>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2</m:t>
                          </m:r>
                        </m:sup>
                      </m:sSubSup>
                      <m:r>
                        <a:rPr lang="de-DE" b="0" i="1" smtClean="0">
                          <a:solidFill>
                            <a:schemeClr val="bg2">
                              <a:lumMod val="10000"/>
                            </a:schemeClr>
                          </a:solidFill>
                          <a:latin typeface="Cambria Math" panose="02040503050406030204" pitchFamily="18" charset="0"/>
                          <a:cs typeface="Courier New" pitchFamily="34" charset="-120"/>
                        </a:rPr>
                        <m:t>+</m:t>
                      </m:r>
                      <m:sSubSup>
                        <m:sSubSupPr>
                          <m:ctrlPr>
                            <a:rPr lang="en-US" b="0"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𝑏</m:t>
                          </m:r>
                        </m:e>
                        <m:sub>
                          <m:r>
                            <a:rPr lang="de-DE" b="0" i="1" smtClean="0">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2</m:t>
                          </m:r>
                        </m:sup>
                      </m:sSubSup>
                    </m:oMath>
                  </m:oMathPara>
                </a14:m>
                <a:endParaRPr lang="en-US" dirty="0">
                  <a:solidFill>
                    <a:schemeClr val="bg2">
                      <a:lumMod val="10000"/>
                    </a:schemeClr>
                  </a:solidFill>
                  <a:latin typeface="Chromatica"/>
                </a:endParaRPr>
              </a:p>
            </p:txBody>
          </p:sp>
        </mc:Choice>
        <mc:Fallback xmlns="">
          <p:sp>
            <p:nvSpPr>
              <p:cNvPr id="23" name="Text 26">
                <a:extLst>
                  <a:ext uri="{FF2B5EF4-FFF2-40B4-BE49-F238E27FC236}">
                    <a16:creationId xmlns:a16="http://schemas.microsoft.com/office/drawing/2014/main" id="{D5FF0A76-F7EC-6136-A732-5A59A7992130}"/>
                  </a:ext>
                </a:extLst>
              </p:cNvPr>
              <p:cNvSpPr>
                <a:spLocks noRot="1" noChangeAspect="1" noMove="1" noResize="1" noEditPoints="1" noAdjustHandles="1" noChangeArrowheads="1" noChangeShapeType="1" noTextEdit="1"/>
              </p:cNvSpPr>
              <p:nvPr/>
            </p:nvSpPr>
            <p:spPr>
              <a:xfrm>
                <a:off x="13007340" y="5953959"/>
                <a:ext cx="6732661" cy="1762308"/>
              </a:xfrm>
              <a:prstGeom prst="rect">
                <a:avLst/>
              </a:prstGeom>
              <a:blipFill>
                <a:blip r:embed="rId5"/>
                <a:stretch>
                  <a:fillRect/>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5" name="Text 16">
                <a:extLst>
                  <a:ext uri="{FF2B5EF4-FFF2-40B4-BE49-F238E27FC236}">
                    <a16:creationId xmlns:a16="http://schemas.microsoft.com/office/drawing/2014/main" id="{E61B96F5-7598-F32B-87FF-1415BA932C7A}"/>
                  </a:ext>
                </a:extLst>
              </p:cNvPr>
              <p:cNvSpPr/>
              <p:nvPr/>
            </p:nvSpPr>
            <p:spPr>
              <a:xfrm>
                <a:off x="8614635" y="6007217"/>
                <a:ext cx="862915" cy="827896"/>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𝒛</m:t>
                          </m:r>
                        </m:e>
                        <m:sub>
                          <m:r>
                            <a:rPr lang="de-DE" b="1" i="1" smtClean="0">
                              <a:solidFill>
                                <a:srgbClr val="FFFFFF"/>
                              </a:solidFill>
                              <a:latin typeface="Cambria Math" panose="02040503050406030204" pitchFamily="18" charset="0"/>
                              <a:cs typeface="Arial" pitchFamily="34" charset="-120"/>
                            </a:rPr>
                            <m:t>𝟏</m:t>
                          </m:r>
                        </m:sub>
                        <m:sup>
                          <m:r>
                            <a:rPr lang="de-DE" b="1" i="1" smtClean="0">
                              <a:solidFill>
                                <a:srgbClr val="FFFFFF"/>
                              </a:solidFill>
                              <a:latin typeface="Cambria Math" panose="02040503050406030204" pitchFamily="18" charset="0"/>
                              <a:cs typeface="Arial" pitchFamily="34" charset="-120"/>
                            </a:rPr>
                            <m:t>𝟐</m:t>
                          </m:r>
                        </m:sup>
                      </m:sSubSup>
                    </m:oMath>
                  </m:oMathPara>
                </a14:m>
                <a:endParaRPr lang="en-US" dirty="0">
                  <a:latin typeface="Chromatica"/>
                </a:endParaRPr>
              </a:p>
            </p:txBody>
          </p:sp>
        </mc:Choice>
        <mc:Fallback xmlns="">
          <p:sp>
            <p:nvSpPr>
              <p:cNvPr id="25" name="Text 16">
                <a:extLst>
                  <a:ext uri="{FF2B5EF4-FFF2-40B4-BE49-F238E27FC236}">
                    <a16:creationId xmlns:a16="http://schemas.microsoft.com/office/drawing/2014/main" id="{E61B96F5-7598-F32B-87FF-1415BA932C7A}"/>
                  </a:ext>
                </a:extLst>
              </p:cNvPr>
              <p:cNvSpPr>
                <a:spLocks noRot="1" noChangeAspect="1" noMove="1" noResize="1" noEditPoints="1" noAdjustHandles="1" noChangeArrowheads="1" noChangeShapeType="1" noTextEdit="1"/>
              </p:cNvSpPr>
              <p:nvPr/>
            </p:nvSpPr>
            <p:spPr>
              <a:xfrm>
                <a:off x="8614635" y="6007217"/>
                <a:ext cx="862915" cy="827896"/>
              </a:xfrm>
              <a:prstGeom prst="rect">
                <a:avLst/>
              </a:prstGeom>
              <a:blipFill>
                <a:blip r:embed="rId6"/>
                <a:stretch>
                  <a:fillRect/>
                </a:stretch>
              </a:blipFill>
              <a:ln/>
            </p:spPr>
            <p:txBody>
              <a:bodyPr/>
              <a:lstStyle/>
              <a:p>
                <a:r>
                  <a:rPr lang="de-DE">
                    <a:noFill/>
                  </a:rPr>
                  <a:t> </a:t>
                </a:r>
              </a:p>
            </p:txBody>
          </p:sp>
        </mc:Fallback>
      </mc:AlternateContent>
      <p:cxnSp>
        <p:nvCxnSpPr>
          <p:cNvPr id="31" name="Gerade Verbindung mit Pfeil 30">
            <a:extLst>
              <a:ext uri="{FF2B5EF4-FFF2-40B4-BE49-F238E27FC236}">
                <a16:creationId xmlns:a16="http://schemas.microsoft.com/office/drawing/2014/main" id="{8FB83BFE-A52B-059D-2257-E534E5417BE5}"/>
              </a:ext>
            </a:extLst>
          </p:cNvPr>
          <p:cNvCxnSpPr>
            <a:cxnSpLocks/>
            <a:stCxn id="5" idx="6"/>
            <a:endCxn id="9" idx="2"/>
          </p:cNvCxnSpPr>
          <p:nvPr/>
        </p:nvCxnSpPr>
        <p:spPr>
          <a:xfrm>
            <a:off x="2887609" y="4904905"/>
            <a:ext cx="5500116" cy="1534125"/>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35" name="Gerade Verbindung mit Pfeil 34">
            <a:extLst>
              <a:ext uri="{FF2B5EF4-FFF2-40B4-BE49-F238E27FC236}">
                <a16:creationId xmlns:a16="http://schemas.microsoft.com/office/drawing/2014/main" id="{7177090B-9531-5E17-965B-65045B6AE4C9}"/>
              </a:ext>
            </a:extLst>
          </p:cNvPr>
          <p:cNvCxnSpPr>
            <a:cxnSpLocks/>
            <a:stCxn id="7" idx="6"/>
            <a:endCxn id="9" idx="2"/>
          </p:cNvCxnSpPr>
          <p:nvPr/>
        </p:nvCxnSpPr>
        <p:spPr>
          <a:xfrm flipV="1">
            <a:off x="2869321" y="6439030"/>
            <a:ext cx="5518404" cy="2914955"/>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11" name="Gerader Verbinder 10">
            <a:extLst>
              <a:ext uri="{FF2B5EF4-FFF2-40B4-BE49-F238E27FC236}">
                <a16:creationId xmlns:a16="http://schemas.microsoft.com/office/drawing/2014/main" id="{F3B77E42-E885-1D88-1C8E-CCB791AE0DF5}"/>
              </a:ext>
            </a:extLst>
          </p:cNvPr>
          <p:cNvCxnSpPr>
            <a:stCxn id="9" idx="6"/>
          </p:cNvCxnSpPr>
          <p:nvPr/>
        </p:nvCxnSpPr>
        <p:spPr>
          <a:xfrm>
            <a:off x="9704461" y="6439030"/>
            <a:ext cx="1573139"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mc:AlternateContent xmlns:mc="http://schemas.openxmlformats.org/markup-compatibility/2006" xmlns:a14="http://schemas.microsoft.com/office/drawing/2010/main">
        <mc:Choice Requires="a14">
          <p:sp>
            <p:nvSpPr>
              <p:cNvPr id="19" name="Text 16">
                <a:extLst>
                  <a:ext uri="{FF2B5EF4-FFF2-40B4-BE49-F238E27FC236}">
                    <a16:creationId xmlns:a16="http://schemas.microsoft.com/office/drawing/2014/main" id="{45EC7CC7-0FDD-EB8E-53D9-535A4F4497A4}"/>
                  </a:ext>
                </a:extLst>
              </p:cNvPr>
              <p:cNvSpPr/>
              <p:nvPr/>
            </p:nvSpPr>
            <p:spPr>
              <a:xfrm>
                <a:off x="11207290" y="6030104"/>
                <a:ext cx="862915" cy="827896"/>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acc>
                        <m:accPr>
                          <m:chr m:val="̂"/>
                          <m:ctrlPr>
                            <a:rPr lang="en-US" sz="2800" b="1" i="1" smtClean="0">
                              <a:solidFill>
                                <a:schemeClr val="bg2">
                                  <a:lumMod val="10000"/>
                                </a:schemeClr>
                              </a:solidFill>
                              <a:latin typeface="Cambria Math" panose="02040503050406030204" pitchFamily="18" charset="0"/>
                              <a:cs typeface="Arial" pitchFamily="34" charset="-120"/>
                            </a:rPr>
                          </m:ctrlPr>
                        </m:accPr>
                        <m:e>
                          <m:r>
                            <a:rPr lang="de-DE" sz="2800" b="1" i="1" smtClean="0">
                              <a:solidFill>
                                <a:schemeClr val="bg2">
                                  <a:lumMod val="10000"/>
                                </a:schemeClr>
                              </a:solidFill>
                              <a:latin typeface="Cambria Math" panose="02040503050406030204" pitchFamily="18" charset="0"/>
                              <a:cs typeface="Arial" pitchFamily="34" charset="-120"/>
                            </a:rPr>
                            <m:t>𝒚</m:t>
                          </m:r>
                        </m:e>
                      </m:acc>
                    </m:oMath>
                  </m:oMathPara>
                </a14:m>
                <a:endParaRPr lang="en-US" sz="2800" dirty="0">
                  <a:solidFill>
                    <a:schemeClr val="bg2">
                      <a:lumMod val="10000"/>
                    </a:schemeClr>
                  </a:solidFill>
                  <a:latin typeface="Chromatica"/>
                </a:endParaRPr>
              </a:p>
            </p:txBody>
          </p:sp>
        </mc:Choice>
        <mc:Fallback xmlns="">
          <p:sp>
            <p:nvSpPr>
              <p:cNvPr id="19" name="Text 16">
                <a:extLst>
                  <a:ext uri="{FF2B5EF4-FFF2-40B4-BE49-F238E27FC236}">
                    <a16:creationId xmlns:a16="http://schemas.microsoft.com/office/drawing/2014/main" id="{45EC7CC7-0FDD-EB8E-53D9-535A4F4497A4}"/>
                  </a:ext>
                </a:extLst>
              </p:cNvPr>
              <p:cNvSpPr>
                <a:spLocks noRot="1" noChangeAspect="1" noMove="1" noResize="1" noEditPoints="1" noAdjustHandles="1" noChangeArrowheads="1" noChangeShapeType="1" noTextEdit="1"/>
              </p:cNvSpPr>
              <p:nvPr/>
            </p:nvSpPr>
            <p:spPr>
              <a:xfrm>
                <a:off x="11207290" y="6030104"/>
                <a:ext cx="862915" cy="827896"/>
              </a:xfrm>
              <a:prstGeom prst="rect">
                <a:avLst/>
              </a:prstGeom>
              <a:blipFill>
                <a:blip r:embed="rId7"/>
                <a:stretch>
                  <a:fillRect/>
                </a:stretch>
              </a:blipFill>
              <a:ln/>
            </p:spPr>
            <p:txBody>
              <a:bodyPr/>
              <a:lstStyle/>
              <a:p>
                <a:r>
                  <a:rPr lang="de-DE">
                    <a:noFill/>
                  </a:rPr>
                  <a:t> </a:t>
                </a:r>
              </a:p>
            </p:txBody>
          </p:sp>
        </mc:Fallback>
      </mc:AlternateContent>
      <p:sp>
        <p:nvSpPr>
          <p:cNvPr id="36" name="TextBox 35"/>
          <p:cNvSpPr txBox="1"/>
          <p:nvPr/>
        </p:nvSpPr>
        <p:spPr>
          <a:xfrm>
            <a:off x="1307592" y="3520440"/>
            <a:ext cx="11695176" cy="502920"/>
          </a:xfrm>
          <a:prstGeom prst="rect">
            <a:avLst/>
          </a:prstGeom>
          <a:noFill/>
        </p:spPr>
        <p:txBody>
          <a:bodyPr wrap="square" lIns="0" rIns="0">
            <a:spAutoFit/>
          </a:bodyPr>
          <a:lstStyle/>
          <a:p>
            <a:pPr algn="l"/>
            <a:r>
              <a:rPr sz="1800">
                <a:solidFill>
                  <a:srgbClr val="6E6E6E"/>
                </a:solidFill>
              </a:rPr>
              <a:t>Değerler ölçeklendi:  3 oda → 0.3,   120 m² → 0.6,   10 yıl → 0.2,   5 km → 0.5,   850 bin € → 0.85</a:t>
            </a:r>
          </a:p>
        </p:txBody>
      </p:sp>
    </p:spTree>
    <p:extLst>
      <p:ext uri="{BB962C8B-B14F-4D97-AF65-F5344CB8AC3E}">
        <p14:creationId xmlns:p14="http://schemas.microsoft.com/office/powerpoint/2010/main" val="370987540"/>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2126C-7B05-CA4C-1A5D-BCDC05211E0F}"/>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07C1968D-9C75-B226-4D97-D432FE1C8052}"/>
              </a:ext>
            </a:extLst>
          </p:cNvPr>
          <p:cNvSpPr>
            <a:spLocks noGrp="1"/>
          </p:cNvSpPr>
          <p:nvPr>
            <p:ph type="body" sz="quarter" idx="22"/>
          </p:nvPr>
        </p:nvSpPr>
        <p:spPr/>
        <p:txBody>
          <a:bodyPr/>
          <a:lstStyle/>
          <a:p>
            <a:r>
              <a:rPr lang="de-DE" dirty="0"/>
              <a:t>Forward </a:t>
            </a:r>
            <a:r>
              <a:rPr lang="de-DE" dirty="0" err="1"/>
              <a:t>Propagation</a:t>
            </a:r>
            <a:endParaRPr lang="de-DE" dirty="0"/>
          </a:p>
        </p:txBody>
      </p:sp>
      <p:sp>
        <p:nvSpPr>
          <p:cNvPr id="5" name="Shape 2">
            <a:extLst>
              <a:ext uri="{FF2B5EF4-FFF2-40B4-BE49-F238E27FC236}">
                <a16:creationId xmlns:a16="http://schemas.microsoft.com/office/drawing/2014/main" id="{7344D004-20E6-4379-0ADC-C4E17B07891A}"/>
              </a:ext>
            </a:extLst>
          </p:cNvPr>
          <p:cNvSpPr/>
          <p:nvPr/>
        </p:nvSpPr>
        <p:spPr>
          <a:xfrm>
            <a:off x="1570873" y="4196625"/>
            <a:ext cx="1316736" cy="1416559"/>
          </a:xfrm>
          <a:prstGeom prst="ellipse">
            <a:avLst/>
          </a:prstGeom>
          <a:solidFill>
            <a:srgbClr val="1B9E8A"/>
          </a:solidFill>
          <a:ln/>
        </p:spPr>
        <p:txBody>
          <a:bodyPr/>
          <a:lstStyle/>
          <a:p>
            <a:endParaRPr lang="de-DE" dirty="0"/>
          </a:p>
        </p:txBody>
      </p:sp>
      <p:sp>
        <p:nvSpPr>
          <p:cNvPr id="7" name="Shape 2">
            <a:extLst>
              <a:ext uri="{FF2B5EF4-FFF2-40B4-BE49-F238E27FC236}">
                <a16:creationId xmlns:a16="http://schemas.microsoft.com/office/drawing/2014/main" id="{2F766F37-91A8-495B-6F5E-898F58A2503B}"/>
              </a:ext>
            </a:extLst>
          </p:cNvPr>
          <p:cNvSpPr/>
          <p:nvPr/>
        </p:nvSpPr>
        <p:spPr>
          <a:xfrm>
            <a:off x="1552585" y="8645705"/>
            <a:ext cx="1316736" cy="1416559"/>
          </a:xfrm>
          <a:prstGeom prst="ellipse">
            <a:avLst/>
          </a:prstGeom>
          <a:solidFill>
            <a:srgbClr val="1B9E8A"/>
          </a:solidFill>
          <a:ln/>
        </p:spPr>
        <p:txBody>
          <a:bodyPr/>
          <a:lstStyle/>
          <a:p>
            <a:endParaRPr lang="de-DE"/>
          </a:p>
        </p:txBody>
      </p:sp>
      <p:sp>
        <p:nvSpPr>
          <p:cNvPr id="9" name="Shape 2">
            <a:extLst>
              <a:ext uri="{FF2B5EF4-FFF2-40B4-BE49-F238E27FC236}">
                <a16:creationId xmlns:a16="http://schemas.microsoft.com/office/drawing/2014/main" id="{321EABC2-FFB1-F3D0-9588-2A33E9AAA2E5}"/>
              </a:ext>
            </a:extLst>
          </p:cNvPr>
          <p:cNvSpPr/>
          <p:nvPr/>
        </p:nvSpPr>
        <p:spPr>
          <a:xfrm>
            <a:off x="8387725" y="5730750"/>
            <a:ext cx="1316736" cy="1416559"/>
          </a:xfrm>
          <a:prstGeom prst="ellipse">
            <a:avLst/>
          </a:prstGeom>
          <a:solidFill>
            <a:srgbClr val="1B9E8A"/>
          </a:solidFill>
          <a:ln/>
        </p:spPr>
        <p:txBody>
          <a:bodyPr/>
          <a:lstStyle/>
          <a:p>
            <a:endParaRPr lang="de-DE"/>
          </a:p>
        </p:txBody>
      </p:sp>
      <p:sp>
        <p:nvSpPr>
          <p:cNvPr id="12" name="Shape 24">
            <a:extLst>
              <a:ext uri="{FF2B5EF4-FFF2-40B4-BE49-F238E27FC236}">
                <a16:creationId xmlns:a16="http://schemas.microsoft.com/office/drawing/2014/main" id="{D0D90FF8-3C07-DEE2-F628-4FCAF62622B2}"/>
              </a:ext>
            </a:extLst>
          </p:cNvPr>
          <p:cNvSpPr>
            <a:spLocks noGrp="1"/>
          </p:cNvSpPr>
          <p:nvPr>
            <p:ph type="body" sz="quarter" idx="23"/>
          </p:nvPr>
        </p:nvSpPr>
        <p:spPr>
          <a:xfrm>
            <a:off x="13007340" y="4904905"/>
            <a:ext cx="10271760" cy="6709349"/>
          </a:xfrm>
          <a:prstGeom prst="roundRect">
            <a:avLst>
              <a:gd name="adj" fmla="val 1714"/>
            </a:avLst>
          </a:prstGeom>
          <a:solidFill>
            <a:srgbClr val="F1F8F6"/>
          </a:solidFill>
          <a:ln/>
          <a:effectLst>
            <a:outerShdw blurRad="101600" dist="38100" dir="5400000" algn="bl" rotWithShape="0">
              <a:srgbClr val="000000">
                <a:alpha val="12000"/>
              </a:srgbClr>
            </a:outerShdw>
          </a:effectLst>
        </p:spPr>
        <p:txBody>
          <a:bodyPr/>
          <a:lstStyle/>
          <a:p>
            <a:r>
              <a:rPr lang="en-US" sz="2400" dirty="0" err="1">
                <a:solidFill>
                  <a:schemeClr val="bg2">
                    <a:lumMod val="10000"/>
                  </a:schemeClr>
                </a:solidFill>
                <a:latin typeface="Chromatica"/>
                <a:ea typeface="Arial" pitchFamily="34" charset="-122"/>
                <a:cs typeface="Arial" pitchFamily="34" charset="-120"/>
              </a:rPr>
              <a:t>Gizli</a:t>
            </a:r>
            <a:r>
              <a:rPr lang="en-US" sz="2400" dirty="0">
                <a:solidFill>
                  <a:schemeClr val="bg2">
                    <a:lumMod val="10000"/>
                  </a:schemeClr>
                </a:solidFill>
                <a:latin typeface="Chromatica"/>
                <a:ea typeface="Arial" pitchFamily="34" charset="-122"/>
                <a:cs typeface="Arial" pitchFamily="34" charset="-120"/>
              </a:rPr>
              <a:t> </a:t>
            </a:r>
            <a:r>
              <a:rPr lang="en-US" sz="2400" dirty="0" err="1">
                <a:solidFill>
                  <a:schemeClr val="bg2">
                    <a:lumMod val="10000"/>
                  </a:schemeClr>
                </a:solidFill>
                <a:latin typeface="Chromatica"/>
                <a:ea typeface="Arial" pitchFamily="34" charset="-122"/>
                <a:cs typeface="Arial" pitchFamily="34" charset="-120"/>
              </a:rPr>
              <a:t>katmandan</a:t>
            </a:r>
            <a:r>
              <a:rPr lang="en-US" sz="2400" dirty="0">
                <a:solidFill>
                  <a:schemeClr val="bg2">
                    <a:lumMod val="10000"/>
                  </a:schemeClr>
                </a:solidFill>
                <a:latin typeface="Chromatica"/>
                <a:ea typeface="Arial" pitchFamily="34" charset="-122"/>
                <a:cs typeface="Arial" pitchFamily="34" charset="-120"/>
              </a:rPr>
              <a:t> </a:t>
            </a:r>
            <a:r>
              <a:rPr lang="en-US" sz="2400" dirty="0" err="1">
                <a:solidFill>
                  <a:schemeClr val="bg2">
                    <a:lumMod val="10000"/>
                  </a:schemeClr>
                </a:solidFill>
                <a:latin typeface="Chromatica"/>
                <a:ea typeface="Arial" pitchFamily="34" charset="-122"/>
                <a:cs typeface="Arial" pitchFamily="34" charset="-120"/>
              </a:rPr>
              <a:t>gelen</a:t>
            </a:r>
            <a:r>
              <a:rPr lang="en-US" sz="2400" dirty="0">
                <a:solidFill>
                  <a:schemeClr val="bg2">
                    <a:lumMod val="10000"/>
                  </a:schemeClr>
                </a:solidFill>
                <a:latin typeface="Chromatica"/>
                <a:ea typeface="Arial" pitchFamily="34" charset="-122"/>
                <a:cs typeface="Arial" pitchFamily="34" charset="-120"/>
              </a:rPr>
              <a:t> </a:t>
            </a:r>
            <a:r>
              <a:rPr lang="en-US" sz="2400" dirty="0" err="1">
                <a:solidFill>
                  <a:schemeClr val="bg2">
                    <a:lumMod val="10000"/>
                  </a:schemeClr>
                </a:solidFill>
                <a:latin typeface="Chromatica"/>
                <a:ea typeface="Arial" pitchFamily="34" charset="-122"/>
                <a:cs typeface="Arial" pitchFamily="34" charset="-120"/>
              </a:rPr>
              <a:t>aktivasyonlar</a:t>
            </a:r>
            <a:r>
              <a:rPr lang="en-US" sz="2400" dirty="0">
                <a:solidFill>
                  <a:schemeClr val="bg2">
                    <a:lumMod val="10000"/>
                  </a:schemeClr>
                </a:solidFill>
                <a:latin typeface="Chromatica"/>
                <a:ea typeface="Arial" pitchFamily="34" charset="-122"/>
                <a:cs typeface="Arial" pitchFamily="34" charset="-120"/>
              </a:rPr>
              <a:t> (a¹₁, a¹₂) </a:t>
            </a:r>
            <a:r>
              <a:rPr lang="en-US" sz="2400" dirty="0" err="1">
                <a:solidFill>
                  <a:schemeClr val="bg2">
                    <a:lumMod val="10000"/>
                  </a:schemeClr>
                </a:solidFill>
                <a:latin typeface="Chromatica"/>
                <a:ea typeface="Arial" pitchFamily="34" charset="-122"/>
                <a:cs typeface="Arial" pitchFamily="34" charset="-120"/>
              </a:rPr>
              <a:t>ağırlıklarla</a:t>
            </a:r>
            <a:r>
              <a:rPr lang="en-US" sz="2400" dirty="0">
                <a:solidFill>
                  <a:schemeClr val="bg2">
                    <a:lumMod val="10000"/>
                  </a:schemeClr>
                </a:solidFill>
                <a:latin typeface="Chromatica"/>
                <a:ea typeface="Arial" pitchFamily="34" charset="-122"/>
                <a:cs typeface="Arial" pitchFamily="34" charset="-120"/>
              </a:rPr>
              <a:t> </a:t>
            </a:r>
            <a:r>
              <a:rPr lang="en-US" sz="2400" dirty="0" err="1">
                <a:solidFill>
                  <a:schemeClr val="bg2">
                    <a:lumMod val="10000"/>
                  </a:schemeClr>
                </a:solidFill>
                <a:latin typeface="Chromatica"/>
                <a:ea typeface="Arial" pitchFamily="34" charset="-122"/>
                <a:cs typeface="Arial" pitchFamily="34" charset="-120"/>
              </a:rPr>
              <a:t>çarpılır</a:t>
            </a:r>
            <a:r>
              <a:rPr lang="en-US" sz="2400" dirty="0">
                <a:solidFill>
                  <a:schemeClr val="bg2">
                    <a:lumMod val="10000"/>
                  </a:schemeClr>
                </a:solidFill>
                <a:latin typeface="Chromatica"/>
                <a:ea typeface="Arial" pitchFamily="34" charset="-122"/>
                <a:cs typeface="Arial" pitchFamily="34" charset="-120"/>
              </a:rPr>
              <a:t>, bias </a:t>
            </a:r>
            <a:r>
              <a:rPr lang="en-US" sz="2400" dirty="0" err="1">
                <a:solidFill>
                  <a:schemeClr val="bg2">
                    <a:lumMod val="10000"/>
                  </a:schemeClr>
                </a:solidFill>
                <a:latin typeface="Chromatica"/>
                <a:ea typeface="Arial" pitchFamily="34" charset="-122"/>
                <a:cs typeface="Arial" pitchFamily="34" charset="-120"/>
              </a:rPr>
              <a:t>eklenir</a:t>
            </a:r>
            <a:r>
              <a:rPr lang="en-US" sz="2400" dirty="0">
                <a:solidFill>
                  <a:schemeClr val="bg2">
                    <a:lumMod val="10000"/>
                  </a:schemeClr>
                </a:solidFill>
                <a:latin typeface="Chromatica"/>
                <a:ea typeface="Arial" pitchFamily="34" charset="-122"/>
                <a:cs typeface="Arial" pitchFamily="34" charset="-120"/>
              </a:rPr>
              <a:t> </a:t>
            </a:r>
            <a:r>
              <a:rPr lang="en-US" sz="2400" dirty="0" err="1">
                <a:solidFill>
                  <a:schemeClr val="bg2">
                    <a:lumMod val="10000"/>
                  </a:schemeClr>
                </a:solidFill>
                <a:latin typeface="Chromatica"/>
                <a:ea typeface="Arial" pitchFamily="34" charset="-122"/>
                <a:cs typeface="Arial" pitchFamily="34" charset="-120"/>
              </a:rPr>
              <a:t>ve</a:t>
            </a:r>
            <a:r>
              <a:rPr lang="en-US" sz="2400" dirty="0">
                <a:solidFill>
                  <a:schemeClr val="bg2">
                    <a:lumMod val="10000"/>
                  </a:schemeClr>
                </a:solidFill>
                <a:latin typeface="Chromatica"/>
                <a:ea typeface="Arial" pitchFamily="34" charset="-122"/>
                <a:cs typeface="Arial" pitchFamily="34" charset="-120"/>
              </a:rPr>
              <a:t> son </a:t>
            </a:r>
            <a:r>
              <a:rPr lang="en-US" sz="2400" dirty="0" err="1">
                <a:solidFill>
                  <a:schemeClr val="bg2">
                    <a:lumMod val="10000"/>
                  </a:schemeClr>
                </a:solidFill>
                <a:latin typeface="Chromatica"/>
                <a:ea typeface="Arial" pitchFamily="34" charset="-122"/>
                <a:cs typeface="Arial" pitchFamily="34" charset="-120"/>
              </a:rPr>
              <a:t>tahmin</a:t>
            </a:r>
            <a:r>
              <a:rPr lang="en-US" sz="2400" dirty="0">
                <a:solidFill>
                  <a:schemeClr val="bg2">
                    <a:lumMod val="10000"/>
                  </a:schemeClr>
                </a:solidFill>
                <a:latin typeface="Chromatica"/>
                <a:ea typeface="Arial" pitchFamily="34" charset="-122"/>
                <a:cs typeface="Arial" pitchFamily="34" charset="-120"/>
              </a:rPr>
              <a:t> (y-hat) </a:t>
            </a:r>
            <a:r>
              <a:rPr lang="en-US" sz="2400" dirty="0" err="1">
                <a:solidFill>
                  <a:schemeClr val="bg2">
                    <a:lumMod val="10000"/>
                  </a:schemeClr>
                </a:solidFill>
                <a:latin typeface="Chromatica"/>
                <a:ea typeface="Arial" pitchFamily="34" charset="-122"/>
                <a:cs typeface="Arial" pitchFamily="34" charset="-120"/>
              </a:rPr>
              <a:t>üretilir</a:t>
            </a:r>
            <a:r>
              <a:rPr lang="en-US" sz="2400" dirty="0">
                <a:solidFill>
                  <a:schemeClr val="bg2">
                    <a:lumMod val="10000"/>
                  </a:schemeClr>
                </a:solidFill>
                <a:latin typeface="Chromatica"/>
                <a:ea typeface="Arial" pitchFamily="34" charset="-122"/>
                <a:cs typeface="Arial" pitchFamily="34" charset="-120"/>
              </a:rPr>
              <a:t>.</a:t>
            </a:r>
            <a:endParaRPr lang="en-US" sz="2400" dirty="0">
              <a:solidFill>
                <a:schemeClr val="bg2">
                  <a:lumMod val="10000"/>
                </a:schemeClr>
              </a:solidFill>
              <a:latin typeface="Chromatica"/>
            </a:endParaRPr>
          </a:p>
          <a:p>
            <a:endParaRPr lang="de-DE" dirty="0"/>
          </a:p>
        </p:txBody>
      </p:sp>
      <p:graphicFrame>
        <p:nvGraphicFramePr>
          <p:cNvPr id="14" name="Table 0">
            <a:extLst>
              <a:ext uri="{FF2B5EF4-FFF2-40B4-BE49-F238E27FC236}">
                <a16:creationId xmlns:a16="http://schemas.microsoft.com/office/drawing/2014/main" id="{527923A5-A631-87B8-1AC7-BA221A770346}"/>
              </a:ext>
            </a:extLst>
          </p:cNvPr>
          <p:cNvGraphicFramePr>
            <a:graphicFrameLocks noGrp="1"/>
          </p:cNvGraphicFramePr>
          <p:nvPr>
            <p:extLst>
              <p:ext uri="{D42A27DB-BD31-4B8C-83A1-F6EECF244321}">
                <p14:modId xmlns:p14="http://schemas.microsoft.com/office/powerpoint/2010/main" val="4246576939"/>
              </p:ext>
            </p:extLst>
          </p:nvPr>
        </p:nvGraphicFramePr>
        <p:xfrm>
          <a:off x="1310640" y="2035680"/>
          <a:ext cx="11696700" cy="1416560"/>
        </p:xfrm>
        <a:graphic>
          <a:graphicData uri="http://schemas.openxmlformats.org/drawingml/2006/table">
            <a:tbl>
              <a:tblPr/>
              <a:tblGrid>
                <a:gridCol w="2339340">
                  <a:extLst>
                    <a:ext uri="{9D8B030D-6E8A-4147-A177-3AD203B41FA5}">
                      <a16:colId xmlns:a16="http://schemas.microsoft.com/office/drawing/2014/main" val="20000"/>
                    </a:ext>
                  </a:extLst>
                </a:gridCol>
                <a:gridCol w="2339340">
                  <a:extLst>
                    <a:ext uri="{9D8B030D-6E8A-4147-A177-3AD203B41FA5}">
                      <a16:colId xmlns:a16="http://schemas.microsoft.com/office/drawing/2014/main" val="20001"/>
                    </a:ext>
                  </a:extLst>
                </a:gridCol>
                <a:gridCol w="2339340">
                  <a:extLst>
                    <a:ext uri="{9D8B030D-6E8A-4147-A177-3AD203B41FA5}">
                      <a16:colId xmlns:a16="http://schemas.microsoft.com/office/drawing/2014/main" val="20002"/>
                    </a:ext>
                  </a:extLst>
                </a:gridCol>
                <a:gridCol w="2339340">
                  <a:extLst>
                    <a:ext uri="{9D8B030D-6E8A-4147-A177-3AD203B41FA5}">
                      <a16:colId xmlns:a16="http://schemas.microsoft.com/office/drawing/2014/main" val="20003"/>
                    </a:ext>
                  </a:extLst>
                </a:gridCol>
                <a:gridCol w="2339340">
                  <a:extLst>
                    <a:ext uri="{9D8B030D-6E8A-4147-A177-3AD203B41FA5}">
                      <a16:colId xmlns:a16="http://schemas.microsoft.com/office/drawing/2014/main" val="20004"/>
                    </a:ext>
                  </a:extLst>
                </a:gridCol>
              </a:tblGrid>
              <a:tr h="708280">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Oda</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m²</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Bina yaşı</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i="0" u="none" strike="noStrike" cap="none" spc="0" baseline="0" dirty="0">
                          <a:solidFill>
                            <a:srgbClr val="0F5257"/>
                          </a:solidFill>
                          <a:uFillTx/>
                          <a:latin typeface="Chromatica"/>
                          <a:ea typeface="+mn-ea"/>
                          <a:cs typeface="+mn-cs"/>
                          <a:sym typeface="Helvetica Neue"/>
                        </a:rPr>
                        <a:t>Merkeze uzaklık</a:t>
                      </a: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tc>
                  <a:txBody>
                    <a:bodyPr/>
                    <a:lstStyle/>
                    <a:p>
                      <a:pPr marL="0" indent="0" algn="ctr">
                        <a:buNone/>
                      </a:pPr>
                      <a:r>
                        <a:rPr lang="en-US" sz="2400" b="1" dirty="0">
                          <a:solidFill>
                            <a:srgbClr val="0F5257"/>
                          </a:solidFill>
                          <a:latin typeface="Chromatica"/>
                        </a:rPr>
                        <a:t>Fiyat</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6FD9C4"/>
                    </a:solidFill>
                  </a:tcPr>
                </a:tc>
                <a:extLst>
                  <a:ext uri="{0D108BD9-81ED-4DB2-BD59-A6C34878D82A}">
                    <a16:rowId xmlns:a16="http://schemas.microsoft.com/office/drawing/2014/main" val="10000"/>
                  </a:ext>
                </a:extLst>
              </a:tr>
              <a:tr h="708280">
                <a:tc>
                  <a:txBody>
                    <a:bodyPr/>
                    <a:lstStyle/>
                    <a:p>
                      <a:pPr marL="0" indent="0" algn="ctr">
                        <a:buNone/>
                      </a:pPr>
                      <a:r>
                        <a:rPr lang="en-US" sz="2400" b="1" dirty="0">
                          <a:solidFill>
                            <a:srgbClr val="1E2B2B"/>
                          </a:solidFill>
                          <a:latin typeface="Chromatica"/>
                        </a:rPr>
                        <a:t>0.3</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0.6</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0.2</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0.5</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tc>
                  <a:txBody>
                    <a:bodyPr/>
                    <a:lstStyle/>
                    <a:p>
                      <a:pPr marL="0" indent="0" algn="ctr">
                        <a:buNone/>
                      </a:pPr>
                      <a:r>
                        <a:rPr lang="en-US" sz="2400" b="1" dirty="0">
                          <a:solidFill>
                            <a:srgbClr val="1E2B2B"/>
                          </a:solidFill>
                          <a:latin typeface="Chromatica"/>
                        </a:rPr>
                        <a:t>0.85</a:t>
                      </a:r>
                      <a:endParaRPr lang="en-US" sz="2400" dirty="0">
                        <a:latin typeface="Chromatica"/>
                      </a:endParaRPr>
                    </a:p>
                  </a:txBody>
                  <a:tcPr anchor="ctr">
                    <a:lnL w="12700" cap="flat" cmpd="sng" algn="ctr">
                      <a:solidFill>
                        <a:srgbClr val="D5E6E1"/>
                      </a:solidFill>
                      <a:prstDash val="solid"/>
                      <a:round/>
                      <a:headEnd type="none" w="med" len="med"/>
                      <a:tailEnd type="none" w="med" len="med"/>
                    </a:lnL>
                    <a:lnR w="12700" cap="flat" cmpd="sng" algn="ctr">
                      <a:solidFill>
                        <a:srgbClr val="D5E6E1"/>
                      </a:solidFill>
                      <a:prstDash val="solid"/>
                      <a:round/>
                      <a:headEnd type="none" w="med" len="med"/>
                      <a:tailEnd type="none" w="med" len="med"/>
                    </a:lnR>
                    <a:lnT w="12700" cap="flat" cmpd="sng" algn="ctr">
                      <a:solidFill>
                        <a:srgbClr val="D5E6E1"/>
                      </a:solidFill>
                      <a:prstDash val="solid"/>
                      <a:round/>
                      <a:headEnd type="none" w="med" len="med"/>
                      <a:tailEnd type="none" w="med" len="med"/>
                    </a:lnT>
                    <a:lnB w="12700" cap="flat" cmpd="sng" algn="ctr">
                      <a:solidFill>
                        <a:srgbClr val="D5E6E1"/>
                      </a:solidFill>
                      <a:prstDash val="solid"/>
                      <a:round/>
                      <a:headEnd type="none" w="med" len="med"/>
                      <a:tailEnd type="none" w="med" len="med"/>
                    </a:lnB>
                    <a:solidFill>
                      <a:srgbClr val="F1F8F6"/>
                    </a:solidFill>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16" name="Text 16">
                <a:extLst>
                  <a:ext uri="{FF2B5EF4-FFF2-40B4-BE49-F238E27FC236}">
                    <a16:creationId xmlns:a16="http://schemas.microsoft.com/office/drawing/2014/main" id="{719AE011-6981-942F-B5EC-8EB1504DDE5E}"/>
                  </a:ext>
                </a:extLst>
              </p:cNvPr>
              <p:cNvSpPr/>
              <p:nvPr/>
            </p:nvSpPr>
            <p:spPr>
              <a:xfrm>
                <a:off x="1779495" y="4490957"/>
                <a:ext cx="862915" cy="827896"/>
              </a:xfrm>
              <a:prstGeom prst="rect">
                <a:avLst/>
              </a:prstGeom>
              <a:noFill/>
              <a:ln/>
            </p:spPr>
            <p:txBody>
              <a:bodyPr wrap="square" rtlCol="0" anchor="ctr"/>
              <a:lstStyle/>
              <a:p>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𝒂</m:t>
                          </m:r>
                        </m:e>
                        <m:sub>
                          <m:r>
                            <a:rPr lang="de-DE" b="1" i="1" smtClean="0">
                              <a:solidFill>
                                <a:srgbClr val="FFFFFF"/>
                              </a:solidFill>
                              <a:latin typeface="Cambria Math" panose="02040503050406030204" pitchFamily="18" charset="0"/>
                              <a:cs typeface="Arial" pitchFamily="34" charset="-120"/>
                            </a:rPr>
                            <m:t>𝟏</m:t>
                          </m:r>
                        </m:sub>
                        <m:sup>
                          <m:r>
                            <a:rPr lang="de-DE" b="1" i="1" smtClean="0">
                              <a:solidFill>
                                <a:srgbClr val="FFFFFF"/>
                              </a:solidFill>
                              <a:latin typeface="Cambria Math" panose="02040503050406030204" pitchFamily="18" charset="0"/>
                              <a:cs typeface="Arial" pitchFamily="34" charset="-120"/>
                            </a:rPr>
                            <m:t>𝟏</m:t>
                          </m:r>
                        </m:sup>
                      </m:sSubSup>
                    </m:oMath>
                  </m:oMathPara>
                </a14:m>
                <a:endParaRPr lang="en-US" dirty="0">
                  <a:latin typeface="Chromatica"/>
                </a:endParaRPr>
              </a:p>
            </p:txBody>
          </p:sp>
        </mc:Choice>
        <mc:Fallback xmlns="">
          <p:sp>
            <p:nvSpPr>
              <p:cNvPr id="16" name="Text 16">
                <a:extLst>
                  <a:ext uri="{FF2B5EF4-FFF2-40B4-BE49-F238E27FC236}">
                    <a16:creationId xmlns:a16="http://schemas.microsoft.com/office/drawing/2014/main" id="{719AE011-6981-942F-B5EC-8EB1504DDE5E}"/>
                  </a:ext>
                </a:extLst>
              </p:cNvPr>
              <p:cNvSpPr>
                <a:spLocks noRot="1" noChangeAspect="1" noMove="1" noResize="1" noEditPoints="1" noAdjustHandles="1" noChangeArrowheads="1" noChangeShapeType="1" noTextEdit="1"/>
              </p:cNvSpPr>
              <p:nvPr/>
            </p:nvSpPr>
            <p:spPr>
              <a:xfrm>
                <a:off x="1779495" y="4490957"/>
                <a:ext cx="862915" cy="827896"/>
              </a:xfrm>
              <a:prstGeom prst="rect">
                <a:avLst/>
              </a:prstGeom>
              <a:blipFill>
                <a:blip r:embed="rId3"/>
                <a:stretch>
                  <a:fillRect/>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0" name="Text 16">
                <a:extLst>
                  <a:ext uri="{FF2B5EF4-FFF2-40B4-BE49-F238E27FC236}">
                    <a16:creationId xmlns:a16="http://schemas.microsoft.com/office/drawing/2014/main" id="{C3579C88-7AB7-F816-AC68-F328C1D3DF5A}"/>
                  </a:ext>
                </a:extLst>
              </p:cNvPr>
              <p:cNvSpPr/>
              <p:nvPr/>
            </p:nvSpPr>
            <p:spPr>
              <a:xfrm>
                <a:off x="1779494" y="8953283"/>
                <a:ext cx="862915" cy="827896"/>
              </a:xfrm>
              <a:prstGeom prst="rect">
                <a:avLst/>
              </a:prstGeom>
              <a:noFill/>
              <a:ln/>
            </p:spPr>
            <p:txBody>
              <a:bodyPr wrap="square" rtlCol="0" anchor="ctr"/>
              <a:lstStyle/>
              <a:p>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𝒂</m:t>
                          </m:r>
                        </m:e>
                        <m:sub>
                          <m:r>
                            <a:rPr lang="de-DE" b="1" i="1" smtClean="0">
                              <a:solidFill>
                                <a:srgbClr val="FFFFFF"/>
                              </a:solidFill>
                              <a:latin typeface="Cambria Math" panose="02040503050406030204" pitchFamily="18" charset="0"/>
                              <a:cs typeface="Arial" pitchFamily="34" charset="-120"/>
                            </a:rPr>
                            <m:t>𝟐</m:t>
                          </m:r>
                        </m:sub>
                        <m:sup>
                          <m:r>
                            <a:rPr lang="de-DE" b="1" i="1" smtClean="0">
                              <a:solidFill>
                                <a:srgbClr val="FFFFFF"/>
                              </a:solidFill>
                              <a:latin typeface="Cambria Math" panose="02040503050406030204" pitchFamily="18" charset="0"/>
                              <a:cs typeface="Arial" pitchFamily="34" charset="-120"/>
                            </a:rPr>
                            <m:t>𝟏</m:t>
                          </m:r>
                        </m:sup>
                      </m:sSubSup>
                    </m:oMath>
                  </m:oMathPara>
                </a14:m>
                <a:endParaRPr lang="en-US" dirty="0">
                  <a:latin typeface="Chromatica"/>
                </a:endParaRPr>
              </a:p>
            </p:txBody>
          </p:sp>
        </mc:Choice>
        <mc:Fallback xmlns="">
          <p:sp>
            <p:nvSpPr>
              <p:cNvPr id="20" name="Text 16">
                <a:extLst>
                  <a:ext uri="{FF2B5EF4-FFF2-40B4-BE49-F238E27FC236}">
                    <a16:creationId xmlns:a16="http://schemas.microsoft.com/office/drawing/2014/main" id="{C3579C88-7AB7-F816-AC68-F328C1D3DF5A}"/>
                  </a:ext>
                </a:extLst>
              </p:cNvPr>
              <p:cNvSpPr>
                <a:spLocks noRot="1" noChangeAspect="1" noMove="1" noResize="1" noEditPoints="1" noAdjustHandles="1" noChangeArrowheads="1" noChangeShapeType="1" noTextEdit="1"/>
              </p:cNvSpPr>
              <p:nvPr/>
            </p:nvSpPr>
            <p:spPr>
              <a:xfrm>
                <a:off x="1779494" y="8953283"/>
                <a:ext cx="862915" cy="827896"/>
              </a:xfrm>
              <a:prstGeom prst="rect">
                <a:avLst/>
              </a:prstGeom>
              <a:blipFill>
                <a:blip r:embed="rId4"/>
                <a:stretch>
                  <a:fillRect/>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3" name="Text 26">
                <a:extLst>
                  <a:ext uri="{FF2B5EF4-FFF2-40B4-BE49-F238E27FC236}">
                    <a16:creationId xmlns:a16="http://schemas.microsoft.com/office/drawing/2014/main" id="{F51B941A-319F-C54B-7FA9-B77A2F00606F}"/>
                  </a:ext>
                </a:extLst>
              </p:cNvPr>
              <p:cNvSpPr/>
              <p:nvPr/>
            </p:nvSpPr>
            <p:spPr>
              <a:xfrm>
                <a:off x="13007340" y="5953959"/>
                <a:ext cx="6732661" cy="1762308"/>
              </a:xfrm>
              <a:prstGeom prst="rect">
                <a:avLst/>
              </a:prstGeom>
              <a:noFill/>
              <a:ln/>
            </p:spPr>
            <p:txBody>
              <a:bodyPr wrap="square" rtlCol="0" anchor="ctr"/>
              <a:lstStyle/>
              <a:p>
                <a:pPr algn="l">
                  <a:lnSpc>
                    <a:spcPct val="115000"/>
                  </a:lnSpc>
                </a:pPr>
                <a14:m>
                  <m:oMathPara xmlns:m="http://schemas.openxmlformats.org/officeDocument/2006/math">
                    <m:oMathParaPr>
                      <m:jc m:val="left"/>
                    </m:oMathParaPr>
                    <m:oMath xmlns:m="http://schemas.openxmlformats.org/officeDocument/2006/math">
                      <m:sSubSup>
                        <m:sSubSupPr>
                          <m:ctrlPr>
                            <a:rPr lang="en-US" i="1" smtClean="0">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2</m:t>
                          </m:r>
                        </m:sup>
                      </m:sSubSup>
                      <m:r>
                        <a:rPr lang="en-US" i="1" smtClean="0">
                          <a:solidFill>
                            <a:schemeClr val="bg2">
                              <a:lumMod val="10000"/>
                            </a:schemeClr>
                          </a:solidFill>
                          <a:latin typeface="Cambria Math" panose="02040503050406030204" pitchFamily="18" charset="0"/>
                          <a:ea typeface="Courier New" pitchFamily="34" charset="-122"/>
                          <a:cs typeface="Courier New" pitchFamily="34" charset="-120"/>
                        </a:rPr>
                        <m:t>=</m:t>
                      </m:r>
                      <m:sSubSup>
                        <m:sSubSupPr>
                          <m:ctrlPr>
                            <a:rPr lang="en-US" i="1" smtClean="0">
                              <a:solidFill>
                                <a:schemeClr val="bg2">
                                  <a:lumMod val="10000"/>
                                </a:schemeClr>
                              </a:solidFill>
                              <a:latin typeface="Cambria Math" panose="02040503050406030204" pitchFamily="18" charset="0"/>
                              <a:cs typeface="Courier New" pitchFamily="34" charset="-120"/>
                            </a:rPr>
                          </m:ctrlPr>
                        </m:sSubSupPr>
                        <m:e>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𝑎</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r>
                            <a:rPr lang="de-DE" b="0" i="1" smtClean="0">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11</m:t>
                          </m:r>
                        </m:sub>
                        <m:sup>
                          <m:r>
                            <a:rPr lang="de-DE" b="0" i="1" smtClean="0">
                              <a:solidFill>
                                <a:schemeClr val="bg2">
                                  <a:lumMod val="10000"/>
                                </a:schemeClr>
                              </a:solidFill>
                              <a:latin typeface="Cambria Math" panose="02040503050406030204" pitchFamily="18" charset="0"/>
                              <a:cs typeface="Courier New" pitchFamily="34" charset="-120"/>
                            </a:rPr>
                            <m:t>2</m:t>
                          </m:r>
                        </m:sup>
                      </m:sSubSup>
                      <m:r>
                        <a:rPr lang="de-DE" b="0" i="1" smtClean="0">
                          <a:solidFill>
                            <a:schemeClr val="bg2">
                              <a:lumMod val="10000"/>
                            </a:schemeClr>
                          </a:solidFill>
                          <a:latin typeface="Cambria Math" panose="02040503050406030204" pitchFamily="18" charset="0"/>
                          <a:cs typeface="Courier New" pitchFamily="34" charset="-120"/>
                        </a:rPr>
                        <m:t>+</m:t>
                      </m:r>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𝑎</m:t>
                          </m:r>
                        </m:e>
                        <m:sub>
                          <m:r>
                            <a:rPr lang="de-DE" b="0" i="1" smtClean="0">
                              <a:solidFill>
                                <a:schemeClr val="bg2">
                                  <a:lumMod val="10000"/>
                                </a:schemeClr>
                              </a:solidFill>
                              <a:latin typeface="Cambria Math" panose="02040503050406030204" pitchFamily="18" charset="0"/>
                              <a:cs typeface="Courier New" pitchFamily="34" charset="-120"/>
                            </a:rPr>
                            <m:t>2</m:t>
                          </m:r>
                        </m:sub>
                        <m:sup>
                          <m:r>
                            <a:rPr lang="de-DE" i="1">
                              <a:solidFill>
                                <a:schemeClr val="bg2">
                                  <a:lumMod val="10000"/>
                                </a:schemeClr>
                              </a:solidFill>
                              <a:latin typeface="Cambria Math" panose="02040503050406030204" pitchFamily="18" charset="0"/>
                              <a:cs typeface="Courier New" pitchFamily="34" charset="-120"/>
                            </a:rPr>
                            <m:t>1</m:t>
                          </m:r>
                        </m:sup>
                      </m:sSubSup>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𝑤</m:t>
                          </m:r>
                        </m:e>
                        <m:sub>
                          <m:r>
                            <a:rPr lang="de-DE" b="0" i="1" smtClean="0">
                              <a:solidFill>
                                <a:schemeClr val="bg2">
                                  <a:lumMod val="10000"/>
                                </a:schemeClr>
                              </a:solidFill>
                              <a:latin typeface="Cambria Math" panose="02040503050406030204" pitchFamily="18" charset="0"/>
                              <a:cs typeface="Courier New" pitchFamily="34" charset="-120"/>
                            </a:rPr>
                            <m:t>2</m:t>
                          </m:r>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2</m:t>
                          </m:r>
                        </m:sup>
                      </m:sSubSup>
                      <m:r>
                        <a:rPr lang="de-DE" b="0" i="1" smtClean="0">
                          <a:solidFill>
                            <a:schemeClr val="bg2">
                              <a:lumMod val="10000"/>
                            </a:schemeClr>
                          </a:solidFill>
                          <a:latin typeface="Cambria Math" panose="02040503050406030204" pitchFamily="18" charset="0"/>
                          <a:cs typeface="Courier New" pitchFamily="34" charset="-120"/>
                        </a:rPr>
                        <m:t>+</m:t>
                      </m:r>
                      <m:sSubSup>
                        <m:sSubSupPr>
                          <m:ctrlPr>
                            <a:rPr lang="en-US" b="0" i="1" smtClean="0">
                              <a:solidFill>
                                <a:schemeClr val="bg2">
                                  <a:lumMod val="10000"/>
                                </a:schemeClr>
                              </a:solidFill>
                              <a:latin typeface="Cambria Math" panose="02040503050406030204" pitchFamily="18" charset="0"/>
                              <a:cs typeface="Courier New" pitchFamily="34" charset="-120"/>
                            </a:rPr>
                          </m:ctrlPr>
                        </m:sSubSupPr>
                        <m:e>
                          <m:r>
                            <a:rPr lang="de-DE" b="0" i="1" smtClean="0">
                              <a:solidFill>
                                <a:schemeClr val="bg2">
                                  <a:lumMod val="10000"/>
                                </a:schemeClr>
                              </a:solidFill>
                              <a:latin typeface="Cambria Math" panose="02040503050406030204" pitchFamily="18" charset="0"/>
                              <a:cs typeface="Courier New" pitchFamily="34" charset="-120"/>
                            </a:rPr>
                            <m:t>𝑏</m:t>
                          </m:r>
                        </m:e>
                        <m:sub>
                          <m:r>
                            <a:rPr lang="de-DE" b="0" i="1" smtClean="0">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2</m:t>
                          </m:r>
                        </m:sup>
                      </m:sSubSup>
                    </m:oMath>
                  </m:oMathPara>
                </a14:m>
                <a:endParaRPr lang="en-US" dirty="0">
                  <a:solidFill>
                    <a:schemeClr val="bg2">
                      <a:lumMod val="10000"/>
                    </a:schemeClr>
                  </a:solidFill>
                  <a:latin typeface="Chromatica"/>
                </a:endParaRP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i="1">
                            <a:solidFill>
                              <a:schemeClr val="bg2">
                                <a:lumMod val="10000"/>
                              </a:schemeClr>
                            </a:solidFill>
                            <a:latin typeface="Cambria Math" panose="02040503050406030204" pitchFamily="18" charset="0"/>
                            <a:cs typeface="Courier New" pitchFamily="34" charset="-120"/>
                          </a:rPr>
                          <m:t>1</m:t>
                        </m:r>
                      </m:sup>
                    </m:sSubSup>
                    <m:r>
                      <a:rPr lang="de-DE" i="1">
                        <a:solidFill>
                          <a:schemeClr val="bg2">
                            <a:lumMod val="10000"/>
                          </a:schemeClr>
                        </a:solidFill>
                        <a:latin typeface="Cambria Math" panose="02040503050406030204" pitchFamily="18" charset="0"/>
                        <a:cs typeface="Courier New" pitchFamily="34" charset="-120"/>
                      </a:rPr>
                      <m:t> </m:t>
                    </m:r>
                  </m:oMath>
                </a14:m>
                <a:r>
                  <a:rPr lang="en-US" dirty="0">
                    <a:solidFill>
                      <a:schemeClr val="bg2">
                        <a:lumMod val="10000"/>
                      </a:schemeClr>
                    </a:solidFill>
                    <a:latin typeface="Chromatica"/>
                    <a:ea typeface="Courier New" pitchFamily="34" charset="-122"/>
                    <a:cs typeface="Courier New" pitchFamily="34" charset="-120"/>
                  </a:rPr>
                  <a:t>= 0.76*0.3 + 0.92*0.4 + 0.5</a:t>
                </a:r>
              </a:p>
              <a:p>
                <a:pPr algn="l">
                  <a:lnSpc>
                    <a:spcPct val="115000"/>
                  </a:lnSpc>
                </a:pPr>
                <a14:m>
                  <m:oMath xmlns:m="http://schemas.openxmlformats.org/officeDocument/2006/math">
                    <m:sSubSup>
                      <m:sSubSupPr>
                        <m:ctrlPr>
                          <a:rPr lang="en-US" i="1">
                            <a:solidFill>
                              <a:schemeClr val="bg2">
                                <a:lumMod val="10000"/>
                              </a:schemeClr>
                            </a:solidFill>
                            <a:latin typeface="Cambria Math" panose="02040503050406030204" pitchFamily="18" charset="0"/>
                            <a:cs typeface="Courier New" pitchFamily="34" charset="-120"/>
                          </a:rPr>
                        </m:ctrlPr>
                      </m:sSubSupPr>
                      <m:e>
                        <m:r>
                          <a:rPr lang="de-DE" i="1">
                            <a:solidFill>
                              <a:schemeClr val="bg2">
                                <a:lumMod val="10000"/>
                              </a:schemeClr>
                            </a:solidFill>
                            <a:latin typeface="Cambria Math" panose="02040503050406030204" pitchFamily="18" charset="0"/>
                            <a:cs typeface="Courier New" pitchFamily="34" charset="-120"/>
                          </a:rPr>
                          <m:t>𝑧</m:t>
                        </m:r>
                      </m:e>
                      <m:sub>
                        <m:r>
                          <a:rPr lang="de-DE" i="1">
                            <a:solidFill>
                              <a:schemeClr val="bg2">
                                <a:lumMod val="10000"/>
                              </a:schemeClr>
                            </a:solidFill>
                            <a:latin typeface="Cambria Math" panose="02040503050406030204" pitchFamily="18" charset="0"/>
                            <a:cs typeface="Courier New" pitchFamily="34" charset="-120"/>
                          </a:rPr>
                          <m:t>1</m:t>
                        </m:r>
                      </m:sub>
                      <m:sup>
                        <m:r>
                          <a:rPr lang="de-DE" b="0" i="1" smtClean="0">
                            <a:solidFill>
                              <a:schemeClr val="bg2">
                                <a:lumMod val="10000"/>
                              </a:schemeClr>
                            </a:solidFill>
                            <a:latin typeface="Cambria Math" panose="02040503050406030204" pitchFamily="18" charset="0"/>
                            <a:cs typeface="Courier New" pitchFamily="34" charset="-120"/>
                          </a:rPr>
                          <m:t>2</m:t>
                        </m:r>
                      </m:sup>
                    </m:sSubSup>
                  </m:oMath>
                </a14:m>
                <a:r>
                  <a:rPr lang="en-US" dirty="0">
                    <a:solidFill>
                      <a:schemeClr val="bg2">
                        <a:lumMod val="10000"/>
                      </a:schemeClr>
                    </a:solidFill>
                    <a:latin typeface="Chromatica"/>
                    <a:ea typeface="Courier New" pitchFamily="34" charset="-122"/>
                    <a:cs typeface="Courier New" pitchFamily="34" charset="-120"/>
                  </a:rPr>
                  <a:t> = 1.10</a:t>
                </a:r>
                <a:r>
                  <a:rPr lang="en-US" b="1" dirty="0">
                    <a:solidFill>
                      <a:schemeClr val="bg2">
                        <a:lumMod val="10000"/>
                      </a:schemeClr>
                    </a:solidFill>
                    <a:latin typeface="Chromatica"/>
                    <a:ea typeface="Courier New" pitchFamily="34" charset="-122"/>
                    <a:cs typeface="Courier New" pitchFamily="34" charset="-120"/>
                  </a:rPr>
                  <a:t> </a:t>
                </a:r>
                <a:endParaRPr lang="en-US" b="1" dirty="0">
                  <a:solidFill>
                    <a:schemeClr val="bg2">
                      <a:lumMod val="10000"/>
                    </a:schemeClr>
                  </a:solidFill>
                  <a:latin typeface="Chromatica"/>
                </a:endParaRPr>
              </a:p>
            </p:txBody>
          </p:sp>
        </mc:Choice>
        <mc:Fallback xmlns="">
          <p:sp>
            <p:nvSpPr>
              <p:cNvPr id="23" name="Text 26">
                <a:extLst>
                  <a:ext uri="{FF2B5EF4-FFF2-40B4-BE49-F238E27FC236}">
                    <a16:creationId xmlns:a16="http://schemas.microsoft.com/office/drawing/2014/main" id="{F51B941A-319F-C54B-7FA9-B77A2F00606F}"/>
                  </a:ext>
                </a:extLst>
              </p:cNvPr>
              <p:cNvSpPr>
                <a:spLocks noRot="1" noChangeAspect="1" noMove="1" noResize="1" noEditPoints="1" noAdjustHandles="1" noChangeArrowheads="1" noChangeShapeType="1" noTextEdit="1"/>
              </p:cNvSpPr>
              <p:nvPr/>
            </p:nvSpPr>
            <p:spPr>
              <a:xfrm>
                <a:off x="13007340" y="5953959"/>
                <a:ext cx="6732661" cy="1762308"/>
              </a:xfrm>
              <a:prstGeom prst="rect">
                <a:avLst/>
              </a:prstGeom>
              <a:blipFill>
                <a:blip r:embed="rId5"/>
                <a:stretch>
                  <a:fillRect/>
                </a:stretch>
              </a:blip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5" name="Text 16">
                <a:extLst>
                  <a:ext uri="{FF2B5EF4-FFF2-40B4-BE49-F238E27FC236}">
                    <a16:creationId xmlns:a16="http://schemas.microsoft.com/office/drawing/2014/main" id="{9E04F77A-0E9F-C300-8220-A64A25E993FF}"/>
                  </a:ext>
                </a:extLst>
              </p:cNvPr>
              <p:cNvSpPr/>
              <p:nvPr/>
            </p:nvSpPr>
            <p:spPr>
              <a:xfrm>
                <a:off x="8614635" y="6007217"/>
                <a:ext cx="862915" cy="827896"/>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b="1" i="1" smtClean="0">
                              <a:solidFill>
                                <a:srgbClr val="FFFFFF"/>
                              </a:solidFill>
                              <a:latin typeface="Cambria Math" panose="02040503050406030204" pitchFamily="18" charset="0"/>
                              <a:cs typeface="Arial" pitchFamily="34" charset="-120"/>
                            </a:rPr>
                          </m:ctrlPr>
                        </m:sSubSupPr>
                        <m:e>
                          <m:r>
                            <a:rPr lang="de-DE" b="1" i="1" smtClean="0">
                              <a:solidFill>
                                <a:srgbClr val="FFFFFF"/>
                              </a:solidFill>
                              <a:latin typeface="Cambria Math" panose="02040503050406030204" pitchFamily="18" charset="0"/>
                              <a:cs typeface="Arial" pitchFamily="34" charset="-120"/>
                            </a:rPr>
                            <m:t>𝒛</m:t>
                          </m:r>
                        </m:e>
                        <m:sub>
                          <m:r>
                            <a:rPr lang="de-DE" b="1" i="1" smtClean="0">
                              <a:solidFill>
                                <a:srgbClr val="FFFFFF"/>
                              </a:solidFill>
                              <a:latin typeface="Cambria Math" panose="02040503050406030204" pitchFamily="18" charset="0"/>
                              <a:cs typeface="Arial" pitchFamily="34" charset="-120"/>
                            </a:rPr>
                            <m:t>𝟏</m:t>
                          </m:r>
                        </m:sub>
                        <m:sup>
                          <m:r>
                            <a:rPr lang="de-DE" b="1" i="1" smtClean="0">
                              <a:solidFill>
                                <a:srgbClr val="FFFFFF"/>
                              </a:solidFill>
                              <a:latin typeface="Cambria Math" panose="02040503050406030204" pitchFamily="18" charset="0"/>
                              <a:cs typeface="Arial" pitchFamily="34" charset="-120"/>
                            </a:rPr>
                            <m:t>𝟐</m:t>
                          </m:r>
                        </m:sup>
                      </m:sSubSup>
                    </m:oMath>
                  </m:oMathPara>
                </a14:m>
                <a:endParaRPr lang="en-US" dirty="0">
                  <a:latin typeface="Chromatica"/>
                </a:endParaRPr>
              </a:p>
            </p:txBody>
          </p:sp>
        </mc:Choice>
        <mc:Fallback xmlns="">
          <p:sp>
            <p:nvSpPr>
              <p:cNvPr id="25" name="Text 16">
                <a:extLst>
                  <a:ext uri="{FF2B5EF4-FFF2-40B4-BE49-F238E27FC236}">
                    <a16:creationId xmlns:a16="http://schemas.microsoft.com/office/drawing/2014/main" id="{9E04F77A-0E9F-C300-8220-A64A25E993FF}"/>
                  </a:ext>
                </a:extLst>
              </p:cNvPr>
              <p:cNvSpPr>
                <a:spLocks noRot="1" noChangeAspect="1" noMove="1" noResize="1" noEditPoints="1" noAdjustHandles="1" noChangeArrowheads="1" noChangeShapeType="1" noTextEdit="1"/>
              </p:cNvSpPr>
              <p:nvPr/>
            </p:nvSpPr>
            <p:spPr>
              <a:xfrm>
                <a:off x="8614635" y="6007217"/>
                <a:ext cx="862915" cy="827896"/>
              </a:xfrm>
              <a:prstGeom prst="rect">
                <a:avLst/>
              </a:prstGeom>
              <a:blipFill>
                <a:blip r:embed="rId6"/>
                <a:stretch>
                  <a:fillRect/>
                </a:stretch>
              </a:blipFill>
              <a:ln/>
            </p:spPr>
            <p:txBody>
              <a:bodyPr/>
              <a:lstStyle/>
              <a:p>
                <a:r>
                  <a:rPr lang="de-DE">
                    <a:noFill/>
                  </a:rPr>
                  <a:t> </a:t>
                </a:r>
              </a:p>
            </p:txBody>
          </p:sp>
        </mc:Fallback>
      </mc:AlternateContent>
      <p:cxnSp>
        <p:nvCxnSpPr>
          <p:cNvPr id="31" name="Gerade Verbindung mit Pfeil 30">
            <a:extLst>
              <a:ext uri="{FF2B5EF4-FFF2-40B4-BE49-F238E27FC236}">
                <a16:creationId xmlns:a16="http://schemas.microsoft.com/office/drawing/2014/main" id="{1CFBFEE7-C6D0-265A-4635-B0D1F91BDBDD}"/>
              </a:ext>
            </a:extLst>
          </p:cNvPr>
          <p:cNvCxnSpPr>
            <a:cxnSpLocks/>
            <a:stCxn id="5" idx="6"/>
            <a:endCxn id="9" idx="2"/>
          </p:cNvCxnSpPr>
          <p:nvPr/>
        </p:nvCxnSpPr>
        <p:spPr>
          <a:xfrm>
            <a:off x="2887609" y="4904905"/>
            <a:ext cx="5500116" cy="1534125"/>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35" name="Gerade Verbindung mit Pfeil 34">
            <a:extLst>
              <a:ext uri="{FF2B5EF4-FFF2-40B4-BE49-F238E27FC236}">
                <a16:creationId xmlns:a16="http://schemas.microsoft.com/office/drawing/2014/main" id="{AAD14CE1-73A0-7511-C436-8FA3BAA03BE7}"/>
              </a:ext>
            </a:extLst>
          </p:cNvPr>
          <p:cNvCxnSpPr>
            <a:cxnSpLocks/>
            <a:stCxn id="7" idx="6"/>
            <a:endCxn id="9" idx="2"/>
          </p:cNvCxnSpPr>
          <p:nvPr/>
        </p:nvCxnSpPr>
        <p:spPr>
          <a:xfrm flipV="1">
            <a:off x="2869321" y="6439030"/>
            <a:ext cx="5518404" cy="2914955"/>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11" name="Gerader Verbinder 10">
            <a:extLst>
              <a:ext uri="{FF2B5EF4-FFF2-40B4-BE49-F238E27FC236}">
                <a16:creationId xmlns:a16="http://schemas.microsoft.com/office/drawing/2014/main" id="{2ACE87CA-3D41-E690-A458-7A6146BA41CB}"/>
              </a:ext>
            </a:extLst>
          </p:cNvPr>
          <p:cNvCxnSpPr>
            <a:stCxn id="9" idx="6"/>
          </p:cNvCxnSpPr>
          <p:nvPr/>
        </p:nvCxnSpPr>
        <p:spPr>
          <a:xfrm>
            <a:off x="9704461" y="6439030"/>
            <a:ext cx="1573139"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mc:AlternateContent xmlns:mc="http://schemas.openxmlformats.org/markup-compatibility/2006" xmlns:a14="http://schemas.microsoft.com/office/drawing/2010/main">
        <mc:Choice Requires="a14">
          <p:sp>
            <p:nvSpPr>
              <p:cNvPr id="19" name="Text 16">
                <a:extLst>
                  <a:ext uri="{FF2B5EF4-FFF2-40B4-BE49-F238E27FC236}">
                    <a16:creationId xmlns:a16="http://schemas.microsoft.com/office/drawing/2014/main" id="{F8D6498E-2554-683E-2303-ED258B4D9205}"/>
                  </a:ext>
                </a:extLst>
              </p:cNvPr>
              <p:cNvSpPr/>
              <p:nvPr/>
            </p:nvSpPr>
            <p:spPr>
              <a:xfrm>
                <a:off x="11207290" y="6030104"/>
                <a:ext cx="862915" cy="827896"/>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acc>
                        <m:accPr>
                          <m:chr m:val="̂"/>
                          <m:ctrlPr>
                            <a:rPr lang="en-US" sz="2800" b="1" i="1" smtClean="0">
                              <a:solidFill>
                                <a:schemeClr val="bg2">
                                  <a:lumMod val="10000"/>
                                </a:schemeClr>
                              </a:solidFill>
                              <a:latin typeface="Cambria Math" panose="02040503050406030204" pitchFamily="18" charset="0"/>
                              <a:cs typeface="Arial" pitchFamily="34" charset="-120"/>
                            </a:rPr>
                          </m:ctrlPr>
                        </m:accPr>
                        <m:e>
                          <m:r>
                            <a:rPr lang="de-DE" sz="2800" b="1" i="1" smtClean="0">
                              <a:solidFill>
                                <a:schemeClr val="bg2">
                                  <a:lumMod val="10000"/>
                                </a:schemeClr>
                              </a:solidFill>
                              <a:latin typeface="Cambria Math" panose="02040503050406030204" pitchFamily="18" charset="0"/>
                              <a:cs typeface="Arial" pitchFamily="34" charset="-120"/>
                            </a:rPr>
                            <m:t>𝒚</m:t>
                          </m:r>
                        </m:e>
                      </m:acc>
                    </m:oMath>
                  </m:oMathPara>
                </a14:m>
                <a:endParaRPr lang="en-US" sz="2800" dirty="0">
                  <a:solidFill>
                    <a:schemeClr val="bg2">
                      <a:lumMod val="10000"/>
                    </a:schemeClr>
                  </a:solidFill>
                  <a:latin typeface="Chromatica"/>
                </a:endParaRPr>
              </a:p>
            </p:txBody>
          </p:sp>
        </mc:Choice>
        <mc:Fallback xmlns="">
          <p:sp>
            <p:nvSpPr>
              <p:cNvPr id="19" name="Text 16">
                <a:extLst>
                  <a:ext uri="{FF2B5EF4-FFF2-40B4-BE49-F238E27FC236}">
                    <a16:creationId xmlns:a16="http://schemas.microsoft.com/office/drawing/2014/main" id="{F8D6498E-2554-683E-2303-ED258B4D9205}"/>
                  </a:ext>
                </a:extLst>
              </p:cNvPr>
              <p:cNvSpPr>
                <a:spLocks noRot="1" noChangeAspect="1" noMove="1" noResize="1" noEditPoints="1" noAdjustHandles="1" noChangeArrowheads="1" noChangeShapeType="1" noTextEdit="1"/>
              </p:cNvSpPr>
              <p:nvPr/>
            </p:nvSpPr>
            <p:spPr>
              <a:xfrm>
                <a:off x="11207290" y="6030104"/>
                <a:ext cx="862915" cy="827896"/>
              </a:xfrm>
              <a:prstGeom prst="rect">
                <a:avLst/>
              </a:prstGeom>
              <a:blipFill>
                <a:blip r:embed="rId7"/>
                <a:stretch>
                  <a:fillRect/>
                </a:stretch>
              </a:blipFill>
              <a:ln/>
            </p:spPr>
            <p:txBody>
              <a:bodyPr/>
              <a:lstStyle/>
              <a:p>
                <a:r>
                  <a:rPr lang="de-DE">
                    <a:noFill/>
                  </a:rPr>
                  <a:t> </a:t>
                </a:r>
              </a:p>
            </p:txBody>
          </p:sp>
        </mc:Fallback>
      </mc:AlternateContent>
      <p:sp>
        <p:nvSpPr>
          <p:cNvPr id="36" name="TextBox 35"/>
          <p:cNvSpPr txBox="1"/>
          <p:nvPr/>
        </p:nvSpPr>
        <p:spPr>
          <a:xfrm>
            <a:off x="1307592" y="3520440"/>
            <a:ext cx="11695176" cy="502920"/>
          </a:xfrm>
          <a:prstGeom prst="rect">
            <a:avLst/>
          </a:prstGeom>
          <a:noFill/>
        </p:spPr>
        <p:txBody>
          <a:bodyPr wrap="square" lIns="0" rIns="0">
            <a:spAutoFit/>
          </a:bodyPr>
          <a:lstStyle/>
          <a:p>
            <a:pPr algn="l"/>
            <a:r>
              <a:rPr sz="1800">
                <a:solidFill>
                  <a:srgbClr val="6E6E6E"/>
                </a:solidFill>
              </a:rPr>
              <a:t>Değerler ölçeklendi:  3 oda → 0.3,   120 m² → 0.6,   10 yıl → 0.2,   5 km → 0.5,   850 bin € → 0.85</a:t>
            </a:r>
          </a:p>
        </p:txBody>
      </p:sp>
      <p:sp>
        <p:nvSpPr>
          <p:cNvPr id="37" name="Rounded Rectangle 36"/>
          <p:cNvSpPr/>
          <p:nvPr/>
        </p:nvSpPr>
        <p:spPr>
          <a:xfrm>
            <a:off x="13002768" y="9235440"/>
            <a:ext cx="10268712" cy="1874519"/>
          </a:xfrm>
          <a:prstGeom prst="roundRect">
            <a:avLst>
              <a:gd name="adj" fmla="val 6000"/>
            </a:avLst>
          </a:prstGeom>
          <a:noFill/>
          <a:ln w="25400">
            <a:solidFill>
              <a:srgbClr val="C08A2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TextBox 37"/>
          <p:cNvSpPr txBox="1"/>
          <p:nvPr/>
        </p:nvSpPr>
        <p:spPr>
          <a:xfrm>
            <a:off x="13459968" y="9235440"/>
            <a:ext cx="9354312" cy="1874519"/>
          </a:xfrm>
          <a:prstGeom prst="rect">
            <a:avLst/>
          </a:prstGeom>
          <a:noFill/>
        </p:spPr>
        <p:txBody>
          <a:bodyPr wrap="square" lIns="0" tIns="0" rIns="0" bIns="0" anchor="ctr">
            <a:spAutoFit/>
          </a:bodyPr>
          <a:lstStyle/>
          <a:p>
            <a:pPr algn="ctr">
              <a:lnSpc>
                <a:spcPct val="125000"/>
              </a:lnSpc>
              <a:spcAft>
                <a:spcPts val="600"/>
              </a:spcAft>
            </a:pPr>
            <a:r>
              <a:rPr sz="2600" b="1">
                <a:solidFill>
                  <a:srgbClr val="15263F"/>
                </a:solidFill>
              </a:rPr>
              <a:t>ŷ = 1.10</a:t>
            </a:r>
          </a:p>
          <a:p>
            <a:pPr algn="ctr">
              <a:lnSpc>
                <a:spcPct val="125000"/>
              </a:lnSpc>
              <a:spcAft>
                <a:spcPts val="600"/>
              </a:spcAft>
            </a:pPr>
            <a:r>
              <a:rPr sz="2600" b="0">
                <a:solidFill>
                  <a:srgbClr val="15263F"/>
                </a:solidFill>
              </a:rPr>
              <a:t>→  1 milyon 100 bin € tahmin   (gerçek fiyat 850 bin €)</a:t>
            </a:r>
          </a:p>
        </p:txBody>
      </p:sp>
    </p:spTree>
    <p:extLst>
      <p:ext uri="{BB962C8B-B14F-4D97-AF65-F5344CB8AC3E}">
        <p14:creationId xmlns:p14="http://schemas.microsoft.com/office/powerpoint/2010/main" val="1630780839"/>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rPr>
              <a:t>Loss: Hatanın Tek Sayısı</a:t>
            </a:r>
          </a:p>
        </p:txBody>
      </p:sp>
      <p:sp>
        <p:nvSpPr>
          <p:cNvPr id="3" name="TextBox 2"/>
          <p:cNvSpPr txBox="1"/>
          <p:nvPr/>
        </p:nvSpPr>
        <p:spPr>
          <a:xfrm>
            <a:off x="2066543" y="1874519"/>
            <a:ext cx="20244816" cy="1828800"/>
          </a:xfrm>
          <a:prstGeom prst="rect">
            <a:avLst/>
          </a:prstGeom>
          <a:noFill/>
        </p:spPr>
        <p:txBody>
          <a:bodyPr wrap="square" lIns="0" tIns="0" rIns="0" bIns="0" anchor="t">
            <a:spAutoFit/>
          </a:bodyPr>
          <a:lstStyle/>
          <a:p>
            <a:pPr algn="ctr">
              <a:lnSpc>
                <a:spcPct val="115000"/>
              </a:lnSpc>
            </a:pPr>
            <a:r>
              <a:rPr sz="4000" b="0">
                <a:solidFill>
                  <a:srgbClr val="1A1A1A"/>
                </a:solidFill>
              </a:rPr>
              <a:t>Model kendini düzeltebilmek için önce </a:t>
            </a:r>
            <a:r>
              <a:rPr sz="4000" b="1">
                <a:solidFill>
                  <a:srgbClr val="1A1A1A"/>
                </a:solidFill>
              </a:rPr>
              <a:t>ne kadar yanıldığını tek bir sayıya indirmek</a:t>
            </a:r>
            <a:r>
              <a:rPr sz="4000" b="0">
                <a:solidFill>
                  <a:srgbClr val="1A1A1A"/>
                </a:solidFill>
              </a:rPr>
              <a:t> zorundadır.</a:t>
            </a:r>
          </a:p>
        </p:txBody>
      </p:sp>
      <p:sp>
        <p:nvSpPr>
          <p:cNvPr id="4" name="Rounded Rectangle 3"/>
          <p:cNvSpPr/>
          <p:nvPr/>
        </p:nvSpPr>
        <p:spPr>
          <a:xfrm>
            <a:off x="1906524" y="4754880"/>
            <a:ext cx="6492240" cy="3931920"/>
          </a:xfrm>
          <a:prstGeom prst="roundRect">
            <a:avLst>
              <a:gd name="adj" fmla="val 5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2455164" y="5257800"/>
            <a:ext cx="5394959" cy="777240"/>
          </a:xfrm>
          <a:prstGeom prst="rect">
            <a:avLst/>
          </a:prstGeom>
          <a:noFill/>
        </p:spPr>
        <p:txBody>
          <a:bodyPr wrap="square" lIns="0" tIns="0" rIns="0" bIns="0" anchor="t">
            <a:spAutoFit/>
          </a:bodyPr>
          <a:lstStyle/>
          <a:p>
            <a:pPr algn="l"/>
            <a:r>
              <a:rPr sz="2700" b="1">
                <a:solidFill>
                  <a:srgbClr val="148F77"/>
                </a:solidFill>
              </a:rPr>
              <a:t>Regresyon</a:t>
            </a:r>
          </a:p>
        </p:txBody>
      </p:sp>
      <p:sp>
        <p:nvSpPr>
          <p:cNvPr id="6" name="TextBox 5"/>
          <p:cNvSpPr txBox="1"/>
          <p:nvPr/>
        </p:nvSpPr>
        <p:spPr>
          <a:xfrm>
            <a:off x="2455164" y="6263640"/>
            <a:ext cx="5394959" cy="1920239"/>
          </a:xfrm>
          <a:prstGeom prst="rect">
            <a:avLst/>
          </a:prstGeom>
          <a:noFill/>
        </p:spPr>
        <p:txBody>
          <a:bodyPr wrap="square" lIns="0" tIns="0" rIns="0" bIns="0" anchor="t">
            <a:spAutoFit/>
          </a:bodyPr>
          <a:lstStyle/>
          <a:p>
            <a:pPr algn="l">
              <a:lnSpc>
                <a:spcPct val="130000"/>
              </a:lnSpc>
              <a:spcAft>
                <a:spcPts val="1000"/>
              </a:spcAft>
            </a:pPr>
            <a:r>
              <a:rPr sz="2100" b="0">
                <a:solidFill>
                  <a:srgbClr val="1A1A1A"/>
                </a:solidFill>
              </a:rPr>
              <a:t>MSE  —  (tahmin − gerçek)²
Bizim örneğimiz bu.</a:t>
            </a:r>
          </a:p>
        </p:txBody>
      </p:sp>
      <p:sp>
        <p:nvSpPr>
          <p:cNvPr id="7" name="Rounded Rectangle 6"/>
          <p:cNvSpPr/>
          <p:nvPr/>
        </p:nvSpPr>
        <p:spPr>
          <a:xfrm>
            <a:off x="8947404" y="4754880"/>
            <a:ext cx="6492240" cy="3931920"/>
          </a:xfrm>
          <a:prstGeom prst="roundRect">
            <a:avLst>
              <a:gd name="adj" fmla="val 5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9496044" y="5257800"/>
            <a:ext cx="5394959" cy="777240"/>
          </a:xfrm>
          <a:prstGeom prst="rect">
            <a:avLst/>
          </a:prstGeom>
          <a:noFill/>
        </p:spPr>
        <p:txBody>
          <a:bodyPr wrap="square" lIns="0" tIns="0" rIns="0" bIns="0" anchor="t">
            <a:spAutoFit/>
          </a:bodyPr>
          <a:lstStyle/>
          <a:p>
            <a:pPr algn="l"/>
            <a:r>
              <a:rPr sz="2700" b="1">
                <a:solidFill>
                  <a:srgbClr val="15263F"/>
                </a:solidFill>
              </a:rPr>
              <a:t>İkili sınıflandırma</a:t>
            </a:r>
          </a:p>
        </p:txBody>
      </p:sp>
      <p:sp>
        <p:nvSpPr>
          <p:cNvPr id="9" name="TextBox 8"/>
          <p:cNvSpPr txBox="1"/>
          <p:nvPr/>
        </p:nvSpPr>
        <p:spPr>
          <a:xfrm>
            <a:off x="9496044" y="6263640"/>
            <a:ext cx="5394959" cy="1920239"/>
          </a:xfrm>
          <a:prstGeom prst="rect">
            <a:avLst/>
          </a:prstGeom>
          <a:noFill/>
        </p:spPr>
        <p:txBody>
          <a:bodyPr wrap="square" lIns="0" tIns="0" rIns="0" bIns="0" anchor="t">
            <a:spAutoFit/>
          </a:bodyPr>
          <a:lstStyle/>
          <a:p>
            <a:pPr algn="l">
              <a:lnSpc>
                <a:spcPct val="130000"/>
              </a:lnSpc>
              <a:spcAft>
                <a:spcPts val="1000"/>
              </a:spcAft>
            </a:pPr>
            <a:r>
              <a:rPr sz="2100" b="0">
                <a:solidFill>
                  <a:srgbClr val="1A1A1A"/>
                </a:solidFill>
              </a:rPr>
              <a:t>Binary Cross-Entropy
Evet / hayır problemleri</a:t>
            </a:r>
          </a:p>
        </p:txBody>
      </p:sp>
      <p:sp>
        <p:nvSpPr>
          <p:cNvPr id="10" name="Rounded Rectangle 9"/>
          <p:cNvSpPr/>
          <p:nvPr/>
        </p:nvSpPr>
        <p:spPr>
          <a:xfrm>
            <a:off x="15988284" y="4754880"/>
            <a:ext cx="6492240" cy="3931920"/>
          </a:xfrm>
          <a:prstGeom prst="roundRect">
            <a:avLst>
              <a:gd name="adj" fmla="val 5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16536924" y="5257800"/>
            <a:ext cx="5394959" cy="777240"/>
          </a:xfrm>
          <a:prstGeom prst="rect">
            <a:avLst/>
          </a:prstGeom>
          <a:noFill/>
        </p:spPr>
        <p:txBody>
          <a:bodyPr wrap="square" lIns="0" tIns="0" rIns="0" bIns="0" anchor="t">
            <a:spAutoFit/>
          </a:bodyPr>
          <a:lstStyle/>
          <a:p>
            <a:pPr algn="l"/>
            <a:r>
              <a:rPr sz="2700" b="1">
                <a:solidFill>
                  <a:srgbClr val="15263F"/>
                </a:solidFill>
              </a:rPr>
              <a:t>Çok sınıflı</a:t>
            </a:r>
          </a:p>
        </p:txBody>
      </p:sp>
      <p:sp>
        <p:nvSpPr>
          <p:cNvPr id="12" name="TextBox 11"/>
          <p:cNvSpPr txBox="1"/>
          <p:nvPr/>
        </p:nvSpPr>
        <p:spPr>
          <a:xfrm>
            <a:off x="16536924" y="6263640"/>
            <a:ext cx="5394959" cy="1920239"/>
          </a:xfrm>
          <a:prstGeom prst="rect">
            <a:avLst/>
          </a:prstGeom>
          <a:noFill/>
        </p:spPr>
        <p:txBody>
          <a:bodyPr wrap="square" lIns="0" tIns="0" rIns="0" bIns="0" anchor="t">
            <a:spAutoFit/>
          </a:bodyPr>
          <a:lstStyle/>
          <a:p>
            <a:pPr algn="l">
              <a:lnSpc>
                <a:spcPct val="130000"/>
              </a:lnSpc>
              <a:spcAft>
                <a:spcPts val="1000"/>
              </a:spcAft>
            </a:pPr>
            <a:r>
              <a:rPr sz="2100" b="0">
                <a:solidFill>
                  <a:srgbClr val="1A1A1A"/>
                </a:solidFill>
              </a:rPr>
              <a:t>Categorical Cross-Entropy
Softmax ile birlikte çalışır</a:t>
            </a:r>
          </a:p>
        </p:txBody>
      </p:sp>
      <p:sp>
        <p:nvSpPr>
          <p:cNvPr id="13" name="Rectangle 12"/>
          <p:cNvSpPr/>
          <p:nvPr/>
        </p:nvSpPr>
        <p:spPr>
          <a:xfrm>
            <a:off x="1906524" y="9144000"/>
            <a:ext cx="20573999" cy="1874519"/>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1280160" y="11475720"/>
            <a:ext cx="21826728" cy="1188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2011680" y="11475720"/>
            <a:ext cx="20363688" cy="1188720"/>
          </a:xfrm>
          <a:prstGeom prst="rect">
            <a:avLst/>
          </a:prstGeom>
          <a:noFill/>
        </p:spPr>
        <p:txBody>
          <a:bodyPr wrap="square" lIns="0" tIns="0" rIns="0" bIns="0" anchor="ctr">
            <a:spAutoFit/>
          </a:bodyPr>
          <a:lstStyle/>
          <a:p>
            <a:pPr algn="ctr">
              <a:lnSpc>
                <a:spcPct val="120000"/>
              </a:lnSpc>
            </a:pPr>
            <a:r>
              <a:rPr sz="2400" b="0">
                <a:solidFill>
                  <a:srgbClr val="15263F"/>
                </a:solidFill>
              </a:rPr>
              <a:t>Loss küçüldükçe model iyileşiyor demektir. </a:t>
            </a:r>
            <a:r>
              <a:rPr sz="2400" b="1">
                <a:solidFill>
                  <a:srgbClr val="15263F"/>
                </a:solidFill>
              </a:rPr>
              <a:t>Eğitim, bu tek sayıyı küçültme çabasıdır.</a:t>
            </a:r>
          </a:p>
        </p:txBody>
      </p:sp>
      <p:sp>
        <p:nvSpPr>
          <p:cNvPr id="17" name="TextBox 16"/>
          <p:cNvSpPr txBox="1"/>
          <p:nvPr/>
        </p:nvSpPr>
        <p:spPr>
          <a:xfrm>
            <a:off x="2638044" y="9144000"/>
            <a:ext cx="19110959" cy="1874519"/>
          </a:xfrm>
          <a:prstGeom prst="rect">
            <a:avLst/>
          </a:prstGeom>
          <a:noFill/>
        </p:spPr>
        <p:txBody>
          <a:bodyPr wrap="square" lIns="0" tIns="0" rIns="0" bIns="0" anchor="ctr">
            <a:spAutoFit/>
          </a:bodyPr>
          <a:lstStyle/>
          <a:p>
            <a:pPr algn="ctr">
              <a:lnSpc>
                <a:spcPct val="130000"/>
              </a:lnSpc>
              <a:spcAft>
                <a:spcPts val="1000"/>
              </a:spcAft>
            </a:pPr>
            <a:r>
              <a:rPr sz="2600" b="0">
                <a:solidFill>
                  <a:srgbClr val="1A1A1A"/>
                </a:solidFill>
              </a:rPr>
              <a:t>Tahmin </a:t>
            </a:r>
            <a:r>
              <a:rPr sz="2600" b="1">
                <a:solidFill>
                  <a:srgbClr val="1A1A1A"/>
                </a:solidFill>
              </a:rPr>
              <a:t>ŷ = 1.10</a:t>
            </a:r>
            <a:r>
              <a:rPr sz="2600" b="0">
                <a:solidFill>
                  <a:srgbClr val="1A1A1A"/>
                </a:solidFill>
              </a:rPr>
              <a:t>  (1.100 bin €)      Gerçek </a:t>
            </a:r>
            <a:r>
              <a:rPr sz="2600" b="1">
                <a:solidFill>
                  <a:srgbClr val="1A1A1A"/>
                </a:solidFill>
              </a:rPr>
              <a:t>y = 0.85</a:t>
            </a:r>
            <a:r>
              <a:rPr sz="2600" b="0">
                <a:solidFill>
                  <a:srgbClr val="1A1A1A"/>
                </a:solidFill>
              </a:rPr>
              <a:t>  (850 bin €)</a:t>
            </a:r>
          </a:p>
          <a:p>
            <a:pPr algn="ctr">
              <a:lnSpc>
                <a:spcPct val="130000"/>
              </a:lnSpc>
              <a:spcAft>
                <a:spcPts val="1000"/>
              </a:spcAft>
            </a:pPr>
            <a:r>
              <a:rPr sz="2600" b="0">
                <a:solidFill>
                  <a:srgbClr val="1A1A1A"/>
                </a:solidFill>
              </a:rPr>
              <a:t>Hata = 1.10 − 0.85 = 0.25      →      </a:t>
            </a:r>
            <a:r>
              <a:rPr sz="2600" b="1">
                <a:solidFill>
                  <a:srgbClr val="1A1A1A"/>
                </a:solidFill>
              </a:rPr>
              <a:t>MSE = 0.25² = 0.06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C54F8DED-9E3A-8A8A-0F8F-45F431423116}"/>
              </a:ext>
            </a:extLst>
          </p:cNvPr>
          <p:cNvSpPr>
            <a:spLocks noGrp="1"/>
          </p:cNvSpPr>
          <p:nvPr>
            <p:ph type="body" sz="quarter" idx="22"/>
          </p:nvPr>
        </p:nvSpPr>
        <p:spPr/>
        <p:txBody>
          <a:bodyPr/>
          <a:lstStyle/>
          <a:p>
            <a:r>
              <a:rPr lang="de-DE" dirty="0" err="1"/>
              <a:t>Yapay</a:t>
            </a:r>
            <a:r>
              <a:rPr lang="de-DE" dirty="0"/>
              <a:t> </a:t>
            </a:r>
            <a:r>
              <a:rPr lang="de-DE" dirty="0" err="1"/>
              <a:t>Sinir</a:t>
            </a:r>
            <a:r>
              <a:rPr lang="de-DE" dirty="0"/>
              <a:t> Ağı </a:t>
            </a:r>
            <a:r>
              <a:rPr lang="de-DE" dirty="0" err="1"/>
              <a:t>Nasıl</a:t>
            </a:r>
            <a:r>
              <a:rPr lang="de-DE" dirty="0"/>
              <a:t> </a:t>
            </a:r>
            <a:r>
              <a:rPr lang="de-DE" dirty="0" err="1"/>
              <a:t>Eğitilir</a:t>
            </a:r>
            <a:r>
              <a:rPr lang="de-DE" dirty="0"/>
              <a:t>?</a:t>
            </a:r>
          </a:p>
        </p:txBody>
      </p:sp>
      <p:sp>
        <p:nvSpPr>
          <p:cNvPr id="5" name="Shape 2">
            <a:extLst>
              <a:ext uri="{FF2B5EF4-FFF2-40B4-BE49-F238E27FC236}">
                <a16:creationId xmlns:a16="http://schemas.microsoft.com/office/drawing/2014/main" id="{85418856-A119-7E90-F83B-4E1DD2AA4237}"/>
              </a:ext>
            </a:extLst>
          </p:cNvPr>
          <p:cNvSpPr/>
          <p:nvPr/>
        </p:nvSpPr>
        <p:spPr>
          <a:xfrm>
            <a:off x="1049411" y="2998799"/>
            <a:ext cx="5008489" cy="2182801"/>
          </a:xfrm>
          <a:prstGeom prst="roundRect">
            <a:avLst>
              <a:gd name="adj" fmla="val 5333"/>
            </a:avLst>
          </a:prstGeom>
          <a:solidFill>
            <a:srgbClr val="F1F8F6"/>
          </a:solidFill>
          <a:ln/>
          <a:effectLst>
            <a:outerShdw blurRad="101600" dist="38100" dir="5400000" algn="bl" rotWithShape="0">
              <a:srgbClr val="000000">
                <a:alpha val="12000"/>
              </a:srgbClr>
            </a:outerShdw>
          </a:effectLst>
        </p:spPr>
        <p:txBody>
          <a:bodyPr/>
          <a:lstStyle/>
          <a:p>
            <a:endParaRPr lang="de-DE"/>
          </a:p>
        </p:txBody>
      </p:sp>
      <p:sp>
        <p:nvSpPr>
          <p:cNvPr id="12" name="Shape 3">
            <a:extLst>
              <a:ext uri="{FF2B5EF4-FFF2-40B4-BE49-F238E27FC236}">
                <a16:creationId xmlns:a16="http://schemas.microsoft.com/office/drawing/2014/main" id="{A1AB975D-F42A-4B44-50BD-B2676D076552}"/>
              </a:ext>
            </a:extLst>
          </p:cNvPr>
          <p:cNvSpPr/>
          <p:nvPr/>
        </p:nvSpPr>
        <p:spPr>
          <a:xfrm>
            <a:off x="1299210" y="3659668"/>
            <a:ext cx="834390" cy="931381"/>
          </a:xfrm>
          <a:prstGeom prst="ellipse">
            <a:avLst/>
          </a:prstGeom>
          <a:solidFill>
            <a:srgbClr val="1B9E8A"/>
          </a:solidFill>
          <a:ln/>
        </p:spPr>
        <p:txBody>
          <a:bodyPr/>
          <a:lstStyle/>
          <a:p>
            <a:endParaRPr lang="de-DE"/>
          </a:p>
        </p:txBody>
      </p:sp>
      <p:sp>
        <p:nvSpPr>
          <p:cNvPr id="14" name="Text 4">
            <a:extLst>
              <a:ext uri="{FF2B5EF4-FFF2-40B4-BE49-F238E27FC236}">
                <a16:creationId xmlns:a16="http://schemas.microsoft.com/office/drawing/2014/main" id="{5FF623F9-F410-85D6-A925-9B8E9EC63779}"/>
              </a:ext>
            </a:extLst>
          </p:cNvPr>
          <p:cNvSpPr/>
          <p:nvPr/>
        </p:nvSpPr>
        <p:spPr>
          <a:xfrm>
            <a:off x="1419225" y="3828178"/>
            <a:ext cx="594360" cy="594360"/>
          </a:xfrm>
          <a:prstGeom prst="rect">
            <a:avLst/>
          </a:prstGeom>
          <a:noFill/>
          <a:ln/>
        </p:spPr>
        <p:txBody>
          <a:bodyPr wrap="square" rtlCol="0" anchor="ctr"/>
          <a:lstStyle/>
          <a:p>
            <a:pPr marL="0" indent="0" algn="ctr">
              <a:buNone/>
            </a:pPr>
            <a:r>
              <a:rPr lang="en-US" sz="2200" b="1" dirty="0">
                <a:solidFill>
                  <a:srgbClr val="FFFFFF"/>
                </a:solidFill>
              </a:rPr>
              <a:t>1</a:t>
            </a:r>
            <a:endParaRPr lang="en-US" sz="2200" dirty="0"/>
          </a:p>
        </p:txBody>
      </p:sp>
      <p:sp>
        <p:nvSpPr>
          <p:cNvPr id="26" name="Text 5">
            <a:extLst>
              <a:ext uri="{FF2B5EF4-FFF2-40B4-BE49-F238E27FC236}">
                <a16:creationId xmlns:a16="http://schemas.microsoft.com/office/drawing/2014/main" id="{22A63CDB-C5C6-B8E9-0043-E1C5D2871336}"/>
              </a:ext>
            </a:extLst>
          </p:cNvPr>
          <p:cNvSpPr/>
          <p:nvPr/>
        </p:nvSpPr>
        <p:spPr>
          <a:xfrm>
            <a:off x="2529205" y="3861599"/>
            <a:ext cx="1953259" cy="457200"/>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Initialization</a:t>
            </a:r>
            <a:endParaRPr lang="en-US" dirty="0">
              <a:latin typeface="Chromatica"/>
            </a:endParaRPr>
          </a:p>
        </p:txBody>
      </p:sp>
    </p:spTree>
    <p:extLst>
      <p:ext uri="{BB962C8B-B14F-4D97-AF65-F5344CB8AC3E}">
        <p14:creationId xmlns:p14="http://schemas.microsoft.com/office/powerpoint/2010/main" val="3799573648"/>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587B9-BE07-D172-3494-E5937ED88CF7}"/>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5886FC97-4F37-98F9-6D7F-317F631476CD}"/>
              </a:ext>
            </a:extLst>
          </p:cNvPr>
          <p:cNvSpPr>
            <a:spLocks noGrp="1"/>
          </p:cNvSpPr>
          <p:nvPr>
            <p:ph type="body" sz="quarter" idx="22"/>
          </p:nvPr>
        </p:nvSpPr>
        <p:spPr/>
        <p:txBody>
          <a:bodyPr/>
          <a:lstStyle/>
          <a:p>
            <a:r>
              <a:rPr lang="de-DE" dirty="0" err="1"/>
              <a:t>Yapay</a:t>
            </a:r>
            <a:r>
              <a:rPr lang="de-DE" dirty="0"/>
              <a:t> </a:t>
            </a:r>
            <a:r>
              <a:rPr lang="de-DE" dirty="0" err="1"/>
              <a:t>Sinir</a:t>
            </a:r>
            <a:r>
              <a:rPr lang="de-DE" dirty="0"/>
              <a:t> Ağı </a:t>
            </a:r>
            <a:r>
              <a:rPr lang="de-DE" dirty="0" err="1"/>
              <a:t>Nasıl</a:t>
            </a:r>
            <a:r>
              <a:rPr lang="de-DE" dirty="0"/>
              <a:t> </a:t>
            </a:r>
            <a:r>
              <a:rPr lang="de-DE" dirty="0" err="1"/>
              <a:t>Eğitilir</a:t>
            </a:r>
            <a:r>
              <a:rPr lang="de-DE" dirty="0"/>
              <a:t>?</a:t>
            </a:r>
          </a:p>
        </p:txBody>
      </p:sp>
      <p:sp>
        <p:nvSpPr>
          <p:cNvPr id="5" name="Shape 2">
            <a:extLst>
              <a:ext uri="{FF2B5EF4-FFF2-40B4-BE49-F238E27FC236}">
                <a16:creationId xmlns:a16="http://schemas.microsoft.com/office/drawing/2014/main" id="{E471E177-99D4-492F-2400-97FBF4C05416}"/>
              </a:ext>
            </a:extLst>
          </p:cNvPr>
          <p:cNvSpPr/>
          <p:nvPr/>
        </p:nvSpPr>
        <p:spPr>
          <a:xfrm>
            <a:off x="1049411" y="2998799"/>
            <a:ext cx="5008489" cy="2182801"/>
          </a:xfrm>
          <a:prstGeom prst="roundRect">
            <a:avLst>
              <a:gd name="adj" fmla="val 5333"/>
            </a:avLst>
          </a:prstGeom>
          <a:solidFill>
            <a:srgbClr val="F1F8F6"/>
          </a:solidFill>
          <a:ln/>
          <a:effectLst>
            <a:outerShdw blurRad="101600" dist="38100" dir="5400000" algn="bl" rotWithShape="0">
              <a:srgbClr val="000000">
                <a:alpha val="12000"/>
              </a:srgbClr>
            </a:outerShdw>
          </a:effectLst>
        </p:spPr>
        <p:txBody>
          <a:bodyPr/>
          <a:lstStyle/>
          <a:p>
            <a:endParaRPr lang="de-DE"/>
          </a:p>
        </p:txBody>
      </p:sp>
      <p:sp>
        <p:nvSpPr>
          <p:cNvPr id="6" name="Shape 2">
            <a:extLst>
              <a:ext uri="{FF2B5EF4-FFF2-40B4-BE49-F238E27FC236}">
                <a16:creationId xmlns:a16="http://schemas.microsoft.com/office/drawing/2014/main" id="{11FBE2DE-A62F-3FEE-D202-10C3CD5822F5}"/>
              </a:ext>
            </a:extLst>
          </p:cNvPr>
          <p:cNvSpPr/>
          <p:nvPr/>
        </p:nvSpPr>
        <p:spPr>
          <a:xfrm>
            <a:off x="8497961" y="2998799"/>
            <a:ext cx="5008489" cy="2182801"/>
          </a:xfrm>
          <a:prstGeom prst="roundRect">
            <a:avLst>
              <a:gd name="adj" fmla="val 5333"/>
            </a:avLst>
          </a:prstGeom>
          <a:solidFill>
            <a:srgbClr val="F1F8F6"/>
          </a:solidFill>
          <a:ln/>
          <a:effectLst>
            <a:outerShdw blurRad="101600" dist="38100" dir="5400000" algn="bl" rotWithShape="0">
              <a:srgbClr val="000000">
                <a:alpha val="12000"/>
              </a:srgbClr>
            </a:outerShdw>
          </a:effectLst>
        </p:spPr>
        <p:txBody>
          <a:bodyPr/>
          <a:lstStyle/>
          <a:p>
            <a:endParaRPr lang="de-DE"/>
          </a:p>
        </p:txBody>
      </p:sp>
      <p:sp>
        <p:nvSpPr>
          <p:cNvPr id="12" name="Shape 3">
            <a:extLst>
              <a:ext uri="{FF2B5EF4-FFF2-40B4-BE49-F238E27FC236}">
                <a16:creationId xmlns:a16="http://schemas.microsoft.com/office/drawing/2014/main" id="{4A28627E-8B1E-BDDF-853A-999148242F63}"/>
              </a:ext>
            </a:extLst>
          </p:cNvPr>
          <p:cNvSpPr/>
          <p:nvPr/>
        </p:nvSpPr>
        <p:spPr>
          <a:xfrm>
            <a:off x="1299210" y="3659668"/>
            <a:ext cx="834390" cy="931381"/>
          </a:xfrm>
          <a:prstGeom prst="ellipse">
            <a:avLst/>
          </a:prstGeom>
          <a:solidFill>
            <a:srgbClr val="1B9E8A"/>
          </a:solidFill>
          <a:ln/>
        </p:spPr>
        <p:txBody>
          <a:bodyPr/>
          <a:lstStyle/>
          <a:p>
            <a:endParaRPr lang="de-DE"/>
          </a:p>
        </p:txBody>
      </p:sp>
      <p:sp>
        <p:nvSpPr>
          <p:cNvPr id="14" name="Text 4">
            <a:extLst>
              <a:ext uri="{FF2B5EF4-FFF2-40B4-BE49-F238E27FC236}">
                <a16:creationId xmlns:a16="http://schemas.microsoft.com/office/drawing/2014/main" id="{FA9057A4-5874-30EB-3B5F-01A4D948D025}"/>
              </a:ext>
            </a:extLst>
          </p:cNvPr>
          <p:cNvSpPr/>
          <p:nvPr/>
        </p:nvSpPr>
        <p:spPr>
          <a:xfrm>
            <a:off x="1419225" y="3828178"/>
            <a:ext cx="594360" cy="594360"/>
          </a:xfrm>
          <a:prstGeom prst="rect">
            <a:avLst/>
          </a:prstGeom>
          <a:noFill/>
          <a:ln/>
        </p:spPr>
        <p:txBody>
          <a:bodyPr wrap="square" rtlCol="0" anchor="ctr"/>
          <a:lstStyle/>
          <a:p>
            <a:pPr marL="0" indent="0" algn="ctr">
              <a:buNone/>
            </a:pPr>
            <a:r>
              <a:rPr lang="en-US" sz="2200" b="1" dirty="0">
                <a:solidFill>
                  <a:srgbClr val="FFFFFF"/>
                </a:solidFill>
              </a:rPr>
              <a:t>1</a:t>
            </a:r>
            <a:endParaRPr lang="en-US" sz="2200" dirty="0"/>
          </a:p>
        </p:txBody>
      </p:sp>
      <p:sp>
        <p:nvSpPr>
          <p:cNvPr id="15" name="Shape 3">
            <a:extLst>
              <a:ext uri="{FF2B5EF4-FFF2-40B4-BE49-F238E27FC236}">
                <a16:creationId xmlns:a16="http://schemas.microsoft.com/office/drawing/2014/main" id="{458DA66C-AD89-70A9-885C-482F4D3584C2}"/>
              </a:ext>
            </a:extLst>
          </p:cNvPr>
          <p:cNvSpPr/>
          <p:nvPr/>
        </p:nvSpPr>
        <p:spPr>
          <a:xfrm>
            <a:off x="8625596" y="3659668"/>
            <a:ext cx="834390" cy="931381"/>
          </a:xfrm>
          <a:prstGeom prst="ellipse">
            <a:avLst/>
          </a:prstGeom>
          <a:solidFill>
            <a:srgbClr val="1B9E8A"/>
          </a:solidFill>
          <a:ln/>
        </p:spPr>
        <p:txBody>
          <a:bodyPr/>
          <a:lstStyle/>
          <a:p>
            <a:endParaRPr lang="de-DE"/>
          </a:p>
        </p:txBody>
      </p:sp>
      <p:sp>
        <p:nvSpPr>
          <p:cNvPr id="16" name="Text 4">
            <a:extLst>
              <a:ext uri="{FF2B5EF4-FFF2-40B4-BE49-F238E27FC236}">
                <a16:creationId xmlns:a16="http://schemas.microsoft.com/office/drawing/2014/main" id="{D64F614A-F359-38CB-7D0A-DECDCF0BC34F}"/>
              </a:ext>
            </a:extLst>
          </p:cNvPr>
          <p:cNvSpPr/>
          <p:nvPr/>
        </p:nvSpPr>
        <p:spPr>
          <a:xfrm>
            <a:off x="8745611" y="3828178"/>
            <a:ext cx="594360" cy="594360"/>
          </a:xfrm>
          <a:prstGeom prst="rect">
            <a:avLst/>
          </a:prstGeom>
          <a:noFill/>
          <a:ln/>
        </p:spPr>
        <p:txBody>
          <a:bodyPr wrap="square" rtlCol="0" anchor="ctr"/>
          <a:lstStyle/>
          <a:p>
            <a:pPr marL="0" indent="0" algn="ctr">
              <a:buNone/>
            </a:pPr>
            <a:r>
              <a:rPr lang="en-US" sz="2200" b="1" dirty="0">
                <a:solidFill>
                  <a:srgbClr val="FFFFFF"/>
                </a:solidFill>
              </a:rPr>
              <a:t>2</a:t>
            </a:r>
            <a:endParaRPr lang="en-US" sz="2200" dirty="0"/>
          </a:p>
        </p:txBody>
      </p:sp>
      <p:sp>
        <p:nvSpPr>
          <p:cNvPr id="26" name="Text 5">
            <a:extLst>
              <a:ext uri="{FF2B5EF4-FFF2-40B4-BE49-F238E27FC236}">
                <a16:creationId xmlns:a16="http://schemas.microsoft.com/office/drawing/2014/main" id="{F5FFBE69-8B12-F5FF-7C5E-EA99F66FF8DF}"/>
              </a:ext>
            </a:extLst>
          </p:cNvPr>
          <p:cNvSpPr/>
          <p:nvPr/>
        </p:nvSpPr>
        <p:spPr>
          <a:xfrm>
            <a:off x="2529205" y="3861599"/>
            <a:ext cx="1953259" cy="457200"/>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Initialization</a:t>
            </a:r>
            <a:endParaRPr lang="en-US" dirty="0">
              <a:latin typeface="Chromatica"/>
            </a:endParaRPr>
          </a:p>
        </p:txBody>
      </p:sp>
      <p:sp>
        <p:nvSpPr>
          <p:cNvPr id="27" name="Text 5">
            <a:extLst>
              <a:ext uri="{FF2B5EF4-FFF2-40B4-BE49-F238E27FC236}">
                <a16:creationId xmlns:a16="http://schemas.microsoft.com/office/drawing/2014/main" id="{505DF10D-5DC7-A173-A988-1D8379BB763F}"/>
              </a:ext>
            </a:extLst>
          </p:cNvPr>
          <p:cNvSpPr/>
          <p:nvPr/>
        </p:nvSpPr>
        <p:spPr>
          <a:xfrm>
            <a:off x="9855592" y="3828177"/>
            <a:ext cx="3136508" cy="490621"/>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Forward Propagation</a:t>
            </a:r>
            <a:endParaRPr lang="en-US" dirty="0">
              <a:latin typeface="Chromatica"/>
            </a:endParaRPr>
          </a:p>
        </p:txBody>
      </p:sp>
      <p:cxnSp>
        <p:nvCxnSpPr>
          <p:cNvPr id="39" name="Gerader Verbinder 38">
            <a:extLst>
              <a:ext uri="{FF2B5EF4-FFF2-40B4-BE49-F238E27FC236}">
                <a16:creationId xmlns:a16="http://schemas.microsoft.com/office/drawing/2014/main" id="{C42F270E-EBC3-87BC-8594-7512F367AC12}"/>
              </a:ext>
            </a:extLst>
          </p:cNvPr>
          <p:cNvCxnSpPr>
            <a:stCxn id="5" idx="3"/>
            <a:endCxn id="6" idx="1"/>
          </p:cNvCxnSpPr>
          <p:nvPr/>
        </p:nvCxnSpPr>
        <p:spPr>
          <a:xfrm>
            <a:off x="6057900" y="4090200"/>
            <a:ext cx="2440061"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586546672"/>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9E5E9-74B5-F87E-628B-A1D2B4CB8969}"/>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A1D3CB0C-FBD8-1D9B-396F-8CAE8C7AF93F}"/>
              </a:ext>
            </a:extLst>
          </p:cNvPr>
          <p:cNvSpPr>
            <a:spLocks noGrp="1"/>
          </p:cNvSpPr>
          <p:nvPr>
            <p:ph type="body" sz="quarter" idx="22"/>
          </p:nvPr>
        </p:nvSpPr>
        <p:spPr/>
        <p:txBody>
          <a:bodyPr/>
          <a:lstStyle/>
          <a:p>
            <a:r>
              <a:rPr lang="de-DE" dirty="0" err="1"/>
              <a:t>Yapay</a:t>
            </a:r>
            <a:r>
              <a:rPr lang="de-DE" dirty="0"/>
              <a:t> </a:t>
            </a:r>
            <a:r>
              <a:rPr lang="de-DE" dirty="0" err="1"/>
              <a:t>Sinir</a:t>
            </a:r>
            <a:r>
              <a:rPr lang="de-DE" dirty="0"/>
              <a:t> Ağı </a:t>
            </a:r>
            <a:r>
              <a:rPr lang="de-DE" dirty="0" err="1"/>
              <a:t>Nasıl</a:t>
            </a:r>
            <a:r>
              <a:rPr lang="de-DE" dirty="0"/>
              <a:t> </a:t>
            </a:r>
            <a:r>
              <a:rPr lang="de-DE" dirty="0" err="1"/>
              <a:t>Eğitilir</a:t>
            </a:r>
            <a:r>
              <a:rPr lang="de-DE" dirty="0"/>
              <a:t>?</a:t>
            </a:r>
          </a:p>
        </p:txBody>
      </p:sp>
      <p:sp>
        <p:nvSpPr>
          <p:cNvPr id="5" name="Shape 2">
            <a:extLst>
              <a:ext uri="{FF2B5EF4-FFF2-40B4-BE49-F238E27FC236}">
                <a16:creationId xmlns:a16="http://schemas.microsoft.com/office/drawing/2014/main" id="{99F70F45-36C2-B5A2-013B-DA9877D2055F}"/>
              </a:ext>
            </a:extLst>
          </p:cNvPr>
          <p:cNvSpPr/>
          <p:nvPr/>
        </p:nvSpPr>
        <p:spPr>
          <a:xfrm>
            <a:off x="1049411" y="2998799"/>
            <a:ext cx="5008489" cy="2182801"/>
          </a:xfrm>
          <a:prstGeom prst="roundRect">
            <a:avLst>
              <a:gd name="adj" fmla="val 5333"/>
            </a:avLst>
          </a:prstGeom>
          <a:solidFill>
            <a:srgbClr val="F1F8F6"/>
          </a:solidFill>
          <a:ln/>
          <a:effectLst>
            <a:outerShdw blurRad="101600" dist="38100" dir="5400000" algn="bl" rotWithShape="0">
              <a:srgbClr val="000000">
                <a:alpha val="12000"/>
              </a:srgbClr>
            </a:outerShdw>
          </a:effectLst>
        </p:spPr>
        <p:txBody>
          <a:bodyPr/>
          <a:lstStyle/>
          <a:p>
            <a:endParaRPr lang="de-DE"/>
          </a:p>
        </p:txBody>
      </p:sp>
      <p:sp>
        <p:nvSpPr>
          <p:cNvPr id="6" name="Shape 2">
            <a:extLst>
              <a:ext uri="{FF2B5EF4-FFF2-40B4-BE49-F238E27FC236}">
                <a16:creationId xmlns:a16="http://schemas.microsoft.com/office/drawing/2014/main" id="{2EEACE7E-9643-FA34-97A4-B64B41159342}"/>
              </a:ext>
            </a:extLst>
          </p:cNvPr>
          <p:cNvSpPr/>
          <p:nvPr/>
        </p:nvSpPr>
        <p:spPr>
          <a:xfrm>
            <a:off x="8497961" y="2998799"/>
            <a:ext cx="5008489" cy="2182801"/>
          </a:xfrm>
          <a:prstGeom prst="roundRect">
            <a:avLst>
              <a:gd name="adj" fmla="val 5333"/>
            </a:avLst>
          </a:prstGeom>
          <a:solidFill>
            <a:srgbClr val="F1F8F6"/>
          </a:solidFill>
          <a:ln/>
          <a:effectLst>
            <a:outerShdw blurRad="101600" dist="38100" dir="5400000" algn="bl" rotWithShape="0">
              <a:srgbClr val="000000">
                <a:alpha val="12000"/>
              </a:srgbClr>
            </a:outerShdw>
          </a:effectLst>
        </p:spPr>
        <p:txBody>
          <a:bodyPr/>
          <a:lstStyle/>
          <a:p>
            <a:endParaRPr lang="de-DE"/>
          </a:p>
        </p:txBody>
      </p:sp>
      <p:sp>
        <p:nvSpPr>
          <p:cNvPr id="7" name="Shape 2">
            <a:extLst>
              <a:ext uri="{FF2B5EF4-FFF2-40B4-BE49-F238E27FC236}">
                <a16:creationId xmlns:a16="http://schemas.microsoft.com/office/drawing/2014/main" id="{7EB16ADB-0480-0508-5A37-0F380E68F7AA}"/>
              </a:ext>
            </a:extLst>
          </p:cNvPr>
          <p:cNvSpPr/>
          <p:nvPr/>
        </p:nvSpPr>
        <p:spPr>
          <a:xfrm>
            <a:off x="15946511" y="2998799"/>
            <a:ext cx="5008489" cy="2182801"/>
          </a:xfrm>
          <a:prstGeom prst="roundRect">
            <a:avLst>
              <a:gd name="adj" fmla="val 5333"/>
            </a:avLst>
          </a:prstGeom>
          <a:solidFill>
            <a:srgbClr val="F1F8F6"/>
          </a:solidFill>
          <a:ln/>
          <a:effectLst>
            <a:outerShdw blurRad="101600" dist="38100" dir="5400000" algn="bl" rotWithShape="0">
              <a:srgbClr val="000000">
                <a:alpha val="12000"/>
              </a:srgbClr>
            </a:outerShdw>
          </a:effectLst>
        </p:spPr>
        <p:txBody>
          <a:bodyPr/>
          <a:lstStyle/>
          <a:p>
            <a:endParaRPr lang="de-DE"/>
          </a:p>
        </p:txBody>
      </p:sp>
      <p:sp>
        <p:nvSpPr>
          <p:cNvPr id="12" name="Shape 3">
            <a:extLst>
              <a:ext uri="{FF2B5EF4-FFF2-40B4-BE49-F238E27FC236}">
                <a16:creationId xmlns:a16="http://schemas.microsoft.com/office/drawing/2014/main" id="{302D3E00-1B1D-35D1-8FD1-C7426E2EEDE5}"/>
              </a:ext>
            </a:extLst>
          </p:cNvPr>
          <p:cNvSpPr/>
          <p:nvPr/>
        </p:nvSpPr>
        <p:spPr>
          <a:xfrm>
            <a:off x="1299210" y="3659668"/>
            <a:ext cx="834390" cy="931381"/>
          </a:xfrm>
          <a:prstGeom prst="ellipse">
            <a:avLst/>
          </a:prstGeom>
          <a:solidFill>
            <a:srgbClr val="1B9E8A"/>
          </a:solidFill>
          <a:ln/>
        </p:spPr>
        <p:txBody>
          <a:bodyPr/>
          <a:lstStyle/>
          <a:p>
            <a:endParaRPr lang="de-DE"/>
          </a:p>
        </p:txBody>
      </p:sp>
      <p:sp>
        <p:nvSpPr>
          <p:cNvPr id="14" name="Text 4">
            <a:extLst>
              <a:ext uri="{FF2B5EF4-FFF2-40B4-BE49-F238E27FC236}">
                <a16:creationId xmlns:a16="http://schemas.microsoft.com/office/drawing/2014/main" id="{F54752AD-4F09-A51C-406A-401F80400B28}"/>
              </a:ext>
            </a:extLst>
          </p:cNvPr>
          <p:cNvSpPr/>
          <p:nvPr/>
        </p:nvSpPr>
        <p:spPr>
          <a:xfrm>
            <a:off x="1419225" y="3828178"/>
            <a:ext cx="594360" cy="594360"/>
          </a:xfrm>
          <a:prstGeom prst="rect">
            <a:avLst/>
          </a:prstGeom>
          <a:noFill/>
          <a:ln/>
        </p:spPr>
        <p:txBody>
          <a:bodyPr wrap="square" rtlCol="0" anchor="ctr"/>
          <a:lstStyle/>
          <a:p>
            <a:pPr marL="0" indent="0" algn="ctr">
              <a:buNone/>
            </a:pPr>
            <a:r>
              <a:rPr lang="en-US" sz="2200" b="1" dirty="0">
                <a:solidFill>
                  <a:srgbClr val="FFFFFF"/>
                </a:solidFill>
              </a:rPr>
              <a:t>1</a:t>
            </a:r>
            <a:endParaRPr lang="en-US" sz="2200" dirty="0"/>
          </a:p>
        </p:txBody>
      </p:sp>
      <p:sp>
        <p:nvSpPr>
          <p:cNvPr id="15" name="Shape 3">
            <a:extLst>
              <a:ext uri="{FF2B5EF4-FFF2-40B4-BE49-F238E27FC236}">
                <a16:creationId xmlns:a16="http://schemas.microsoft.com/office/drawing/2014/main" id="{79B593B2-6DE8-BA02-97BE-D032FFCA7245}"/>
              </a:ext>
            </a:extLst>
          </p:cNvPr>
          <p:cNvSpPr/>
          <p:nvPr/>
        </p:nvSpPr>
        <p:spPr>
          <a:xfrm>
            <a:off x="8625596" y="3659668"/>
            <a:ext cx="834390" cy="931381"/>
          </a:xfrm>
          <a:prstGeom prst="ellipse">
            <a:avLst/>
          </a:prstGeom>
          <a:solidFill>
            <a:srgbClr val="1B9E8A"/>
          </a:solidFill>
          <a:ln/>
        </p:spPr>
        <p:txBody>
          <a:bodyPr/>
          <a:lstStyle/>
          <a:p>
            <a:endParaRPr lang="de-DE"/>
          </a:p>
        </p:txBody>
      </p:sp>
      <p:sp>
        <p:nvSpPr>
          <p:cNvPr id="16" name="Text 4">
            <a:extLst>
              <a:ext uri="{FF2B5EF4-FFF2-40B4-BE49-F238E27FC236}">
                <a16:creationId xmlns:a16="http://schemas.microsoft.com/office/drawing/2014/main" id="{892D3647-438E-71FD-8DD3-324B132ED820}"/>
              </a:ext>
            </a:extLst>
          </p:cNvPr>
          <p:cNvSpPr/>
          <p:nvPr/>
        </p:nvSpPr>
        <p:spPr>
          <a:xfrm>
            <a:off x="8745611" y="3828178"/>
            <a:ext cx="594360" cy="594360"/>
          </a:xfrm>
          <a:prstGeom prst="rect">
            <a:avLst/>
          </a:prstGeom>
          <a:noFill/>
          <a:ln/>
        </p:spPr>
        <p:txBody>
          <a:bodyPr wrap="square" rtlCol="0" anchor="ctr"/>
          <a:lstStyle/>
          <a:p>
            <a:pPr marL="0" indent="0" algn="ctr">
              <a:buNone/>
            </a:pPr>
            <a:r>
              <a:rPr lang="en-US" sz="2200" b="1" dirty="0">
                <a:solidFill>
                  <a:srgbClr val="FFFFFF"/>
                </a:solidFill>
              </a:rPr>
              <a:t>2</a:t>
            </a:r>
            <a:endParaRPr lang="en-US" sz="2200" dirty="0"/>
          </a:p>
        </p:txBody>
      </p:sp>
      <p:sp>
        <p:nvSpPr>
          <p:cNvPr id="17" name="Shape 3">
            <a:extLst>
              <a:ext uri="{FF2B5EF4-FFF2-40B4-BE49-F238E27FC236}">
                <a16:creationId xmlns:a16="http://schemas.microsoft.com/office/drawing/2014/main" id="{0BD98652-7BDB-58EA-354F-39C51197FA56}"/>
              </a:ext>
            </a:extLst>
          </p:cNvPr>
          <p:cNvSpPr/>
          <p:nvPr/>
        </p:nvSpPr>
        <p:spPr>
          <a:xfrm>
            <a:off x="16342117" y="3659668"/>
            <a:ext cx="834390" cy="931381"/>
          </a:xfrm>
          <a:prstGeom prst="ellipse">
            <a:avLst/>
          </a:prstGeom>
          <a:solidFill>
            <a:srgbClr val="1B9E8A"/>
          </a:solidFill>
          <a:ln/>
        </p:spPr>
        <p:txBody>
          <a:bodyPr/>
          <a:lstStyle/>
          <a:p>
            <a:endParaRPr lang="de-DE"/>
          </a:p>
        </p:txBody>
      </p:sp>
      <p:sp>
        <p:nvSpPr>
          <p:cNvPr id="18" name="Text 4">
            <a:extLst>
              <a:ext uri="{FF2B5EF4-FFF2-40B4-BE49-F238E27FC236}">
                <a16:creationId xmlns:a16="http://schemas.microsoft.com/office/drawing/2014/main" id="{0F214CBD-00B4-3325-888D-0B65E9D2F71E}"/>
              </a:ext>
            </a:extLst>
          </p:cNvPr>
          <p:cNvSpPr/>
          <p:nvPr/>
        </p:nvSpPr>
        <p:spPr>
          <a:xfrm>
            <a:off x="16462132" y="3828178"/>
            <a:ext cx="594360" cy="594360"/>
          </a:xfrm>
          <a:prstGeom prst="rect">
            <a:avLst/>
          </a:prstGeom>
          <a:noFill/>
          <a:ln/>
        </p:spPr>
        <p:txBody>
          <a:bodyPr wrap="square" rtlCol="0" anchor="ctr"/>
          <a:lstStyle/>
          <a:p>
            <a:pPr marL="0" indent="0" algn="ctr">
              <a:buNone/>
            </a:pPr>
            <a:r>
              <a:rPr lang="en-US" sz="2200" b="1" dirty="0">
                <a:solidFill>
                  <a:srgbClr val="FFFFFF"/>
                </a:solidFill>
              </a:rPr>
              <a:t>3</a:t>
            </a:r>
            <a:endParaRPr lang="en-US" sz="2200" dirty="0"/>
          </a:p>
        </p:txBody>
      </p:sp>
      <p:sp>
        <p:nvSpPr>
          <p:cNvPr id="26" name="Text 5">
            <a:extLst>
              <a:ext uri="{FF2B5EF4-FFF2-40B4-BE49-F238E27FC236}">
                <a16:creationId xmlns:a16="http://schemas.microsoft.com/office/drawing/2014/main" id="{C1E79376-E255-A7DE-A413-9BE49115C3C3}"/>
              </a:ext>
            </a:extLst>
          </p:cNvPr>
          <p:cNvSpPr/>
          <p:nvPr/>
        </p:nvSpPr>
        <p:spPr>
          <a:xfrm>
            <a:off x="2529205" y="3861599"/>
            <a:ext cx="1953259" cy="457200"/>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Initialization</a:t>
            </a:r>
            <a:endParaRPr lang="en-US" dirty="0">
              <a:latin typeface="Chromatica"/>
            </a:endParaRPr>
          </a:p>
        </p:txBody>
      </p:sp>
      <p:sp>
        <p:nvSpPr>
          <p:cNvPr id="27" name="Text 5">
            <a:extLst>
              <a:ext uri="{FF2B5EF4-FFF2-40B4-BE49-F238E27FC236}">
                <a16:creationId xmlns:a16="http://schemas.microsoft.com/office/drawing/2014/main" id="{6184DE98-E51E-629F-6ED3-0B0C538FDF02}"/>
              </a:ext>
            </a:extLst>
          </p:cNvPr>
          <p:cNvSpPr/>
          <p:nvPr/>
        </p:nvSpPr>
        <p:spPr>
          <a:xfrm>
            <a:off x="9855592" y="3828177"/>
            <a:ext cx="3136508" cy="490621"/>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Forward Propagation</a:t>
            </a:r>
            <a:endParaRPr lang="en-US" dirty="0">
              <a:latin typeface="Chromatica"/>
            </a:endParaRPr>
          </a:p>
        </p:txBody>
      </p:sp>
      <p:sp>
        <p:nvSpPr>
          <p:cNvPr id="28" name="Text 5">
            <a:extLst>
              <a:ext uri="{FF2B5EF4-FFF2-40B4-BE49-F238E27FC236}">
                <a16:creationId xmlns:a16="http://schemas.microsoft.com/office/drawing/2014/main" id="{99DFBE0C-7B71-3DE0-C45B-277335C7F94C}"/>
              </a:ext>
            </a:extLst>
          </p:cNvPr>
          <p:cNvSpPr/>
          <p:nvPr/>
        </p:nvSpPr>
        <p:spPr>
          <a:xfrm>
            <a:off x="17572113" y="3844888"/>
            <a:ext cx="3136508" cy="490621"/>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Loss Calculation</a:t>
            </a:r>
            <a:endParaRPr lang="en-US" dirty="0">
              <a:latin typeface="Chromatica"/>
            </a:endParaRPr>
          </a:p>
        </p:txBody>
      </p:sp>
      <p:cxnSp>
        <p:nvCxnSpPr>
          <p:cNvPr id="39" name="Gerader Verbinder 38">
            <a:extLst>
              <a:ext uri="{FF2B5EF4-FFF2-40B4-BE49-F238E27FC236}">
                <a16:creationId xmlns:a16="http://schemas.microsoft.com/office/drawing/2014/main" id="{A7171239-F5ED-3E82-E1C3-CA1D5E2C3344}"/>
              </a:ext>
            </a:extLst>
          </p:cNvPr>
          <p:cNvCxnSpPr>
            <a:stCxn id="5" idx="3"/>
            <a:endCxn id="6" idx="1"/>
          </p:cNvCxnSpPr>
          <p:nvPr/>
        </p:nvCxnSpPr>
        <p:spPr>
          <a:xfrm>
            <a:off x="6057900" y="4090200"/>
            <a:ext cx="2440061"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1" name="Gerader Verbinder 40">
            <a:extLst>
              <a:ext uri="{FF2B5EF4-FFF2-40B4-BE49-F238E27FC236}">
                <a16:creationId xmlns:a16="http://schemas.microsoft.com/office/drawing/2014/main" id="{18DB6FF6-C3D7-9565-DE98-3658C7E3245D}"/>
              </a:ext>
            </a:extLst>
          </p:cNvPr>
          <p:cNvCxnSpPr>
            <a:stCxn id="6" idx="3"/>
            <a:endCxn id="7" idx="1"/>
          </p:cNvCxnSpPr>
          <p:nvPr/>
        </p:nvCxnSpPr>
        <p:spPr>
          <a:xfrm>
            <a:off x="13506450" y="4090200"/>
            <a:ext cx="2440061"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4279119291"/>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B6C2D-CD07-58A5-D69D-B8C887AEEADE}"/>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2CC7E51C-4BDC-6EC0-ED89-9DBF0E2B590F}"/>
              </a:ext>
            </a:extLst>
          </p:cNvPr>
          <p:cNvSpPr>
            <a:spLocks noGrp="1"/>
          </p:cNvSpPr>
          <p:nvPr>
            <p:ph type="body" sz="quarter" idx="22"/>
          </p:nvPr>
        </p:nvSpPr>
        <p:spPr/>
        <p:txBody>
          <a:bodyPr/>
          <a:lstStyle/>
          <a:p>
            <a:r>
              <a:rPr lang="de-DE" dirty="0" err="1"/>
              <a:t>Yapay</a:t>
            </a:r>
            <a:r>
              <a:rPr lang="de-DE" dirty="0"/>
              <a:t> </a:t>
            </a:r>
            <a:r>
              <a:rPr lang="de-DE" dirty="0" err="1"/>
              <a:t>Sinir</a:t>
            </a:r>
            <a:r>
              <a:rPr lang="de-DE" dirty="0"/>
              <a:t> Ağı </a:t>
            </a:r>
            <a:r>
              <a:rPr lang="de-DE" dirty="0" err="1"/>
              <a:t>Nasıl</a:t>
            </a:r>
            <a:r>
              <a:rPr lang="de-DE" dirty="0"/>
              <a:t> </a:t>
            </a:r>
            <a:r>
              <a:rPr lang="de-DE" dirty="0" err="1"/>
              <a:t>Eğitilir</a:t>
            </a:r>
            <a:r>
              <a:rPr lang="de-DE" dirty="0"/>
              <a:t>?</a:t>
            </a:r>
          </a:p>
        </p:txBody>
      </p:sp>
      <p:sp>
        <p:nvSpPr>
          <p:cNvPr id="5" name="Shape 2">
            <a:extLst>
              <a:ext uri="{FF2B5EF4-FFF2-40B4-BE49-F238E27FC236}">
                <a16:creationId xmlns:a16="http://schemas.microsoft.com/office/drawing/2014/main" id="{0CDAE645-7782-75AF-6A4D-1B5329324BDA}"/>
              </a:ext>
            </a:extLst>
          </p:cNvPr>
          <p:cNvSpPr/>
          <p:nvPr/>
        </p:nvSpPr>
        <p:spPr>
          <a:xfrm>
            <a:off x="1049411" y="2998799"/>
            <a:ext cx="5008489" cy="2182801"/>
          </a:xfrm>
          <a:prstGeom prst="roundRect">
            <a:avLst>
              <a:gd name="adj" fmla="val 5333"/>
            </a:avLst>
          </a:prstGeom>
          <a:solidFill>
            <a:srgbClr val="F1F8F6"/>
          </a:solidFill>
          <a:ln/>
          <a:effectLst>
            <a:outerShdw blurRad="101600" dist="38100" dir="5400000" algn="bl" rotWithShape="0">
              <a:srgbClr val="000000">
                <a:alpha val="12000"/>
              </a:srgbClr>
            </a:outerShdw>
          </a:effectLst>
        </p:spPr>
        <p:txBody>
          <a:bodyPr/>
          <a:lstStyle/>
          <a:p>
            <a:endParaRPr lang="de-DE"/>
          </a:p>
        </p:txBody>
      </p:sp>
      <p:sp>
        <p:nvSpPr>
          <p:cNvPr id="6" name="Shape 2">
            <a:extLst>
              <a:ext uri="{FF2B5EF4-FFF2-40B4-BE49-F238E27FC236}">
                <a16:creationId xmlns:a16="http://schemas.microsoft.com/office/drawing/2014/main" id="{94B1D359-191F-BF57-9E30-563905F4F40D}"/>
              </a:ext>
            </a:extLst>
          </p:cNvPr>
          <p:cNvSpPr/>
          <p:nvPr/>
        </p:nvSpPr>
        <p:spPr>
          <a:xfrm>
            <a:off x="8497961" y="2998799"/>
            <a:ext cx="5008489" cy="2182801"/>
          </a:xfrm>
          <a:prstGeom prst="roundRect">
            <a:avLst>
              <a:gd name="adj" fmla="val 5333"/>
            </a:avLst>
          </a:prstGeom>
          <a:solidFill>
            <a:srgbClr val="F1F8F6"/>
          </a:solidFill>
          <a:ln/>
          <a:effectLst>
            <a:outerShdw blurRad="101600" dist="38100" dir="5400000" algn="bl" rotWithShape="0">
              <a:srgbClr val="000000">
                <a:alpha val="12000"/>
              </a:srgbClr>
            </a:outerShdw>
          </a:effectLst>
        </p:spPr>
        <p:txBody>
          <a:bodyPr/>
          <a:lstStyle/>
          <a:p>
            <a:endParaRPr lang="de-DE"/>
          </a:p>
        </p:txBody>
      </p:sp>
      <p:sp>
        <p:nvSpPr>
          <p:cNvPr id="7" name="Shape 2">
            <a:extLst>
              <a:ext uri="{FF2B5EF4-FFF2-40B4-BE49-F238E27FC236}">
                <a16:creationId xmlns:a16="http://schemas.microsoft.com/office/drawing/2014/main" id="{2FCEDA72-CA22-5F0E-5BF2-63E67EDF99C7}"/>
              </a:ext>
            </a:extLst>
          </p:cNvPr>
          <p:cNvSpPr/>
          <p:nvPr/>
        </p:nvSpPr>
        <p:spPr>
          <a:xfrm>
            <a:off x="15946511" y="2998799"/>
            <a:ext cx="5008489" cy="2182801"/>
          </a:xfrm>
          <a:prstGeom prst="roundRect">
            <a:avLst>
              <a:gd name="adj" fmla="val 5333"/>
            </a:avLst>
          </a:prstGeom>
          <a:solidFill>
            <a:srgbClr val="F1F8F6"/>
          </a:solidFill>
          <a:ln/>
          <a:effectLst>
            <a:outerShdw blurRad="101600" dist="38100" dir="5400000" algn="bl" rotWithShape="0">
              <a:srgbClr val="000000">
                <a:alpha val="12000"/>
              </a:srgbClr>
            </a:outerShdw>
          </a:effectLst>
        </p:spPr>
        <p:txBody>
          <a:bodyPr/>
          <a:lstStyle/>
          <a:p>
            <a:endParaRPr lang="de-DE"/>
          </a:p>
        </p:txBody>
      </p:sp>
      <p:sp>
        <p:nvSpPr>
          <p:cNvPr id="8" name="Shape 2">
            <a:extLst>
              <a:ext uri="{FF2B5EF4-FFF2-40B4-BE49-F238E27FC236}">
                <a16:creationId xmlns:a16="http://schemas.microsoft.com/office/drawing/2014/main" id="{85093F5E-29C9-207C-0313-08C05DA9BC39}"/>
              </a:ext>
            </a:extLst>
          </p:cNvPr>
          <p:cNvSpPr/>
          <p:nvPr/>
        </p:nvSpPr>
        <p:spPr>
          <a:xfrm>
            <a:off x="1049411" y="7091606"/>
            <a:ext cx="5008489" cy="2182801"/>
          </a:xfrm>
          <a:prstGeom prst="roundRect">
            <a:avLst>
              <a:gd name="adj" fmla="val 5333"/>
            </a:avLst>
          </a:prstGeom>
          <a:solidFill>
            <a:srgbClr val="F1F8F6"/>
          </a:solidFill>
          <a:ln/>
          <a:effectLst>
            <a:outerShdw blurRad="101600" dist="38100" dir="5400000" algn="bl" rotWithShape="0">
              <a:srgbClr val="000000">
                <a:alpha val="12000"/>
              </a:srgbClr>
            </a:outerShdw>
          </a:effectLst>
        </p:spPr>
        <p:txBody>
          <a:bodyPr/>
          <a:lstStyle/>
          <a:p>
            <a:endParaRPr lang="de-DE" dirty="0"/>
          </a:p>
        </p:txBody>
      </p:sp>
      <p:sp>
        <p:nvSpPr>
          <p:cNvPr id="12" name="Shape 3">
            <a:extLst>
              <a:ext uri="{FF2B5EF4-FFF2-40B4-BE49-F238E27FC236}">
                <a16:creationId xmlns:a16="http://schemas.microsoft.com/office/drawing/2014/main" id="{7193AF0B-8E4C-C3C4-6AF2-35E59DB9B95E}"/>
              </a:ext>
            </a:extLst>
          </p:cNvPr>
          <p:cNvSpPr/>
          <p:nvPr/>
        </p:nvSpPr>
        <p:spPr>
          <a:xfrm>
            <a:off x="1299210" y="3659668"/>
            <a:ext cx="834390" cy="931381"/>
          </a:xfrm>
          <a:prstGeom prst="ellipse">
            <a:avLst/>
          </a:prstGeom>
          <a:solidFill>
            <a:srgbClr val="1B9E8A"/>
          </a:solidFill>
          <a:ln/>
        </p:spPr>
        <p:txBody>
          <a:bodyPr/>
          <a:lstStyle/>
          <a:p>
            <a:endParaRPr lang="de-DE"/>
          </a:p>
        </p:txBody>
      </p:sp>
      <p:sp>
        <p:nvSpPr>
          <p:cNvPr id="14" name="Text 4">
            <a:extLst>
              <a:ext uri="{FF2B5EF4-FFF2-40B4-BE49-F238E27FC236}">
                <a16:creationId xmlns:a16="http://schemas.microsoft.com/office/drawing/2014/main" id="{8536ACE7-5026-1B12-EC13-ECA8CB0D78A5}"/>
              </a:ext>
            </a:extLst>
          </p:cNvPr>
          <p:cNvSpPr/>
          <p:nvPr/>
        </p:nvSpPr>
        <p:spPr>
          <a:xfrm>
            <a:off x="1419225" y="3828178"/>
            <a:ext cx="594360" cy="594360"/>
          </a:xfrm>
          <a:prstGeom prst="rect">
            <a:avLst/>
          </a:prstGeom>
          <a:noFill/>
          <a:ln/>
        </p:spPr>
        <p:txBody>
          <a:bodyPr wrap="square" rtlCol="0" anchor="ctr"/>
          <a:lstStyle/>
          <a:p>
            <a:pPr marL="0" indent="0" algn="ctr">
              <a:buNone/>
            </a:pPr>
            <a:r>
              <a:rPr lang="en-US" sz="2200" b="1" dirty="0">
                <a:solidFill>
                  <a:srgbClr val="FFFFFF"/>
                </a:solidFill>
              </a:rPr>
              <a:t>1</a:t>
            </a:r>
            <a:endParaRPr lang="en-US" sz="2200" dirty="0"/>
          </a:p>
        </p:txBody>
      </p:sp>
      <p:sp>
        <p:nvSpPr>
          <p:cNvPr id="15" name="Shape 3">
            <a:extLst>
              <a:ext uri="{FF2B5EF4-FFF2-40B4-BE49-F238E27FC236}">
                <a16:creationId xmlns:a16="http://schemas.microsoft.com/office/drawing/2014/main" id="{9AA6AC51-F067-C02A-EB36-5CAE33AB0815}"/>
              </a:ext>
            </a:extLst>
          </p:cNvPr>
          <p:cNvSpPr/>
          <p:nvPr/>
        </p:nvSpPr>
        <p:spPr>
          <a:xfrm>
            <a:off x="8625596" y="3659668"/>
            <a:ext cx="834390" cy="931381"/>
          </a:xfrm>
          <a:prstGeom prst="ellipse">
            <a:avLst/>
          </a:prstGeom>
          <a:solidFill>
            <a:srgbClr val="1B9E8A"/>
          </a:solidFill>
          <a:ln/>
        </p:spPr>
        <p:txBody>
          <a:bodyPr/>
          <a:lstStyle/>
          <a:p>
            <a:endParaRPr lang="de-DE"/>
          </a:p>
        </p:txBody>
      </p:sp>
      <p:sp>
        <p:nvSpPr>
          <p:cNvPr id="16" name="Text 4">
            <a:extLst>
              <a:ext uri="{FF2B5EF4-FFF2-40B4-BE49-F238E27FC236}">
                <a16:creationId xmlns:a16="http://schemas.microsoft.com/office/drawing/2014/main" id="{166B3D7C-EDAF-6066-88C3-F25886B24B75}"/>
              </a:ext>
            </a:extLst>
          </p:cNvPr>
          <p:cNvSpPr/>
          <p:nvPr/>
        </p:nvSpPr>
        <p:spPr>
          <a:xfrm>
            <a:off x="8745611" y="3828178"/>
            <a:ext cx="594360" cy="594360"/>
          </a:xfrm>
          <a:prstGeom prst="rect">
            <a:avLst/>
          </a:prstGeom>
          <a:noFill/>
          <a:ln/>
        </p:spPr>
        <p:txBody>
          <a:bodyPr wrap="square" rtlCol="0" anchor="ctr"/>
          <a:lstStyle/>
          <a:p>
            <a:pPr marL="0" indent="0" algn="ctr">
              <a:buNone/>
            </a:pPr>
            <a:r>
              <a:rPr lang="en-US" sz="2200" b="1" dirty="0">
                <a:solidFill>
                  <a:srgbClr val="FFFFFF"/>
                </a:solidFill>
              </a:rPr>
              <a:t>2</a:t>
            </a:r>
            <a:endParaRPr lang="en-US" sz="2200" dirty="0"/>
          </a:p>
        </p:txBody>
      </p:sp>
      <p:sp>
        <p:nvSpPr>
          <p:cNvPr id="17" name="Shape 3">
            <a:extLst>
              <a:ext uri="{FF2B5EF4-FFF2-40B4-BE49-F238E27FC236}">
                <a16:creationId xmlns:a16="http://schemas.microsoft.com/office/drawing/2014/main" id="{8FEB2017-E9A3-9FBD-42F8-D7A34519BE4C}"/>
              </a:ext>
            </a:extLst>
          </p:cNvPr>
          <p:cNvSpPr/>
          <p:nvPr/>
        </p:nvSpPr>
        <p:spPr>
          <a:xfrm>
            <a:off x="16342117" y="3659668"/>
            <a:ext cx="834390" cy="931381"/>
          </a:xfrm>
          <a:prstGeom prst="ellipse">
            <a:avLst/>
          </a:prstGeom>
          <a:solidFill>
            <a:srgbClr val="1B9E8A"/>
          </a:solidFill>
          <a:ln/>
        </p:spPr>
        <p:txBody>
          <a:bodyPr/>
          <a:lstStyle/>
          <a:p>
            <a:endParaRPr lang="de-DE"/>
          </a:p>
        </p:txBody>
      </p:sp>
      <p:sp>
        <p:nvSpPr>
          <p:cNvPr id="18" name="Text 4">
            <a:extLst>
              <a:ext uri="{FF2B5EF4-FFF2-40B4-BE49-F238E27FC236}">
                <a16:creationId xmlns:a16="http://schemas.microsoft.com/office/drawing/2014/main" id="{60D82139-310A-6E08-006A-32F61C37624F}"/>
              </a:ext>
            </a:extLst>
          </p:cNvPr>
          <p:cNvSpPr/>
          <p:nvPr/>
        </p:nvSpPr>
        <p:spPr>
          <a:xfrm>
            <a:off x="16462132" y="3828178"/>
            <a:ext cx="594360" cy="594360"/>
          </a:xfrm>
          <a:prstGeom prst="rect">
            <a:avLst/>
          </a:prstGeom>
          <a:noFill/>
          <a:ln/>
        </p:spPr>
        <p:txBody>
          <a:bodyPr wrap="square" rtlCol="0" anchor="ctr"/>
          <a:lstStyle/>
          <a:p>
            <a:pPr marL="0" indent="0" algn="ctr">
              <a:buNone/>
            </a:pPr>
            <a:r>
              <a:rPr lang="en-US" sz="2200" b="1" dirty="0">
                <a:solidFill>
                  <a:srgbClr val="FFFFFF"/>
                </a:solidFill>
              </a:rPr>
              <a:t>3</a:t>
            </a:r>
            <a:endParaRPr lang="en-US" sz="2200" dirty="0"/>
          </a:p>
        </p:txBody>
      </p:sp>
      <p:sp>
        <p:nvSpPr>
          <p:cNvPr id="19" name="Shape 3">
            <a:extLst>
              <a:ext uri="{FF2B5EF4-FFF2-40B4-BE49-F238E27FC236}">
                <a16:creationId xmlns:a16="http://schemas.microsoft.com/office/drawing/2014/main" id="{AF2F7693-E32A-F373-9589-72558DD53DF4}"/>
              </a:ext>
            </a:extLst>
          </p:cNvPr>
          <p:cNvSpPr/>
          <p:nvPr/>
        </p:nvSpPr>
        <p:spPr>
          <a:xfrm>
            <a:off x="1299210" y="7717318"/>
            <a:ext cx="834390" cy="931381"/>
          </a:xfrm>
          <a:prstGeom prst="ellipse">
            <a:avLst/>
          </a:prstGeom>
          <a:solidFill>
            <a:srgbClr val="1B9E8A"/>
          </a:solidFill>
          <a:ln/>
        </p:spPr>
        <p:txBody>
          <a:bodyPr/>
          <a:lstStyle/>
          <a:p>
            <a:endParaRPr lang="de-DE"/>
          </a:p>
        </p:txBody>
      </p:sp>
      <p:sp>
        <p:nvSpPr>
          <p:cNvPr id="20" name="Text 4">
            <a:extLst>
              <a:ext uri="{FF2B5EF4-FFF2-40B4-BE49-F238E27FC236}">
                <a16:creationId xmlns:a16="http://schemas.microsoft.com/office/drawing/2014/main" id="{71615DCF-45E5-80BF-CED8-6AC55E6383D6}"/>
              </a:ext>
            </a:extLst>
          </p:cNvPr>
          <p:cNvSpPr/>
          <p:nvPr/>
        </p:nvSpPr>
        <p:spPr>
          <a:xfrm>
            <a:off x="1419225" y="7885828"/>
            <a:ext cx="594360" cy="594360"/>
          </a:xfrm>
          <a:prstGeom prst="rect">
            <a:avLst/>
          </a:prstGeom>
          <a:noFill/>
          <a:ln/>
        </p:spPr>
        <p:txBody>
          <a:bodyPr wrap="square" rtlCol="0" anchor="ctr"/>
          <a:lstStyle/>
          <a:p>
            <a:pPr marL="0" indent="0" algn="ctr">
              <a:buNone/>
            </a:pPr>
            <a:r>
              <a:rPr lang="en-US" sz="2200" b="1" dirty="0">
                <a:solidFill>
                  <a:srgbClr val="FFFFFF"/>
                </a:solidFill>
              </a:rPr>
              <a:t>4</a:t>
            </a:r>
            <a:endParaRPr lang="en-US" sz="2200" dirty="0"/>
          </a:p>
        </p:txBody>
      </p:sp>
      <p:sp>
        <p:nvSpPr>
          <p:cNvPr id="26" name="Text 5">
            <a:extLst>
              <a:ext uri="{FF2B5EF4-FFF2-40B4-BE49-F238E27FC236}">
                <a16:creationId xmlns:a16="http://schemas.microsoft.com/office/drawing/2014/main" id="{E6252706-E24D-ECC3-016C-B1B7670FEF77}"/>
              </a:ext>
            </a:extLst>
          </p:cNvPr>
          <p:cNvSpPr/>
          <p:nvPr/>
        </p:nvSpPr>
        <p:spPr>
          <a:xfrm>
            <a:off x="2529205" y="3861599"/>
            <a:ext cx="1953259" cy="457200"/>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Initialization</a:t>
            </a:r>
            <a:endParaRPr lang="en-US" dirty="0">
              <a:latin typeface="Chromatica"/>
            </a:endParaRPr>
          </a:p>
        </p:txBody>
      </p:sp>
      <p:sp>
        <p:nvSpPr>
          <p:cNvPr id="27" name="Text 5">
            <a:extLst>
              <a:ext uri="{FF2B5EF4-FFF2-40B4-BE49-F238E27FC236}">
                <a16:creationId xmlns:a16="http://schemas.microsoft.com/office/drawing/2014/main" id="{AB21116B-30B6-218B-3A99-5F09D8A9C3E1}"/>
              </a:ext>
            </a:extLst>
          </p:cNvPr>
          <p:cNvSpPr/>
          <p:nvPr/>
        </p:nvSpPr>
        <p:spPr>
          <a:xfrm>
            <a:off x="9855592" y="3828177"/>
            <a:ext cx="3136508" cy="490621"/>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Forward Propagation</a:t>
            </a:r>
            <a:endParaRPr lang="en-US" dirty="0">
              <a:latin typeface="Chromatica"/>
            </a:endParaRPr>
          </a:p>
        </p:txBody>
      </p:sp>
      <p:sp>
        <p:nvSpPr>
          <p:cNvPr id="28" name="Text 5">
            <a:extLst>
              <a:ext uri="{FF2B5EF4-FFF2-40B4-BE49-F238E27FC236}">
                <a16:creationId xmlns:a16="http://schemas.microsoft.com/office/drawing/2014/main" id="{430D514C-65D6-BC12-E3F8-EE1CA8C30942}"/>
              </a:ext>
            </a:extLst>
          </p:cNvPr>
          <p:cNvSpPr/>
          <p:nvPr/>
        </p:nvSpPr>
        <p:spPr>
          <a:xfrm>
            <a:off x="17572113" y="3844888"/>
            <a:ext cx="3136508" cy="490621"/>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Loss Calculation</a:t>
            </a:r>
            <a:endParaRPr lang="en-US" dirty="0">
              <a:latin typeface="Chromatica"/>
            </a:endParaRPr>
          </a:p>
        </p:txBody>
      </p:sp>
      <p:sp>
        <p:nvSpPr>
          <p:cNvPr id="31" name="Text 5">
            <a:extLst>
              <a:ext uri="{FF2B5EF4-FFF2-40B4-BE49-F238E27FC236}">
                <a16:creationId xmlns:a16="http://schemas.microsoft.com/office/drawing/2014/main" id="{1D4BCFC8-DA4B-09FB-6862-EF372469F6B3}"/>
              </a:ext>
            </a:extLst>
          </p:cNvPr>
          <p:cNvSpPr/>
          <p:nvPr/>
        </p:nvSpPr>
        <p:spPr>
          <a:xfrm>
            <a:off x="2383399" y="7937697"/>
            <a:ext cx="3136508" cy="490621"/>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Backpropagation</a:t>
            </a:r>
            <a:endParaRPr lang="en-US" dirty="0">
              <a:latin typeface="Chromatica"/>
            </a:endParaRPr>
          </a:p>
        </p:txBody>
      </p:sp>
      <p:cxnSp>
        <p:nvCxnSpPr>
          <p:cNvPr id="39" name="Gerader Verbinder 38">
            <a:extLst>
              <a:ext uri="{FF2B5EF4-FFF2-40B4-BE49-F238E27FC236}">
                <a16:creationId xmlns:a16="http://schemas.microsoft.com/office/drawing/2014/main" id="{9E86E7C5-01D9-49CE-A86D-CC6897402F7E}"/>
              </a:ext>
            </a:extLst>
          </p:cNvPr>
          <p:cNvCxnSpPr>
            <a:stCxn id="5" idx="3"/>
            <a:endCxn id="6" idx="1"/>
          </p:cNvCxnSpPr>
          <p:nvPr/>
        </p:nvCxnSpPr>
        <p:spPr>
          <a:xfrm>
            <a:off x="6057900" y="4090200"/>
            <a:ext cx="2440061"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1" name="Gerader Verbinder 40">
            <a:extLst>
              <a:ext uri="{FF2B5EF4-FFF2-40B4-BE49-F238E27FC236}">
                <a16:creationId xmlns:a16="http://schemas.microsoft.com/office/drawing/2014/main" id="{1BFD0289-242B-2C18-9E3A-D08076B5827D}"/>
              </a:ext>
            </a:extLst>
          </p:cNvPr>
          <p:cNvCxnSpPr>
            <a:stCxn id="6" idx="3"/>
            <a:endCxn id="7" idx="1"/>
          </p:cNvCxnSpPr>
          <p:nvPr/>
        </p:nvCxnSpPr>
        <p:spPr>
          <a:xfrm>
            <a:off x="13506450" y="4090200"/>
            <a:ext cx="2440061"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5" name="Verbinder: gewinkelt 44">
            <a:extLst>
              <a:ext uri="{FF2B5EF4-FFF2-40B4-BE49-F238E27FC236}">
                <a16:creationId xmlns:a16="http://schemas.microsoft.com/office/drawing/2014/main" id="{3A6C6399-7D33-C372-AFFD-DF1A25B005B5}"/>
              </a:ext>
            </a:extLst>
          </p:cNvPr>
          <p:cNvCxnSpPr>
            <a:stCxn id="7" idx="3"/>
            <a:endCxn id="8" idx="0"/>
          </p:cNvCxnSpPr>
          <p:nvPr/>
        </p:nvCxnSpPr>
        <p:spPr>
          <a:xfrm flipH="1">
            <a:off x="3553656" y="4090200"/>
            <a:ext cx="17401344" cy="3001406"/>
          </a:xfrm>
          <a:prstGeom prst="bentConnector4">
            <a:avLst>
              <a:gd name="adj1" fmla="val -1314"/>
              <a:gd name="adj2" fmla="val 6818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421932744"/>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78460-D0ED-56F6-5D83-36544EE40CF9}"/>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6E50B99A-FB6E-9B28-F43F-DE597CEA0BA5}"/>
              </a:ext>
            </a:extLst>
          </p:cNvPr>
          <p:cNvSpPr>
            <a:spLocks noGrp="1"/>
          </p:cNvSpPr>
          <p:nvPr>
            <p:ph type="body" sz="quarter" idx="22"/>
          </p:nvPr>
        </p:nvSpPr>
        <p:spPr/>
        <p:txBody>
          <a:bodyPr/>
          <a:lstStyle/>
          <a:p>
            <a:r>
              <a:rPr lang="de-DE" dirty="0" err="1"/>
              <a:t>Yapay</a:t>
            </a:r>
            <a:r>
              <a:rPr lang="de-DE" dirty="0"/>
              <a:t> </a:t>
            </a:r>
            <a:r>
              <a:rPr lang="de-DE" dirty="0" err="1"/>
              <a:t>Sinir</a:t>
            </a:r>
            <a:r>
              <a:rPr lang="de-DE" dirty="0"/>
              <a:t> Ağı </a:t>
            </a:r>
            <a:r>
              <a:rPr lang="de-DE" dirty="0" err="1"/>
              <a:t>Nasıl</a:t>
            </a:r>
            <a:r>
              <a:rPr lang="de-DE" dirty="0"/>
              <a:t> </a:t>
            </a:r>
            <a:r>
              <a:rPr lang="de-DE" dirty="0" err="1"/>
              <a:t>Eğitilir</a:t>
            </a:r>
            <a:r>
              <a:rPr lang="de-DE" dirty="0"/>
              <a:t>?</a:t>
            </a:r>
          </a:p>
        </p:txBody>
      </p:sp>
      <p:sp>
        <p:nvSpPr>
          <p:cNvPr id="5" name="Shape 2">
            <a:extLst>
              <a:ext uri="{FF2B5EF4-FFF2-40B4-BE49-F238E27FC236}">
                <a16:creationId xmlns:a16="http://schemas.microsoft.com/office/drawing/2014/main" id="{6A1557B8-A232-8665-6238-F45F2F037C86}"/>
              </a:ext>
            </a:extLst>
          </p:cNvPr>
          <p:cNvSpPr/>
          <p:nvPr/>
        </p:nvSpPr>
        <p:spPr>
          <a:xfrm>
            <a:off x="1049411" y="2998799"/>
            <a:ext cx="5008489" cy="2182801"/>
          </a:xfrm>
          <a:prstGeom prst="roundRect">
            <a:avLst>
              <a:gd name="adj" fmla="val 5333"/>
            </a:avLst>
          </a:prstGeom>
          <a:solidFill>
            <a:srgbClr val="F1F8F6"/>
          </a:solidFill>
          <a:ln/>
          <a:effectLst>
            <a:outerShdw blurRad="101600" dist="38100" dir="5400000" algn="bl" rotWithShape="0">
              <a:srgbClr val="000000">
                <a:alpha val="12000"/>
              </a:srgbClr>
            </a:outerShdw>
          </a:effectLst>
        </p:spPr>
        <p:txBody>
          <a:bodyPr/>
          <a:lstStyle/>
          <a:p>
            <a:endParaRPr lang="de-DE"/>
          </a:p>
        </p:txBody>
      </p:sp>
      <p:sp>
        <p:nvSpPr>
          <p:cNvPr id="6" name="Shape 2">
            <a:extLst>
              <a:ext uri="{FF2B5EF4-FFF2-40B4-BE49-F238E27FC236}">
                <a16:creationId xmlns:a16="http://schemas.microsoft.com/office/drawing/2014/main" id="{8936969A-4520-BC4F-965C-ADA21C03283B}"/>
              </a:ext>
            </a:extLst>
          </p:cNvPr>
          <p:cNvSpPr/>
          <p:nvPr/>
        </p:nvSpPr>
        <p:spPr>
          <a:xfrm>
            <a:off x="8497961" y="2998799"/>
            <a:ext cx="5008489" cy="2182801"/>
          </a:xfrm>
          <a:prstGeom prst="roundRect">
            <a:avLst>
              <a:gd name="adj" fmla="val 5333"/>
            </a:avLst>
          </a:prstGeom>
          <a:solidFill>
            <a:srgbClr val="F1F8F6"/>
          </a:solidFill>
          <a:ln/>
          <a:effectLst>
            <a:outerShdw blurRad="101600" dist="38100" dir="5400000" algn="bl" rotWithShape="0">
              <a:srgbClr val="000000">
                <a:alpha val="12000"/>
              </a:srgbClr>
            </a:outerShdw>
          </a:effectLst>
        </p:spPr>
        <p:txBody>
          <a:bodyPr/>
          <a:lstStyle/>
          <a:p>
            <a:endParaRPr lang="de-DE"/>
          </a:p>
        </p:txBody>
      </p:sp>
      <p:sp>
        <p:nvSpPr>
          <p:cNvPr id="7" name="Shape 2">
            <a:extLst>
              <a:ext uri="{FF2B5EF4-FFF2-40B4-BE49-F238E27FC236}">
                <a16:creationId xmlns:a16="http://schemas.microsoft.com/office/drawing/2014/main" id="{02880234-14C4-2DA2-E1A0-1D99DDD7DF37}"/>
              </a:ext>
            </a:extLst>
          </p:cNvPr>
          <p:cNvSpPr/>
          <p:nvPr/>
        </p:nvSpPr>
        <p:spPr>
          <a:xfrm>
            <a:off x="15946511" y="2998799"/>
            <a:ext cx="5008489" cy="2182801"/>
          </a:xfrm>
          <a:prstGeom prst="roundRect">
            <a:avLst>
              <a:gd name="adj" fmla="val 5333"/>
            </a:avLst>
          </a:prstGeom>
          <a:solidFill>
            <a:srgbClr val="F1F8F6"/>
          </a:solidFill>
          <a:ln/>
          <a:effectLst>
            <a:outerShdw blurRad="101600" dist="38100" dir="5400000" algn="bl" rotWithShape="0">
              <a:srgbClr val="000000">
                <a:alpha val="12000"/>
              </a:srgbClr>
            </a:outerShdw>
          </a:effectLst>
        </p:spPr>
        <p:txBody>
          <a:bodyPr/>
          <a:lstStyle/>
          <a:p>
            <a:endParaRPr lang="de-DE"/>
          </a:p>
        </p:txBody>
      </p:sp>
      <p:sp>
        <p:nvSpPr>
          <p:cNvPr id="8" name="Shape 2">
            <a:extLst>
              <a:ext uri="{FF2B5EF4-FFF2-40B4-BE49-F238E27FC236}">
                <a16:creationId xmlns:a16="http://schemas.microsoft.com/office/drawing/2014/main" id="{AB924411-FC2A-42D1-BCFD-98AE4FCE378B}"/>
              </a:ext>
            </a:extLst>
          </p:cNvPr>
          <p:cNvSpPr/>
          <p:nvPr/>
        </p:nvSpPr>
        <p:spPr>
          <a:xfrm>
            <a:off x="1049411" y="7091606"/>
            <a:ext cx="5008489" cy="2182801"/>
          </a:xfrm>
          <a:prstGeom prst="roundRect">
            <a:avLst>
              <a:gd name="adj" fmla="val 5333"/>
            </a:avLst>
          </a:prstGeom>
          <a:solidFill>
            <a:srgbClr val="F1F8F6"/>
          </a:solidFill>
          <a:ln/>
          <a:effectLst>
            <a:outerShdw blurRad="101600" dist="38100" dir="5400000" algn="bl" rotWithShape="0">
              <a:srgbClr val="000000">
                <a:alpha val="12000"/>
              </a:srgbClr>
            </a:outerShdw>
          </a:effectLst>
        </p:spPr>
        <p:txBody>
          <a:bodyPr/>
          <a:lstStyle/>
          <a:p>
            <a:endParaRPr lang="de-DE" dirty="0"/>
          </a:p>
        </p:txBody>
      </p:sp>
      <p:sp>
        <p:nvSpPr>
          <p:cNvPr id="9" name="Shape 2">
            <a:extLst>
              <a:ext uri="{FF2B5EF4-FFF2-40B4-BE49-F238E27FC236}">
                <a16:creationId xmlns:a16="http://schemas.microsoft.com/office/drawing/2014/main" id="{78480528-F3D6-9EE3-7368-1C59459B1A11}"/>
              </a:ext>
            </a:extLst>
          </p:cNvPr>
          <p:cNvSpPr/>
          <p:nvPr/>
        </p:nvSpPr>
        <p:spPr>
          <a:xfrm>
            <a:off x="8518943" y="7091606"/>
            <a:ext cx="5008489" cy="2182801"/>
          </a:xfrm>
          <a:prstGeom prst="roundRect">
            <a:avLst>
              <a:gd name="adj" fmla="val 5333"/>
            </a:avLst>
          </a:prstGeom>
          <a:solidFill>
            <a:srgbClr val="F1F8F6"/>
          </a:solidFill>
          <a:ln/>
          <a:effectLst>
            <a:outerShdw blurRad="101600" dist="38100" dir="5400000" algn="bl" rotWithShape="0">
              <a:srgbClr val="000000">
                <a:alpha val="12000"/>
              </a:srgbClr>
            </a:outerShdw>
          </a:effectLst>
        </p:spPr>
        <p:txBody>
          <a:bodyPr/>
          <a:lstStyle/>
          <a:p>
            <a:endParaRPr lang="de-DE"/>
          </a:p>
        </p:txBody>
      </p:sp>
      <p:sp>
        <p:nvSpPr>
          <p:cNvPr id="12" name="Shape 3">
            <a:extLst>
              <a:ext uri="{FF2B5EF4-FFF2-40B4-BE49-F238E27FC236}">
                <a16:creationId xmlns:a16="http://schemas.microsoft.com/office/drawing/2014/main" id="{580D564A-3728-7B65-40EE-0A4600DE51BA}"/>
              </a:ext>
            </a:extLst>
          </p:cNvPr>
          <p:cNvSpPr/>
          <p:nvPr/>
        </p:nvSpPr>
        <p:spPr>
          <a:xfrm>
            <a:off x="1299210" y="3659668"/>
            <a:ext cx="834390" cy="931381"/>
          </a:xfrm>
          <a:prstGeom prst="ellipse">
            <a:avLst/>
          </a:prstGeom>
          <a:solidFill>
            <a:srgbClr val="1B9E8A"/>
          </a:solidFill>
          <a:ln/>
        </p:spPr>
        <p:txBody>
          <a:bodyPr/>
          <a:lstStyle/>
          <a:p>
            <a:endParaRPr lang="de-DE"/>
          </a:p>
        </p:txBody>
      </p:sp>
      <p:sp>
        <p:nvSpPr>
          <p:cNvPr id="14" name="Text 4">
            <a:extLst>
              <a:ext uri="{FF2B5EF4-FFF2-40B4-BE49-F238E27FC236}">
                <a16:creationId xmlns:a16="http://schemas.microsoft.com/office/drawing/2014/main" id="{2D4B2A88-2C03-827C-35B9-F161F2BBAAD4}"/>
              </a:ext>
            </a:extLst>
          </p:cNvPr>
          <p:cNvSpPr/>
          <p:nvPr/>
        </p:nvSpPr>
        <p:spPr>
          <a:xfrm>
            <a:off x="1419225" y="3828178"/>
            <a:ext cx="594360" cy="594360"/>
          </a:xfrm>
          <a:prstGeom prst="rect">
            <a:avLst/>
          </a:prstGeom>
          <a:noFill/>
          <a:ln/>
        </p:spPr>
        <p:txBody>
          <a:bodyPr wrap="square" rtlCol="0" anchor="ctr"/>
          <a:lstStyle/>
          <a:p>
            <a:pPr marL="0" indent="0" algn="ctr">
              <a:buNone/>
            </a:pPr>
            <a:r>
              <a:rPr lang="en-US" sz="2200" b="1" dirty="0">
                <a:solidFill>
                  <a:srgbClr val="FFFFFF"/>
                </a:solidFill>
              </a:rPr>
              <a:t>1</a:t>
            </a:r>
            <a:endParaRPr lang="en-US" sz="2200" dirty="0"/>
          </a:p>
        </p:txBody>
      </p:sp>
      <p:sp>
        <p:nvSpPr>
          <p:cNvPr id="15" name="Shape 3">
            <a:extLst>
              <a:ext uri="{FF2B5EF4-FFF2-40B4-BE49-F238E27FC236}">
                <a16:creationId xmlns:a16="http://schemas.microsoft.com/office/drawing/2014/main" id="{EE62679E-6432-01DB-3209-9A28B325C997}"/>
              </a:ext>
            </a:extLst>
          </p:cNvPr>
          <p:cNvSpPr/>
          <p:nvPr/>
        </p:nvSpPr>
        <p:spPr>
          <a:xfrm>
            <a:off x="8625596" y="3659668"/>
            <a:ext cx="834390" cy="931381"/>
          </a:xfrm>
          <a:prstGeom prst="ellipse">
            <a:avLst/>
          </a:prstGeom>
          <a:solidFill>
            <a:srgbClr val="1B9E8A"/>
          </a:solidFill>
          <a:ln/>
        </p:spPr>
        <p:txBody>
          <a:bodyPr/>
          <a:lstStyle/>
          <a:p>
            <a:endParaRPr lang="de-DE"/>
          </a:p>
        </p:txBody>
      </p:sp>
      <p:sp>
        <p:nvSpPr>
          <p:cNvPr id="16" name="Text 4">
            <a:extLst>
              <a:ext uri="{FF2B5EF4-FFF2-40B4-BE49-F238E27FC236}">
                <a16:creationId xmlns:a16="http://schemas.microsoft.com/office/drawing/2014/main" id="{3D699342-3350-170B-5AE3-7E45E9AF1BCB}"/>
              </a:ext>
            </a:extLst>
          </p:cNvPr>
          <p:cNvSpPr/>
          <p:nvPr/>
        </p:nvSpPr>
        <p:spPr>
          <a:xfrm>
            <a:off x="8745611" y="3828178"/>
            <a:ext cx="594360" cy="594360"/>
          </a:xfrm>
          <a:prstGeom prst="rect">
            <a:avLst/>
          </a:prstGeom>
          <a:noFill/>
          <a:ln/>
        </p:spPr>
        <p:txBody>
          <a:bodyPr wrap="square" rtlCol="0" anchor="ctr"/>
          <a:lstStyle/>
          <a:p>
            <a:pPr marL="0" indent="0" algn="ctr">
              <a:buNone/>
            </a:pPr>
            <a:r>
              <a:rPr lang="en-US" sz="2200" b="1" dirty="0">
                <a:solidFill>
                  <a:srgbClr val="FFFFFF"/>
                </a:solidFill>
              </a:rPr>
              <a:t>2</a:t>
            </a:r>
            <a:endParaRPr lang="en-US" sz="2200" dirty="0"/>
          </a:p>
        </p:txBody>
      </p:sp>
      <p:sp>
        <p:nvSpPr>
          <p:cNvPr id="17" name="Shape 3">
            <a:extLst>
              <a:ext uri="{FF2B5EF4-FFF2-40B4-BE49-F238E27FC236}">
                <a16:creationId xmlns:a16="http://schemas.microsoft.com/office/drawing/2014/main" id="{94330D2A-BFE8-7857-2B87-1A3C162E63B2}"/>
              </a:ext>
            </a:extLst>
          </p:cNvPr>
          <p:cNvSpPr/>
          <p:nvPr/>
        </p:nvSpPr>
        <p:spPr>
          <a:xfrm>
            <a:off x="16342117" y="3659668"/>
            <a:ext cx="834390" cy="931381"/>
          </a:xfrm>
          <a:prstGeom prst="ellipse">
            <a:avLst/>
          </a:prstGeom>
          <a:solidFill>
            <a:srgbClr val="1B9E8A"/>
          </a:solidFill>
          <a:ln/>
        </p:spPr>
        <p:txBody>
          <a:bodyPr/>
          <a:lstStyle/>
          <a:p>
            <a:endParaRPr lang="de-DE"/>
          </a:p>
        </p:txBody>
      </p:sp>
      <p:sp>
        <p:nvSpPr>
          <p:cNvPr id="18" name="Text 4">
            <a:extLst>
              <a:ext uri="{FF2B5EF4-FFF2-40B4-BE49-F238E27FC236}">
                <a16:creationId xmlns:a16="http://schemas.microsoft.com/office/drawing/2014/main" id="{8B357D9D-AF88-F2C0-538F-64878BD5E4AC}"/>
              </a:ext>
            </a:extLst>
          </p:cNvPr>
          <p:cNvSpPr/>
          <p:nvPr/>
        </p:nvSpPr>
        <p:spPr>
          <a:xfrm>
            <a:off x="16462132" y="3828178"/>
            <a:ext cx="594360" cy="594360"/>
          </a:xfrm>
          <a:prstGeom prst="rect">
            <a:avLst/>
          </a:prstGeom>
          <a:noFill/>
          <a:ln/>
        </p:spPr>
        <p:txBody>
          <a:bodyPr wrap="square" rtlCol="0" anchor="ctr"/>
          <a:lstStyle/>
          <a:p>
            <a:pPr marL="0" indent="0" algn="ctr">
              <a:buNone/>
            </a:pPr>
            <a:r>
              <a:rPr lang="en-US" sz="2200" b="1" dirty="0">
                <a:solidFill>
                  <a:srgbClr val="FFFFFF"/>
                </a:solidFill>
              </a:rPr>
              <a:t>3</a:t>
            </a:r>
            <a:endParaRPr lang="en-US" sz="2200" dirty="0"/>
          </a:p>
        </p:txBody>
      </p:sp>
      <p:sp>
        <p:nvSpPr>
          <p:cNvPr id="19" name="Shape 3">
            <a:extLst>
              <a:ext uri="{FF2B5EF4-FFF2-40B4-BE49-F238E27FC236}">
                <a16:creationId xmlns:a16="http://schemas.microsoft.com/office/drawing/2014/main" id="{E4039656-DEBC-B435-B765-F5134B312EBD}"/>
              </a:ext>
            </a:extLst>
          </p:cNvPr>
          <p:cNvSpPr/>
          <p:nvPr/>
        </p:nvSpPr>
        <p:spPr>
          <a:xfrm>
            <a:off x="1299210" y="7717318"/>
            <a:ext cx="834390" cy="931381"/>
          </a:xfrm>
          <a:prstGeom prst="ellipse">
            <a:avLst/>
          </a:prstGeom>
          <a:solidFill>
            <a:srgbClr val="1B9E8A"/>
          </a:solidFill>
          <a:ln/>
        </p:spPr>
        <p:txBody>
          <a:bodyPr/>
          <a:lstStyle/>
          <a:p>
            <a:endParaRPr lang="de-DE"/>
          </a:p>
        </p:txBody>
      </p:sp>
      <p:sp>
        <p:nvSpPr>
          <p:cNvPr id="20" name="Text 4">
            <a:extLst>
              <a:ext uri="{FF2B5EF4-FFF2-40B4-BE49-F238E27FC236}">
                <a16:creationId xmlns:a16="http://schemas.microsoft.com/office/drawing/2014/main" id="{43172A51-6ABF-5940-776F-FA07EA85784A}"/>
              </a:ext>
            </a:extLst>
          </p:cNvPr>
          <p:cNvSpPr/>
          <p:nvPr/>
        </p:nvSpPr>
        <p:spPr>
          <a:xfrm>
            <a:off x="1419225" y="7885828"/>
            <a:ext cx="594360" cy="594360"/>
          </a:xfrm>
          <a:prstGeom prst="rect">
            <a:avLst/>
          </a:prstGeom>
          <a:noFill/>
          <a:ln/>
        </p:spPr>
        <p:txBody>
          <a:bodyPr wrap="square" rtlCol="0" anchor="ctr"/>
          <a:lstStyle/>
          <a:p>
            <a:pPr marL="0" indent="0" algn="ctr">
              <a:buNone/>
            </a:pPr>
            <a:r>
              <a:rPr lang="en-US" sz="2200" b="1" dirty="0">
                <a:solidFill>
                  <a:srgbClr val="FFFFFF"/>
                </a:solidFill>
              </a:rPr>
              <a:t>4</a:t>
            </a:r>
            <a:endParaRPr lang="en-US" sz="2200" dirty="0"/>
          </a:p>
        </p:txBody>
      </p:sp>
      <p:sp>
        <p:nvSpPr>
          <p:cNvPr id="21" name="Shape 3">
            <a:extLst>
              <a:ext uri="{FF2B5EF4-FFF2-40B4-BE49-F238E27FC236}">
                <a16:creationId xmlns:a16="http://schemas.microsoft.com/office/drawing/2014/main" id="{57D2AE5A-4884-CDEB-A8A6-2C1B966F2E28}"/>
              </a:ext>
            </a:extLst>
          </p:cNvPr>
          <p:cNvSpPr/>
          <p:nvPr/>
        </p:nvSpPr>
        <p:spPr>
          <a:xfrm>
            <a:off x="8614166" y="7717318"/>
            <a:ext cx="834390" cy="931381"/>
          </a:xfrm>
          <a:prstGeom prst="ellipse">
            <a:avLst/>
          </a:prstGeom>
          <a:solidFill>
            <a:srgbClr val="1B9E8A"/>
          </a:solidFill>
          <a:ln/>
        </p:spPr>
        <p:txBody>
          <a:bodyPr/>
          <a:lstStyle/>
          <a:p>
            <a:endParaRPr lang="de-DE"/>
          </a:p>
        </p:txBody>
      </p:sp>
      <p:sp>
        <p:nvSpPr>
          <p:cNvPr id="22" name="Text 4">
            <a:extLst>
              <a:ext uri="{FF2B5EF4-FFF2-40B4-BE49-F238E27FC236}">
                <a16:creationId xmlns:a16="http://schemas.microsoft.com/office/drawing/2014/main" id="{77D2B16D-43AE-E53D-264D-7FB3688141F2}"/>
              </a:ext>
            </a:extLst>
          </p:cNvPr>
          <p:cNvSpPr/>
          <p:nvPr/>
        </p:nvSpPr>
        <p:spPr>
          <a:xfrm>
            <a:off x="8734181" y="7885828"/>
            <a:ext cx="594360" cy="594360"/>
          </a:xfrm>
          <a:prstGeom prst="rect">
            <a:avLst/>
          </a:prstGeom>
          <a:noFill/>
          <a:ln/>
        </p:spPr>
        <p:txBody>
          <a:bodyPr wrap="square" rtlCol="0" anchor="ctr"/>
          <a:lstStyle/>
          <a:p>
            <a:pPr marL="0" indent="0" algn="ctr">
              <a:buNone/>
            </a:pPr>
            <a:r>
              <a:rPr lang="en-US" sz="2200" b="1" dirty="0">
                <a:solidFill>
                  <a:srgbClr val="FFFFFF"/>
                </a:solidFill>
              </a:rPr>
              <a:t>5</a:t>
            </a:r>
            <a:endParaRPr lang="en-US" sz="2200" dirty="0"/>
          </a:p>
        </p:txBody>
      </p:sp>
      <p:sp>
        <p:nvSpPr>
          <p:cNvPr id="26" name="Text 5">
            <a:extLst>
              <a:ext uri="{FF2B5EF4-FFF2-40B4-BE49-F238E27FC236}">
                <a16:creationId xmlns:a16="http://schemas.microsoft.com/office/drawing/2014/main" id="{06B7C83D-9CD5-1CAB-2DAD-047D05FF057C}"/>
              </a:ext>
            </a:extLst>
          </p:cNvPr>
          <p:cNvSpPr/>
          <p:nvPr/>
        </p:nvSpPr>
        <p:spPr>
          <a:xfrm>
            <a:off x="2529205" y="3861599"/>
            <a:ext cx="1953259" cy="457200"/>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Initialization</a:t>
            </a:r>
            <a:endParaRPr lang="en-US" dirty="0">
              <a:latin typeface="Chromatica"/>
            </a:endParaRPr>
          </a:p>
        </p:txBody>
      </p:sp>
      <p:sp>
        <p:nvSpPr>
          <p:cNvPr id="27" name="Text 5">
            <a:extLst>
              <a:ext uri="{FF2B5EF4-FFF2-40B4-BE49-F238E27FC236}">
                <a16:creationId xmlns:a16="http://schemas.microsoft.com/office/drawing/2014/main" id="{4328E498-99C3-C718-46D7-E0584129B0D5}"/>
              </a:ext>
            </a:extLst>
          </p:cNvPr>
          <p:cNvSpPr/>
          <p:nvPr/>
        </p:nvSpPr>
        <p:spPr>
          <a:xfrm>
            <a:off x="9855592" y="3828177"/>
            <a:ext cx="3136508" cy="490621"/>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Forward Propagation</a:t>
            </a:r>
            <a:endParaRPr lang="en-US" dirty="0">
              <a:latin typeface="Chromatica"/>
            </a:endParaRPr>
          </a:p>
        </p:txBody>
      </p:sp>
      <p:sp>
        <p:nvSpPr>
          <p:cNvPr id="28" name="Text 5">
            <a:extLst>
              <a:ext uri="{FF2B5EF4-FFF2-40B4-BE49-F238E27FC236}">
                <a16:creationId xmlns:a16="http://schemas.microsoft.com/office/drawing/2014/main" id="{399E0ABF-A476-8665-2704-EA08EC802450}"/>
              </a:ext>
            </a:extLst>
          </p:cNvPr>
          <p:cNvSpPr/>
          <p:nvPr/>
        </p:nvSpPr>
        <p:spPr>
          <a:xfrm>
            <a:off x="17572113" y="3844888"/>
            <a:ext cx="3136508" cy="490621"/>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Loss Calculation</a:t>
            </a:r>
            <a:endParaRPr lang="en-US" dirty="0">
              <a:latin typeface="Chromatica"/>
            </a:endParaRPr>
          </a:p>
        </p:txBody>
      </p:sp>
      <p:sp>
        <p:nvSpPr>
          <p:cNvPr id="31" name="Text 5">
            <a:extLst>
              <a:ext uri="{FF2B5EF4-FFF2-40B4-BE49-F238E27FC236}">
                <a16:creationId xmlns:a16="http://schemas.microsoft.com/office/drawing/2014/main" id="{F9CD7EB9-A6D1-E378-FB28-7F5EE5425301}"/>
              </a:ext>
            </a:extLst>
          </p:cNvPr>
          <p:cNvSpPr/>
          <p:nvPr/>
        </p:nvSpPr>
        <p:spPr>
          <a:xfrm>
            <a:off x="2383399" y="7937697"/>
            <a:ext cx="3136508" cy="490621"/>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Backpropagation</a:t>
            </a:r>
            <a:endParaRPr lang="en-US" dirty="0">
              <a:latin typeface="Chromatica"/>
            </a:endParaRPr>
          </a:p>
        </p:txBody>
      </p:sp>
      <p:sp>
        <p:nvSpPr>
          <p:cNvPr id="33" name="Text 5">
            <a:extLst>
              <a:ext uri="{FF2B5EF4-FFF2-40B4-BE49-F238E27FC236}">
                <a16:creationId xmlns:a16="http://schemas.microsoft.com/office/drawing/2014/main" id="{C5BDE1DC-7A9B-AAD8-7BF6-BFE8D49C8AFA}"/>
              </a:ext>
            </a:extLst>
          </p:cNvPr>
          <p:cNvSpPr/>
          <p:nvPr/>
        </p:nvSpPr>
        <p:spPr>
          <a:xfrm>
            <a:off x="9593729" y="7939766"/>
            <a:ext cx="3136508" cy="490621"/>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Update Weights</a:t>
            </a:r>
            <a:endParaRPr lang="en-US" dirty="0">
              <a:latin typeface="Chromatica"/>
            </a:endParaRPr>
          </a:p>
        </p:txBody>
      </p:sp>
      <p:cxnSp>
        <p:nvCxnSpPr>
          <p:cNvPr id="39" name="Gerader Verbinder 38">
            <a:extLst>
              <a:ext uri="{FF2B5EF4-FFF2-40B4-BE49-F238E27FC236}">
                <a16:creationId xmlns:a16="http://schemas.microsoft.com/office/drawing/2014/main" id="{A090717D-190D-6B65-6303-484DEC8DC78D}"/>
              </a:ext>
            </a:extLst>
          </p:cNvPr>
          <p:cNvCxnSpPr>
            <a:stCxn id="5" idx="3"/>
            <a:endCxn id="6" idx="1"/>
          </p:cNvCxnSpPr>
          <p:nvPr/>
        </p:nvCxnSpPr>
        <p:spPr>
          <a:xfrm>
            <a:off x="6057900" y="4090200"/>
            <a:ext cx="2440061"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1" name="Gerader Verbinder 40">
            <a:extLst>
              <a:ext uri="{FF2B5EF4-FFF2-40B4-BE49-F238E27FC236}">
                <a16:creationId xmlns:a16="http://schemas.microsoft.com/office/drawing/2014/main" id="{918447E2-6BD3-2E7E-9649-B40C468460B7}"/>
              </a:ext>
            </a:extLst>
          </p:cNvPr>
          <p:cNvCxnSpPr>
            <a:stCxn id="6" idx="3"/>
            <a:endCxn id="7" idx="1"/>
          </p:cNvCxnSpPr>
          <p:nvPr/>
        </p:nvCxnSpPr>
        <p:spPr>
          <a:xfrm>
            <a:off x="13506450" y="4090200"/>
            <a:ext cx="2440061"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5" name="Verbinder: gewinkelt 44">
            <a:extLst>
              <a:ext uri="{FF2B5EF4-FFF2-40B4-BE49-F238E27FC236}">
                <a16:creationId xmlns:a16="http://schemas.microsoft.com/office/drawing/2014/main" id="{107FC2C5-7847-A8A5-1EC9-5C14C8A3922C}"/>
              </a:ext>
            </a:extLst>
          </p:cNvPr>
          <p:cNvCxnSpPr>
            <a:stCxn id="7" idx="3"/>
            <a:endCxn id="8" idx="0"/>
          </p:cNvCxnSpPr>
          <p:nvPr/>
        </p:nvCxnSpPr>
        <p:spPr>
          <a:xfrm flipH="1">
            <a:off x="3553656" y="4090200"/>
            <a:ext cx="17401344" cy="3001406"/>
          </a:xfrm>
          <a:prstGeom prst="bentConnector4">
            <a:avLst>
              <a:gd name="adj1" fmla="val -1314"/>
              <a:gd name="adj2" fmla="val 6818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 name="Gerader Verbinder 46">
            <a:extLst>
              <a:ext uri="{FF2B5EF4-FFF2-40B4-BE49-F238E27FC236}">
                <a16:creationId xmlns:a16="http://schemas.microsoft.com/office/drawing/2014/main" id="{F804D40E-4B84-A0D1-43AA-32EAAF10F850}"/>
              </a:ext>
            </a:extLst>
          </p:cNvPr>
          <p:cNvCxnSpPr>
            <a:stCxn id="8" idx="3"/>
            <a:endCxn id="9" idx="1"/>
          </p:cNvCxnSpPr>
          <p:nvPr/>
        </p:nvCxnSpPr>
        <p:spPr>
          <a:xfrm>
            <a:off x="6057900" y="8183007"/>
            <a:ext cx="2461043"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09106884"/>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56CB6-A455-5B01-6448-D9BD01A31C81}"/>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1531B822-1C82-1DD5-1BBD-27FDA4750944}"/>
              </a:ext>
            </a:extLst>
          </p:cNvPr>
          <p:cNvSpPr>
            <a:spLocks noGrp="1"/>
          </p:cNvSpPr>
          <p:nvPr>
            <p:ph type="body" sz="quarter" idx="22"/>
          </p:nvPr>
        </p:nvSpPr>
        <p:spPr/>
        <p:txBody>
          <a:bodyPr/>
          <a:lstStyle/>
          <a:p>
            <a:r>
              <a:rPr lang="de-DE" dirty="0" err="1"/>
              <a:t>Yapay</a:t>
            </a:r>
            <a:r>
              <a:rPr lang="de-DE" dirty="0"/>
              <a:t> </a:t>
            </a:r>
            <a:r>
              <a:rPr lang="de-DE" dirty="0" err="1"/>
              <a:t>Sinir</a:t>
            </a:r>
            <a:r>
              <a:rPr lang="de-DE" dirty="0"/>
              <a:t> Ağı </a:t>
            </a:r>
            <a:r>
              <a:rPr lang="de-DE" dirty="0" err="1"/>
              <a:t>Nasıl</a:t>
            </a:r>
            <a:r>
              <a:rPr lang="de-DE" dirty="0"/>
              <a:t> </a:t>
            </a:r>
            <a:r>
              <a:rPr lang="de-DE" dirty="0" err="1"/>
              <a:t>Eğitilir</a:t>
            </a:r>
            <a:r>
              <a:rPr lang="de-DE" dirty="0"/>
              <a:t>?</a:t>
            </a:r>
          </a:p>
        </p:txBody>
      </p:sp>
      <p:sp>
        <p:nvSpPr>
          <p:cNvPr id="5" name="Shape 2">
            <a:extLst>
              <a:ext uri="{FF2B5EF4-FFF2-40B4-BE49-F238E27FC236}">
                <a16:creationId xmlns:a16="http://schemas.microsoft.com/office/drawing/2014/main" id="{52B2F247-031D-1639-A854-65F0FE4A854F}"/>
              </a:ext>
            </a:extLst>
          </p:cNvPr>
          <p:cNvSpPr/>
          <p:nvPr/>
        </p:nvSpPr>
        <p:spPr>
          <a:xfrm>
            <a:off x="1049411" y="2998799"/>
            <a:ext cx="5008489" cy="2182801"/>
          </a:xfrm>
          <a:prstGeom prst="roundRect">
            <a:avLst>
              <a:gd name="adj" fmla="val 5333"/>
            </a:avLst>
          </a:prstGeom>
          <a:solidFill>
            <a:srgbClr val="F1F8F6"/>
          </a:solidFill>
          <a:ln/>
          <a:effectLst>
            <a:outerShdw blurRad="101600" dist="38100" dir="5400000" algn="bl" rotWithShape="0">
              <a:srgbClr val="000000">
                <a:alpha val="12000"/>
              </a:srgbClr>
            </a:outerShdw>
          </a:effectLst>
        </p:spPr>
        <p:txBody>
          <a:bodyPr/>
          <a:lstStyle/>
          <a:p>
            <a:endParaRPr lang="de-DE"/>
          </a:p>
        </p:txBody>
      </p:sp>
      <p:sp>
        <p:nvSpPr>
          <p:cNvPr id="6" name="Shape 2">
            <a:extLst>
              <a:ext uri="{FF2B5EF4-FFF2-40B4-BE49-F238E27FC236}">
                <a16:creationId xmlns:a16="http://schemas.microsoft.com/office/drawing/2014/main" id="{E710E9C7-E947-8BED-3B8F-651574E089D8}"/>
              </a:ext>
            </a:extLst>
          </p:cNvPr>
          <p:cNvSpPr/>
          <p:nvPr/>
        </p:nvSpPr>
        <p:spPr>
          <a:xfrm>
            <a:off x="8497961" y="2998799"/>
            <a:ext cx="5008489" cy="2182801"/>
          </a:xfrm>
          <a:prstGeom prst="roundRect">
            <a:avLst>
              <a:gd name="adj" fmla="val 5333"/>
            </a:avLst>
          </a:prstGeom>
          <a:solidFill>
            <a:srgbClr val="F1F8F6"/>
          </a:solidFill>
          <a:ln/>
          <a:effectLst>
            <a:outerShdw blurRad="101600" dist="38100" dir="5400000" algn="bl" rotWithShape="0">
              <a:srgbClr val="000000">
                <a:alpha val="12000"/>
              </a:srgbClr>
            </a:outerShdw>
          </a:effectLst>
        </p:spPr>
        <p:txBody>
          <a:bodyPr/>
          <a:lstStyle/>
          <a:p>
            <a:endParaRPr lang="de-DE"/>
          </a:p>
        </p:txBody>
      </p:sp>
      <p:sp>
        <p:nvSpPr>
          <p:cNvPr id="7" name="Shape 2">
            <a:extLst>
              <a:ext uri="{FF2B5EF4-FFF2-40B4-BE49-F238E27FC236}">
                <a16:creationId xmlns:a16="http://schemas.microsoft.com/office/drawing/2014/main" id="{422C4C6C-5EDB-F0F6-913D-B9AE4280B749}"/>
              </a:ext>
            </a:extLst>
          </p:cNvPr>
          <p:cNvSpPr/>
          <p:nvPr/>
        </p:nvSpPr>
        <p:spPr>
          <a:xfrm>
            <a:off x="15946511" y="2998799"/>
            <a:ext cx="5008489" cy="2182801"/>
          </a:xfrm>
          <a:prstGeom prst="roundRect">
            <a:avLst>
              <a:gd name="adj" fmla="val 5333"/>
            </a:avLst>
          </a:prstGeom>
          <a:solidFill>
            <a:srgbClr val="F1F8F6"/>
          </a:solidFill>
          <a:ln/>
          <a:effectLst>
            <a:outerShdw blurRad="101600" dist="38100" dir="5400000" algn="bl" rotWithShape="0">
              <a:srgbClr val="000000">
                <a:alpha val="12000"/>
              </a:srgbClr>
            </a:outerShdw>
          </a:effectLst>
        </p:spPr>
        <p:txBody>
          <a:bodyPr/>
          <a:lstStyle/>
          <a:p>
            <a:endParaRPr lang="de-DE"/>
          </a:p>
        </p:txBody>
      </p:sp>
      <p:sp>
        <p:nvSpPr>
          <p:cNvPr id="8" name="Shape 2">
            <a:extLst>
              <a:ext uri="{FF2B5EF4-FFF2-40B4-BE49-F238E27FC236}">
                <a16:creationId xmlns:a16="http://schemas.microsoft.com/office/drawing/2014/main" id="{B93C94FC-F7B8-D49B-BD00-BB1EE20CF0AA}"/>
              </a:ext>
            </a:extLst>
          </p:cNvPr>
          <p:cNvSpPr/>
          <p:nvPr/>
        </p:nvSpPr>
        <p:spPr>
          <a:xfrm>
            <a:off x="1049411" y="7091606"/>
            <a:ext cx="5008489" cy="2182801"/>
          </a:xfrm>
          <a:prstGeom prst="roundRect">
            <a:avLst>
              <a:gd name="adj" fmla="val 5333"/>
            </a:avLst>
          </a:prstGeom>
          <a:solidFill>
            <a:srgbClr val="F1F8F6"/>
          </a:solidFill>
          <a:ln/>
          <a:effectLst>
            <a:outerShdw blurRad="101600" dist="38100" dir="5400000" algn="bl" rotWithShape="0">
              <a:srgbClr val="000000">
                <a:alpha val="12000"/>
              </a:srgbClr>
            </a:outerShdw>
          </a:effectLst>
        </p:spPr>
        <p:txBody>
          <a:bodyPr/>
          <a:lstStyle/>
          <a:p>
            <a:endParaRPr lang="de-DE" dirty="0"/>
          </a:p>
        </p:txBody>
      </p:sp>
      <p:sp>
        <p:nvSpPr>
          <p:cNvPr id="9" name="Shape 2">
            <a:extLst>
              <a:ext uri="{FF2B5EF4-FFF2-40B4-BE49-F238E27FC236}">
                <a16:creationId xmlns:a16="http://schemas.microsoft.com/office/drawing/2014/main" id="{9BB55CE5-710B-E03D-CE8A-16651103ED04}"/>
              </a:ext>
            </a:extLst>
          </p:cNvPr>
          <p:cNvSpPr/>
          <p:nvPr/>
        </p:nvSpPr>
        <p:spPr>
          <a:xfrm>
            <a:off x="8518943" y="7091606"/>
            <a:ext cx="5008489" cy="2182801"/>
          </a:xfrm>
          <a:prstGeom prst="roundRect">
            <a:avLst>
              <a:gd name="adj" fmla="val 5333"/>
            </a:avLst>
          </a:prstGeom>
          <a:solidFill>
            <a:srgbClr val="F1F8F6"/>
          </a:solidFill>
          <a:ln/>
          <a:effectLst>
            <a:outerShdw blurRad="101600" dist="38100" dir="5400000" algn="bl" rotWithShape="0">
              <a:srgbClr val="000000">
                <a:alpha val="12000"/>
              </a:srgbClr>
            </a:outerShdw>
          </a:effectLst>
        </p:spPr>
        <p:txBody>
          <a:bodyPr/>
          <a:lstStyle/>
          <a:p>
            <a:endParaRPr lang="de-DE"/>
          </a:p>
        </p:txBody>
      </p:sp>
      <p:sp>
        <p:nvSpPr>
          <p:cNvPr id="10" name="Shape 2">
            <a:extLst>
              <a:ext uri="{FF2B5EF4-FFF2-40B4-BE49-F238E27FC236}">
                <a16:creationId xmlns:a16="http://schemas.microsoft.com/office/drawing/2014/main" id="{EA386005-4E4D-3A36-38F8-91A6C16A1A6F}"/>
              </a:ext>
            </a:extLst>
          </p:cNvPr>
          <p:cNvSpPr/>
          <p:nvPr/>
        </p:nvSpPr>
        <p:spPr>
          <a:xfrm>
            <a:off x="15946511" y="7091606"/>
            <a:ext cx="5008489" cy="2182801"/>
          </a:xfrm>
          <a:prstGeom prst="roundRect">
            <a:avLst>
              <a:gd name="adj" fmla="val 5333"/>
            </a:avLst>
          </a:prstGeom>
          <a:solidFill>
            <a:srgbClr val="F1F8F6"/>
          </a:solidFill>
          <a:ln/>
          <a:effectLst>
            <a:outerShdw blurRad="101600" dist="38100" dir="5400000" algn="bl" rotWithShape="0">
              <a:srgbClr val="000000">
                <a:alpha val="12000"/>
              </a:srgbClr>
            </a:outerShdw>
          </a:effectLst>
        </p:spPr>
        <p:txBody>
          <a:bodyPr/>
          <a:lstStyle/>
          <a:p>
            <a:endParaRPr lang="de-DE"/>
          </a:p>
        </p:txBody>
      </p:sp>
      <p:sp>
        <p:nvSpPr>
          <p:cNvPr id="12" name="Shape 3">
            <a:extLst>
              <a:ext uri="{FF2B5EF4-FFF2-40B4-BE49-F238E27FC236}">
                <a16:creationId xmlns:a16="http://schemas.microsoft.com/office/drawing/2014/main" id="{838F3EBD-86E5-4D71-38B1-9C8E47A355D6}"/>
              </a:ext>
            </a:extLst>
          </p:cNvPr>
          <p:cNvSpPr/>
          <p:nvPr/>
        </p:nvSpPr>
        <p:spPr>
          <a:xfrm>
            <a:off x="1299210" y="3659668"/>
            <a:ext cx="834390" cy="931381"/>
          </a:xfrm>
          <a:prstGeom prst="ellipse">
            <a:avLst/>
          </a:prstGeom>
          <a:solidFill>
            <a:srgbClr val="1B9E8A"/>
          </a:solidFill>
          <a:ln/>
        </p:spPr>
        <p:txBody>
          <a:bodyPr/>
          <a:lstStyle/>
          <a:p>
            <a:endParaRPr lang="de-DE"/>
          </a:p>
        </p:txBody>
      </p:sp>
      <p:sp>
        <p:nvSpPr>
          <p:cNvPr id="14" name="Text 4">
            <a:extLst>
              <a:ext uri="{FF2B5EF4-FFF2-40B4-BE49-F238E27FC236}">
                <a16:creationId xmlns:a16="http://schemas.microsoft.com/office/drawing/2014/main" id="{B45AE4D9-B8ED-D63D-140B-FEF1A8EE0396}"/>
              </a:ext>
            </a:extLst>
          </p:cNvPr>
          <p:cNvSpPr/>
          <p:nvPr/>
        </p:nvSpPr>
        <p:spPr>
          <a:xfrm>
            <a:off x="1419225" y="3828178"/>
            <a:ext cx="594360" cy="594360"/>
          </a:xfrm>
          <a:prstGeom prst="rect">
            <a:avLst/>
          </a:prstGeom>
          <a:noFill/>
          <a:ln/>
        </p:spPr>
        <p:txBody>
          <a:bodyPr wrap="square" rtlCol="0" anchor="ctr"/>
          <a:lstStyle/>
          <a:p>
            <a:pPr marL="0" indent="0" algn="ctr">
              <a:buNone/>
            </a:pPr>
            <a:r>
              <a:rPr lang="en-US" sz="2200" b="1" dirty="0">
                <a:solidFill>
                  <a:srgbClr val="FFFFFF"/>
                </a:solidFill>
              </a:rPr>
              <a:t>1</a:t>
            </a:r>
            <a:endParaRPr lang="en-US" sz="2200" dirty="0"/>
          </a:p>
        </p:txBody>
      </p:sp>
      <p:sp>
        <p:nvSpPr>
          <p:cNvPr id="15" name="Shape 3">
            <a:extLst>
              <a:ext uri="{FF2B5EF4-FFF2-40B4-BE49-F238E27FC236}">
                <a16:creationId xmlns:a16="http://schemas.microsoft.com/office/drawing/2014/main" id="{FEF403DE-663D-8316-5097-79A01EA94952}"/>
              </a:ext>
            </a:extLst>
          </p:cNvPr>
          <p:cNvSpPr/>
          <p:nvPr/>
        </p:nvSpPr>
        <p:spPr>
          <a:xfrm>
            <a:off x="8625596" y="3659668"/>
            <a:ext cx="834390" cy="931381"/>
          </a:xfrm>
          <a:prstGeom prst="ellipse">
            <a:avLst/>
          </a:prstGeom>
          <a:solidFill>
            <a:srgbClr val="1B9E8A"/>
          </a:solidFill>
          <a:ln/>
        </p:spPr>
        <p:txBody>
          <a:bodyPr/>
          <a:lstStyle/>
          <a:p>
            <a:endParaRPr lang="de-DE"/>
          </a:p>
        </p:txBody>
      </p:sp>
      <p:sp>
        <p:nvSpPr>
          <p:cNvPr id="16" name="Text 4">
            <a:extLst>
              <a:ext uri="{FF2B5EF4-FFF2-40B4-BE49-F238E27FC236}">
                <a16:creationId xmlns:a16="http://schemas.microsoft.com/office/drawing/2014/main" id="{8EE8D437-6EDC-386F-5542-F1F456D1BEE0}"/>
              </a:ext>
            </a:extLst>
          </p:cNvPr>
          <p:cNvSpPr/>
          <p:nvPr/>
        </p:nvSpPr>
        <p:spPr>
          <a:xfrm>
            <a:off x="8745611" y="3828178"/>
            <a:ext cx="594360" cy="594360"/>
          </a:xfrm>
          <a:prstGeom prst="rect">
            <a:avLst/>
          </a:prstGeom>
          <a:noFill/>
          <a:ln/>
        </p:spPr>
        <p:txBody>
          <a:bodyPr wrap="square" rtlCol="0" anchor="ctr"/>
          <a:lstStyle/>
          <a:p>
            <a:pPr marL="0" indent="0" algn="ctr">
              <a:buNone/>
            </a:pPr>
            <a:r>
              <a:rPr lang="en-US" sz="2200" b="1" dirty="0">
                <a:solidFill>
                  <a:srgbClr val="FFFFFF"/>
                </a:solidFill>
              </a:rPr>
              <a:t>2</a:t>
            </a:r>
            <a:endParaRPr lang="en-US" sz="2200" dirty="0"/>
          </a:p>
        </p:txBody>
      </p:sp>
      <p:sp>
        <p:nvSpPr>
          <p:cNvPr id="17" name="Shape 3">
            <a:extLst>
              <a:ext uri="{FF2B5EF4-FFF2-40B4-BE49-F238E27FC236}">
                <a16:creationId xmlns:a16="http://schemas.microsoft.com/office/drawing/2014/main" id="{75FA666F-CB22-31FE-405A-FB72C119E7A3}"/>
              </a:ext>
            </a:extLst>
          </p:cNvPr>
          <p:cNvSpPr/>
          <p:nvPr/>
        </p:nvSpPr>
        <p:spPr>
          <a:xfrm>
            <a:off x="16342117" y="3659668"/>
            <a:ext cx="834390" cy="931381"/>
          </a:xfrm>
          <a:prstGeom prst="ellipse">
            <a:avLst/>
          </a:prstGeom>
          <a:solidFill>
            <a:srgbClr val="1B9E8A"/>
          </a:solidFill>
          <a:ln/>
        </p:spPr>
        <p:txBody>
          <a:bodyPr/>
          <a:lstStyle/>
          <a:p>
            <a:endParaRPr lang="de-DE"/>
          </a:p>
        </p:txBody>
      </p:sp>
      <p:sp>
        <p:nvSpPr>
          <p:cNvPr id="18" name="Text 4">
            <a:extLst>
              <a:ext uri="{FF2B5EF4-FFF2-40B4-BE49-F238E27FC236}">
                <a16:creationId xmlns:a16="http://schemas.microsoft.com/office/drawing/2014/main" id="{A16CB9A1-1D47-67E4-7B08-F830B0DB992E}"/>
              </a:ext>
            </a:extLst>
          </p:cNvPr>
          <p:cNvSpPr/>
          <p:nvPr/>
        </p:nvSpPr>
        <p:spPr>
          <a:xfrm>
            <a:off x="16462132" y="3828178"/>
            <a:ext cx="594360" cy="594360"/>
          </a:xfrm>
          <a:prstGeom prst="rect">
            <a:avLst/>
          </a:prstGeom>
          <a:noFill/>
          <a:ln/>
        </p:spPr>
        <p:txBody>
          <a:bodyPr wrap="square" rtlCol="0" anchor="ctr"/>
          <a:lstStyle/>
          <a:p>
            <a:pPr marL="0" indent="0" algn="ctr">
              <a:buNone/>
            </a:pPr>
            <a:r>
              <a:rPr lang="en-US" sz="2200" b="1" dirty="0">
                <a:solidFill>
                  <a:srgbClr val="FFFFFF"/>
                </a:solidFill>
              </a:rPr>
              <a:t>3</a:t>
            </a:r>
            <a:endParaRPr lang="en-US" sz="2200" dirty="0"/>
          </a:p>
        </p:txBody>
      </p:sp>
      <p:sp>
        <p:nvSpPr>
          <p:cNvPr id="19" name="Shape 3">
            <a:extLst>
              <a:ext uri="{FF2B5EF4-FFF2-40B4-BE49-F238E27FC236}">
                <a16:creationId xmlns:a16="http://schemas.microsoft.com/office/drawing/2014/main" id="{F4965477-F4B5-BCE5-2E3A-F22218D226D9}"/>
              </a:ext>
            </a:extLst>
          </p:cNvPr>
          <p:cNvSpPr/>
          <p:nvPr/>
        </p:nvSpPr>
        <p:spPr>
          <a:xfrm>
            <a:off x="1299210" y="7717318"/>
            <a:ext cx="834390" cy="931381"/>
          </a:xfrm>
          <a:prstGeom prst="ellipse">
            <a:avLst/>
          </a:prstGeom>
          <a:solidFill>
            <a:srgbClr val="1B9E8A"/>
          </a:solidFill>
          <a:ln/>
        </p:spPr>
        <p:txBody>
          <a:bodyPr/>
          <a:lstStyle/>
          <a:p>
            <a:endParaRPr lang="de-DE"/>
          </a:p>
        </p:txBody>
      </p:sp>
      <p:sp>
        <p:nvSpPr>
          <p:cNvPr id="20" name="Text 4">
            <a:extLst>
              <a:ext uri="{FF2B5EF4-FFF2-40B4-BE49-F238E27FC236}">
                <a16:creationId xmlns:a16="http://schemas.microsoft.com/office/drawing/2014/main" id="{1C806827-ED22-D0C4-08FC-043929E280BA}"/>
              </a:ext>
            </a:extLst>
          </p:cNvPr>
          <p:cNvSpPr/>
          <p:nvPr/>
        </p:nvSpPr>
        <p:spPr>
          <a:xfrm>
            <a:off x="1419225" y="7885828"/>
            <a:ext cx="594360" cy="594360"/>
          </a:xfrm>
          <a:prstGeom prst="rect">
            <a:avLst/>
          </a:prstGeom>
          <a:noFill/>
          <a:ln/>
        </p:spPr>
        <p:txBody>
          <a:bodyPr wrap="square" rtlCol="0" anchor="ctr"/>
          <a:lstStyle/>
          <a:p>
            <a:pPr marL="0" indent="0" algn="ctr">
              <a:buNone/>
            </a:pPr>
            <a:r>
              <a:rPr lang="en-US" sz="2200" b="1" dirty="0">
                <a:solidFill>
                  <a:srgbClr val="FFFFFF"/>
                </a:solidFill>
              </a:rPr>
              <a:t>4</a:t>
            </a:r>
            <a:endParaRPr lang="en-US" sz="2200" dirty="0"/>
          </a:p>
        </p:txBody>
      </p:sp>
      <p:sp>
        <p:nvSpPr>
          <p:cNvPr id="21" name="Shape 3">
            <a:extLst>
              <a:ext uri="{FF2B5EF4-FFF2-40B4-BE49-F238E27FC236}">
                <a16:creationId xmlns:a16="http://schemas.microsoft.com/office/drawing/2014/main" id="{A6D13C9D-D116-85C2-04AD-201347B9ECD8}"/>
              </a:ext>
            </a:extLst>
          </p:cNvPr>
          <p:cNvSpPr/>
          <p:nvPr/>
        </p:nvSpPr>
        <p:spPr>
          <a:xfrm>
            <a:off x="8614166" y="7717318"/>
            <a:ext cx="834390" cy="931381"/>
          </a:xfrm>
          <a:prstGeom prst="ellipse">
            <a:avLst/>
          </a:prstGeom>
          <a:solidFill>
            <a:srgbClr val="1B9E8A"/>
          </a:solidFill>
          <a:ln/>
        </p:spPr>
        <p:txBody>
          <a:bodyPr/>
          <a:lstStyle/>
          <a:p>
            <a:endParaRPr lang="de-DE"/>
          </a:p>
        </p:txBody>
      </p:sp>
      <p:sp>
        <p:nvSpPr>
          <p:cNvPr id="22" name="Text 4">
            <a:extLst>
              <a:ext uri="{FF2B5EF4-FFF2-40B4-BE49-F238E27FC236}">
                <a16:creationId xmlns:a16="http://schemas.microsoft.com/office/drawing/2014/main" id="{CB83F78B-5D4E-7534-9F09-3316D161EDE9}"/>
              </a:ext>
            </a:extLst>
          </p:cNvPr>
          <p:cNvSpPr/>
          <p:nvPr/>
        </p:nvSpPr>
        <p:spPr>
          <a:xfrm>
            <a:off x="8734181" y="7885828"/>
            <a:ext cx="594360" cy="594360"/>
          </a:xfrm>
          <a:prstGeom prst="rect">
            <a:avLst/>
          </a:prstGeom>
          <a:noFill/>
          <a:ln/>
        </p:spPr>
        <p:txBody>
          <a:bodyPr wrap="square" rtlCol="0" anchor="ctr"/>
          <a:lstStyle/>
          <a:p>
            <a:pPr marL="0" indent="0" algn="ctr">
              <a:buNone/>
            </a:pPr>
            <a:r>
              <a:rPr lang="en-US" sz="2200" b="1" dirty="0">
                <a:solidFill>
                  <a:srgbClr val="FFFFFF"/>
                </a:solidFill>
              </a:rPr>
              <a:t>5</a:t>
            </a:r>
            <a:endParaRPr lang="en-US" sz="2200" dirty="0"/>
          </a:p>
        </p:txBody>
      </p:sp>
      <p:sp>
        <p:nvSpPr>
          <p:cNvPr id="23" name="Shape 3">
            <a:extLst>
              <a:ext uri="{FF2B5EF4-FFF2-40B4-BE49-F238E27FC236}">
                <a16:creationId xmlns:a16="http://schemas.microsoft.com/office/drawing/2014/main" id="{9F5FD860-8FA2-8816-E076-008029C398C2}"/>
              </a:ext>
            </a:extLst>
          </p:cNvPr>
          <p:cNvSpPr/>
          <p:nvPr/>
        </p:nvSpPr>
        <p:spPr>
          <a:xfrm>
            <a:off x="16091684" y="7719386"/>
            <a:ext cx="834390" cy="931381"/>
          </a:xfrm>
          <a:prstGeom prst="ellipse">
            <a:avLst/>
          </a:prstGeom>
          <a:solidFill>
            <a:srgbClr val="1B9E8A"/>
          </a:solidFill>
          <a:ln/>
        </p:spPr>
        <p:txBody>
          <a:bodyPr/>
          <a:lstStyle/>
          <a:p>
            <a:endParaRPr lang="de-DE" dirty="0"/>
          </a:p>
        </p:txBody>
      </p:sp>
      <p:sp>
        <p:nvSpPr>
          <p:cNvPr id="24" name="Text 4">
            <a:extLst>
              <a:ext uri="{FF2B5EF4-FFF2-40B4-BE49-F238E27FC236}">
                <a16:creationId xmlns:a16="http://schemas.microsoft.com/office/drawing/2014/main" id="{85C596A1-4549-3568-1FE7-E33B39C954AF}"/>
              </a:ext>
            </a:extLst>
          </p:cNvPr>
          <p:cNvSpPr/>
          <p:nvPr/>
        </p:nvSpPr>
        <p:spPr>
          <a:xfrm>
            <a:off x="16211699" y="7887896"/>
            <a:ext cx="594360" cy="594360"/>
          </a:xfrm>
          <a:prstGeom prst="rect">
            <a:avLst/>
          </a:prstGeom>
          <a:noFill/>
          <a:ln/>
        </p:spPr>
        <p:txBody>
          <a:bodyPr wrap="square" rtlCol="0" anchor="ctr"/>
          <a:lstStyle/>
          <a:p>
            <a:pPr marL="0" indent="0" algn="ctr">
              <a:buNone/>
            </a:pPr>
            <a:r>
              <a:rPr lang="en-US" sz="2200" b="1" dirty="0">
                <a:solidFill>
                  <a:srgbClr val="FFFFFF"/>
                </a:solidFill>
              </a:rPr>
              <a:t>6</a:t>
            </a:r>
            <a:endParaRPr lang="en-US" sz="2200" dirty="0"/>
          </a:p>
        </p:txBody>
      </p:sp>
      <p:sp>
        <p:nvSpPr>
          <p:cNvPr id="26" name="Text 5">
            <a:extLst>
              <a:ext uri="{FF2B5EF4-FFF2-40B4-BE49-F238E27FC236}">
                <a16:creationId xmlns:a16="http://schemas.microsoft.com/office/drawing/2014/main" id="{D5CC4094-D6E6-0ED8-9982-5B0D94927BA6}"/>
              </a:ext>
            </a:extLst>
          </p:cNvPr>
          <p:cNvSpPr/>
          <p:nvPr/>
        </p:nvSpPr>
        <p:spPr>
          <a:xfrm>
            <a:off x="2529205" y="3861599"/>
            <a:ext cx="1953259" cy="457200"/>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Initialization</a:t>
            </a:r>
            <a:endParaRPr lang="en-US" dirty="0">
              <a:latin typeface="Chromatica"/>
            </a:endParaRPr>
          </a:p>
        </p:txBody>
      </p:sp>
      <p:sp>
        <p:nvSpPr>
          <p:cNvPr id="27" name="Text 5">
            <a:extLst>
              <a:ext uri="{FF2B5EF4-FFF2-40B4-BE49-F238E27FC236}">
                <a16:creationId xmlns:a16="http://schemas.microsoft.com/office/drawing/2014/main" id="{11239D94-E702-8E8E-494A-B668900D7AC3}"/>
              </a:ext>
            </a:extLst>
          </p:cNvPr>
          <p:cNvSpPr/>
          <p:nvPr/>
        </p:nvSpPr>
        <p:spPr>
          <a:xfrm>
            <a:off x="9855592" y="3828177"/>
            <a:ext cx="3136508" cy="490621"/>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Forward Propagation</a:t>
            </a:r>
            <a:endParaRPr lang="en-US" dirty="0">
              <a:latin typeface="Chromatica"/>
            </a:endParaRPr>
          </a:p>
        </p:txBody>
      </p:sp>
      <p:sp>
        <p:nvSpPr>
          <p:cNvPr id="28" name="Text 5">
            <a:extLst>
              <a:ext uri="{FF2B5EF4-FFF2-40B4-BE49-F238E27FC236}">
                <a16:creationId xmlns:a16="http://schemas.microsoft.com/office/drawing/2014/main" id="{A12C56E1-F26D-BA2C-C9A1-91918EDAA976}"/>
              </a:ext>
            </a:extLst>
          </p:cNvPr>
          <p:cNvSpPr/>
          <p:nvPr/>
        </p:nvSpPr>
        <p:spPr>
          <a:xfrm>
            <a:off x="17572113" y="3844888"/>
            <a:ext cx="3136508" cy="490621"/>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Loss Calculation</a:t>
            </a:r>
            <a:endParaRPr lang="en-US" dirty="0">
              <a:latin typeface="Chromatica"/>
            </a:endParaRPr>
          </a:p>
        </p:txBody>
      </p:sp>
      <p:sp>
        <p:nvSpPr>
          <p:cNvPr id="31" name="Text 5">
            <a:extLst>
              <a:ext uri="{FF2B5EF4-FFF2-40B4-BE49-F238E27FC236}">
                <a16:creationId xmlns:a16="http://schemas.microsoft.com/office/drawing/2014/main" id="{7EE29B13-999D-6CB8-CC46-94CF1A3512E3}"/>
              </a:ext>
            </a:extLst>
          </p:cNvPr>
          <p:cNvSpPr/>
          <p:nvPr/>
        </p:nvSpPr>
        <p:spPr>
          <a:xfrm>
            <a:off x="2383399" y="7937697"/>
            <a:ext cx="3136508" cy="490621"/>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Backpropagation</a:t>
            </a:r>
            <a:endParaRPr lang="en-US" dirty="0">
              <a:latin typeface="Chromatica"/>
            </a:endParaRPr>
          </a:p>
        </p:txBody>
      </p:sp>
      <p:sp>
        <p:nvSpPr>
          <p:cNvPr id="33" name="Text 5">
            <a:extLst>
              <a:ext uri="{FF2B5EF4-FFF2-40B4-BE49-F238E27FC236}">
                <a16:creationId xmlns:a16="http://schemas.microsoft.com/office/drawing/2014/main" id="{2232D0C5-DF53-3D12-5957-A4960EC48776}"/>
              </a:ext>
            </a:extLst>
          </p:cNvPr>
          <p:cNvSpPr/>
          <p:nvPr/>
        </p:nvSpPr>
        <p:spPr>
          <a:xfrm>
            <a:off x="9593729" y="7939766"/>
            <a:ext cx="3136508" cy="490621"/>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Update Weights</a:t>
            </a:r>
            <a:endParaRPr lang="en-US" dirty="0">
              <a:latin typeface="Chromatica"/>
            </a:endParaRPr>
          </a:p>
        </p:txBody>
      </p:sp>
      <p:sp>
        <p:nvSpPr>
          <p:cNvPr id="35" name="Text 5">
            <a:extLst>
              <a:ext uri="{FF2B5EF4-FFF2-40B4-BE49-F238E27FC236}">
                <a16:creationId xmlns:a16="http://schemas.microsoft.com/office/drawing/2014/main" id="{8261142E-1CB3-E996-3172-A3A50BC493E8}"/>
              </a:ext>
            </a:extLst>
          </p:cNvPr>
          <p:cNvSpPr/>
          <p:nvPr/>
        </p:nvSpPr>
        <p:spPr>
          <a:xfrm>
            <a:off x="17372283" y="7939766"/>
            <a:ext cx="3136508" cy="490621"/>
          </a:xfrm>
          <a:prstGeom prst="rect">
            <a:avLst/>
          </a:prstGeom>
          <a:noFill/>
          <a:ln/>
        </p:spPr>
        <p:txBody>
          <a:bodyPr wrap="square" rtlCol="0" anchor="ctr"/>
          <a:lstStyle/>
          <a:p>
            <a:pPr marL="0" indent="0" algn="l">
              <a:buNone/>
            </a:pPr>
            <a:r>
              <a:rPr lang="en-US" b="1" dirty="0">
                <a:solidFill>
                  <a:srgbClr val="1E2B2B"/>
                </a:solidFill>
                <a:latin typeface="Chromatica"/>
                <a:ea typeface="Arial" pitchFamily="34" charset="-122"/>
                <a:cs typeface="Arial" pitchFamily="34" charset="-120"/>
              </a:rPr>
              <a:t>Iteration</a:t>
            </a:r>
            <a:endParaRPr lang="en-US" dirty="0">
              <a:latin typeface="Chromatica"/>
            </a:endParaRPr>
          </a:p>
        </p:txBody>
      </p:sp>
      <p:cxnSp>
        <p:nvCxnSpPr>
          <p:cNvPr id="39" name="Gerader Verbinder 38">
            <a:extLst>
              <a:ext uri="{FF2B5EF4-FFF2-40B4-BE49-F238E27FC236}">
                <a16:creationId xmlns:a16="http://schemas.microsoft.com/office/drawing/2014/main" id="{2B59489B-F2AC-5382-4324-B1FA4AC8151B}"/>
              </a:ext>
            </a:extLst>
          </p:cNvPr>
          <p:cNvCxnSpPr>
            <a:stCxn id="5" idx="3"/>
            <a:endCxn id="6" idx="1"/>
          </p:cNvCxnSpPr>
          <p:nvPr/>
        </p:nvCxnSpPr>
        <p:spPr>
          <a:xfrm>
            <a:off x="6057900" y="4090200"/>
            <a:ext cx="2440061"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1" name="Gerader Verbinder 40">
            <a:extLst>
              <a:ext uri="{FF2B5EF4-FFF2-40B4-BE49-F238E27FC236}">
                <a16:creationId xmlns:a16="http://schemas.microsoft.com/office/drawing/2014/main" id="{612F8FED-FD17-FE8D-7307-9772082DC732}"/>
              </a:ext>
            </a:extLst>
          </p:cNvPr>
          <p:cNvCxnSpPr>
            <a:stCxn id="6" idx="3"/>
            <a:endCxn id="7" idx="1"/>
          </p:cNvCxnSpPr>
          <p:nvPr/>
        </p:nvCxnSpPr>
        <p:spPr>
          <a:xfrm>
            <a:off x="13506450" y="4090200"/>
            <a:ext cx="2440061"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5" name="Verbinder: gewinkelt 44">
            <a:extLst>
              <a:ext uri="{FF2B5EF4-FFF2-40B4-BE49-F238E27FC236}">
                <a16:creationId xmlns:a16="http://schemas.microsoft.com/office/drawing/2014/main" id="{58D31512-F53A-CBF1-030D-FA16C632C691}"/>
              </a:ext>
            </a:extLst>
          </p:cNvPr>
          <p:cNvCxnSpPr>
            <a:stCxn id="7" idx="3"/>
            <a:endCxn id="8" idx="0"/>
          </p:cNvCxnSpPr>
          <p:nvPr/>
        </p:nvCxnSpPr>
        <p:spPr>
          <a:xfrm flipH="1">
            <a:off x="3553656" y="4090200"/>
            <a:ext cx="17401344" cy="3001406"/>
          </a:xfrm>
          <a:prstGeom prst="bentConnector4">
            <a:avLst>
              <a:gd name="adj1" fmla="val -1314"/>
              <a:gd name="adj2" fmla="val 6818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 name="Gerader Verbinder 46">
            <a:extLst>
              <a:ext uri="{FF2B5EF4-FFF2-40B4-BE49-F238E27FC236}">
                <a16:creationId xmlns:a16="http://schemas.microsoft.com/office/drawing/2014/main" id="{D9465B8C-F452-461A-0C43-47493ED5ABDE}"/>
              </a:ext>
            </a:extLst>
          </p:cNvPr>
          <p:cNvCxnSpPr>
            <a:stCxn id="8" idx="3"/>
            <a:endCxn id="9" idx="1"/>
          </p:cNvCxnSpPr>
          <p:nvPr/>
        </p:nvCxnSpPr>
        <p:spPr>
          <a:xfrm>
            <a:off x="6057900" y="8183007"/>
            <a:ext cx="2461043"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 name="Gerader Verbinder 48">
            <a:extLst>
              <a:ext uri="{FF2B5EF4-FFF2-40B4-BE49-F238E27FC236}">
                <a16:creationId xmlns:a16="http://schemas.microsoft.com/office/drawing/2014/main" id="{3968B5F7-5A3E-73A6-18F6-B70317F6B60E}"/>
              </a:ext>
            </a:extLst>
          </p:cNvPr>
          <p:cNvCxnSpPr>
            <a:stCxn id="9" idx="3"/>
            <a:endCxn id="10" idx="1"/>
          </p:cNvCxnSpPr>
          <p:nvPr/>
        </p:nvCxnSpPr>
        <p:spPr>
          <a:xfrm>
            <a:off x="13527432" y="8183007"/>
            <a:ext cx="2419079"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97761149"/>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80E3F-16FF-A1D3-B06D-50EA2039765C}"/>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66A206F4-3380-7D38-C6BC-E782998EFBB3}"/>
              </a:ext>
            </a:extLst>
          </p:cNvPr>
          <p:cNvSpPr>
            <a:spLocks noGrp="1"/>
          </p:cNvSpPr>
          <p:nvPr>
            <p:ph type="body" sz="quarter" idx="22"/>
          </p:nvPr>
        </p:nvSpPr>
        <p:spPr/>
        <p:txBody>
          <a:bodyPr/>
          <a:lstStyle/>
          <a:p>
            <a:r>
              <a:rPr lang="de-DE" dirty="0" err="1"/>
              <a:t>Yapay</a:t>
            </a:r>
            <a:r>
              <a:rPr lang="de-DE" dirty="0"/>
              <a:t> </a:t>
            </a:r>
            <a:r>
              <a:rPr lang="de-DE" dirty="0" err="1"/>
              <a:t>Sinir</a:t>
            </a:r>
            <a:r>
              <a:rPr lang="de-DE" dirty="0"/>
              <a:t> Ağı </a:t>
            </a:r>
            <a:r>
              <a:rPr lang="de-DE" dirty="0" err="1"/>
              <a:t>Nasıl</a:t>
            </a:r>
            <a:r>
              <a:rPr lang="de-DE" dirty="0"/>
              <a:t> </a:t>
            </a:r>
            <a:r>
              <a:rPr lang="de-DE" dirty="0" err="1"/>
              <a:t>Eğitilir</a:t>
            </a:r>
            <a:r>
              <a:rPr lang="de-DE" dirty="0"/>
              <a:t>?</a:t>
            </a:r>
          </a:p>
        </p:txBody>
      </p:sp>
      <p:pic>
        <p:nvPicPr>
          <p:cNvPr id="5" name="Grafik 4">
            <a:extLst>
              <a:ext uri="{FF2B5EF4-FFF2-40B4-BE49-F238E27FC236}">
                <a16:creationId xmlns:a16="http://schemas.microsoft.com/office/drawing/2014/main" id="{1174BB6A-4762-3211-7331-86763CFB6968}"/>
              </a:ext>
            </a:extLst>
          </p:cNvPr>
          <p:cNvPicPr>
            <a:picLocks noChangeAspect="1"/>
          </p:cNvPicPr>
          <p:nvPr/>
        </p:nvPicPr>
        <p:blipFill>
          <a:blip r:embed="rId3"/>
          <a:stretch>
            <a:fillRect/>
          </a:stretch>
        </p:blipFill>
        <p:spPr>
          <a:xfrm>
            <a:off x="4743450" y="1752979"/>
            <a:ext cx="13684250" cy="10783784"/>
          </a:xfrm>
          <a:prstGeom prst="rect">
            <a:avLst/>
          </a:prstGeom>
        </p:spPr>
      </p:pic>
    </p:spTree>
    <p:extLst>
      <p:ext uri="{BB962C8B-B14F-4D97-AF65-F5344CB8AC3E}">
        <p14:creationId xmlns:p14="http://schemas.microsoft.com/office/powerpoint/2010/main" val="1083231451"/>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dirty="0">
                <a:solidFill>
                  <a:srgbClr val="1A1A1A"/>
                </a:solidFill>
              </a:rPr>
              <a:t>Hangi </a:t>
            </a:r>
            <a:r>
              <a:rPr sz="3200" dirty="0" err="1">
                <a:solidFill>
                  <a:srgbClr val="1A1A1A"/>
                </a:solidFill>
              </a:rPr>
              <a:t>Mimariler</a:t>
            </a:r>
            <a:r>
              <a:rPr sz="3200" dirty="0">
                <a:solidFill>
                  <a:srgbClr val="1A1A1A"/>
                </a:solidFill>
              </a:rPr>
              <a:t> Var?  ·  ANN</a:t>
            </a:r>
            <a:r>
              <a:rPr lang="tr-TR" sz="3200" dirty="0">
                <a:solidFill>
                  <a:srgbClr val="1A1A1A"/>
                </a:solidFill>
              </a:rPr>
              <a:t> -  </a:t>
            </a:r>
            <a:r>
              <a:rPr lang="tr-TR" dirty="0" err="1"/>
              <a:t>Artificial</a:t>
            </a:r>
            <a:r>
              <a:rPr lang="tr-TR" dirty="0"/>
              <a:t> </a:t>
            </a:r>
            <a:r>
              <a:rPr lang="tr-TR" dirty="0" err="1"/>
              <a:t>Neural</a:t>
            </a:r>
            <a:r>
              <a:rPr lang="tr-TR" dirty="0"/>
              <a:t> Network</a:t>
            </a:r>
          </a:p>
        </p:txBody>
      </p:sp>
      <p:sp>
        <p:nvSpPr>
          <p:cNvPr id="3" name="TextBox 2"/>
          <p:cNvSpPr txBox="1"/>
          <p:nvPr/>
        </p:nvSpPr>
        <p:spPr>
          <a:xfrm>
            <a:off x="2066543" y="1874519"/>
            <a:ext cx="20244816" cy="1828800"/>
          </a:xfrm>
          <a:prstGeom prst="rect">
            <a:avLst/>
          </a:prstGeom>
          <a:noFill/>
        </p:spPr>
        <p:txBody>
          <a:bodyPr wrap="square" lIns="0" tIns="0" rIns="0" bIns="0" anchor="t">
            <a:spAutoFit/>
          </a:bodyPr>
          <a:lstStyle/>
          <a:p>
            <a:pPr algn="ctr">
              <a:lnSpc>
                <a:spcPct val="115000"/>
              </a:lnSpc>
            </a:pPr>
            <a:r>
              <a:rPr sz="4000" b="0">
                <a:solidFill>
                  <a:srgbClr val="1A1A1A"/>
                </a:solidFill>
              </a:rPr>
              <a:t>Her girdi her nörona bağlı. </a:t>
            </a:r>
            <a:r>
              <a:rPr sz="4000" b="1">
                <a:solidFill>
                  <a:srgbClr val="1A1A1A"/>
                </a:solidFill>
              </a:rPr>
              <a:t>Tablo verisinin varsayılan mimarisi.</a:t>
            </a:r>
          </a:p>
        </p:txBody>
      </p:sp>
      <p:cxnSp>
        <p:nvCxnSpPr>
          <p:cNvPr id="4" name="Connector 3"/>
          <p:cNvCxnSpPr/>
          <p:nvPr/>
        </p:nvCxnSpPr>
        <p:spPr>
          <a:xfrm>
            <a:off x="3886200" y="5280659"/>
            <a:ext cx="3200399" cy="708661"/>
          </a:xfrm>
          <a:prstGeom prst="line">
            <a:avLst/>
          </a:prstGeom>
          <a:ln w="15875">
            <a:solidFill>
              <a:srgbClr val="B6C2C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886200" y="5280659"/>
            <a:ext cx="3200399" cy="2125981"/>
          </a:xfrm>
          <a:prstGeom prst="line">
            <a:avLst/>
          </a:prstGeom>
          <a:ln w="15875">
            <a:solidFill>
              <a:srgbClr val="B6C2C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886200" y="5280659"/>
            <a:ext cx="3200399" cy="3543301"/>
          </a:xfrm>
          <a:prstGeom prst="line">
            <a:avLst/>
          </a:prstGeom>
          <a:ln w="15875">
            <a:solidFill>
              <a:srgbClr val="B6C2C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3886200" y="5989320"/>
            <a:ext cx="3200399" cy="708659"/>
          </a:xfrm>
          <a:prstGeom prst="line">
            <a:avLst/>
          </a:prstGeom>
          <a:ln w="15875">
            <a:solidFill>
              <a:srgbClr val="B6C2C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86200" y="6697979"/>
            <a:ext cx="3200399" cy="708661"/>
          </a:xfrm>
          <a:prstGeom prst="line">
            <a:avLst/>
          </a:prstGeom>
          <a:ln w="15875">
            <a:solidFill>
              <a:srgbClr val="B6C2C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6200" y="6697979"/>
            <a:ext cx="3200399" cy="2125981"/>
          </a:xfrm>
          <a:prstGeom prst="line">
            <a:avLst/>
          </a:prstGeom>
          <a:ln w="15875">
            <a:solidFill>
              <a:srgbClr val="B6C2C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3886200" y="5989320"/>
            <a:ext cx="3200399" cy="2125980"/>
          </a:xfrm>
          <a:prstGeom prst="line">
            <a:avLst/>
          </a:prstGeom>
          <a:ln w="15875">
            <a:solidFill>
              <a:srgbClr val="B6C2C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3886200" y="7406640"/>
            <a:ext cx="3200399" cy="708660"/>
          </a:xfrm>
          <a:prstGeom prst="line">
            <a:avLst/>
          </a:prstGeom>
          <a:ln w="15875">
            <a:solidFill>
              <a:srgbClr val="B6C2C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886200" y="8115300"/>
            <a:ext cx="3200399" cy="708660"/>
          </a:xfrm>
          <a:prstGeom prst="line">
            <a:avLst/>
          </a:prstGeom>
          <a:ln w="15875">
            <a:solidFill>
              <a:srgbClr val="B6C2C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886200" y="5989320"/>
            <a:ext cx="3200399" cy="3543300"/>
          </a:xfrm>
          <a:prstGeom prst="line">
            <a:avLst/>
          </a:prstGeom>
          <a:ln w="15875">
            <a:solidFill>
              <a:srgbClr val="B6C2C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886200" y="7406640"/>
            <a:ext cx="3200399" cy="2125980"/>
          </a:xfrm>
          <a:prstGeom prst="line">
            <a:avLst/>
          </a:prstGeom>
          <a:ln w="15875">
            <a:solidFill>
              <a:srgbClr val="B6C2C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886200" y="8823960"/>
            <a:ext cx="3200399" cy="708660"/>
          </a:xfrm>
          <a:prstGeom prst="line">
            <a:avLst/>
          </a:prstGeom>
          <a:ln w="15875">
            <a:solidFill>
              <a:srgbClr val="B6C2C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909559" y="5989320"/>
            <a:ext cx="3200401" cy="1417320"/>
          </a:xfrm>
          <a:prstGeom prst="line">
            <a:avLst/>
          </a:prstGeom>
          <a:ln w="15875">
            <a:solidFill>
              <a:srgbClr val="B6C2C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909559" y="7406640"/>
            <a:ext cx="3200401" cy="0"/>
          </a:xfrm>
          <a:prstGeom prst="line">
            <a:avLst/>
          </a:prstGeom>
          <a:ln w="15875">
            <a:solidFill>
              <a:srgbClr val="B6C2C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7909559" y="7406640"/>
            <a:ext cx="3200401" cy="1417320"/>
          </a:xfrm>
          <a:prstGeom prst="line">
            <a:avLst/>
          </a:prstGeom>
          <a:ln w="15875">
            <a:solidFill>
              <a:srgbClr val="B6C2CF"/>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3063240" y="4869179"/>
            <a:ext cx="822960" cy="82296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0" name="Oval 19"/>
          <p:cNvSpPr/>
          <p:nvPr/>
        </p:nvSpPr>
        <p:spPr>
          <a:xfrm>
            <a:off x="3063240" y="6286499"/>
            <a:ext cx="822960" cy="82296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1" name="Oval 20"/>
          <p:cNvSpPr/>
          <p:nvPr/>
        </p:nvSpPr>
        <p:spPr>
          <a:xfrm>
            <a:off x="3063240" y="7703820"/>
            <a:ext cx="822960" cy="82296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2" name="Oval 21"/>
          <p:cNvSpPr/>
          <p:nvPr/>
        </p:nvSpPr>
        <p:spPr>
          <a:xfrm>
            <a:off x="3063240" y="9121140"/>
            <a:ext cx="822960" cy="82296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3" name="Oval 22"/>
          <p:cNvSpPr/>
          <p:nvPr/>
        </p:nvSpPr>
        <p:spPr>
          <a:xfrm>
            <a:off x="7086599" y="5577840"/>
            <a:ext cx="822960" cy="822960"/>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4" name="Oval 23"/>
          <p:cNvSpPr/>
          <p:nvPr/>
        </p:nvSpPr>
        <p:spPr>
          <a:xfrm>
            <a:off x="7086599" y="6995159"/>
            <a:ext cx="822960" cy="822960"/>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5" name="Oval 24"/>
          <p:cNvSpPr/>
          <p:nvPr/>
        </p:nvSpPr>
        <p:spPr>
          <a:xfrm>
            <a:off x="7086599" y="8412480"/>
            <a:ext cx="822960" cy="822960"/>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6" name="Oval 25"/>
          <p:cNvSpPr/>
          <p:nvPr/>
        </p:nvSpPr>
        <p:spPr>
          <a:xfrm>
            <a:off x="11109960" y="6995159"/>
            <a:ext cx="822960" cy="822960"/>
          </a:xfrm>
          <a:prstGeom prst="ellipse">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7" name="TextBox 26"/>
          <p:cNvSpPr txBox="1"/>
          <p:nvPr/>
        </p:nvSpPr>
        <p:spPr>
          <a:xfrm>
            <a:off x="1645920" y="10058400"/>
            <a:ext cx="3657600" cy="457200"/>
          </a:xfrm>
          <a:prstGeom prst="rect">
            <a:avLst/>
          </a:prstGeom>
          <a:noFill/>
        </p:spPr>
        <p:txBody>
          <a:bodyPr wrap="square" lIns="0" tIns="0" rIns="0" bIns="0" anchor="t">
            <a:spAutoFit/>
          </a:bodyPr>
          <a:lstStyle/>
          <a:p>
            <a:pPr algn="ctr"/>
            <a:r>
              <a:rPr sz="2000" b="0">
                <a:solidFill>
                  <a:srgbClr val="6E6E6E"/>
                </a:solidFill>
              </a:rPr>
              <a:t>Girdi</a:t>
            </a:r>
          </a:p>
        </p:txBody>
      </p:sp>
      <p:sp>
        <p:nvSpPr>
          <p:cNvPr id="28" name="TextBox 27"/>
          <p:cNvSpPr txBox="1"/>
          <p:nvPr/>
        </p:nvSpPr>
        <p:spPr>
          <a:xfrm>
            <a:off x="5669279" y="10058400"/>
            <a:ext cx="3657600" cy="457200"/>
          </a:xfrm>
          <a:prstGeom prst="rect">
            <a:avLst/>
          </a:prstGeom>
          <a:noFill/>
        </p:spPr>
        <p:txBody>
          <a:bodyPr wrap="square" lIns="0" tIns="0" rIns="0" bIns="0" anchor="t">
            <a:spAutoFit/>
          </a:bodyPr>
          <a:lstStyle/>
          <a:p>
            <a:pPr algn="ctr"/>
            <a:r>
              <a:rPr sz="2000" b="0">
                <a:solidFill>
                  <a:srgbClr val="6E6E6E"/>
                </a:solidFill>
              </a:rPr>
              <a:t>Gizli katman</a:t>
            </a:r>
          </a:p>
        </p:txBody>
      </p:sp>
      <p:sp>
        <p:nvSpPr>
          <p:cNvPr id="29" name="TextBox 28"/>
          <p:cNvSpPr txBox="1"/>
          <p:nvPr/>
        </p:nvSpPr>
        <p:spPr>
          <a:xfrm>
            <a:off x="9692640" y="10058400"/>
            <a:ext cx="3657600" cy="457200"/>
          </a:xfrm>
          <a:prstGeom prst="rect">
            <a:avLst/>
          </a:prstGeom>
          <a:noFill/>
        </p:spPr>
        <p:txBody>
          <a:bodyPr wrap="square" lIns="0" tIns="0" rIns="0" bIns="0" anchor="t">
            <a:spAutoFit/>
          </a:bodyPr>
          <a:lstStyle/>
          <a:p>
            <a:pPr algn="ctr"/>
            <a:r>
              <a:rPr sz="2000" b="0">
                <a:solidFill>
                  <a:srgbClr val="6E6E6E"/>
                </a:solidFill>
              </a:rPr>
              <a:t>Çıktı</a:t>
            </a:r>
          </a:p>
        </p:txBody>
      </p:sp>
      <p:sp>
        <p:nvSpPr>
          <p:cNvPr id="30" name="Rounded Rectangle 29"/>
          <p:cNvSpPr/>
          <p:nvPr/>
        </p:nvSpPr>
        <p:spPr>
          <a:xfrm>
            <a:off x="14264640" y="4206240"/>
            <a:ext cx="8659368" cy="6400800"/>
          </a:xfrm>
          <a:prstGeom prst="roundRect">
            <a:avLst>
              <a:gd name="adj" fmla="val 5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31" name="Rounded Rectangle 30"/>
          <p:cNvSpPr/>
          <p:nvPr/>
        </p:nvSpPr>
        <p:spPr>
          <a:xfrm>
            <a:off x="14950440" y="4846320"/>
            <a:ext cx="1284732" cy="566928"/>
          </a:xfrm>
          <a:prstGeom prst="roundRect">
            <a:avLst>
              <a:gd name="adj" fmla="val 42000"/>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900" b="1">
                <a:solidFill>
                  <a:srgbClr val="FFFFFF"/>
                </a:solidFill>
              </a:rPr>
              <a:t>ANN</a:t>
            </a:r>
          </a:p>
        </p:txBody>
      </p:sp>
      <p:sp>
        <p:nvSpPr>
          <p:cNvPr id="32" name="TextBox 31"/>
          <p:cNvSpPr txBox="1"/>
          <p:nvPr/>
        </p:nvSpPr>
        <p:spPr>
          <a:xfrm>
            <a:off x="14950440" y="5897879"/>
            <a:ext cx="7287768" cy="411480"/>
          </a:xfrm>
          <a:prstGeom prst="rect">
            <a:avLst/>
          </a:prstGeom>
          <a:noFill/>
        </p:spPr>
        <p:txBody>
          <a:bodyPr wrap="square" lIns="0" tIns="0" rIns="0" bIns="0" anchor="t">
            <a:spAutoFit/>
          </a:bodyPr>
          <a:lstStyle/>
          <a:p>
            <a:pPr algn="l"/>
            <a:r>
              <a:rPr sz="1900" b="1">
                <a:solidFill>
                  <a:srgbClr val="C08A2E"/>
                </a:solidFill>
              </a:rPr>
              <a:t>NE İÇİN</a:t>
            </a:r>
          </a:p>
        </p:txBody>
      </p:sp>
      <p:sp>
        <p:nvSpPr>
          <p:cNvPr id="33" name="TextBox 32"/>
          <p:cNvSpPr txBox="1"/>
          <p:nvPr/>
        </p:nvSpPr>
        <p:spPr>
          <a:xfrm>
            <a:off x="14950440" y="6400799"/>
            <a:ext cx="7287768" cy="1188720"/>
          </a:xfrm>
          <a:prstGeom prst="rect">
            <a:avLst/>
          </a:prstGeom>
          <a:noFill/>
        </p:spPr>
        <p:txBody>
          <a:bodyPr wrap="square" lIns="0" tIns="0" rIns="0" bIns="0" anchor="t">
            <a:spAutoFit/>
          </a:bodyPr>
          <a:lstStyle/>
          <a:p>
            <a:pPr algn="l">
              <a:lnSpc>
                <a:spcPct val="125000"/>
              </a:lnSpc>
            </a:pPr>
            <a:r>
              <a:rPr sz="2300" b="0">
                <a:solidFill>
                  <a:srgbClr val="1A1A1A"/>
                </a:solidFill>
              </a:rPr>
              <a:t>Satır–sütun, yani tablo verisi</a:t>
            </a:r>
          </a:p>
        </p:txBody>
      </p:sp>
      <p:sp>
        <p:nvSpPr>
          <p:cNvPr id="34" name="TextBox 33"/>
          <p:cNvSpPr txBox="1"/>
          <p:nvPr/>
        </p:nvSpPr>
        <p:spPr>
          <a:xfrm>
            <a:off x="14950440" y="7498079"/>
            <a:ext cx="7287768" cy="411480"/>
          </a:xfrm>
          <a:prstGeom prst="rect">
            <a:avLst/>
          </a:prstGeom>
          <a:noFill/>
        </p:spPr>
        <p:txBody>
          <a:bodyPr wrap="square" lIns="0" tIns="0" rIns="0" bIns="0" anchor="t">
            <a:spAutoFit/>
          </a:bodyPr>
          <a:lstStyle/>
          <a:p>
            <a:pPr algn="l"/>
            <a:r>
              <a:rPr sz="1900" b="1">
                <a:solidFill>
                  <a:srgbClr val="C08A2E"/>
                </a:solidFill>
              </a:rPr>
              <a:t>ANAHTAR FİKİR</a:t>
            </a:r>
          </a:p>
        </p:txBody>
      </p:sp>
      <p:sp>
        <p:nvSpPr>
          <p:cNvPr id="35" name="TextBox 34"/>
          <p:cNvSpPr txBox="1"/>
          <p:nvPr/>
        </p:nvSpPr>
        <p:spPr>
          <a:xfrm>
            <a:off x="14950440" y="8001000"/>
            <a:ext cx="7287768" cy="1188720"/>
          </a:xfrm>
          <a:prstGeom prst="rect">
            <a:avLst/>
          </a:prstGeom>
          <a:noFill/>
        </p:spPr>
        <p:txBody>
          <a:bodyPr wrap="square" lIns="0" tIns="0" rIns="0" bIns="0" anchor="t">
            <a:spAutoFit/>
          </a:bodyPr>
          <a:lstStyle/>
          <a:p>
            <a:pPr algn="l">
              <a:lnSpc>
                <a:spcPct val="125000"/>
              </a:lnSpc>
            </a:pPr>
            <a:r>
              <a:rPr sz="2300" b="0">
                <a:solidFill>
                  <a:srgbClr val="1A1A1A"/>
                </a:solidFill>
              </a:rPr>
              <a:t>Tam bağlantılı katmanlar (fully connected)</a:t>
            </a:r>
          </a:p>
        </p:txBody>
      </p:sp>
      <p:sp>
        <p:nvSpPr>
          <p:cNvPr id="36" name="TextBox 35"/>
          <p:cNvSpPr txBox="1"/>
          <p:nvPr/>
        </p:nvSpPr>
        <p:spPr>
          <a:xfrm>
            <a:off x="14950440" y="9098280"/>
            <a:ext cx="7287768" cy="411480"/>
          </a:xfrm>
          <a:prstGeom prst="rect">
            <a:avLst/>
          </a:prstGeom>
          <a:noFill/>
        </p:spPr>
        <p:txBody>
          <a:bodyPr wrap="square" lIns="0" tIns="0" rIns="0" bIns="0" anchor="t">
            <a:spAutoFit/>
          </a:bodyPr>
          <a:lstStyle/>
          <a:p>
            <a:pPr algn="l"/>
            <a:r>
              <a:rPr sz="1900" b="1">
                <a:solidFill>
                  <a:srgbClr val="C08A2E"/>
                </a:solidFill>
              </a:rPr>
              <a:t>SINIRI</a:t>
            </a:r>
          </a:p>
        </p:txBody>
      </p:sp>
      <p:sp>
        <p:nvSpPr>
          <p:cNvPr id="37" name="TextBox 36"/>
          <p:cNvSpPr txBox="1"/>
          <p:nvPr/>
        </p:nvSpPr>
        <p:spPr>
          <a:xfrm>
            <a:off x="14950440" y="9601200"/>
            <a:ext cx="7287768" cy="1188720"/>
          </a:xfrm>
          <a:prstGeom prst="rect">
            <a:avLst/>
          </a:prstGeom>
          <a:noFill/>
        </p:spPr>
        <p:txBody>
          <a:bodyPr wrap="square" lIns="0" tIns="0" rIns="0" bIns="0" anchor="t">
            <a:spAutoFit/>
          </a:bodyPr>
          <a:lstStyle/>
          <a:p>
            <a:pPr algn="l">
              <a:lnSpc>
                <a:spcPct val="125000"/>
              </a:lnSpc>
            </a:pPr>
            <a:r>
              <a:rPr sz="2300" b="0">
                <a:solidFill>
                  <a:srgbClr val="1A1A1A"/>
                </a:solidFill>
              </a:rPr>
              <a:t>Sıra ve konum bilgisi taşımaz</a:t>
            </a:r>
          </a:p>
        </p:txBody>
      </p:sp>
      <p:sp>
        <p:nvSpPr>
          <p:cNvPr id="38" name="Rectangle 37"/>
          <p:cNvSpPr/>
          <p:nvPr/>
        </p:nvSpPr>
        <p:spPr>
          <a:xfrm>
            <a:off x="1280160" y="11292840"/>
            <a:ext cx="21826728" cy="1188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39" name="TextBox 38"/>
          <p:cNvSpPr txBox="1"/>
          <p:nvPr/>
        </p:nvSpPr>
        <p:spPr>
          <a:xfrm>
            <a:off x="2011680" y="11292840"/>
            <a:ext cx="20363688" cy="1188720"/>
          </a:xfrm>
          <a:prstGeom prst="rect">
            <a:avLst/>
          </a:prstGeom>
          <a:noFill/>
        </p:spPr>
        <p:txBody>
          <a:bodyPr wrap="square" lIns="0" tIns="0" rIns="0" bIns="0" anchor="ctr">
            <a:spAutoFit/>
          </a:bodyPr>
          <a:lstStyle/>
          <a:p>
            <a:pPr algn="ctr">
              <a:lnSpc>
                <a:spcPct val="120000"/>
              </a:lnSpc>
            </a:pPr>
            <a:r>
              <a:rPr sz="2300" b="0">
                <a:solidFill>
                  <a:srgbClr val="15263F"/>
                </a:solidFill>
              </a:rPr>
              <a:t>Az önce baştan sona kurduğumuz ağ buydu. </a:t>
            </a:r>
            <a:r>
              <a:rPr sz="2300" b="1">
                <a:solidFill>
                  <a:srgbClr val="15263F"/>
                </a:solidFill>
              </a:rPr>
              <a:t>Diğer üçü, bu yapının farklı veri tipleri için özelleşmiş hâli.</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rPr>
              <a:t>Hangi Mimariler Var?  ·  CNN</a:t>
            </a:r>
          </a:p>
        </p:txBody>
      </p:sp>
      <p:sp>
        <p:nvSpPr>
          <p:cNvPr id="3" name="TextBox 2"/>
          <p:cNvSpPr txBox="1"/>
          <p:nvPr/>
        </p:nvSpPr>
        <p:spPr>
          <a:xfrm>
            <a:off x="2066543" y="1874519"/>
            <a:ext cx="20244816" cy="1828800"/>
          </a:xfrm>
          <a:prstGeom prst="rect">
            <a:avLst/>
          </a:prstGeom>
          <a:noFill/>
        </p:spPr>
        <p:txBody>
          <a:bodyPr wrap="square" lIns="0" tIns="0" rIns="0" bIns="0" anchor="t">
            <a:spAutoFit/>
          </a:bodyPr>
          <a:lstStyle/>
          <a:p>
            <a:pPr algn="ctr">
              <a:lnSpc>
                <a:spcPct val="115000"/>
              </a:lnSpc>
            </a:pPr>
            <a:r>
              <a:rPr sz="4000" b="0">
                <a:solidFill>
                  <a:srgbClr val="1A1A1A"/>
                </a:solidFill>
              </a:rPr>
              <a:t>Görüntüden öznitelikleri </a:t>
            </a:r>
            <a:r>
              <a:rPr sz="4000" b="1">
                <a:solidFill>
                  <a:srgbClr val="1A1A1A"/>
                </a:solidFill>
              </a:rPr>
              <a:t>katman katman kendisi çıkarır</a:t>
            </a:r>
            <a:r>
              <a:rPr sz="4000" b="0">
                <a:solidFill>
                  <a:srgbClr val="1A1A1A"/>
                </a:solidFill>
              </a:rPr>
              <a:t>, sonuna da bir sinir ağı ekler.</a:t>
            </a:r>
          </a:p>
        </p:txBody>
      </p:sp>
      <p:sp>
        <p:nvSpPr>
          <p:cNvPr id="4" name="Rectangle 3"/>
          <p:cNvSpPr/>
          <p:nvPr/>
        </p:nvSpPr>
        <p:spPr>
          <a:xfrm>
            <a:off x="1554480" y="5715000"/>
            <a:ext cx="2103120" cy="2194560"/>
          </a:xfrm>
          <a:prstGeom prst="rect">
            <a:avLst/>
          </a:prstGeom>
          <a:solidFill>
            <a:srgbClr val="FFFFFF"/>
          </a:solidFill>
          <a:ln w="19050">
            <a:solidFill>
              <a:srgbClr val="B6C2C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5" name="Rectangle 4"/>
          <p:cNvSpPr/>
          <p:nvPr/>
        </p:nvSpPr>
        <p:spPr>
          <a:xfrm>
            <a:off x="1783080" y="5943600"/>
            <a:ext cx="182880" cy="173736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6" name="Rectangle 5"/>
          <p:cNvSpPr/>
          <p:nvPr/>
        </p:nvSpPr>
        <p:spPr>
          <a:xfrm>
            <a:off x="2148840" y="5943600"/>
            <a:ext cx="182880" cy="173736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7" name="Rectangle 6"/>
          <p:cNvSpPr/>
          <p:nvPr/>
        </p:nvSpPr>
        <p:spPr>
          <a:xfrm>
            <a:off x="2514600" y="5943600"/>
            <a:ext cx="182880" cy="173736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8" name="Rectangle 7"/>
          <p:cNvSpPr/>
          <p:nvPr/>
        </p:nvSpPr>
        <p:spPr>
          <a:xfrm>
            <a:off x="2880360" y="5943600"/>
            <a:ext cx="182880" cy="173736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9" name="Rectangle 8"/>
          <p:cNvSpPr/>
          <p:nvPr/>
        </p:nvSpPr>
        <p:spPr>
          <a:xfrm>
            <a:off x="3246120" y="5943600"/>
            <a:ext cx="182880" cy="173736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0" name="Rectangle 9"/>
          <p:cNvSpPr/>
          <p:nvPr/>
        </p:nvSpPr>
        <p:spPr>
          <a:xfrm>
            <a:off x="2606040" y="6858000"/>
            <a:ext cx="502920" cy="502920"/>
          </a:xfrm>
          <a:prstGeom prst="rect">
            <a:avLst/>
          </a:prstGeom>
          <a:noFill/>
          <a:ln w="31750">
            <a:solidFill>
              <a:srgbClr val="C08A2E"/>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1" name="TextBox 10"/>
          <p:cNvSpPr txBox="1"/>
          <p:nvPr/>
        </p:nvSpPr>
        <p:spPr>
          <a:xfrm>
            <a:off x="1188720" y="8138160"/>
            <a:ext cx="2834640" cy="457200"/>
          </a:xfrm>
          <a:prstGeom prst="rect">
            <a:avLst/>
          </a:prstGeom>
          <a:noFill/>
        </p:spPr>
        <p:txBody>
          <a:bodyPr wrap="square" lIns="0" tIns="0" rIns="0" bIns="0" anchor="t">
            <a:spAutoFit/>
          </a:bodyPr>
          <a:lstStyle/>
          <a:p>
            <a:pPr algn="ctr"/>
            <a:r>
              <a:rPr sz="1900" b="0">
                <a:solidFill>
                  <a:srgbClr val="6E6E6E"/>
                </a:solidFill>
              </a:rPr>
              <a:t>Girdi görüntü</a:t>
            </a:r>
          </a:p>
        </p:txBody>
      </p:sp>
      <p:sp>
        <p:nvSpPr>
          <p:cNvPr id="12" name="TextBox 11"/>
          <p:cNvSpPr txBox="1"/>
          <p:nvPr/>
        </p:nvSpPr>
        <p:spPr>
          <a:xfrm>
            <a:off x="1188720" y="8595360"/>
            <a:ext cx="2834640" cy="457200"/>
          </a:xfrm>
          <a:prstGeom prst="rect">
            <a:avLst/>
          </a:prstGeom>
          <a:noFill/>
        </p:spPr>
        <p:txBody>
          <a:bodyPr wrap="square" lIns="0" tIns="0" rIns="0" bIns="0" anchor="t">
            <a:spAutoFit/>
          </a:bodyPr>
          <a:lstStyle/>
          <a:p>
            <a:pPr algn="ctr"/>
            <a:r>
              <a:rPr sz="1700" b="0">
                <a:solidFill>
                  <a:srgbClr val="C08A2E"/>
                </a:solidFill>
              </a:rPr>
              <a:t>+ filtre (kernel)</a:t>
            </a:r>
          </a:p>
        </p:txBody>
      </p:sp>
      <p:sp>
        <p:nvSpPr>
          <p:cNvPr id="13" name="Isosceles Triangle 12"/>
          <p:cNvSpPr/>
          <p:nvPr/>
        </p:nvSpPr>
        <p:spPr>
          <a:xfrm rot="5400000">
            <a:off x="3931920" y="6656832"/>
            <a:ext cx="310896" cy="310896"/>
          </a:xfrm>
          <a:prstGeom prst="triangle">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4" name="Rectangle 13"/>
          <p:cNvSpPr/>
          <p:nvPr/>
        </p:nvSpPr>
        <p:spPr>
          <a:xfrm>
            <a:off x="4526280" y="5852160"/>
            <a:ext cx="1920240" cy="192024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5" name="Rectangle 14"/>
          <p:cNvSpPr/>
          <p:nvPr/>
        </p:nvSpPr>
        <p:spPr>
          <a:xfrm>
            <a:off x="4745736" y="6071616"/>
            <a:ext cx="1920240" cy="192024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6" name="Rectangle 15"/>
          <p:cNvSpPr/>
          <p:nvPr/>
        </p:nvSpPr>
        <p:spPr>
          <a:xfrm>
            <a:off x="4965192" y="6291072"/>
            <a:ext cx="1920240" cy="192024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7" name="TextBox 16"/>
          <p:cNvSpPr txBox="1"/>
          <p:nvPr/>
        </p:nvSpPr>
        <p:spPr>
          <a:xfrm>
            <a:off x="4206240" y="8138160"/>
            <a:ext cx="2743200" cy="457200"/>
          </a:xfrm>
          <a:prstGeom prst="rect">
            <a:avLst/>
          </a:prstGeom>
          <a:noFill/>
        </p:spPr>
        <p:txBody>
          <a:bodyPr wrap="square" lIns="0" tIns="0" rIns="0" bIns="0" anchor="t">
            <a:spAutoFit/>
          </a:bodyPr>
          <a:lstStyle/>
          <a:p>
            <a:pPr algn="ctr">
              <a:lnSpc>
                <a:spcPct val="115000"/>
              </a:lnSpc>
            </a:pPr>
            <a:r>
              <a:rPr sz="1900" b="0">
                <a:solidFill>
                  <a:srgbClr val="6E6E6E"/>
                </a:solidFill>
              </a:rPr>
              <a:t>Convolution
+ ReLU</a:t>
            </a:r>
          </a:p>
        </p:txBody>
      </p:sp>
      <p:sp>
        <p:nvSpPr>
          <p:cNvPr id="18" name="Isosceles Triangle 17"/>
          <p:cNvSpPr/>
          <p:nvPr/>
        </p:nvSpPr>
        <p:spPr>
          <a:xfrm rot="5400000">
            <a:off x="7205472" y="6656832"/>
            <a:ext cx="310896" cy="310896"/>
          </a:xfrm>
          <a:prstGeom prst="triangle">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9" name="Rectangle 18"/>
          <p:cNvSpPr/>
          <p:nvPr/>
        </p:nvSpPr>
        <p:spPr>
          <a:xfrm>
            <a:off x="7589520" y="6035040"/>
            <a:ext cx="1554480" cy="155448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0" name="Rectangle 19"/>
          <p:cNvSpPr/>
          <p:nvPr/>
        </p:nvSpPr>
        <p:spPr>
          <a:xfrm>
            <a:off x="7772400" y="6217920"/>
            <a:ext cx="1554480" cy="155448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1" name="Rectangle 20"/>
          <p:cNvSpPr/>
          <p:nvPr/>
        </p:nvSpPr>
        <p:spPr>
          <a:xfrm>
            <a:off x="7955280" y="6400800"/>
            <a:ext cx="1554480" cy="155448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2" name="Rectangle 21"/>
          <p:cNvSpPr/>
          <p:nvPr/>
        </p:nvSpPr>
        <p:spPr>
          <a:xfrm>
            <a:off x="8138160" y="6583680"/>
            <a:ext cx="1554480" cy="155448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3" name="TextBox 22"/>
          <p:cNvSpPr txBox="1"/>
          <p:nvPr/>
        </p:nvSpPr>
        <p:spPr>
          <a:xfrm>
            <a:off x="7315200" y="8138160"/>
            <a:ext cx="2377440" cy="457200"/>
          </a:xfrm>
          <a:prstGeom prst="rect">
            <a:avLst/>
          </a:prstGeom>
          <a:noFill/>
        </p:spPr>
        <p:txBody>
          <a:bodyPr wrap="square" lIns="0" tIns="0" rIns="0" bIns="0" anchor="t">
            <a:spAutoFit/>
          </a:bodyPr>
          <a:lstStyle/>
          <a:p>
            <a:pPr algn="ctr">
              <a:lnSpc>
                <a:spcPct val="115000"/>
              </a:lnSpc>
            </a:pPr>
            <a:r>
              <a:rPr sz="1900" b="0">
                <a:solidFill>
                  <a:srgbClr val="6E6E6E"/>
                </a:solidFill>
              </a:rPr>
              <a:t>Pooling
+ Convolution</a:t>
            </a:r>
          </a:p>
        </p:txBody>
      </p:sp>
      <p:sp>
        <p:nvSpPr>
          <p:cNvPr id="24" name="Isosceles Triangle 23"/>
          <p:cNvSpPr/>
          <p:nvPr/>
        </p:nvSpPr>
        <p:spPr>
          <a:xfrm rot="5400000">
            <a:off x="10012680" y="6656832"/>
            <a:ext cx="310896" cy="310896"/>
          </a:xfrm>
          <a:prstGeom prst="triangle">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5" name="Rectangle 24"/>
          <p:cNvSpPr/>
          <p:nvPr/>
        </p:nvSpPr>
        <p:spPr>
          <a:xfrm>
            <a:off x="10287000" y="6217920"/>
            <a:ext cx="1188720" cy="118872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6" name="Rectangle 25"/>
          <p:cNvSpPr/>
          <p:nvPr/>
        </p:nvSpPr>
        <p:spPr>
          <a:xfrm>
            <a:off x="10433304" y="6364224"/>
            <a:ext cx="1188720" cy="118872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7" name="Rectangle 26"/>
          <p:cNvSpPr/>
          <p:nvPr/>
        </p:nvSpPr>
        <p:spPr>
          <a:xfrm>
            <a:off x="10579608" y="6510528"/>
            <a:ext cx="1188720" cy="118872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8" name="Rectangle 27"/>
          <p:cNvSpPr/>
          <p:nvPr/>
        </p:nvSpPr>
        <p:spPr>
          <a:xfrm>
            <a:off x="10725912" y="6656831"/>
            <a:ext cx="1188720" cy="118872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9" name="Rectangle 28"/>
          <p:cNvSpPr/>
          <p:nvPr/>
        </p:nvSpPr>
        <p:spPr>
          <a:xfrm>
            <a:off x="10872216" y="6803136"/>
            <a:ext cx="1188720" cy="118872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30" name="TextBox 29"/>
          <p:cNvSpPr txBox="1"/>
          <p:nvPr/>
        </p:nvSpPr>
        <p:spPr>
          <a:xfrm>
            <a:off x="10058400" y="8138160"/>
            <a:ext cx="2194560" cy="457200"/>
          </a:xfrm>
          <a:prstGeom prst="rect">
            <a:avLst/>
          </a:prstGeom>
          <a:noFill/>
        </p:spPr>
        <p:txBody>
          <a:bodyPr wrap="square" lIns="0" tIns="0" rIns="0" bIns="0" anchor="t">
            <a:spAutoFit/>
          </a:bodyPr>
          <a:lstStyle/>
          <a:p>
            <a:pPr algn="ctr"/>
            <a:r>
              <a:rPr sz="1900" b="0">
                <a:solidFill>
                  <a:srgbClr val="6E6E6E"/>
                </a:solidFill>
              </a:rPr>
              <a:t>Pooling</a:t>
            </a:r>
          </a:p>
        </p:txBody>
      </p:sp>
      <p:sp>
        <p:nvSpPr>
          <p:cNvPr id="31" name="Isosceles Triangle 30"/>
          <p:cNvSpPr/>
          <p:nvPr/>
        </p:nvSpPr>
        <p:spPr>
          <a:xfrm rot="5400000">
            <a:off x="12380976" y="6656832"/>
            <a:ext cx="310896" cy="310896"/>
          </a:xfrm>
          <a:prstGeom prst="triangle">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32" name="Rectangle 31"/>
          <p:cNvSpPr/>
          <p:nvPr/>
        </p:nvSpPr>
        <p:spPr>
          <a:xfrm>
            <a:off x="12664440" y="4892040"/>
            <a:ext cx="411480" cy="3840480"/>
          </a:xfrm>
          <a:prstGeom prst="rect">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33" name="TextBox 32"/>
          <p:cNvSpPr txBox="1"/>
          <p:nvPr/>
        </p:nvSpPr>
        <p:spPr>
          <a:xfrm>
            <a:off x="11750040" y="8869680"/>
            <a:ext cx="2240280" cy="457200"/>
          </a:xfrm>
          <a:prstGeom prst="rect">
            <a:avLst/>
          </a:prstGeom>
          <a:noFill/>
        </p:spPr>
        <p:txBody>
          <a:bodyPr wrap="square" lIns="0" tIns="0" rIns="0" bIns="0" anchor="t">
            <a:spAutoFit/>
          </a:bodyPr>
          <a:lstStyle/>
          <a:p>
            <a:pPr algn="ctr"/>
            <a:r>
              <a:rPr sz="1900" b="0">
                <a:solidFill>
                  <a:srgbClr val="6E6E6E"/>
                </a:solidFill>
              </a:rPr>
              <a:t>Flatten</a:t>
            </a:r>
          </a:p>
        </p:txBody>
      </p:sp>
      <p:sp>
        <p:nvSpPr>
          <p:cNvPr id="34" name="Isosceles Triangle 33"/>
          <p:cNvSpPr/>
          <p:nvPr/>
        </p:nvSpPr>
        <p:spPr>
          <a:xfrm rot="5400000">
            <a:off x="13350240" y="6656832"/>
            <a:ext cx="310896" cy="310896"/>
          </a:xfrm>
          <a:prstGeom prst="triangle">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cxnSp>
        <p:nvCxnSpPr>
          <p:cNvPr id="35" name="Connector 34"/>
          <p:cNvCxnSpPr/>
          <p:nvPr/>
        </p:nvCxnSpPr>
        <p:spPr>
          <a:xfrm>
            <a:off x="14292072" y="5111496"/>
            <a:ext cx="149961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4292072" y="5111496"/>
            <a:ext cx="1499616"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4292072" y="5111496"/>
            <a:ext cx="1499616" cy="170078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4292072" y="5111496"/>
            <a:ext cx="1499616" cy="2267712"/>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4292072" y="5111496"/>
            <a:ext cx="1499616" cy="2834640"/>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4292072" y="5678424"/>
            <a:ext cx="1499616" cy="0"/>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4292072" y="5678424"/>
            <a:ext cx="149961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4292072" y="5678424"/>
            <a:ext cx="1499616"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4292072" y="5678424"/>
            <a:ext cx="1499616" cy="170078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4292072" y="5678424"/>
            <a:ext cx="1499616" cy="2267712"/>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4292072" y="5678424"/>
            <a:ext cx="149961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4292072" y="6245352"/>
            <a:ext cx="1499616" cy="0"/>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4292072" y="6245352"/>
            <a:ext cx="149961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4292072" y="6245352"/>
            <a:ext cx="1499616"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4292072" y="6245352"/>
            <a:ext cx="1499616" cy="170078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4292072" y="5678424"/>
            <a:ext cx="1499616" cy="1133855"/>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4292072" y="6245352"/>
            <a:ext cx="1499616" cy="566927"/>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4292072" y="6812279"/>
            <a:ext cx="1499616" cy="1"/>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4292072" y="6812279"/>
            <a:ext cx="1499616" cy="566929"/>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4292072" y="6812279"/>
            <a:ext cx="1499616" cy="1133857"/>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14292072" y="5678424"/>
            <a:ext cx="1499616" cy="170078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14292072" y="6245352"/>
            <a:ext cx="1499616"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14292072" y="6812280"/>
            <a:ext cx="149961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4292072" y="7379208"/>
            <a:ext cx="1499616" cy="0"/>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4292072" y="7379208"/>
            <a:ext cx="149961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14292072" y="5678424"/>
            <a:ext cx="1499616" cy="2267712"/>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14292072" y="6245352"/>
            <a:ext cx="1499616" cy="170078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14292072" y="6812280"/>
            <a:ext cx="1499616"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14292072" y="7379208"/>
            <a:ext cx="149961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4292072" y="7946136"/>
            <a:ext cx="1499616" cy="0"/>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14292072" y="5678424"/>
            <a:ext cx="1499616" cy="2834639"/>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14292072" y="6245352"/>
            <a:ext cx="1499616" cy="2267711"/>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14292072" y="6812280"/>
            <a:ext cx="1499616" cy="1700783"/>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14292072" y="7379208"/>
            <a:ext cx="1499616" cy="1133855"/>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14292072" y="7946136"/>
            <a:ext cx="1499616" cy="566927"/>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6120872" y="5678424"/>
            <a:ext cx="140817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6120872" y="5678424"/>
            <a:ext cx="1408176"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6120872" y="5678424"/>
            <a:ext cx="1408176" cy="170078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6120872" y="6245352"/>
            <a:ext cx="1408176" cy="0"/>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6120872" y="6245352"/>
            <a:ext cx="140817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6120872" y="6245352"/>
            <a:ext cx="1408176"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6120872" y="6245352"/>
            <a:ext cx="140817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6120872" y="6812280"/>
            <a:ext cx="1408176" cy="0"/>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6120872" y="6812280"/>
            <a:ext cx="140817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16120872" y="6245352"/>
            <a:ext cx="1408176"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16120872" y="6812280"/>
            <a:ext cx="140817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6120872" y="7379208"/>
            <a:ext cx="1408176" cy="0"/>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6120872" y="6245352"/>
            <a:ext cx="1408176" cy="170078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16120872" y="6812280"/>
            <a:ext cx="1408176"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6120872" y="7379208"/>
            <a:ext cx="140817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3075920" y="5111496"/>
            <a:ext cx="886968" cy="170078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3075920" y="5678424"/>
            <a:ext cx="886968"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13075920" y="6245352"/>
            <a:ext cx="886968"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3075920" y="6812279"/>
            <a:ext cx="886968" cy="1"/>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3075920" y="6812280"/>
            <a:ext cx="886968"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13075920" y="6812280"/>
            <a:ext cx="886968"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13075920" y="6812280"/>
            <a:ext cx="886968" cy="1700783"/>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sp>
        <p:nvSpPr>
          <p:cNvPr id="92" name="Oval 91"/>
          <p:cNvSpPr/>
          <p:nvPr/>
        </p:nvSpPr>
        <p:spPr>
          <a:xfrm>
            <a:off x="13962888" y="4946904"/>
            <a:ext cx="329184" cy="329184"/>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93" name="Oval 92"/>
          <p:cNvSpPr/>
          <p:nvPr/>
        </p:nvSpPr>
        <p:spPr>
          <a:xfrm>
            <a:off x="13962888" y="5513832"/>
            <a:ext cx="329184" cy="329184"/>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94" name="Oval 93"/>
          <p:cNvSpPr/>
          <p:nvPr/>
        </p:nvSpPr>
        <p:spPr>
          <a:xfrm>
            <a:off x="13962888" y="6080760"/>
            <a:ext cx="329184" cy="329184"/>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95" name="Oval 94"/>
          <p:cNvSpPr/>
          <p:nvPr/>
        </p:nvSpPr>
        <p:spPr>
          <a:xfrm>
            <a:off x="13962888" y="6647688"/>
            <a:ext cx="329184" cy="329184"/>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96" name="Oval 95"/>
          <p:cNvSpPr/>
          <p:nvPr/>
        </p:nvSpPr>
        <p:spPr>
          <a:xfrm>
            <a:off x="13962888" y="7214616"/>
            <a:ext cx="329184" cy="329184"/>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97" name="Oval 96"/>
          <p:cNvSpPr/>
          <p:nvPr/>
        </p:nvSpPr>
        <p:spPr>
          <a:xfrm>
            <a:off x="13962888" y="7781544"/>
            <a:ext cx="329184" cy="329184"/>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98" name="Oval 97"/>
          <p:cNvSpPr/>
          <p:nvPr/>
        </p:nvSpPr>
        <p:spPr>
          <a:xfrm>
            <a:off x="13962888" y="8348471"/>
            <a:ext cx="329184" cy="329184"/>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99" name="Oval 98"/>
          <p:cNvSpPr/>
          <p:nvPr/>
        </p:nvSpPr>
        <p:spPr>
          <a:xfrm>
            <a:off x="15791688" y="5513832"/>
            <a:ext cx="329184" cy="329184"/>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00" name="Oval 99"/>
          <p:cNvSpPr/>
          <p:nvPr/>
        </p:nvSpPr>
        <p:spPr>
          <a:xfrm>
            <a:off x="15791688" y="6080760"/>
            <a:ext cx="329184" cy="329184"/>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01" name="Oval 100"/>
          <p:cNvSpPr/>
          <p:nvPr/>
        </p:nvSpPr>
        <p:spPr>
          <a:xfrm>
            <a:off x="15791688" y="6647688"/>
            <a:ext cx="329184" cy="329184"/>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02" name="Oval 101"/>
          <p:cNvSpPr/>
          <p:nvPr/>
        </p:nvSpPr>
        <p:spPr>
          <a:xfrm>
            <a:off x="15791688" y="7214616"/>
            <a:ext cx="329184" cy="329184"/>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03" name="Oval 102"/>
          <p:cNvSpPr/>
          <p:nvPr/>
        </p:nvSpPr>
        <p:spPr>
          <a:xfrm>
            <a:off x="15791688" y="7781544"/>
            <a:ext cx="329184" cy="329184"/>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04" name="Oval 103"/>
          <p:cNvSpPr/>
          <p:nvPr/>
        </p:nvSpPr>
        <p:spPr>
          <a:xfrm>
            <a:off x="17529048" y="6080760"/>
            <a:ext cx="329184" cy="329184"/>
          </a:xfrm>
          <a:prstGeom prst="ellipse">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05" name="Oval 104"/>
          <p:cNvSpPr/>
          <p:nvPr/>
        </p:nvSpPr>
        <p:spPr>
          <a:xfrm>
            <a:off x="17529048" y="6647688"/>
            <a:ext cx="329184" cy="329184"/>
          </a:xfrm>
          <a:prstGeom prst="ellipse">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06" name="Oval 105"/>
          <p:cNvSpPr/>
          <p:nvPr/>
        </p:nvSpPr>
        <p:spPr>
          <a:xfrm>
            <a:off x="17529048" y="7214616"/>
            <a:ext cx="329184" cy="329184"/>
          </a:xfrm>
          <a:prstGeom prst="ellipse">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07" name="TextBox 106"/>
          <p:cNvSpPr txBox="1"/>
          <p:nvPr/>
        </p:nvSpPr>
        <p:spPr>
          <a:xfrm>
            <a:off x="13898880" y="8869680"/>
            <a:ext cx="4206240" cy="457200"/>
          </a:xfrm>
          <a:prstGeom prst="rect">
            <a:avLst/>
          </a:prstGeom>
          <a:noFill/>
        </p:spPr>
        <p:txBody>
          <a:bodyPr wrap="square" lIns="0" tIns="0" rIns="0" bIns="0" anchor="t">
            <a:spAutoFit/>
          </a:bodyPr>
          <a:lstStyle/>
          <a:p>
            <a:pPr algn="ctr"/>
            <a:r>
              <a:rPr sz="1900" b="0">
                <a:solidFill>
                  <a:srgbClr val="6E6E6E"/>
                </a:solidFill>
              </a:rPr>
              <a:t>Fully Connected Layer</a:t>
            </a:r>
          </a:p>
        </p:txBody>
      </p:sp>
      <p:sp>
        <p:nvSpPr>
          <p:cNvPr id="108" name="Isosceles Triangle 107"/>
          <p:cNvSpPr/>
          <p:nvPr/>
        </p:nvSpPr>
        <p:spPr>
          <a:xfrm rot="5400000">
            <a:off x="18608040" y="6656832"/>
            <a:ext cx="310896" cy="310896"/>
          </a:xfrm>
          <a:prstGeom prst="triangle">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cxnSp>
        <p:nvCxnSpPr>
          <p:cNvPr id="109" name="Connector 108"/>
          <p:cNvCxnSpPr/>
          <p:nvPr/>
        </p:nvCxnSpPr>
        <p:spPr>
          <a:xfrm flipV="1">
            <a:off x="17858232" y="6044184"/>
            <a:ext cx="1389888" cy="20116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17858232" y="6044184"/>
            <a:ext cx="1389888" cy="76809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17858232" y="6044184"/>
            <a:ext cx="1389888" cy="133502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sp>
        <p:nvSpPr>
          <p:cNvPr id="112" name="Rounded Rectangle 111"/>
          <p:cNvSpPr/>
          <p:nvPr/>
        </p:nvSpPr>
        <p:spPr>
          <a:xfrm>
            <a:off x="19248120" y="5760720"/>
            <a:ext cx="1325880" cy="566928"/>
          </a:xfrm>
          <a:prstGeom prst="roundRect">
            <a:avLst>
              <a:gd name="adj" fmla="val 15000"/>
            </a:avLst>
          </a:prstGeom>
          <a:solidFill>
            <a:srgbClr val="E3E8E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000" b="0">
                <a:solidFill>
                  <a:srgbClr val="1A1A1A"/>
                </a:solidFill>
              </a:rPr>
              <a:t>0.2</a:t>
            </a:r>
          </a:p>
        </p:txBody>
      </p:sp>
      <p:sp>
        <p:nvSpPr>
          <p:cNvPr id="113" name="TextBox 112"/>
          <p:cNvSpPr txBox="1"/>
          <p:nvPr/>
        </p:nvSpPr>
        <p:spPr>
          <a:xfrm>
            <a:off x="20756880" y="5760720"/>
            <a:ext cx="2194560" cy="566928"/>
          </a:xfrm>
          <a:prstGeom prst="rect">
            <a:avLst/>
          </a:prstGeom>
          <a:noFill/>
        </p:spPr>
        <p:txBody>
          <a:bodyPr wrap="square" lIns="0" tIns="0" rIns="0" bIns="0" anchor="ctr">
            <a:spAutoFit/>
          </a:bodyPr>
          <a:lstStyle/>
          <a:p>
            <a:pPr algn="l"/>
            <a:r>
              <a:rPr sz="2100" b="0">
                <a:solidFill>
                  <a:srgbClr val="6E6E6E"/>
                </a:solidFill>
              </a:rPr>
              <a:t>At</a:t>
            </a:r>
          </a:p>
        </p:txBody>
      </p:sp>
      <p:cxnSp>
        <p:nvCxnSpPr>
          <p:cNvPr id="114" name="Connector 113"/>
          <p:cNvCxnSpPr/>
          <p:nvPr/>
        </p:nvCxnSpPr>
        <p:spPr>
          <a:xfrm>
            <a:off x="17858232" y="6245352"/>
            <a:ext cx="1389888" cy="850392"/>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7858232" y="6812280"/>
            <a:ext cx="1389888" cy="28346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17858232" y="7095744"/>
            <a:ext cx="1389888" cy="28346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sp>
        <p:nvSpPr>
          <p:cNvPr id="117" name="Rounded Rectangle 116"/>
          <p:cNvSpPr/>
          <p:nvPr/>
        </p:nvSpPr>
        <p:spPr>
          <a:xfrm>
            <a:off x="19248120" y="6812280"/>
            <a:ext cx="1325880" cy="566928"/>
          </a:xfrm>
          <a:prstGeom prst="roundRect">
            <a:avLst>
              <a:gd name="adj" fmla="val 15000"/>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000" b="1">
                <a:solidFill>
                  <a:srgbClr val="FFFFFF"/>
                </a:solidFill>
              </a:rPr>
              <a:t>0.7</a:t>
            </a:r>
          </a:p>
        </p:txBody>
      </p:sp>
      <p:sp>
        <p:nvSpPr>
          <p:cNvPr id="118" name="TextBox 117"/>
          <p:cNvSpPr txBox="1"/>
          <p:nvPr/>
        </p:nvSpPr>
        <p:spPr>
          <a:xfrm>
            <a:off x="20756880" y="6812280"/>
            <a:ext cx="2194560" cy="566928"/>
          </a:xfrm>
          <a:prstGeom prst="rect">
            <a:avLst/>
          </a:prstGeom>
          <a:noFill/>
        </p:spPr>
        <p:txBody>
          <a:bodyPr wrap="square" lIns="0" tIns="0" rIns="0" bIns="0" anchor="ctr">
            <a:spAutoFit/>
          </a:bodyPr>
          <a:lstStyle/>
          <a:p>
            <a:pPr algn="l"/>
            <a:r>
              <a:rPr sz="2100" b="1">
                <a:solidFill>
                  <a:srgbClr val="C08A2E"/>
                </a:solidFill>
              </a:rPr>
              <a:t>Zebra</a:t>
            </a:r>
          </a:p>
        </p:txBody>
      </p:sp>
      <p:cxnSp>
        <p:nvCxnSpPr>
          <p:cNvPr id="119" name="Connector 118"/>
          <p:cNvCxnSpPr/>
          <p:nvPr/>
        </p:nvCxnSpPr>
        <p:spPr>
          <a:xfrm>
            <a:off x="17858232" y="6245352"/>
            <a:ext cx="1389888" cy="1901952"/>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7858232" y="6812280"/>
            <a:ext cx="1389888" cy="133502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7858232" y="7379208"/>
            <a:ext cx="1389888" cy="76809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sp>
        <p:nvSpPr>
          <p:cNvPr id="122" name="Rounded Rectangle 121"/>
          <p:cNvSpPr/>
          <p:nvPr/>
        </p:nvSpPr>
        <p:spPr>
          <a:xfrm>
            <a:off x="19248120" y="7863840"/>
            <a:ext cx="1325880" cy="566928"/>
          </a:xfrm>
          <a:prstGeom prst="roundRect">
            <a:avLst>
              <a:gd name="adj" fmla="val 15000"/>
            </a:avLst>
          </a:prstGeom>
          <a:solidFill>
            <a:srgbClr val="E3E8E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000" b="0">
                <a:solidFill>
                  <a:srgbClr val="1A1A1A"/>
                </a:solidFill>
              </a:rPr>
              <a:t>0.1</a:t>
            </a:r>
          </a:p>
        </p:txBody>
      </p:sp>
      <p:sp>
        <p:nvSpPr>
          <p:cNvPr id="123" name="TextBox 122"/>
          <p:cNvSpPr txBox="1"/>
          <p:nvPr/>
        </p:nvSpPr>
        <p:spPr>
          <a:xfrm>
            <a:off x="20756880" y="7863840"/>
            <a:ext cx="2194560" cy="566928"/>
          </a:xfrm>
          <a:prstGeom prst="rect">
            <a:avLst/>
          </a:prstGeom>
          <a:noFill/>
        </p:spPr>
        <p:txBody>
          <a:bodyPr wrap="square" lIns="0" tIns="0" rIns="0" bIns="0" anchor="ctr">
            <a:spAutoFit/>
          </a:bodyPr>
          <a:lstStyle/>
          <a:p>
            <a:pPr algn="l"/>
            <a:r>
              <a:rPr sz="2100" b="0">
                <a:solidFill>
                  <a:srgbClr val="6E6E6E"/>
                </a:solidFill>
              </a:rPr>
              <a:t>Köpek</a:t>
            </a:r>
          </a:p>
        </p:txBody>
      </p:sp>
      <p:sp>
        <p:nvSpPr>
          <p:cNvPr id="124" name="TextBox 123"/>
          <p:cNvSpPr txBox="1"/>
          <p:nvPr/>
        </p:nvSpPr>
        <p:spPr>
          <a:xfrm>
            <a:off x="18836640" y="8869680"/>
            <a:ext cx="4023360" cy="457200"/>
          </a:xfrm>
          <a:prstGeom prst="rect">
            <a:avLst/>
          </a:prstGeom>
          <a:noFill/>
        </p:spPr>
        <p:txBody>
          <a:bodyPr wrap="square" lIns="0" tIns="0" rIns="0" bIns="0" anchor="t">
            <a:spAutoFit/>
          </a:bodyPr>
          <a:lstStyle/>
          <a:p>
            <a:pPr algn="ctr"/>
            <a:r>
              <a:rPr sz="1900" b="0">
                <a:solidFill>
                  <a:srgbClr val="6E6E6E"/>
                </a:solidFill>
              </a:rPr>
              <a:t>Softmax</a:t>
            </a:r>
          </a:p>
        </p:txBody>
      </p:sp>
      <p:cxnSp>
        <p:nvCxnSpPr>
          <p:cNvPr id="125" name="Connector 124"/>
          <p:cNvCxnSpPr/>
          <p:nvPr/>
        </p:nvCxnSpPr>
        <p:spPr>
          <a:xfrm>
            <a:off x="1463040" y="9829800"/>
            <a:ext cx="10744200" cy="0"/>
          </a:xfrm>
          <a:prstGeom prst="line">
            <a:avLst/>
          </a:prstGeom>
          <a:ln w="19050">
            <a:solidFill>
              <a:srgbClr val="D5D5D5"/>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1463040" y="9628632"/>
            <a:ext cx="0" cy="201168"/>
          </a:xfrm>
          <a:prstGeom prst="line">
            <a:avLst/>
          </a:prstGeom>
          <a:ln w="19050">
            <a:solidFill>
              <a:srgbClr val="D5D5D5"/>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12207240" y="9628632"/>
            <a:ext cx="0" cy="201168"/>
          </a:xfrm>
          <a:prstGeom prst="line">
            <a:avLst/>
          </a:prstGeom>
          <a:ln w="19050">
            <a:solidFill>
              <a:srgbClr val="D5D5D5"/>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1463040" y="9957816"/>
            <a:ext cx="10744200" cy="457200"/>
          </a:xfrm>
          <a:prstGeom prst="rect">
            <a:avLst/>
          </a:prstGeom>
          <a:noFill/>
        </p:spPr>
        <p:txBody>
          <a:bodyPr wrap="square" lIns="0" tIns="0" rIns="0" bIns="0" anchor="t">
            <a:spAutoFit/>
          </a:bodyPr>
          <a:lstStyle/>
          <a:p>
            <a:pPr algn="ctr"/>
            <a:r>
              <a:rPr sz="2000" b="0">
                <a:solidFill>
                  <a:srgbClr val="6E6E6E"/>
                </a:solidFill>
              </a:rPr>
              <a:t>Öznitelik çıkarımı</a:t>
            </a:r>
          </a:p>
        </p:txBody>
      </p:sp>
      <p:cxnSp>
        <p:nvCxnSpPr>
          <p:cNvPr id="129" name="Connector 128"/>
          <p:cNvCxnSpPr/>
          <p:nvPr/>
        </p:nvCxnSpPr>
        <p:spPr>
          <a:xfrm>
            <a:off x="12435840" y="9829800"/>
            <a:ext cx="6035040" cy="0"/>
          </a:xfrm>
          <a:prstGeom prst="line">
            <a:avLst/>
          </a:prstGeom>
          <a:ln w="19050">
            <a:solidFill>
              <a:srgbClr val="D5D5D5"/>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12435840" y="9628632"/>
            <a:ext cx="0" cy="201168"/>
          </a:xfrm>
          <a:prstGeom prst="line">
            <a:avLst/>
          </a:prstGeom>
          <a:ln w="19050">
            <a:solidFill>
              <a:srgbClr val="D5D5D5"/>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18470880" y="9628632"/>
            <a:ext cx="0" cy="201168"/>
          </a:xfrm>
          <a:prstGeom prst="line">
            <a:avLst/>
          </a:prstGeom>
          <a:ln w="19050">
            <a:solidFill>
              <a:srgbClr val="D5D5D5"/>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12435840" y="9957816"/>
            <a:ext cx="6035040" cy="457200"/>
          </a:xfrm>
          <a:prstGeom prst="rect">
            <a:avLst/>
          </a:prstGeom>
          <a:noFill/>
        </p:spPr>
        <p:txBody>
          <a:bodyPr wrap="square" lIns="0" tIns="0" rIns="0" bIns="0" anchor="t">
            <a:spAutoFit/>
          </a:bodyPr>
          <a:lstStyle/>
          <a:p>
            <a:pPr algn="ctr"/>
            <a:r>
              <a:rPr sz="2000" b="0">
                <a:solidFill>
                  <a:srgbClr val="6E6E6E"/>
                </a:solidFill>
              </a:rPr>
              <a:t>Sınıflandırma</a:t>
            </a:r>
          </a:p>
        </p:txBody>
      </p:sp>
      <p:cxnSp>
        <p:nvCxnSpPr>
          <p:cNvPr id="133" name="Connector 132"/>
          <p:cNvCxnSpPr/>
          <p:nvPr/>
        </p:nvCxnSpPr>
        <p:spPr>
          <a:xfrm>
            <a:off x="18699480" y="9829800"/>
            <a:ext cx="4343400" cy="0"/>
          </a:xfrm>
          <a:prstGeom prst="line">
            <a:avLst/>
          </a:prstGeom>
          <a:ln w="19050">
            <a:solidFill>
              <a:srgbClr val="D5D5D5"/>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18699480" y="9628632"/>
            <a:ext cx="0" cy="201168"/>
          </a:xfrm>
          <a:prstGeom prst="line">
            <a:avLst/>
          </a:prstGeom>
          <a:ln w="19050">
            <a:solidFill>
              <a:srgbClr val="D5D5D5"/>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23042880" y="9628632"/>
            <a:ext cx="0" cy="201168"/>
          </a:xfrm>
          <a:prstGeom prst="line">
            <a:avLst/>
          </a:prstGeom>
          <a:ln w="19050">
            <a:solidFill>
              <a:srgbClr val="D5D5D5"/>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18699480" y="9957816"/>
            <a:ext cx="4343400" cy="457200"/>
          </a:xfrm>
          <a:prstGeom prst="rect">
            <a:avLst/>
          </a:prstGeom>
          <a:noFill/>
        </p:spPr>
        <p:txBody>
          <a:bodyPr wrap="square" lIns="0" tIns="0" rIns="0" bIns="0" anchor="t">
            <a:spAutoFit/>
          </a:bodyPr>
          <a:lstStyle/>
          <a:p>
            <a:pPr algn="ctr"/>
            <a:r>
              <a:rPr sz="2000" b="0">
                <a:solidFill>
                  <a:srgbClr val="6E6E6E"/>
                </a:solidFill>
              </a:rPr>
              <a:t>Olasılık dağılımı</a:t>
            </a:r>
          </a:p>
        </p:txBody>
      </p:sp>
      <p:sp>
        <p:nvSpPr>
          <p:cNvPr id="137" name="TextBox 136"/>
          <p:cNvSpPr txBox="1"/>
          <p:nvPr/>
        </p:nvSpPr>
        <p:spPr>
          <a:xfrm>
            <a:off x="1280160" y="10607040"/>
            <a:ext cx="7275576" cy="411480"/>
          </a:xfrm>
          <a:prstGeom prst="rect">
            <a:avLst/>
          </a:prstGeom>
          <a:noFill/>
        </p:spPr>
        <p:txBody>
          <a:bodyPr wrap="square" lIns="0" tIns="0" rIns="0" bIns="0" anchor="t">
            <a:spAutoFit/>
          </a:bodyPr>
          <a:lstStyle/>
          <a:p>
            <a:pPr algn="ctr"/>
            <a:r>
              <a:rPr sz="1800" b="1">
                <a:solidFill>
                  <a:srgbClr val="C08A2E"/>
                </a:solidFill>
              </a:rPr>
              <a:t>NE İÇİN</a:t>
            </a:r>
          </a:p>
        </p:txBody>
      </p:sp>
      <p:sp>
        <p:nvSpPr>
          <p:cNvPr id="138" name="TextBox 137"/>
          <p:cNvSpPr txBox="1"/>
          <p:nvPr/>
        </p:nvSpPr>
        <p:spPr>
          <a:xfrm>
            <a:off x="1645919" y="11082528"/>
            <a:ext cx="6544056" cy="822960"/>
          </a:xfrm>
          <a:prstGeom prst="rect">
            <a:avLst/>
          </a:prstGeom>
          <a:noFill/>
        </p:spPr>
        <p:txBody>
          <a:bodyPr wrap="square" lIns="0" tIns="0" rIns="0" bIns="0" anchor="t">
            <a:spAutoFit/>
          </a:bodyPr>
          <a:lstStyle/>
          <a:p>
            <a:pPr algn="ctr">
              <a:lnSpc>
                <a:spcPct val="120000"/>
              </a:lnSpc>
            </a:pPr>
            <a:r>
              <a:rPr sz="2100" b="0">
                <a:solidFill>
                  <a:srgbClr val="1A1A1A"/>
                </a:solidFill>
              </a:rPr>
              <a:t>Görüntü, video, ses spektrogramı</a:t>
            </a:r>
          </a:p>
        </p:txBody>
      </p:sp>
      <p:sp>
        <p:nvSpPr>
          <p:cNvPr id="139" name="TextBox 138"/>
          <p:cNvSpPr txBox="1"/>
          <p:nvPr/>
        </p:nvSpPr>
        <p:spPr>
          <a:xfrm>
            <a:off x="8555736" y="10607040"/>
            <a:ext cx="7275576" cy="411480"/>
          </a:xfrm>
          <a:prstGeom prst="rect">
            <a:avLst/>
          </a:prstGeom>
          <a:noFill/>
        </p:spPr>
        <p:txBody>
          <a:bodyPr wrap="square" lIns="0" tIns="0" rIns="0" bIns="0" anchor="t">
            <a:spAutoFit/>
          </a:bodyPr>
          <a:lstStyle/>
          <a:p>
            <a:pPr algn="ctr"/>
            <a:r>
              <a:rPr sz="1800" b="1">
                <a:solidFill>
                  <a:srgbClr val="C08A2E"/>
                </a:solidFill>
              </a:rPr>
              <a:t>ANAHTAR FİKİR</a:t>
            </a:r>
          </a:p>
        </p:txBody>
      </p:sp>
      <p:sp>
        <p:nvSpPr>
          <p:cNvPr id="140" name="TextBox 139"/>
          <p:cNvSpPr txBox="1"/>
          <p:nvPr/>
        </p:nvSpPr>
        <p:spPr>
          <a:xfrm>
            <a:off x="8921496" y="11082528"/>
            <a:ext cx="6544056" cy="822960"/>
          </a:xfrm>
          <a:prstGeom prst="rect">
            <a:avLst/>
          </a:prstGeom>
          <a:noFill/>
        </p:spPr>
        <p:txBody>
          <a:bodyPr wrap="square" lIns="0" tIns="0" rIns="0" bIns="0" anchor="t">
            <a:spAutoFit/>
          </a:bodyPr>
          <a:lstStyle/>
          <a:p>
            <a:pPr algn="ctr">
              <a:lnSpc>
                <a:spcPct val="120000"/>
              </a:lnSpc>
            </a:pPr>
            <a:r>
              <a:rPr sz="2100" b="0">
                <a:solidFill>
                  <a:srgbClr val="1A1A1A"/>
                </a:solidFill>
              </a:rPr>
              <a:t>Aynı filtre tüm görüntüde gezer</a:t>
            </a:r>
          </a:p>
        </p:txBody>
      </p:sp>
      <p:sp>
        <p:nvSpPr>
          <p:cNvPr id="141" name="TextBox 140"/>
          <p:cNvSpPr txBox="1"/>
          <p:nvPr/>
        </p:nvSpPr>
        <p:spPr>
          <a:xfrm>
            <a:off x="15831312" y="10607040"/>
            <a:ext cx="7275576" cy="411480"/>
          </a:xfrm>
          <a:prstGeom prst="rect">
            <a:avLst/>
          </a:prstGeom>
          <a:noFill/>
        </p:spPr>
        <p:txBody>
          <a:bodyPr wrap="square" lIns="0" tIns="0" rIns="0" bIns="0" anchor="t">
            <a:spAutoFit/>
          </a:bodyPr>
          <a:lstStyle/>
          <a:p>
            <a:pPr algn="ctr"/>
            <a:r>
              <a:rPr sz="1800" b="1">
                <a:solidFill>
                  <a:srgbClr val="C08A2E"/>
                </a:solidFill>
              </a:rPr>
              <a:t>NEREDE</a:t>
            </a:r>
          </a:p>
        </p:txBody>
      </p:sp>
      <p:sp>
        <p:nvSpPr>
          <p:cNvPr id="142" name="TextBox 141"/>
          <p:cNvSpPr txBox="1"/>
          <p:nvPr/>
        </p:nvSpPr>
        <p:spPr>
          <a:xfrm>
            <a:off x="16197071" y="11082528"/>
            <a:ext cx="6544056" cy="822960"/>
          </a:xfrm>
          <a:prstGeom prst="rect">
            <a:avLst/>
          </a:prstGeom>
          <a:noFill/>
        </p:spPr>
        <p:txBody>
          <a:bodyPr wrap="square" lIns="0" tIns="0" rIns="0" bIns="0" anchor="t">
            <a:spAutoFit/>
          </a:bodyPr>
          <a:lstStyle/>
          <a:p>
            <a:pPr algn="ctr">
              <a:lnSpc>
                <a:spcPct val="120000"/>
              </a:lnSpc>
            </a:pPr>
            <a:r>
              <a:rPr sz="2100" b="0">
                <a:solidFill>
                  <a:srgbClr val="1A1A1A"/>
                </a:solidFill>
              </a:rPr>
              <a:t>Yüz tanıma, tıbbi görüntü, otonom sürüş</a:t>
            </a:r>
          </a:p>
        </p:txBody>
      </p:sp>
      <p:sp>
        <p:nvSpPr>
          <p:cNvPr id="143" name="Rectangle 142"/>
          <p:cNvSpPr/>
          <p:nvPr/>
        </p:nvSpPr>
        <p:spPr>
          <a:xfrm>
            <a:off x="1280160" y="11795760"/>
            <a:ext cx="21826728" cy="1143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44" name="TextBox 143"/>
          <p:cNvSpPr txBox="1"/>
          <p:nvPr/>
        </p:nvSpPr>
        <p:spPr>
          <a:xfrm>
            <a:off x="2011680" y="11795760"/>
            <a:ext cx="20363688" cy="1143000"/>
          </a:xfrm>
          <a:prstGeom prst="rect">
            <a:avLst/>
          </a:prstGeom>
          <a:noFill/>
        </p:spPr>
        <p:txBody>
          <a:bodyPr wrap="square" lIns="0" tIns="0" rIns="0" bIns="0" anchor="ctr">
            <a:spAutoFit/>
          </a:bodyPr>
          <a:lstStyle/>
          <a:p>
            <a:pPr algn="ctr">
              <a:lnSpc>
                <a:spcPct val="120000"/>
              </a:lnSpc>
            </a:pPr>
            <a:r>
              <a:rPr sz="2300" b="0">
                <a:solidFill>
                  <a:srgbClr val="15263F"/>
                </a:solidFill>
              </a:rPr>
              <a:t>Sondaki sinir ağı bildiğimiz ANN. </a:t>
            </a:r>
            <a:r>
              <a:rPr sz="2300" b="1">
                <a:solidFill>
                  <a:srgbClr val="15263F"/>
                </a:solidFill>
              </a:rPr>
              <a:t>CNN'in yaptığı iş, o ağa vereceği öznitelikleri kendi çıkarmak.</a:t>
            </a:r>
          </a:p>
        </p:txBody>
      </p:sp>
      <p:pic>
        <p:nvPicPr>
          <p:cNvPr id="146" name="Resim 145">
            <a:extLst>
              <a:ext uri="{FF2B5EF4-FFF2-40B4-BE49-F238E27FC236}">
                <a16:creationId xmlns:a16="http://schemas.microsoft.com/office/drawing/2014/main" id="{FD57DEEE-3943-DAD0-BA21-AC5820E5A53F}"/>
              </a:ext>
            </a:extLst>
          </p:cNvPr>
          <p:cNvPicPr>
            <a:picLocks noChangeAspect="1"/>
          </p:cNvPicPr>
          <p:nvPr/>
        </p:nvPicPr>
        <p:blipFill>
          <a:blip r:embed="rId3"/>
          <a:stretch>
            <a:fillRect/>
          </a:stretch>
        </p:blipFill>
        <p:spPr>
          <a:xfrm>
            <a:off x="760138" y="4078264"/>
            <a:ext cx="2960283" cy="387701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rPr>
              <a:t>Hangi Mimariler Var?  ·  RNN</a:t>
            </a:r>
          </a:p>
        </p:txBody>
      </p:sp>
      <p:sp>
        <p:nvSpPr>
          <p:cNvPr id="3" name="TextBox 2"/>
          <p:cNvSpPr txBox="1"/>
          <p:nvPr/>
        </p:nvSpPr>
        <p:spPr>
          <a:xfrm>
            <a:off x="2066543" y="1874519"/>
            <a:ext cx="20244816" cy="1828800"/>
          </a:xfrm>
          <a:prstGeom prst="rect">
            <a:avLst/>
          </a:prstGeom>
          <a:noFill/>
        </p:spPr>
        <p:txBody>
          <a:bodyPr wrap="square" lIns="0" tIns="0" rIns="0" bIns="0" anchor="t">
            <a:spAutoFit/>
          </a:bodyPr>
          <a:lstStyle/>
          <a:p>
            <a:pPr algn="ctr">
              <a:lnSpc>
                <a:spcPct val="115000"/>
              </a:lnSpc>
            </a:pPr>
            <a:r>
              <a:rPr sz="4000" b="0">
                <a:solidFill>
                  <a:srgbClr val="1A1A1A"/>
                </a:solidFill>
              </a:rPr>
              <a:t>Zaman serisinde bir sonraki değer </a:t>
            </a:r>
            <a:r>
              <a:rPr sz="4000" b="1">
                <a:solidFill>
                  <a:srgbClr val="1A1A1A"/>
                </a:solidFill>
              </a:rPr>
              <a:t>en çok bir öncekine benzer</a:t>
            </a:r>
            <a:r>
              <a:rPr sz="4000" b="0">
                <a:solidFill>
                  <a:srgbClr val="1A1A1A"/>
                </a:solidFill>
              </a:rPr>
              <a:t> — RNN bu hafızayı taşır.</a:t>
            </a:r>
          </a:p>
        </p:txBody>
      </p:sp>
      <p:sp>
        <p:nvSpPr>
          <p:cNvPr id="4" name="Rounded Rectangle 3"/>
          <p:cNvSpPr/>
          <p:nvPr/>
        </p:nvSpPr>
        <p:spPr>
          <a:xfrm>
            <a:off x="2103120" y="6309360"/>
            <a:ext cx="2377440" cy="1920240"/>
          </a:xfrm>
          <a:prstGeom prst="roundRect">
            <a:avLst>
              <a:gd name="adj" fmla="val 15000"/>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3400" b="1">
                <a:solidFill>
                  <a:srgbClr val="FFFFFF"/>
                </a:solidFill>
              </a:rPr>
              <a:t>h</a:t>
            </a:r>
          </a:p>
        </p:txBody>
      </p:sp>
      <p:cxnSp>
        <p:nvCxnSpPr>
          <p:cNvPr id="5" name="Connector 4"/>
          <p:cNvCxnSpPr/>
          <p:nvPr/>
        </p:nvCxnSpPr>
        <p:spPr>
          <a:xfrm flipV="1">
            <a:off x="3931920" y="5257800"/>
            <a:ext cx="0" cy="1051560"/>
          </a:xfrm>
          <a:prstGeom prst="line">
            <a:avLst/>
          </a:prstGeom>
          <a:ln w="25400">
            <a:solidFill>
              <a:srgbClr val="15263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2651760" y="5257800"/>
            <a:ext cx="1280160" cy="0"/>
          </a:xfrm>
          <a:prstGeom prst="line">
            <a:avLst/>
          </a:prstGeom>
          <a:ln w="25400">
            <a:solidFill>
              <a:srgbClr val="15263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51760" y="5257800"/>
            <a:ext cx="0" cy="1051560"/>
          </a:xfrm>
          <a:prstGeom prst="line">
            <a:avLst/>
          </a:prstGeom>
          <a:ln w="25400">
            <a:solidFill>
              <a:srgbClr val="15263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463039" y="4617720"/>
            <a:ext cx="3657600" cy="457200"/>
          </a:xfrm>
          <a:prstGeom prst="rect">
            <a:avLst/>
          </a:prstGeom>
          <a:noFill/>
        </p:spPr>
        <p:txBody>
          <a:bodyPr wrap="square" lIns="0" tIns="0" rIns="0" bIns="0" anchor="t">
            <a:spAutoFit/>
          </a:bodyPr>
          <a:lstStyle/>
          <a:p>
            <a:pPr algn="ctr"/>
            <a:r>
              <a:rPr sz="1800" b="0">
                <a:solidFill>
                  <a:srgbClr val="15263F"/>
                </a:solidFill>
              </a:rPr>
              <a:t>kendine geri besleme</a:t>
            </a:r>
          </a:p>
        </p:txBody>
      </p:sp>
      <p:sp>
        <p:nvSpPr>
          <p:cNvPr id="9" name="TextBox 8"/>
          <p:cNvSpPr txBox="1"/>
          <p:nvPr/>
        </p:nvSpPr>
        <p:spPr>
          <a:xfrm>
            <a:off x="1737360" y="8458200"/>
            <a:ext cx="3840480" cy="457200"/>
          </a:xfrm>
          <a:prstGeom prst="rect">
            <a:avLst/>
          </a:prstGeom>
          <a:noFill/>
        </p:spPr>
        <p:txBody>
          <a:bodyPr wrap="square" lIns="0" tIns="0" rIns="0" bIns="0" anchor="t">
            <a:spAutoFit/>
          </a:bodyPr>
          <a:lstStyle/>
          <a:p>
            <a:pPr algn="ctr"/>
            <a:r>
              <a:rPr sz="1900" b="0">
                <a:solidFill>
                  <a:srgbClr val="6E6E6E"/>
                </a:solidFill>
              </a:rPr>
              <a:t>Tek hücre</a:t>
            </a:r>
          </a:p>
        </p:txBody>
      </p:sp>
      <p:sp>
        <p:nvSpPr>
          <p:cNvPr id="10" name="TextBox 9"/>
          <p:cNvSpPr txBox="1"/>
          <p:nvPr/>
        </p:nvSpPr>
        <p:spPr>
          <a:xfrm>
            <a:off x="5760720" y="6812280"/>
            <a:ext cx="914400" cy="822960"/>
          </a:xfrm>
          <a:prstGeom prst="rect">
            <a:avLst/>
          </a:prstGeom>
          <a:noFill/>
        </p:spPr>
        <p:txBody>
          <a:bodyPr wrap="square" lIns="0" tIns="0" rIns="0" bIns="0" anchor="t">
            <a:spAutoFit/>
          </a:bodyPr>
          <a:lstStyle/>
          <a:p>
            <a:pPr algn="ctr"/>
            <a:r>
              <a:rPr sz="4000" b="0">
                <a:solidFill>
                  <a:srgbClr val="6E6E6E"/>
                </a:solidFill>
              </a:rPr>
              <a:t>=</a:t>
            </a:r>
          </a:p>
        </p:txBody>
      </p:sp>
      <p:sp>
        <p:nvSpPr>
          <p:cNvPr id="11" name="Rounded Rectangle 10"/>
          <p:cNvSpPr/>
          <p:nvPr/>
        </p:nvSpPr>
        <p:spPr>
          <a:xfrm>
            <a:off x="7223760" y="6309360"/>
            <a:ext cx="2377440" cy="1920240"/>
          </a:xfrm>
          <a:prstGeom prst="roundRect">
            <a:avLst>
              <a:gd name="adj" fmla="val 15000"/>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3200" b="1">
                <a:solidFill>
                  <a:srgbClr val="FFFFFF"/>
                </a:solidFill>
              </a:rPr>
              <a:t>h</a:t>
            </a:r>
          </a:p>
        </p:txBody>
      </p:sp>
      <p:sp>
        <p:nvSpPr>
          <p:cNvPr id="12" name="Rounded Rectangle 11"/>
          <p:cNvSpPr/>
          <p:nvPr/>
        </p:nvSpPr>
        <p:spPr>
          <a:xfrm>
            <a:off x="7498080" y="9189720"/>
            <a:ext cx="1828800" cy="914400"/>
          </a:xfrm>
          <a:prstGeom prst="roundRect">
            <a:avLst>
              <a:gd name="adj" fmla="val 18000"/>
            </a:avLst>
          </a:prstGeom>
          <a:solidFill>
            <a:srgbClr val="FFFFFF"/>
          </a:solidFill>
          <a:ln w="19050">
            <a:solidFill>
              <a:srgbClr val="B6C2C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400" b="1">
                <a:solidFill>
                  <a:srgbClr val="1A1A1A"/>
                </a:solidFill>
              </a:rPr>
              <a:t>21°</a:t>
            </a:r>
          </a:p>
        </p:txBody>
      </p:sp>
      <p:sp>
        <p:nvSpPr>
          <p:cNvPr id="13" name="TextBox 12"/>
          <p:cNvSpPr txBox="1"/>
          <p:nvPr/>
        </p:nvSpPr>
        <p:spPr>
          <a:xfrm>
            <a:off x="7223760" y="10241280"/>
            <a:ext cx="2377440" cy="457200"/>
          </a:xfrm>
          <a:prstGeom prst="rect">
            <a:avLst/>
          </a:prstGeom>
          <a:noFill/>
        </p:spPr>
        <p:txBody>
          <a:bodyPr wrap="square" lIns="0" tIns="0" rIns="0" bIns="0" anchor="t">
            <a:spAutoFit/>
          </a:bodyPr>
          <a:lstStyle/>
          <a:p>
            <a:pPr algn="ctr"/>
            <a:r>
              <a:rPr sz="1900" b="0">
                <a:solidFill>
                  <a:srgbClr val="6E6E6E"/>
                </a:solidFill>
              </a:rPr>
              <a:t>Pzt</a:t>
            </a:r>
          </a:p>
        </p:txBody>
      </p:sp>
      <p:cxnSp>
        <p:nvCxnSpPr>
          <p:cNvPr id="14" name="Connector 13"/>
          <p:cNvCxnSpPr/>
          <p:nvPr/>
        </p:nvCxnSpPr>
        <p:spPr>
          <a:xfrm flipV="1">
            <a:off x="8412480" y="8302752"/>
            <a:ext cx="0" cy="886968"/>
          </a:xfrm>
          <a:prstGeom prst="line">
            <a:avLst/>
          </a:prstGeom>
          <a:ln w="19050">
            <a:solidFill>
              <a:srgbClr val="B6C2C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601200" y="7269480"/>
            <a:ext cx="1554480" cy="0"/>
          </a:xfrm>
          <a:prstGeom prst="line">
            <a:avLst/>
          </a:prstGeom>
          <a:ln w="31750">
            <a:solidFill>
              <a:srgbClr val="15263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601200" y="6537960"/>
            <a:ext cx="1554479" cy="457200"/>
          </a:xfrm>
          <a:prstGeom prst="rect">
            <a:avLst/>
          </a:prstGeom>
          <a:noFill/>
        </p:spPr>
        <p:txBody>
          <a:bodyPr wrap="square" lIns="0" tIns="0" rIns="0" bIns="0" anchor="t">
            <a:spAutoFit/>
          </a:bodyPr>
          <a:lstStyle/>
          <a:p>
            <a:pPr algn="ctr"/>
            <a:r>
              <a:rPr sz="1800" b="0">
                <a:solidFill>
                  <a:srgbClr val="15263F"/>
                </a:solidFill>
              </a:rPr>
              <a:t>hafıza</a:t>
            </a:r>
          </a:p>
        </p:txBody>
      </p:sp>
      <p:sp>
        <p:nvSpPr>
          <p:cNvPr id="17" name="Rounded Rectangle 16"/>
          <p:cNvSpPr/>
          <p:nvPr/>
        </p:nvSpPr>
        <p:spPr>
          <a:xfrm>
            <a:off x="11155680" y="6309360"/>
            <a:ext cx="2377440" cy="1920240"/>
          </a:xfrm>
          <a:prstGeom prst="roundRect">
            <a:avLst>
              <a:gd name="adj" fmla="val 15000"/>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3200" b="1">
                <a:solidFill>
                  <a:srgbClr val="FFFFFF"/>
                </a:solidFill>
              </a:rPr>
              <a:t>h</a:t>
            </a:r>
          </a:p>
        </p:txBody>
      </p:sp>
      <p:sp>
        <p:nvSpPr>
          <p:cNvPr id="18" name="Rounded Rectangle 17"/>
          <p:cNvSpPr/>
          <p:nvPr/>
        </p:nvSpPr>
        <p:spPr>
          <a:xfrm>
            <a:off x="11430000" y="9189720"/>
            <a:ext cx="1828800" cy="914400"/>
          </a:xfrm>
          <a:prstGeom prst="roundRect">
            <a:avLst>
              <a:gd name="adj" fmla="val 18000"/>
            </a:avLst>
          </a:prstGeom>
          <a:solidFill>
            <a:srgbClr val="FFFFFF"/>
          </a:solidFill>
          <a:ln w="19050">
            <a:solidFill>
              <a:srgbClr val="B6C2C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400" b="1">
                <a:solidFill>
                  <a:srgbClr val="1A1A1A"/>
                </a:solidFill>
              </a:rPr>
              <a:t>22°</a:t>
            </a:r>
          </a:p>
        </p:txBody>
      </p:sp>
      <p:sp>
        <p:nvSpPr>
          <p:cNvPr id="19" name="TextBox 18"/>
          <p:cNvSpPr txBox="1"/>
          <p:nvPr/>
        </p:nvSpPr>
        <p:spPr>
          <a:xfrm>
            <a:off x="11155680" y="10241280"/>
            <a:ext cx="2377440" cy="457200"/>
          </a:xfrm>
          <a:prstGeom prst="rect">
            <a:avLst/>
          </a:prstGeom>
          <a:noFill/>
        </p:spPr>
        <p:txBody>
          <a:bodyPr wrap="square" lIns="0" tIns="0" rIns="0" bIns="0" anchor="t">
            <a:spAutoFit/>
          </a:bodyPr>
          <a:lstStyle/>
          <a:p>
            <a:pPr algn="ctr"/>
            <a:r>
              <a:rPr sz="1900" b="0">
                <a:solidFill>
                  <a:srgbClr val="6E6E6E"/>
                </a:solidFill>
              </a:rPr>
              <a:t>Sal</a:t>
            </a:r>
          </a:p>
        </p:txBody>
      </p:sp>
      <p:cxnSp>
        <p:nvCxnSpPr>
          <p:cNvPr id="20" name="Connector 19"/>
          <p:cNvCxnSpPr/>
          <p:nvPr/>
        </p:nvCxnSpPr>
        <p:spPr>
          <a:xfrm flipV="1">
            <a:off x="12344400" y="8302752"/>
            <a:ext cx="0" cy="886968"/>
          </a:xfrm>
          <a:prstGeom prst="line">
            <a:avLst/>
          </a:prstGeom>
          <a:ln w="19050">
            <a:solidFill>
              <a:srgbClr val="B6C2C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533119" y="7269480"/>
            <a:ext cx="1554481" cy="0"/>
          </a:xfrm>
          <a:prstGeom prst="line">
            <a:avLst/>
          </a:prstGeom>
          <a:ln w="31750">
            <a:solidFill>
              <a:srgbClr val="15263F"/>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3533119" y="6537960"/>
            <a:ext cx="1554480" cy="457200"/>
          </a:xfrm>
          <a:prstGeom prst="rect">
            <a:avLst/>
          </a:prstGeom>
          <a:noFill/>
        </p:spPr>
        <p:txBody>
          <a:bodyPr wrap="square" lIns="0" tIns="0" rIns="0" bIns="0" anchor="t">
            <a:spAutoFit/>
          </a:bodyPr>
          <a:lstStyle/>
          <a:p>
            <a:pPr algn="ctr"/>
            <a:r>
              <a:rPr sz="1800" b="0">
                <a:solidFill>
                  <a:srgbClr val="15263F"/>
                </a:solidFill>
              </a:rPr>
              <a:t>hafıza</a:t>
            </a:r>
          </a:p>
        </p:txBody>
      </p:sp>
      <p:sp>
        <p:nvSpPr>
          <p:cNvPr id="23" name="Rounded Rectangle 22"/>
          <p:cNvSpPr/>
          <p:nvPr/>
        </p:nvSpPr>
        <p:spPr>
          <a:xfrm>
            <a:off x="15087600" y="6309360"/>
            <a:ext cx="2377440" cy="1920240"/>
          </a:xfrm>
          <a:prstGeom prst="roundRect">
            <a:avLst>
              <a:gd name="adj" fmla="val 15000"/>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3200" b="1">
                <a:solidFill>
                  <a:srgbClr val="FFFFFF"/>
                </a:solidFill>
              </a:rPr>
              <a:t>h</a:t>
            </a:r>
          </a:p>
        </p:txBody>
      </p:sp>
      <p:sp>
        <p:nvSpPr>
          <p:cNvPr id="24" name="Rounded Rectangle 23"/>
          <p:cNvSpPr/>
          <p:nvPr/>
        </p:nvSpPr>
        <p:spPr>
          <a:xfrm>
            <a:off x="15361920" y="9189720"/>
            <a:ext cx="1828800" cy="914400"/>
          </a:xfrm>
          <a:prstGeom prst="roundRect">
            <a:avLst>
              <a:gd name="adj" fmla="val 18000"/>
            </a:avLst>
          </a:prstGeom>
          <a:solidFill>
            <a:srgbClr val="FFFFFF"/>
          </a:solidFill>
          <a:ln w="19050">
            <a:solidFill>
              <a:srgbClr val="B6C2C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400" b="1">
                <a:solidFill>
                  <a:srgbClr val="1A1A1A"/>
                </a:solidFill>
              </a:rPr>
              <a:t>24°</a:t>
            </a:r>
          </a:p>
        </p:txBody>
      </p:sp>
      <p:sp>
        <p:nvSpPr>
          <p:cNvPr id="25" name="TextBox 24"/>
          <p:cNvSpPr txBox="1"/>
          <p:nvPr/>
        </p:nvSpPr>
        <p:spPr>
          <a:xfrm>
            <a:off x="15087600" y="10241280"/>
            <a:ext cx="2377440" cy="457200"/>
          </a:xfrm>
          <a:prstGeom prst="rect">
            <a:avLst/>
          </a:prstGeom>
          <a:noFill/>
        </p:spPr>
        <p:txBody>
          <a:bodyPr wrap="square" lIns="0" tIns="0" rIns="0" bIns="0" anchor="t">
            <a:spAutoFit/>
          </a:bodyPr>
          <a:lstStyle/>
          <a:p>
            <a:pPr algn="ctr"/>
            <a:r>
              <a:rPr sz="1900" b="0">
                <a:solidFill>
                  <a:srgbClr val="6E6E6E"/>
                </a:solidFill>
              </a:rPr>
              <a:t>Çar</a:t>
            </a:r>
          </a:p>
        </p:txBody>
      </p:sp>
      <p:cxnSp>
        <p:nvCxnSpPr>
          <p:cNvPr id="26" name="Connector 25"/>
          <p:cNvCxnSpPr/>
          <p:nvPr/>
        </p:nvCxnSpPr>
        <p:spPr>
          <a:xfrm flipV="1">
            <a:off x="16276320" y="8302752"/>
            <a:ext cx="0" cy="886968"/>
          </a:xfrm>
          <a:prstGeom prst="line">
            <a:avLst/>
          </a:prstGeom>
          <a:ln w="19050">
            <a:solidFill>
              <a:srgbClr val="B6C2C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7465040" y="7269480"/>
            <a:ext cx="1645920" cy="0"/>
          </a:xfrm>
          <a:prstGeom prst="line">
            <a:avLst/>
          </a:prstGeom>
          <a:ln w="38100">
            <a:solidFill>
              <a:srgbClr val="C08A2E"/>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9110960" y="6629400"/>
            <a:ext cx="3291840" cy="1280160"/>
          </a:xfrm>
          <a:prstGeom prst="roundRect">
            <a:avLst>
              <a:gd name="adj" fmla="val 18000"/>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600" b="1">
                <a:solidFill>
                  <a:srgbClr val="FFFFFF"/>
                </a:solidFill>
              </a:rPr>
              <a:t>Per  →  25°</a:t>
            </a:r>
          </a:p>
        </p:txBody>
      </p:sp>
      <p:sp>
        <p:nvSpPr>
          <p:cNvPr id="29" name="TextBox 28"/>
          <p:cNvSpPr txBox="1"/>
          <p:nvPr/>
        </p:nvSpPr>
        <p:spPr>
          <a:xfrm>
            <a:off x="19110960" y="8046720"/>
            <a:ext cx="3291840" cy="457200"/>
          </a:xfrm>
          <a:prstGeom prst="rect">
            <a:avLst/>
          </a:prstGeom>
          <a:noFill/>
        </p:spPr>
        <p:txBody>
          <a:bodyPr wrap="square" lIns="0" tIns="0" rIns="0" bIns="0" anchor="t">
            <a:spAutoFit/>
          </a:bodyPr>
          <a:lstStyle/>
          <a:p>
            <a:pPr algn="ctr"/>
            <a:r>
              <a:rPr sz="1900" b="0">
                <a:solidFill>
                  <a:srgbClr val="6E6E6E"/>
                </a:solidFill>
              </a:rPr>
              <a:t>tahmin</a:t>
            </a:r>
          </a:p>
        </p:txBody>
      </p:sp>
      <p:sp>
        <p:nvSpPr>
          <p:cNvPr id="30" name="TextBox 29"/>
          <p:cNvSpPr txBox="1"/>
          <p:nvPr/>
        </p:nvSpPr>
        <p:spPr>
          <a:xfrm>
            <a:off x="1463039" y="8915400"/>
            <a:ext cx="3657600" cy="457200"/>
          </a:xfrm>
          <a:prstGeom prst="rect">
            <a:avLst/>
          </a:prstGeom>
          <a:noFill/>
        </p:spPr>
        <p:txBody>
          <a:bodyPr wrap="square" lIns="0" tIns="0" rIns="0" bIns="0" anchor="t">
            <a:spAutoFit/>
          </a:bodyPr>
          <a:lstStyle/>
          <a:p>
            <a:pPr algn="ctr">
              <a:lnSpc>
                <a:spcPct val="115000"/>
              </a:lnSpc>
            </a:pPr>
            <a:r>
              <a:rPr sz="1800" b="0">
                <a:solidFill>
                  <a:srgbClr val="6E6E6E"/>
                </a:solidFill>
              </a:rPr>
              <a:t>aynı ağırlıklar,
her gün tekrar</a:t>
            </a:r>
          </a:p>
        </p:txBody>
      </p:sp>
      <p:sp>
        <p:nvSpPr>
          <p:cNvPr id="31" name="TextBox 30"/>
          <p:cNvSpPr txBox="1"/>
          <p:nvPr/>
        </p:nvSpPr>
        <p:spPr>
          <a:xfrm>
            <a:off x="1280160" y="10607040"/>
            <a:ext cx="7275576" cy="411480"/>
          </a:xfrm>
          <a:prstGeom prst="rect">
            <a:avLst/>
          </a:prstGeom>
          <a:noFill/>
        </p:spPr>
        <p:txBody>
          <a:bodyPr wrap="square" lIns="0" tIns="0" rIns="0" bIns="0" anchor="t">
            <a:spAutoFit/>
          </a:bodyPr>
          <a:lstStyle/>
          <a:p>
            <a:pPr algn="ctr"/>
            <a:r>
              <a:rPr sz="1800" b="1">
                <a:solidFill>
                  <a:srgbClr val="C08A2E"/>
                </a:solidFill>
              </a:rPr>
              <a:t>NE İÇİN</a:t>
            </a:r>
          </a:p>
        </p:txBody>
      </p:sp>
      <p:sp>
        <p:nvSpPr>
          <p:cNvPr id="32" name="TextBox 31"/>
          <p:cNvSpPr txBox="1"/>
          <p:nvPr/>
        </p:nvSpPr>
        <p:spPr>
          <a:xfrm>
            <a:off x="1645919" y="11082528"/>
            <a:ext cx="6544056" cy="822960"/>
          </a:xfrm>
          <a:prstGeom prst="rect">
            <a:avLst/>
          </a:prstGeom>
          <a:noFill/>
        </p:spPr>
        <p:txBody>
          <a:bodyPr wrap="square" lIns="0" tIns="0" rIns="0" bIns="0" anchor="t">
            <a:spAutoFit/>
          </a:bodyPr>
          <a:lstStyle/>
          <a:p>
            <a:pPr algn="ctr">
              <a:lnSpc>
                <a:spcPct val="120000"/>
              </a:lnSpc>
            </a:pPr>
            <a:r>
              <a:rPr sz="2100" b="0">
                <a:solidFill>
                  <a:srgbClr val="1A1A1A"/>
                </a:solidFill>
              </a:rPr>
              <a:t>Zaman serisi, metin, sensör verisi</a:t>
            </a:r>
          </a:p>
        </p:txBody>
      </p:sp>
      <p:sp>
        <p:nvSpPr>
          <p:cNvPr id="33" name="TextBox 32"/>
          <p:cNvSpPr txBox="1"/>
          <p:nvPr/>
        </p:nvSpPr>
        <p:spPr>
          <a:xfrm>
            <a:off x="8555736" y="10607040"/>
            <a:ext cx="7275576" cy="411480"/>
          </a:xfrm>
          <a:prstGeom prst="rect">
            <a:avLst/>
          </a:prstGeom>
          <a:noFill/>
        </p:spPr>
        <p:txBody>
          <a:bodyPr wrap="square" lIns="0" tIns="0" rIns="0" bIns="0" anchor="t">
            <a:spAutoFit/>
          </a:bodyPr>
          <a:lstStyle/>
          <a:p>
            <a:pPr algn="ctr"/>
            <a:r>
              <a:rPr sz="1800" b="1">
                <a:solidFill>
                  <a:srgbClr val="C08A2E"/>
                </a:solidFill>
              </a:rPr>
              <a:t>ANAHTAR FİKİR</a:t>
            </a:r>
          </a:p>
        </p:txBody>
      </p:sp>
      <p:sp>
        <p:nvSpPr>
          <p:cNvPr id="34" name="TextBox 33"/>
          <p:cNvSpPr txBox="1"/>
          <p:nvPr/>
        </p:nvSpPr>
        <p:spPr>
          <a:xfrm>
            <a:off x="8921496" y="11082528"/>
            <a:ext cx="6544056" cy="822960"/>
          </a:xfrm>
          <a:prstGeom prst="rect">
            <a:avLst/>
          </a:prstGeom>
          <a:noFill/>
        </p:spPr>
        <p:txBody>
          <a:bodyPr wrap="square" lIns="0" tIns="0" rIns="0" bIns="0" anchor="t">
            <a:spAutoFit/>
          </a:bodyPr>
          <a:lstStyle/>
          <a:p>
            <a:pPr algn="ctr">
              <a:lnSpc>
                <a:spcPct val="120000"/>
              </a:lnSpc>
            </a:pPr>
            <a:r>
              <a:rPr sz="2100" b="0">
                <a:solidFill>
                  <a:srgbClr val="1A1A1A"/>
                </a:solidFill>
              </a:rPr>
              <a:t>Hafızayı bir sonraki adıma taşır</a:t>
            </a:r>
          </a:p>
        </p:txBody>
      </p:sp>
      <p:sp>
        <p:nvSpPr>
          <p:cNvPr id="35" name="TextBox 34"/>
          <p:cNvSpPr txBox="1"/>
          <p:nvPr/>
        </p:nvSpPr>
        <p:spPr>
          <a:xfrm>
            <a:off x="15831312" y="10607040"/>
            <a:ext cx="7275576" cy="411480"/>
          </a:xfrm>
          <a:prstGeom prst="rect">
            <a:avLst/>
          </a:prstGeom>
          <a:noFill/>
        </p:spPr>
        <p:txBody>
          <a:bodyPr wrap="square" lIns="0" tIns="0" rIns="0" bIns="0" anchor="t">
            <a:spAutoFit/>
          </a:bodyPr>
          <a:lstStyle/>
          <a:p>
            <a:pPr algn="ctr"/>
            <a:r>
              <a:rPr sz="1800" b="1">
                <a:solidFill>
                  <a:srgbClr val="C08A2E"/>
                </a:solidFill>
              </a:rPr>
              <a:t>SINIRI</a:t>
            </a:r>
          </a:p>
        </p:txBody>
      </p:sp>
      <p:sp>
        <p:nvSpPr>
          <p:cNvPr id="36" name="TextBox 35"/>
          <p:cNvSpPr txBox="1"/>
          <p:nvPr/>
        </p:nvSpPr>
        <p:spPr>
          <a:xfrm>
            <a:off x="16197071" y="11082528"/>
            <a:ext cx="6544056" cy="822960"/>
          </a:xfrm>
          <a:prstGeom prst="rect">
            <a:avLst/>
          </a:prstGeom>
          <a:noFill/>
        </p:spPr>
        <p:txBody>
          <a:bodyPr wrap="square" lIns="0" tIns="0" rIns="0" bIns="0" anchor="t">
            <a:spAutoFit/>
          </a:bodyPr>
          <a:lstStyle/>
          <a:p>
            <a:pPr algn="ctr">
              <a:lnSpc>
                <a:spcPct val="120000"/>
              </a:lnSpc>
            </a:pPr>
            <a:r>
              <a:rPr sz="2100" b="0">
                <a:solidFill>
                  <a:srgbClr val="1A1A1A"/>
                </a:solidFill>
              </a:rPr>
              <a:t>Uzun geçmişi unutur, paralelleşmez</a:t>
            </a:r>
          </a:p>
        </p:txBody>
      </p:sp>
      <p:sp>
        <p:nvSpPr>
          <p:cNvPr id="37" name="Rectangle 36"/>
          <p:cNvSpPr/>
          <p:nvPr/>
        </p:nvSpPr>
        <p:spPr>
          <a:xfrm>
            <a:off x="1280160" y="11795760"/>
            <a:ext cx="21826728" cy="1143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38" name="TextBox 37"/>
          <p:cNvSpPr txBox="1"/>
          <p:nvPr/>
        </p:nvSpPr>
        <p:spPr>
          <a:xfrm>
            <a:off x="2011680" y="11795760"/>
            <a:ext cx="20363688" cy="1143000"/>
          </a:xfrm>
          <a:prstGeom prst="rect">
            <a:avLst/>
          </a:prstGeom>
          <a:noFill/>
        </p:spPr>
        <p:txBody>
          <a:bodyPr wrap="square" lIns="0" tIns="0" rIns="0" bIns="0" anchor="ctr">
            <a:spAutoFit/>
          </a:bodyPr>
          <a:lstStyle/>
          <a:p>
            <a:pPr algn="ctr">
              <a:lnSpc>
                <a:spcPct val="120000"/>
              </a:lnSpc>
            </a:pPr>
            <a:r>
              <a:rPr sz="2300" b="0">
                <a:solidFill>
                  <a:srgbClr val="15263F"/>
                </a:solidFill>
              </a:rPr>
              <a:t>Yarının sıcaklığı en çok bugüne benzer — </a:t>
            </a:r>
            <a:r>
              <a:rPr sz="2300" b="1">
                <a:solidFill>
                  <a:srgbClr val="15263F"/>
                </a:solidFill>
              </a:rPr>
              <a:t>ama geçen ayın bilgisi bugüne ulaşana kadar sönüp gidiyor.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rPr>
              <a:t>Hangi Mimariler Var?  ·  LSTM</a:t>
            </a:r>
          </a:p>
        </p:txBody>
      </p:sp>
      <p:sp>
        <p:nvSpPr>
          <p:cNvPr id="3" name="TextBox 2"/>
          <p:cNvSpPr txBox="1"/>
          <p:nvPr/>
        </p:nvSpPr>
        <p:spPr>
          <a:xfrm>
            <a:off x="2066543" y="1874519"/>
            <a:ext cx="20244816" cy="1828800"/>
          </a:xfrm>
          <a:prstGeom prst="rect">
            <a:avLst/>
          </a:prstGeom>
          <a:noFill/>
        </p:spPr>
        <p:txBody>
          <a:bodyPr wrap="square" lIns="0" tIns="0" rIns="0" bIns="0" anchor="t">
            <a:spAutoFit/>
          </a:bodyPr>
          <a:lstStyle/>
          <a:p>
            <a:pPr algn="ctr">
              <a:lnSpc>
                <a:spcPct val="115000"/>
              </a:lnSpc>
            </a:pPr>
            <a:r>
              <a:rPr sz="4000" b="0">
                <a:solidFill>
                  <a:srgbClr val="1A1A1A"/>
                </a:solidFill>
              </a:rPr>
              <a:t>Hücrenin içine bir </a:t>
            </a:r>
            <a:r>
              <a:rPr sz="4000" b="1">
                <a:solidFill>
                  <a:srgbClr val="1A1A1A"/>
                </a:solidFill>
              </a:rPr>
              <a:t>hafıza şeridi</a:t>
            </a:r>
            <a:r>
              <a:rPr sz="4000" b="0">
                <a:solidFill>
                  <a:srgbClr val="1A1A1A"/>
                </a:solidFill>
              </a:rPr>
              <a:t> ve onu yöneten </a:t>
            </a:r>
            <a:r>
              <a:rPr sz="4000" b="1">
                <a:solidFill>
                  <a:srgbClr val="1A1A1A"/>
                </a:solidFill>
              </a:rPr>
              <a:t>üç kapı</a:t>
            </a:r>
            <a:r>
              <a:rPr sz="4000" b="0">
                <a:solidFill>
                  <a:srgbClr val="1A1A1A"/>
                </a:solidFill>
              </a:rPr>
              <a:t> ekler.</a:t>
            </a:r>
          </a:p>
        </p:txBody>
      </p:sp>
      <p:sp>
        <p:nvSpPr>
          <p:cNvPr id="4" name="Rounded Rectangle 3"/>
          <p:cNvSpPr/>
          <p:nvPr/>
        </p:nvSpPr>
        <p:spPr>
          <a:xfrm>
            <a:off x="4206240" y="4846320"/>
            <a:ext cx="14996159" cy="4663440"/>
          </a:xfrm>
          <a:prstGeom prst="roundRect">
            <a:avLst>
              <a:gd name="adj" fmla="val 5000"/>
            </a:avLst>
          </a:prstGeom>
          <a:solidFill>
            <a:srgbClr val="FFFFFF"/>
          </a:solidFill>
          <a:ln w="31750">
            <a:solidFill>
              <a:srgbClr val="148F77"/>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5" name="TextBox 4"/>
          <p:cNvSpPr txBox="1"/>
          <p:nvPr/>
        </p:nvSpPr>
        <p:spPr>
          <a:xfrm>
            <a:off x="4206240" y="9646919"/>
            <a:ext cx="14996159" cy="457200"/>
          </a:xfrm>
          <a:prstGeom prst="rect">
            <a:avLst/>
          </a:prstGeom>
          <a:noFill/>
        </p:spPr>
        <p:txBody>
          <a:bodyPr wrap="square" lIns="0" tIns="0" rIns="0" bIns="0" anchor="t">
            <a:spAutoFit/>
          </a:bodyPr>
          <a:lstStyle/>
          <a:p>
            <a:pPr algn="ctr"/>
            <a:r>
              <a:rPr sz="1900" b="0">
                <a:solidFill>
                  <a:srgbClr val="148F77"/>
                </a:solidFill>
              </a:rPr>
              <a:t>LSTM hücresi</a:t>
            </a:r>
          </a:p>
        </p:txBody>
      </p:sp>
      <p:cxnSp>
        <p:nvCxnSpPr>
          <p:cNvPr id="6" name="Connector 5"/>
          <p:cNvCxnSpPr/>
          <p:nvPr/>
        </p:nvCxnSpPr>
        <p:spPr>
          <a:xfrm>
            <a:off x="2468879" y="5715000"/>
            <a:ext cx="18470881" cy="0"/>
          </a:xfrm>
          <a:prstGeom prst="line">
            <a:avLst/>
          </a:prstGeom>
          <a:ln w="50800">
            <a:solidFill>
              <a:srgbClr val="C08A2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480559" y="5074920"/>
            <a:ext cx="7315200" cy="457200"/>
          </a:xfrm>
          <a:prstGeom prst="rect">
            <a:avLst/>
          </a:prstGeom>
          <a:noFill/>
        </p:spPr>
        <p:txBody>
          <a:bodyPr wrap="square" lIns="0" tIns="0" rIns="0" bIns="0" anchor="t">
            <a:spAutoFit/>
          </a:bodyPr>
          <a:lstStyle/>
          <a:p>
            <a:pPr algn="l"/>
            <a:r>
              <a:rPr sz="2000" b="1">
                <a:solidFill>
                  <a:srgbClr val="C08A2E"/>
                </a:solidFill>
              </a:rPr>
              <a:t>hücre durumu — uzun vadeli hafıza</a:t>
            </a:r>
          </a:p>
        </p:txBody>
      </p:sp>
      <p:sp>
        <p:nvSpPr>
          <p:cNvPr id="8" name="TextBox 7"/>
          <p:cNvSpPr txBox="1"/>
          <p:nvPr/>
        </p:nvSpPr>
        <p:spPr>
          <a:xfrm>
            <a:off x="1325879" y="5440680"/>
            <a:ext cx="1188720" cy="548640"/>
          </a:xfrm>
          <a:prstGeom prst="rect">
            <a:avLst/>
          </a:prstGeom>
          <a:noFill/>
        </p:spPr>
        <p:txBody>
          <a:bodyPr wrap="square" lIns="0" tIns="0" rIns="0" bIns="0" anchor="t">
            <a:spAutoFit/>
          </a:bodyPr>
          <a:lstStyle/>
          <a:p>
            <a:pPr algn="r"/>
            <a:r>
              <a:rPr sz="2400" b="1">
                <a:solidFill>
                  <a:srgbClr val="C08A2E"/>
                </a:solidFill>
              </a:rPr>
              <a:t>C</a:t>
            </a:r>
          </a:p>
        </p:txBody>
      </p:sp>
      <p:sp>
        <p:nvSpPr>
          <p:cNvPr id="9" name="TextBox 8"/>
          <p:cNvSpPr txBox="1"/>
          <p:nvPr/>
        </p:nvSpPr>
        <p:spPr>
          <a:xfrm>
            <a:off x="20985480" y="5440680"/>
            <a:ext cx="1188720" cy="548640"/>
          </a:xfrm>
          <a:prstGeom prst="rect">
            <a:avLst/>
          </a:prstGeom>
          <a:noFill/>
        </p:spPr>
        <p:txBody>
          <a:bodyPr wrap="square" lIns="0" tIns="0" rIns="0" bIns="0" anchor="t">
            <a:spAutoFit/>
          </a:bodyPr>
          <a:lstStyle/>
          <a:p>
            <a:pPr algn="l"/>
            <a:r>
              <a:rPr sz="2400" b="1">
                <a:solidFill>
                  <a:srgbClr val="C08A2E"/>
                </a:solidFill>
              </a:rPr>
              <a:t>C</a:t>
            </a:r>
          </a:p>
        </p:txBody>
      </p:sp>
      <p:sp>
        <p:nvSpPr>
          <p:cNvPr id="10" name="Oval 9"/>
          <p:cNvSpPr/>
          <p:nvPr/>
        </p:nvSpPr>
        <p:spPr>
          <a:xfrm>
            <a:off x="6931152" y="5330952"/>
            <a:ext cx="768096" cy="768096"/>
          </a:xfrm>
          <a:prstGeom prst="ellipse">
            <a:avLst/>
          </a:prstGeom>
          <a:solidFill>
            <a:srgbClr val="FFFFFF"/>
          </a:solidFill>
          <a:ln w="25400">
            <a:solidFill>
              <a:srgbClr val="C08A2E"/>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600" b="1">
                <a:solidFill>
                  <a:srgbClr val="C08A2E"/>
                </a:solidFill>
              </a:rPr>
              <a:t>×</a:t>
            </a:r>
          </a:p>
        </p:txBody>
      </p:sp>
      <p:sp>
        <p:nvSpPr>
          <p:cNvPr id="11" name="Oval 10"/>
          <p:cNvSpPr/>
          <p:nvPr/>
        </p:nvSpPr>
        <p:spPr>
          <a:xfrm>
            <a:off x="11686032" y="5330952"/>
            <a:ext cx="768096" cy="768096"/>
          </a:xfrm>
          <a:prstGeom prst="ellipse">
            <a:avLst/>
          </a:prstGeom>
          <a:solidFill>
            <a:srgbClr val="FFFFFF"/>
          </a:solidFill>
          <a:ln w="25400">
            <a:solidFill>
              <a:srgbClr val="C08A2E"/>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600" b="1">
                <a:solidFill>
                  <a:srgbClr val="C08A2E"/>
                </a:solidFill>
              </a:rPr>
              <a:t>+</a:t>
            </a:r>
          </a:p>
        </p:txBody>
      </p:sp>
      <p:sp>
        <p:nvSpPr>
          <p:cNvPr id="12" name="Rounded Rectangle 11"/>
          <p:cNvSpPr/>
          <p:nvPr/>
        </p:nvSpPr>
        <p:spPr>
          <a:xfrm>
            <a:off x="5029199" y="6812279"/>
            <a:ext cx="3840480" cy="2240280"/>
          </a:xfrm>
          <a:prstGeom prst="roundRect">
            <a:avLst>
              <a:gd name="adj" fmla="val 10000"/>
            </a:avLst>
          </a:prstGeom>
          <a:solidFill>
            <a:srgbClr val="F2F4F7"/>
          </a:solidFill>
          <a:ln w="15240">
            <a:solidFill>
              <a:srgbClr val="B6C2C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3" name="Oval 12"/>
          <p:cNvSpPr/>
          <p:nvPr/>
        </p:nvSpPr>
        <p:spPr>
          <a:xfrm>
            <a:off x="6537959" y="6400799"/>
            <a:ext cx="822960" cy="82296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400" b="1">
                <a:solidFill>
                  <a:srgbClr val="FFFFFF"/>
                </a:solidFill>
              </a:rPr>
              <a:t>σ</a:t>
            </a:r>
          </a:p>
        </p:txBody>
      </p:sp>
      <p:sp>
        <p:nvSpPr>
          <p:cNvPr id="14" name="TextBox 13"/>
          <p:cNvSpPr txBox="1"/>
          <p:nvPr/>
        </p:nvSpPr>
        <p:spPr>
          <a:xfrm>
            <a:off x="5029199" y="7360920"/>
            <a:ext cx="3840480" cy="548640"/>
          </a:xfrm>
          <a:prstGeom prst="rect">
            <a:avLst/>
          </a:prstGeom>
          <a:noFill/>
        </p:spPr>
        <p:txBody>
          <a:bodyPr wrap="square" lIns="0" tIns="0" rIns="0" bIns="0" anchor="t">
            <a:spAutoFit/>
          </a:bodyPr>
          <a:lstStyle/>
          <a:p>
            <a:pPr algn="ctr"/>
            <a:r>
              <a:rPr sz="2600" b="1">
                <a:solidFill>
                  <a:srgbClr val="15263F"/>
                </a:solidFill>
              </a:rPr>
              <a:t>Forget</a:t>
            </a:r>
          </a:p>
        </p:txBody>
      </p:sp>
      <p:sp>
        <p:nvSpPr>
          <p:cNvPr id="15" name="TextBox 14"/>
          <p:cNvSpPr txBox="1"/>
          <p:nvPr/>
        </p:nvSpPr>
        <p:spPr>
          <a:xfrm>
            <a:off x="5029199" y="8046720"/>
            <a:ext cx="3840480" cy="914400"/>
          </a:xfrm>
          <a:prstGeom prst="rect">
            <a:avLst/>
          </a:prstGeom>
          <a:noFill/>
        </p:spPr>
        <p:txBody>
          <a:bodyPr wrap="square" lIns="0" tIns="0" rIns="0" bIns="0" anchor="t">
            <a:spAutoFit/>
          </a:bodyPr>
          <a:lstStyle/>
          <a:p>
            <a:pPr algn="ctr">
              <a:lnSpc>
                <a:spcPct val="115000"/>
              </a:lnSpc>
            </a:pPr>
            <a:r>
              <a:rPr sz="1900" b="0">
                <a:solidFill>
                  <a:srgbClr val="6E6E6E"/>
                </a:solidFill>
              </a:rPr>
              <a:t>Geçen ayın soğuğunu
ne kadar tutayım?</a:t>
            </a:r>
          </a:p>
        </p:txBody>
      </p:sp>
      <p:cxnSp>
        <p:nvCxnSpPr>
          <p:cNvPr id="16" name="Connector 15"/>
          <p:cNvCxnSpPr/>
          <p:nvPr/>
        </p:nvCxnSpPr>
        <p:spPr>
          <a:xfrm flipV="1">
            <a:off x="6949439" y="6099048"/>
            <a:ext cx="0" cy="301751"/>
          </a:xfrm>
          <a:prstGeom prst="line">
            <a:avLst/>
          </a:prstGeom>
          <a:ln w="19050">
            <a:solidFill>
              <a:srgbClr val="B6C2C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784080" y="6812279"/>
            <a:ext cx="3840480" cy="2240280"/>
          </a:xfrm>
          <a:prstGeom prst="roundRect">
            <a:avLst>
              <a:gd name="adj" fmla="val 10000"/>
            </a:avLst>
          </a:prstGeom>
          <a:solidFill>
            <a:srgbClr val="F2F4F7"/>
          </a:solidFill>
          <a:ln w="15240">
            <a:solidFill>
              <a:srgbClr val="B6C2C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8" name="Oval 17"/>
          <p:cNvSpPr/>
          <p:nvPr/>
        </p:nvSpPr>
        <p:spPr>
          <a:xfrm>
            <a:off x="11292840" y="6400799"/>
            <a:ext cx="822960" cy="82296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400" b="1">
                <a:solidFill>
                  <a:srgbClr val="FFFFFF"/>
                </a:solidFill>
              </a:rPr>
              <a:t>σ</a:t>
            </a:r>
          </a:p>
        </p:txBody>
      </p:sp>
      <p:sp>
        <p:nvSpPr>
          <p:cNvPr id="19" name="TextBox 18"/>
          <p:cNvSpPr txBox="1"/>
          <p:nvPr/>
        </p:nvSpPr>
        <p:spPr>
          <a:xfrm>
            <a:off x="9784080" y="7360920"/>
            <a:ext cx="3840480" cy="548640"/>
          </a:xfrm>
          <a:prstGeom prst="rect">
            <a:avLst/>
          </a:prstGeom>
          <a:noFill/>
        </p:spPr>
        <p:txBody>
          <a:bodyPr wrap="square" lIns="0" tIns="0" rIns="0" bIns="0" anchor="t">
            <a:spAutoFit/>
          </a:bodyPr>
          <a:lstStyle/>
          <a:p>
            <a:pPr algn="ctr"/>
            <a:r>
              <a:rPr sz="2600" b="1">
                <a:solidFill>
                  <a:srgbClr val="15263F"/>
                </a:solidFill>
              </a:rPr>
              <a:t>Input</a:t>
            </a:r>
          </a:p>
        </p:txBody>
      </p:sp>
      <p:sp>
        <p:nvSpPr>
          <p:cNvPr id="20" name="TextBox 19"/>
          <p:cNvSpPr txBox="1"/>
          <p:nvPr/>
        </p:nvSpPr>
        <p:spPr>
          <a:xfrm>
            <a:off x="9784080" y="8046720"/>
            <a:ext cx="3840480" cy="914400"/>
          </a:xfrm>
          <a:prstGeom prst="rect">
            <a:avLst/>
          </a:prstGeom>
          <a:noFill/>
        </p:spPr>
        <p:txBody>
          <a:bodyPr wrap="square" lIns="0" tIns="0" rIns="0" bIns="0" anchor="t">
            <a:spAutoFit/>
          </a:bodyPr>
          <a:lstStyle/>
          <a:p>
            <a:pPr algn="ctr">
              <a:lnSpc>
                <a:spcPct val="115000"/>
              </a:lnSpc>
            </a:pPr>
            <a:r>
              <a:rPr sz="1900" b="0">
                <a:solidFill>
                  <a:srgbClr val="6E6E6E"/>
                </a:solidFill>
              </a:rPr>
              <a:t>Bugünün 24°'sini
ne kadar yazayım?</a:t>
            </a:r>
          </a:p>
        </p:txBody>
      </p:sp>
      <p:cxnSp>
        <p:nvCxnSpPr>
          <p:cNvPr id="21" name="Connector 20"/>
          <p:cNvCxnSpPr/>
          <p:nvPr/>
        </p:nvCxnSpPr>
        <p:spPr>
          <a:xfrm flipV="1">
            <a:off x="11704319" y="6099048"/>
            <a:ext cx="0" cy="301751"/>
          </a:xfrm>
          <a:prstGeom prst="line">
            <a:avLst/>
          </a:prstGeom>
          <a:ln w="19050">
            <a:solidFill>
              <a:srgbClr val="B6C2CF"/>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4538959" y="6812279"/>
            <a:ext cx="3840480" cy="2240280"/>
          </a:xfrm>
          <a:prstGeom prst="roundRect">
            <a:avLst>
              <a:gd name="adj" fmla="val 10000"/>
            </a:avLst>
          </a:prstGeom>
          <a:solidFill>
            <a:srgbClr val="F2F4F7"/>
          </a:solidFill>
          <a:ln w="15240">
            <a:solidFill>
              <a:srgbClr val="B6C2C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3" name="Oval 22"/>
          <p:cNvSpPr/>
          <p:nvPr/>
        </p:nvSpPr>
        <p:spPr>
          <a:xfrm>
            <a:off x="16047720" y="6400799"/>
            <a:ext cx="822960" cy="82296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400" b="1">
                <a:solidFill>
                  <a:srgbClr val="FFFFFF"/>
                </a:solidFill>
              </a:rPr>
              <a:t>σ</a:t>
            </a:r>
          </a:p>
        </p:txBody>
      </p:sp>
      <p:sp>
        <p:nvSpPr>
          <p:cNvPr id="24" name="TextBox 23"/>
          <p:cNvSpPr txBox="1"/>
          <p:nvPr/>
        </p:nvSpPr>
        <p:spPr>
          <a:xfrm>
            <a:off x="14538959" y="7360920"/>
            <a:ext cx="3840480" cy="548640"/>
          </a:xfrm>
          <a:prstGeom prst="rect">
            <a:avLst/>
          </a:prstGeom>
          <a:noFill/>
        </p:spPr>
        <p:txBody>
          <a:bodyPr wrap="square" lIns="0" tIns="0" rIns="0" bIns="0" anchor="t">
            <a:spAutoFit/>
          </a:bodyPr>
          <a:lstStyle/>
          <a:p>
            <a:pPr algn="ctr"/>
            <a:r>
              <a:rPr sz="2600" b="1">
                <a:solidFill>
                  <a:srgbClr val="15263F"/>
                </a:solidFill>
              </a:rPr>
              <a:t>Output</a:t>
            </a:r>
          </a:p>
        </p:txBody>
      </p:sp>
      <p:sp>
        <p:nvSpPr>
          <p:cNvPr id="25" name="TextBox 24"/>
          <p:cNvSpPr txBox="1"/>
          <p:nvPr/>
        </p:nvSpPr>
        <p:spPr>
          <a:xfrm>
            <a:off x="14538959" y="8046720"/>
            <a:ext cx="3840480" cy="914400"/>
          </a:xfrm>
          <a:prstGeom prst="rect">
            <a:avLst/>
          </a:prstGeom>
          <a:noFill/>
        </p:spPr>
        <p:txBody>
          <a:bodyPr wrap="square" lIns="0" tIns="0" rIns="0" bIns="0" anchor="t">
            <a:spAutoFit/>
          </a:bodyPr>
          <a:lstStyle/>
          <a:p>
            <a:pPr algn="ctr">
              <a:lnSpc>
                <a:spcPct val="115000"/>
              </a:lnSpc>
            </a:pPr>
            <a:r>
              <a:rPr sz="1900" b="0">
                <a:solidFill>
                  <a:srgbClr val="6E6E6E"/>
                </a:solidFill>
              </a:rPr>
              <a:t>Yarın için ne
vereyim?</a:t>
            </a:r>
          </a:p>
        </p:txBody>
      </p:sp>
      <p:sp>
        <p:nvSpPr>
          <p:cNvPr id="26" name="Rounded Rectangle 25"/>
          <p:cNvSpPr/>
          <p:nvPr/>
        </p:nvSpPr>
        <p:spPr>
          <a:xfrm>
            <a:off x="1554480" y="7635240"/>
            <a:ext cx="2194560" cy="914400"/>
          </a:xfrm>
          <a:prstGeom prst="roundRect">
            <a:avLst>
              <a:gd name="adj" fmla="val 18000"/>
            </a:avLst>
          </a:prstGeom>
          <a:solidFill>
            <a:srgbClr val="FFFFFF"/>
          </a:solidFill>
          <a:ln w="19050">
            <a:solidFill>
              <a:srgbClr val="B6C2C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400" b="1">
                <a:solidFill>
                  <a:srgbClr val="1A1A1A"/>
                </a:solidFill>
              </a:rPr>
              <a:t>24°</a:t>
            </a:r>
          </a:p>
        </p:txBody>
      </p:sp>
      <p:sp>
        <p:nvSpPr>
          <p:cNvPr id="27" name="TextBox 26"/>
          <p:cNvSpPr txBox="1"/>
          <p:nvPr/>
        </p:nvSpPr>
        <p:spPr>
          <a:xfrm>
            <a:off x="1554480" y="8641080"/>
            <a:ext cx="2194560" cy="457200"/>
          </a:xfrm>
          <a:prstGeom prst="rect">
            <a:avLst/>
          </a:prstGeom>
          <a:noFill/>
        </p:spPr>
        <p:txBody>
          <a:bodyPr wrap="square" lIns="0" tIns="0" rIns="0" bIns="0" anchor="t">
            <a:spAutoFit/>
          </a:bodyPr>
          <a:lstStyle/>
          <a:p>
            <a:pPr algn="ctr"/>
            <a:r>
              <a:rPr sz="1800" b="0">
                <a:solidFill>
                  <a:srgbClr val="6E6E6E"/>
                </a:solidFill>
              </a:rPr>
              <a:t>bugünün verisi</a:t>
            </a:r>
          </a:p>
        </p:txBody>
      </p:sp>
      <p:cxnSp>
        <p:nvCxnSpPr>
          <p:cNvPr id="28" name="Connector 27"/>
          <p:cNvCxnSpPr/>
          <p:nvPr/>
        </p:nvCxnSpPr>
        <p:spPr>
          <a:xfrm>
            <a:off x="3749039" y="8092440"/>
            <a:ext cx="457201" cy="0"/>
          </a:xfrm>
          <a:prstGeom prst="line">
            <a:avLst/>
          </a:prstGeom>
          <a:ln w="25400">
            <a:solidFill>
              <a:srgbClr val="B6C2C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9202400" y="8092440"/>
            <a:ext cx="548640" cy="0"/>
          </a:xfrm>
          <a:prstGeom prst="line">
            <a:avLst/>
          </a:prstGeom>
          <a:ln w="38100">
            <a:solidFill>
              <a:srgbClr val="C08A2E"/>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9751040" y="7635240"/>
            <a:ext cx="3017520" cy="914400"/>
          </a:xfrm>
          <a:prstGeom prst="roundRect">
            <a:avLst>
              <a:gd name="adj" fmla="val 18000"/>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400" b="1">
                <a:solidFill>
                  <a:srgbClr val="FFFFFF"/>
                </a:solidFill>
              </a:rPr>
              <a:t>25°</a:t>
            </a:r>
          </a:p>
        </p:txBody>
      </p:sp>
      <p:sp>
        <p:nvSpPr>
          <p:cNvPr id="31" name="TextBox 30"/>
          <p:cNvSpPr txBox="1"/>
          <p:nvPr/>
        </p:nvSpPr>
        <p:spPr>
          <a:xfrm>
            <a:off x="19751040" y="8641080"/>
            <a:ext cx="3017520" cy="457200"/>
          </a:xfrm>
          <a:prstGeom prst="rect">
            <a:avLst/>
          </a:prstGeom>
          <a:noFill/>
        </p:spPr>
        <p:txBody>
          <a:bodyPr wrap="square" lIns="0" tIns="0" rIns="0" bIns="0" anchor="t">
            <a:spAutoFit/>
          </a:bodyPr>
          <a:lstStyle/>
          <a:p>
            <a:pPr algn="ctr"/>
            <a:r>
              <a:rPr sz="1800" b="0">
                <a:solidFill>
                  <a:srgbClr val="6E6E6E"/>
                </a:solidFill>
              </a:rPr>
              <a:t>tahmin</a:t>
            </a:r>
          </a:p>
        </p:txBody>
      </p:sp>
      <p:sp>
        <p:nvSpPr>
          <p:cNvPr id="32" name="TextBox 31"/>
          <p:cNvSpPr txBox="1"/>
          <p:nvPr/>
        </p:nvSpPr>
        <p:spPr>
          <a:xfrm>
            <a:off x="1280160" y="10607040"/>
            <a:ext cx="7275576" cy="411480"/>
          </a:xfrm>
          <a:prstGeom prst="rect">
            <a:avLst/>
          </a:prstGeom>
          <a:noFill/>
        </p:spPr>
        <p:txBody>
          <a:bodyPr wrap="square" lIns="0" tIns="0" rIns="0" bIns="0" anchor="t">
            <a:spAutoFit/>
          </a:bodyPr>
          <a:lstStyle/>
          <a:p>
            <a:pPr algn="ctr"/>
            <a:r>
              <a:rPr sz="1800" b="1">
                <a:solidFill>
                  <a:srgbClr val="C08A2E"/>
                </a:solidFill>
              </a:rPr>
              <a:t>NE İÇİN</a:t>
            </a:r>
          </a:p>
        </p:txBody>
      </p:sp>
      <p:sp>
        <p:nvSpPr>
          <p:cNvPr id="33" name="TextBox 32"/>
          <p:cNvSpPr txBox="1"/>
          <p:nvPr/>
        </p:nvSpPr>
        <p:spPr>
          <a:xfrm>
            <a:off x="1645919" y="11082528"/>
            <a:ext cx="6544056" cy="822960"/>
          </a:xfrm>
          <a:prstGeom prst="rect">
            <a:avLst/>
          </a:prstGeom>
          <a:noFill/>
        </p:spPr>
        <p:txBody>
          <a:bodyPr wrap="square" lIns="0" tIns="0" rIns="0" bIns="0" anchor="t">
            <a:spAutoFit/>
          </a:bodyPr>
          <a:lstStyle/>
          <a:p>
            <a:pPr algn="ctr">
              <a:lnSpc>
                <a:spcPct val="120000"/>
              </a:lnSpc>
            </a:pPr>
            <a:r>
              <a:rPr sz="2100" b="0">
                <a:solidFill>
                  <a:srgbClr val="1A1A1A"/>
                </a:solidFill>
              </a:rPr>
              <a:t>Uzun geçmişi olan diziler</a:t>
            </a:r>
          </a:p>
        </p:txBody>
      </p:sp>
      <p:sp>
        <p:nvSpPr>
          <p:cNvPr id="34" name="TextBox 33"/>
          <p:cNvSpPr txBox="1"/>
          <p:nvPr/>
        </p:nvSpPr>
        <p:spPr>
          <a:xfrm>
            <a:off x="8555736" y="10607040"/>
            <a:ext cx="7275576" cy="411480"/>
          </a:xfrm>
          <a:prstGeom prst="rect">
            <a:avLst/>
          </a:prstGeom>
          <a:noFill/>
        </p:spPr>
        <p:txBody>
          <a:bodyPr wrap="square" lIns="0" tIns="0" rIns="0" bIns="0" anchor="t">
            <a:spAutoFit/>
          </a:bodyPr>
          <a:lstStyle/>
          <a:p>
            <a:pPr algn="ctr"/>
            <a:r>
              <a:rPr sz="1800" b="1">
                <a:solidFill>
                  <a:srgbClr val="C08A2E"/>
                </a:solidFill>
              </a:rPr>
              <a:t>ANAHTAR FİKİR</a:t>
            </a:r>
          </a:p>
        </p:txBody>
      </p:sp>
      <p:sp>
        <p:nvSpPr>
          <p:cNvPr id="35" name="TextBox 34"/>
          <p:cNvSpPr txBox="1"/>
          <p:nvPr/>
        </p:nvSpPr>
        <p:spPr>
          <a:xfrm>
            <a:off x="8921496" y="11082528"/>
            <a:ext cx="6544056" cy="822960"/>
          </a:xfrm>
          <a:prstGeom prst="rect">
            <a:avLst/>
          </a:prstGeom>
          <a:noFill/>
        </p:spPr>
        <p:txBody>
          <a:bodyPr wrap="square" lIns="0" tIns="0" rIns="0" bIns="0" anchor="t">
            <a:spAutoFit/>
          </a:bodyPr>
          <a:lstStyle/>
          <a:p>
            <a:pPr algn="ctr">
              <a:lnSpc>
                <a:spcPct val="120000"/>
              </a:lnSpc>
            </a:pPr>
            <a:r>
              <a:rPr sz="2100" b="0">
                <a:solidFill>
                  <a:srgbClr val="1A1A1A"/>
                </a:solidFill>
              </a:rPr>
              <a:t>Hafıza şeridi + üç kapı (her biri 0–1)</a:t>
            </a:r>
          </a:p>
        </p:txBody>
      </p:sp>
      <p:sp>
        <p:nvSpPr>
          <p:cNvPr id="36" name="TextBox 35"/>
          <p:cNvSpPr txBox="1"/>
          <p:nvPr/>
        </p:nvSpPr>
        <p:spPr>
          <a:xfrm>
            <a:off x="15831312" y="10607040"/>
            <a:ext cx="7275576" cy="411480"/>
          </a:xfrm>
          <a:prstGeom prst="rect">
            <a:avLst/>
          </a:prstGeom>
          <a:noFill/>
        </p:spPr>
        <p:txBody>
          <a:bodyPr wrap="square" lIns="0" tIns="0" rIns="0" bIns="0" anchor="t">
            <a:spAutoFit/>
          </a:bodyPr>
          <a:lstStyle/>
          <a:p>
            <a:pPr algn="ctr"/>
            <a:r>
              <a:rPr sz="1800" b="1">
                <a:solidFill>
                  <a:srgbClr val="C08A2E"/>
                </a:solidFill>
              </a:rPr>
              <a:t>NEREDE</a:t>
            </a:r>
          </a:p>
        </p:txBody>
      </p:sp>
      <p:sp>
        <p:nvSpPr>
          <p:cNvPr id="37" name="TextBox 36"/>
          <p:cNvSpPr txBox="1"/>
          <p:nvPr/>
        </p:nvSpPr>
        <p:spPr>
          <a:xfrm>
            <a:off x="16197071" y="11082528"/>
            <a:ext cx="6544056" cy="822960"/>
          </a:xfrm>
          <a:prstGeom prst="rect">
            <a:avLst/>
          </a:prstGeom>
          <a:noFill/>
        </p:spPr>
        <p:txBody>
          <a:bodyPr wrap="square" lIns="0" tIns="0" rIns="0" bIns="0" anchor="t">
            <a:spAutoFit/>
          </a:bodyPr>
          <a:lstStyle/>
          <a:p>
            <a:pPr algn="ctr">
              <a:lnSpc>
                <a:spcPct val="120000"/>
              </a:lnSpc>
            </a:pPr>
            <a:r>
              <a:rPr sz="2100" b="0">
                <a:solidFill>
                  <a:srgbClr val="1A1A1A"/>
                </a:solidFill>
              </a:rPr>
              <a:t>Hava tahmini, talep tahmini, konuşma</a:t>
            </a:r>
          </a:p>
        </p:txBody>
      </p:sp>
      <p:sp>
        <p:nvSpPr>
          <p:cNvPr id="38" name="Rectangle 37"/>
          <p:cNvSpPr/>
          <p:nvPr/>
        </p:nvSpPr>
        <p:spPr>
          <a:xfrm>
            <a:off x="1280160" y="11795760"/>
            <a:ext cx="21826728" cy="1143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39" name="TextBox 38"/>
          <p:cNvSpPr txBox="1"/>
          <p:nvPr/>
        </p:nvSpPr>
        <p:spPr>
          <a:xfrm>
            <a:off x="2011680" y="11795760"/>
            <a:ext cx="20363688" cy="1143000"/>
          </a:xfrm>
          <a:prstGeom prst="rect">
            <a:avLst/>
          </a:prstGeom>
          <a:noFill/>
        </p:spPr>
        <p:txBody>
          <a:bodyPr wrap="square" lIns="0" tIns="0" rIns="0" bIns="0" anchor="ctr">
            <a:spAutoFit/>
          </a:bodyPr>
          <a:lstStyle/>
          <a:p>
            <a:pPr algn="ctr">
              <a:lnSpc>
                <a:spcPct val="120000"/>
              </a:lnSpc>
            </a:pPr>
            <a:r>
              <a:rPr sz="2300" b="0">
                <a:solidFill>
                  <a:srgbClr val="15263F"/>
                </a:solidFill>
              </a:rPr>
              <a:t>Hafıza şeridi bilgiyi bozulmadan uzak mesafeye taşır. </a:t>
            </a:r>
            <a:r>
              <a:rPr sz="2300" b="1">
                <a:solidFill>
                  <a:srgbClr val="15263F"/>
                </a:solidFill>
              </a:rPr>
              <a:t>Ama hâlâ gün gün ilerliyor — paralelleşmiyor.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Yer Tutucusu 1">
            <a:extLst>
              <a:ext uri="{FF2B5EF4-FFF2-40B4-BE49-F238E27FC236}">
                <a16:creationId xmlns:a16="http://schemas.microsoft.com/office/drawing/2014/main" id="{2A1B1BB7-288C-8D6A-04AC-A92BF5B90378}"/>
              </a:ext>
            </a:extLst>
          </p:cNvPr>
          <p:cNvSpPr>
            <a:spLocks noGrp="1"/>
          </p:cNvSpPr>
          <p:nvPr>
            <p:ph type="body" sz="quarter" idx="22"/>
          </p:nvPr>
        </p:nvSpPr>
        <p:spPr/>
        <p:txBody>
          <a:bodyPr/>
          <a:lstStyle/>
          <a:p>
            <a:r>
              <a:rPr lang="tr-TR" dirty="0"/>
              <a:t>Üretken </a:t>
            </a:r>
            <a:r>
              <a:rPr lang="tr-TR" dirty="0" err="1"/>
              <a:t>vs</a:t>
            </a:r>
            <a:r>
              <a:rPr lang="tr-TR" dirty="0"/>
              <a:t> Klasik Yapay Zeka</a:t>
            </a:r>
          </a:p>
        </p:txBody>
      </p:sp>
      <p:pic>
        <p:nvPicPr>
          <p:cNvPr id="8" name="Resim 7">
            <a:extLst>
              <a:ext uri="{FF2B5EF4-FFF2-40B4-BE49-F238E27FC236}">
                <a16:creationId xmlns:a16="http://schemas.microsoft.com/office/drawing/2014/main" id="{0693CD6B-5C61-E31D-CFFF-1EEA0882689F}"/>
              </a:ext>
            </a:extLst>
          </p:cNvPr>
          <p:cNvPicPr>
            <a:picLocks noChangeAspect="1"/>
          </p:cNvPicPr>
          <p:nvPr/>
        </p:nvPicPr>
        <p:blipFill>
          <a:blip r:embed="rId3"/>
          <a:stretch>
            <a:fillRect/>
          </a:stretch>
        </p:blipFill>
        <p:spPr>
          <a:xfrm>
            <a:off x="1707840" y="1594338"/>
            <a:ext cx="21433514" cy="12121662"/>
          </a:xfrm>
          <a:prstGeom prst="rect">
            <a:avLst/>
          </a:prstGeom>
        </p:spPr>
      </p:pic>
    </p:spTree>
    <p:extLst>
      <p:ext uri="{BB962C8B-B14F-4D97-AF65-F5344CB8AC3E}">
        <p14:creationId xmlns:p14="http://schemas.microsoft.com/office/powerpoint/2010/main" val="4164287987"/>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Yer Tutucusu 1">
            <a:extLst>
              <a:ext uri="{FF2B5EF4-FFF2-40B4-BE49-F238E27FC236}">
                <a16:creationId xmlns:a16="http://schemas.microsoft.com/office/drawing/2014/main" id="{EFBCA040-1ADE-FD09-6516-636A5786C3B3}"/>
              </a:ext>
            </a:extLst>
          </p:cNvPr>
          <p:cNvSpPr>
            <a:spLocks noGrp="1"/>
          </p:cNvSpPr>
          <p:nvPr>
            <p:ph type="body" sz="quarter" idx="22"/>
          </p:nvPr>
        </p:nvSpPr>
        <p:spPr/>
        <p:txBody>
          <a:bodyPr/>
          <a:lstStyle/>
          <a:p>
            <a:r>
              <a:rPr lang="tr-TR" dirty="0" err="1"/>
              <a:t>Transformer</a:t>
            </a:r>
            <a:r>
              <a:rPr lang="tr-TR" dirty="0"/>
              <a:t> Mimarisi</a:t>
            </a:r>
          </a:p>
        </p:txBody>
      </p:sp>
      <p:pic>
        <p:nvPicPr>
          <p:cNvPr id="4" name="Resim 3">
            <a:extLst>
              <a:ext uri="{FF2B5EF4-FFF2-40B4-BE49-F238E27FC236}">
                <a16:creationId xmlns:a16="http://schemas.microsoft.com/office/drawing/2014/main" id="{30EA396D-D5AB-7F33-1FEC-F33A9393B3A2}"/>
              </a:ext>
            </a:extLst>
          </p:cNvPr>
          <p:cNvPicPr>
            <a:picLocks noChangeAspect="1"/>
          </p:cNvPicPr>
          <p:nvPr/>
        </p:nvPicPr>
        <p:blipFill>
          <a:blip r:embed="rId3"/>
          <a:stretch>
            <a:fillRect/>
          </a:stretch>
        </p:blipFill>
        <p:spPr>
          <a:xfrm>
            <a:off x="1823134" y="1516251"/>
            <a:ext cx="21154097" cy="12031970"/>
          </a:xfrm>
          <a:prstGeom prst="rect">
            <a:avLst/>
          </a:prstGeom>
        </p:spPr>
      </p:pic>
      <p:sp>
        <p:nvSpPr>
          <p:cNvPr id="5" name="Dikdörtgen 4">
            <a:extLst>
              <a:ext uri="{FF2B5EF4-FFF2-40B4-BE49-F238E27FC236}">
                <a16:creationId xmlns:a16="http://schemas.microsoft.com/office/drawing/2014/main" id="{37818A51-C132-B1D0-EFF9-4FCA4BD8FC0E}"/>
              </a:ext>
            </a:extLst>
          </p:cNvPr>
          <p:cNvSpPr/>
          <p:nvPr/>
        </p:nvSpPr>
        <p:spPr>
          <a:xfrm>
            <a:off x="1823134" y="2203938"/>
            <a:ext cx="6429912" cy="18288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tr-TR"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88811729"/>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rPr>
              <a:t>Transformer Mimarisi  ·  Attention</a:t>
            </a:r>
          </a:p>
        </p:txBody>
      </p:sp>
      <p:sp>
        <p:nvSpPr>
          <p:cNvPr id="3" name="TextBox 2"/>
          <p:cNvSpPr txBox="1"/>
          <p:nvPr/>
        </p:nvSpPr>
        <p:spPr>
          <a:xfrm>
            <a:off x="2066543" y="1874519"/>
            <a:ext cx="20244816" cy="1737360"/>
          </a:xfrm>
          <a:prstGeom prst="rect">
            <a:avLst/>
          </a:prstGeom>
          <a:noFill/>
        </p:spPr>
        <p:txBody>
          <a:bodyPr wrap="square" lIns="0" tIns="0" rIns="0" bIns="0" anchor="t">
            <a:spAutoFit/>
          </a:bodyPr>
          <a:lstStyle/>
          <a:p>
            <a:pPr algn="ctr">
              <a:lnSpc>
                <a:spcPct val="115000"/>
              </a:lnSpc>
            </a:pPr>
            <a:r>
              <a:rPr sz="3800" b="0">
                <a:solidFill>
                  <a:srgbClr val="1A1A1A"/>
                </a:solidFill>
              </a:rPr>
              <a:t>Aynı kelime, farklı bağlam: </a:t>
            </a:r>
            <a:r>
              <a:rPr sz="3800" b="1">
                <a:solidFill>
                  <a:srgbClr val="1A1A1A"/>
                </a:solidFill>
              </a:rPr>
              <a:t>attention "o"nun kime işaret ettiğini bulur.</a:t>
            </a:r>
          </a:p>
        </p:txBody>
      </p:sp>
      <p:pic>
        <p:nvPicPr>
          <p:cNvPr id="4" name="Picture 3" descr="attn.png"/>
          <p:cNvPicPr>
            <a:picLocks noChangeAspect="1"/>
          </p:cNvPicPr>
          <p:nvPr/>
        </p:nvPicPr>
        <p:blipFill>
          <a:blip r:embed="rId3"/>
          <a:stretch>
            <a:fillRect/>
          </a:stretch>
        </p:blipFill>
        <p:spPr>
          <a:xfrm>
            <a:off x="1554480" y="4069080"/>
            <a:ext cx="10352212" cy="6309360"/>
          </a:xfrm>
          <a:prstGeom prst="rect">
            <a:avLst/>
          </a:prstGeom>
          <a:ln w="12700">
            <a:solidFill>
              <a:srgbClr val="E2E2E2"/>
            </a:solidFill>
          </a:ln>
        </p:spPr>
      </p:pic>
      <p:sp>
        <p:nvSpPr>
          <p:cNvPr id="5" name="Rounded Rectangle 4"/>
          <p:cNvSpPr/>
          <p:nvPr/>
        </p:nvSpPr>
        <p:spPr>
          <a:xfrm>
            <a:off x="12435840" y="4069080"/>
            <a:ext cx="10671048" cy="6309360"/>
          </a:xfrm>
          <a:prstGeom prst="roundRect">
            <a:avLst>
              <a:gd name="adj" fmla="val 5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13121640" y="4617720"/>
            <a:ext cx="146304" cy="1783080"/>
          </a:xfrm>
          <a:prstGeom prst="rect">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13533119" y="4617720"/>
            <a:ext cx="8567928" cy="1234440"/>
          </a:xfrm>
          <a:prstGeom prst="rect">
            <a:avLst/>
          </a:prstGeom>
          <a:noFill/>
        </p:spPr>
        <p:txBody>
          <a:bodyPr wrap="square" lIns="0" tIns="0" rIns="0" bIns="0" anchor="t">
            <a:spAutoFit/>
          </a:bodyPr>
          <a:lstStyle/>
          <a:p>
            <a:pPr algn="l">
              <a:lnSpc>
                <a:spcPct val="125000"/>
              </a:lnSpc>
            </a:pPr>
            <a:r>
              <a:rPr sz="2300" b="0">
                <a:solidFill>
                  <a:srgbClr val="1A1A1A"/>
                </a:solidFill>
              </a:rPr>
              <a:t>Çocuk annesiyle konuşunca parka gitmekten vazgeçti çünkü o evde kalmalıydı.</a:t>
            </a:r>
          </a:p>
        </p:txBody>
      </p:sp>
      <p:sp>
        <p:nvSpPr>
          <p:cNvPr id="8" name="TextBox 7"/>
          <p:cNvSpPr txBox="1"/>
          <p:nvPr/>
        </p:nvSpPr>
        <p:spPr>
          <a:xfrm>
            <a:off x="13533119" y="5943600"/>
            <a:ext cx="8567928" cy="502920"/>
          </a:xfrm>
          <a:prstGeom prst="rect">
            <a:avLst/>
          </a:prstGeom>
          <a:noFill/>
        </p:spPr>
        <p:txBody>
          <a:bodyPr wrap="square" lIns="0" tIns="0" rIns="0" bIns="0" anchor="t">
            <a:spAutoFit/>
          </a:bodyPr>
          <a:lstStyle/>
          <a:p>
            <a:pPr algn="l"/>
            <a:r>
              <a:rPr sz="2500" b="1">
                <a:solidFill>
                  <a:srgbClr val="148F77"/>
                </a:solidFill>
              </a:rPr>
              <a:t>o  =  Çocuk</a:t>
            </a:r>
          </a:p>
        </p:txBody>
      </p:sp>
      <p:sp>
        <p:nvSpPr>
          <p:cNvPr id="9" name="Rectangle 8"/>
          <p:cNvSpPr/>
          <p:nvPr/>
        </p:nvSpPr>
        <p:spPr>
          <a:xfrm>
            <a:off x="13121640" y="6720840"/>
            <a:ext cx="146304" cy="1783080"/>
          </a:xfrm>
          <a:prstGeom prst="rect">
            <a:avLst/>
          </a:prstGeom>
          <a:solidFill>
            <a:srgbClr val="D13F8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13533119" y="6720840"/>
            <a:ext cx="8567928" cy="1234440"/>
          </a:xfrm>
          <a:prstGeom prst="rect">
            <a:avLst/>
          </a:prstGeom>
          <a:noFill/>
        </p:spPr>
        <p:txBody>
          <a:bodyPr wrap="square" lIns="0" tIns="0" rIns="0" bIns="0" anchor="t">
            <a:spAutoFit/>
          </a:bodyPr>
          <a:lstStyle/>
          <a:p>
            <a:pPr algn="l">
              <a:lnSpc>
                <a:spcPct val="125000"/>
              </a:lnSpc>
            </a:pPr>
            <a:r>
              <a:rPr sz="2300" b="0">
                <a:solidFill>
                  <a:srgbClr val="1A1A1A"/>
                </a:solidFill>
              </a:rPr>
              <a:t>Çocuk annesiyle konuşunca parka gitmekten vazgeçti çünkü o izin vermedi.</a:t>
            </a:r>
          </a:p>
        </p:txBody>
      </p:sp>
      <p:sp>
        <p:nvSpPr>
          <p:cNvPr id="11" name="TextBox 10"/>
          <p:cNvSpPr txBox="1"/>
          <p:nvPr/>
        </p:nvSpPr>
        <p:spPr>
          <a:xfrm>
            <a:off x="13533119" y="8046719"/>
            <a:ext cx="8567928" cy="502920"/>
          </a:xfrm>
          <a:prstGeom prst="rect">
            <a:avLst/>
          </a:prstGeom>
          <a:noFill/>
        </p:spPr>
        <p:txBody>
          <a:bodyPr wrap="square" lIns="0" tIns="0" rIns="0" bIns="0" anchor="t">
            <a:spAutoFit/>
          </a:bodyPr>
          <a:lstStyle/>
          <a:p>
            <a:pPr algn="l"/>
            <a:r>
              <a:rPr sz="2500" b="1">
                <a:solidFill>
                  <a:srgbClr val="D13F8C"/>
                </a:solidFill>
              </a:rPr>
              <a:t>o  =  annesi</a:t>
            </a:r>
          </a:p>
        </p:txBody>
      </p:sp>
      <p:sp>
        <p:nvSpPr>
          <p:cNvPr id="12" name="TextBox 11"/>
          <p:cNvSpPr txBox="1"/>
          <p:nvPr/>
        </p:nvSpPr>
        <p:spPr>
          <a:xfrm>
            <a:off x="13121640" y="8915399"/>
            <a:ext cx="9299448" cy="1417320"/>
          </a:xfrm>
          <a:prstGeom prst="rect">
            <a:avLst/>
          </a:prstGeom>
          <a:noFill/>
        </p:spPr>
        <p:txBody>
          <a:bodyPr wrap="square" lIns="0" tIns="0" rIns="0" bIns="0" anchor="t">
            <a:spAutoFit/>
          </a:bodyPr>
          <a:lstStyle/>
          <a:p>
            <a:pPr algn="l">
              <a:lnSpc>
                <a:spcPct val="125000"/>
              </a:lnSpc>
              <a:spcAft>
                <a:spcPts val="1000"/>
              </a:spcAft>
            </a:pPr>
            <a:r>
              <a:rPr sz="2200" b="0">
                <a:solidFill>
                  <a:srgbClr val="15263F"/>
                </a:solidFill>
              </a:rPr>
              <a:t>Cümlenin geri kalanı aynı. Tek fark son iki kelime — ve "o" bambaşka birine işaret ediyor.</a:t>
            </a:r>
          </a:p>
          <a:p>
            <a:pPr algn="l">
              <a:lnSpc>
                <a:spcPct val="125000"/>
              </a:lnSpc>
              <a:spcAft>
                <a:spcPts val="1000"/>
              </a:spcAft>
            </a:pPr>
            <a:r>
              <a:rPr sz="2200" b="1">
                <a:solidFill>
                  <a:srgbClr val="15263F"/>
                </a:solidFill>
              </a:rPr>
              <a:t>Attention, her kelimenin hangi kelimeye ne kadar bakacağını veriden öğrenir.</a:t>
            </a:r>
          </a:p>
        </p:txBody>
      </p:sp>
      <p:sp>
        <p:nvSpPr>
          <p:cNvPr id="13" name="TextBox 12"/>
          <p:cNvSpPr txBox="1"/>
          <p:nvPr/>
        </p:nvSpPr>
        <p:spPr>
          <a:xfrm>
            <a:off x="1280160" y="12710160"/>
            <a:ext cx="12801600" cy="411480"/>
          </a:xfrm>
          <a:prstGeom prst="rect">
            <a:avLst/>
          </a:prstGeom>
          <a:noFill/>
        </p:spPr>
        <p:txBody>
          <a:bodyPr wrap="square" lIns="0" tIns="0" rIns="0" bIns="0" anchor="t">
            <a:spAutoFit/>
          </a:bodyPr>
          <a:lstStyle/>
          <a:p>
            <a:pPr algn="l"/>
            <a:r>
              <a:rPr sz="1500" b="0">
                <a:solidFill>
                  <a:srgbClr val="9A9A9A"/>
                </a:solidFill>
              </a:rPr>
              <a:t>Görsel: 'Klasik vs Üretken Yapay Zekâ' sunumundan</a:t>
            </a:r>
          </a:p>
        </p:txBody>
      </p:sp>
      <p:sp>
        <p:nvSpPr>
          <p:cNvPr id="14" name="Rectangle 13"/>
          <p:cNvSpPr/>
          <p:nvPr/>
        </p:nvSpPr>
        <p:spPr>
          <a:xfrm>
            <a:off x="1280160" y="11384280"/>
            <a:ext cx="21826728" cy="1188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2011680" y="11384280"/>
            <a:ext cx="20363688" cy="1188720"/>
          </a:xfrm>
          <a:prstGeom prst="rect">
            <a:avLst/>
          </a:prstGeom>
          <a:noFill/>
        </p:spPr>
        <p:txBody>
          <a:bodyPr wrap="square" lIns="0" tIns="0" rIns="0" bIns="0" anchor="ctr">
            <a:spAutoFit/>
          </a:bodyPr>
          <a:lstStyle/>
          <a:p>
            <a:pPr algn="ctr">
              <a:lnSpc>
                <a:spcPct val="120000"/>
              </a:lnSpc>
            </a:pPr>
            <a:r>
              <a:rPr sz="2300" b="0">
                <a:solidFill>
                  <a:srgbClr val="15263F"/>
                </a:solidFill>
              </a:rPr>
              <a:t>Kural yazmadık, sözlük vermedik. </a:t>
            </a:r>
            <a:r>
              <a:rPr sz="2300" b="1">
                <a:solidFill>
                  <a:srgbClr val="15263F"/>
                </a:solidFill>
              </a:rPr>
              <a:t>Model bu bağı milyonlarca cümleden kendisi çıkardı.</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Yer Tutucusu 1">
            <a:extLst>
              <a:ext uri="{FF2B5EF4-FFF2-40B4-BE49-F238E27FC236}">
                <a16:creationId xmlns:a16="http://schemas.microsoft.com/office/drawing/2014/main" id="{23A66842-34DB-6F16-4BB5-5B82BCB37A7D}"/>
              </a:ext>
            </a:extLst>
          </p:cNvPr>
          <p:cNvSpPr>
            <a:spLocks noGrp="1"/>
          </p:cNvSpPr>
          <p:nvPr>
            <p:ph type="body" sz="quarter" idx="22"/>
          </p:nvPr>
        </p:nvSpPr>
        <p:spPr/>
        <p:txBody>
          <a:bodyPr/>
          <a:lstStyle/>
          <a:p>
            <a:r>
              <a:rPr lang="tr-TR" dirty="0"/>
              <a:t>Word </a:t>
            </a:r>
            <a:r>
              <a:rPr lang="tr-TR" dirty="0" err="1"/>
              <a:t>Embeddings</a:t>
            </a:r>
            <a:endParaRPr lang="tr-TR" dirty="0"/>
          </a:p>
        </p:txBody>
      </p:sp>
      <p:pic>
        <p:nvPicPr>
          <p:cNvPr id="4" name="Resim 3">
            <a:extLst>
              <a:ext uri="{FF2B5EF4-FFF2-40B4-BE49-F238E27FC236}">
                <a16:creationId xmlns:a16="http://schemas.microsoft.com/office/drawing/2014/main" id="{14CD67DC-ED54-2D96-18EC-5D725E66E365}"/>
              </a:ext>
            </a:extLst>
          </p:cNvPr>
          <p:cNvPicPr>
            <a:picLocks noChangeAspect="1"/>
          </p:cNvPicPr>
          <p:nvPr/>
        </p:nvPicPr>
        <p:blipFill>
          <a:blip r:embed="rId3"/>
          <a:stretch>
            <a:fillRect/>
          </a:stretch>
        </p:blipFill>
        <p:spPr>
          <a:xfrm>
            <a:off x="1133345" y="2472532"/>
            <a:ext cx="22609680" cy="11243468"/>
          </a:xfrm>
          <a:prstGeom prst="rect">
            <a:avLst/>
          </a:prstGeom>
        </p:spPr>
      </p:pic>
      <p:sp>
        <p:nvSpPr>
          <p:cNvPr id="6" name="Metin kutusu 5">
            <a:extLst>
              <a:ext uri="{FF2B5EF4-FFF2-40B4-BE49-F238E27FC236}">
                <a16:creationId xmlns:a16="http://schemas.microsoft.com/office/drawing/2014/main" id="{45D2930D-B5E3-9418-F2DA-E40662D28192}"/>
              </a:ext>
            </a:extLst>
          </p:cNvPr>
          <p:cNvSpPr txBox="1"/>
          <p:nvPr/>
        </p:nvSpPr>
        <p:spPr>
          <a:xfrm>
            <a:off x="2110155" y="1641646"/>
            <a:ext cx="20656060" cy="707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115000"/>
              </a:lnSpc>
            </a:pPr>
            <a:r>
              <a:rPr lang="tr-TR" sz="3800" b="0" dirty="0">
                <a:solidFill>
                  <a:srgbClr val="1A1A1A"/>
                </a:solidFill>
              </a:rPr>
              <a:t>Model kelimeyi değil sayıyı işler: her kelime, </a:t>
            </a:r>
            <a:r>
              <a:rPr lang="tr-TR" sz="3800" b="1" dirty="0">
                <a:solidFill>
                  <a:srgbClr val="1A1A1A"/>
                </a:solidFill>
              </a:rPr>
              <a:t>anlamını taşıyan bir vektöre</a:t>
            </a:r>
            <a:r>
              <a:rPr lang="tr-TR" sz="3800" b="0" dirty="0">
                <a:solidFill>
                  <a:srgbClr val="1A1A1A"/>
                </a:solidFill>
              </a:rPr>
              <a:t> dönüşür.</a:t>
            </a:r>
          </a:p>
        </p:txBody>
      </p:sp>
      <p:sp>
        <p:nvSpPr>
          <p:cNvPr id="10" name="TextBox 6">
            <a:extLst>
              <a:ext uri="{FF2B5EF4-FFF2-40B4-BE49-F238E27FC236}">
                <a16:creationId xmlns:a16="http://schemas.microsoft.com/office/drawing/2014/main" id="{1C4C3F83-A316-D124-D62D-A1D1C4B64B32}"/>
              </a:ext>
            </a:extLst>
          </p:cNvPr>
          <p:cNvSpPr txBox="1"/>
          <p:nvPr/>
        </p:nvSpPr>
        <p:spPr>
          <a:xfrm>
            <a:off x="11004025" y="11243468"/>
            <a:ext cx="13379975" cy="402418"/>
          </a:xfrm>
          <a:prstGeom prst="rect">
            <a:avLst/>
          </a:prstGeom>
          <a:noFill/>
        </p:spPr>
        <p:txBody>
          <a:bodyPr wrap="square" lIns="0" tIns="0" rIns="0" bIns="0" anchor="ctr">
            <a:spAutoFit/>
          </a:bodyPr>
          <a:lstStyle/>
          <a:p>
            <a:pPr algn="ctr">
              <a:lnSpc>
                <a:spcPct val="120000"/>
              </a:lnSpc>
            </a:pPr>
            <a:r>
              <a:rPr sz="2400" b="1" dirty="0">
                <a:solidFill>
                  <a:srgbClr val="15263F"/>
                </a:solidFill>
              </a:rPr>
              <a:t>Kral − </a:t>
            </a:r>
            <a:r>
              <a:rPr sz="2400" b="1" dirty="0" err="1">
                <a:solidFill>
                  <a:srgbClr val="15263F"/>
                </a:solidFill>
              </a:rPr>
              <a:t>erkek</a:t>
            </a:r>
            <a:r>
              <a:rPr sz="2400" b="1" dirty="0">
                <a:solidFill>
                  <a:srgbClr val="15263F"/>
                </a:solidFill>
              </a:rPr>
              <a:t> + </a:t>
            </a:r>
            <a:r>
              <a:rPr sz="2400" b="1" dirty="0" err="1">
                <a:solidFill>
                  <a:srgbClr val="15263F"/>
                </a:solidFill>
              </a:rPr>
              <a:t>kadın</a:t>
            </a:r>
            <a:r>
              <a:rPr sz="2400" b="1" dirty="0">
                <a:solidFill>
                  <a:srgbClr val="15263F"/>
                </a:solidFill>
              </a:rPr>
              <a:t> ≈ </a:t>
            </a:r>
            <a:r>
              <a:rPr sz="2400" b="1" dirty="0" err="1">
                <a:solidFill>
                  <a:srgbClr val="15263F"/>
                </a:solidFill>
              </a:rPr>
              <a:t>kraliçe</a:t>
            </a:r>
            <a:r>
              <a:rPr sz="2400" b="1" dirty="0">
                <a:solidFill>
                  <a:srgbClr val="15263F"/>
                </a:solidFill>
              </a:rPr>
              <a:t>. </a:t>
            </a:r>
            <a:r>
              <a:rPr sz="2400" b="0" dirty="0" err="1">
                <a:solidFill>
                  <a:srgbClr val="15263F"/>
                </a:solidFill>
              </a:rPr>
              <a:t>Anlam</a:t>
            </a:r>
            <a:r>
              <a:rPr sz="2400" b="0" dirty="0">
                <a:solidFill>
                  <a:srgbClr val="15263F"/>
                </a:solidFill>
              </a:rPr>
              <a:t> </a:t>
            </a:r>
            <a:r>
              <a:rPr sz="2400" b="0" dirty="0" err="1">
                <a:solidFill>
                  <a:srgbClr val="15263F"/>
                </a:solidFill>
              </a:rPr>
              <a:t>ilişkileri</a:t>
            </a:r>
            <a:r>
              <a:rPr sz="2400" b="0" dirty="0">
                <a:solidFill>
                  <a:srgbClr val="15263F"/>
                </a:solidFill>
              </a:rPr>
              <a:t>, </a:t>
            </a:r>
            <a:r>
              <a:rPr sz="2400" b="0" dirty="0" err="1">
                <a:solidFill>
                  <a:srgbClr val="15263F"/>
                </a:solidFill>
              </a:rPr>
              <a:t>vektörler</a:t>
            </a:r>
            <a:r>
              <a:rPr sz="2400" b="0" dirty="0">
                <a:solidFill>
                  <a:srgbClr val="15263F"/>
                </a:solidFill>
              </a:rPr>
              <a:t> </a:t>
            </a:r>
            <a:r>
              <a:rPr sz="2400" b="0" dirty="0" err="1">
                <a:solidFill>
                  <a:srgbClr val="15263F"/>
                </a:solidFill>
              </a:rPr>
              <a:t>arasındaki</a:t>
            </a:r>
            <a:r>
              <a:rPr sz="2400" b="0" dirty="0">
                <a:solidFill>
                  <a:srgbClr val="15263F"/>
                </a:solidFill>
              </a:rPr>
              <a:t> </a:t>
            </a:r>
            <a:r>
              <a:rPr sz="2400" b="0" dirty="0" err="1">
                <a:solidFill>
                  <a:srgbClr val="15263F"/>
                </a:solidFill>
              </a:rPr>
              <a:t>yönlere</a:t>
            </a:r>
            <a:r>
              <a:rPr sz="2400" b="0" dirty="0">
                <a:solidFill>
                  <a:srgbClr val="15263F"/>
                </a:solidFill>
              </a:rPr>
              <a:t> </a:t>
            </a:r>
            <a:r>
              <a:rPr sz="2400" b="0" dirty="0" err="1">
                <a:solidFill>
                  <a:srgbClr val="15263F"/>
                </a:solidFill>
              </a:rPr>
              <a:t>dönüşüyor</a:t>
            </a:r>
            <a:r>
              <a:rPr sz="2400" b="0" dirty="0">
                <a:solidFill>
                  <a:srgbClr val="15263F"/>
                </a:solidFill>
              </a:rPr>
              <a:t>.</a:t>
            </a:r>
          </a:p>
        </p:txBody>
      </p:sp>
    </p:spTree>
    <p:extLst>
      <p:ext uri="{BB962C8B-B14F-4D97-AF65-F5344CB8AC3E}">
        <p14:creationId xmlns:p14="http://schemas.microsoft.com/office/powerpoint/2010/main" val="3772117845"/>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2B9D7-744D-FA12-27E4-BEE53FD3D4DA}"/>
            </a:ext>
          </a:extLst>
        </p:cNvPr>
        <p:cNvGrpSpPr/>
        <p:nvPr/>
      </p:nvGrpSpPr>
      <p:grpSpPr>
        <a:xfrm>
          <a:off x="0" y="0"/>
          <a:ext cx="0" cy="0"/>
          <a:chOff x="0" y="0"/>
          <a:chExt cx="0" cy="0"/>
        </a:xfrm>
      </p:grpSpPr>
      <p:sp>
        <p:nvSpPr>
          <p:cNvPr id="2" name="Metin Yer Tutucusu 1">
            <a:extLst>
              <a:ext uri="{FF2B5EF4-FFF2-40B4-BE49-F238E27FC236}">
                <a16:creationId xmlns:a16="http://schemas.microsoft.com/office/drawing/2014/main" id="{710C12C5-E94A-09E2-829E-CA827D98E0E2}"/>
              </a:ext>
            </a:extLst>
          </p:cNvPr>
          <p:cNvSpPr>
            <a:spLocks noGrp="1"/>
          </p:cNvSpPr>
          <p:nvPr>
            <p:ph type="body" sz="quarter" idx="22"/>
          </p:nvPr>
        </p:nvSpPr>
        <p:spPr/>
        <p:txBody>
          <a:bodyPr/>
          <a:lstStyle/>
          <a:p>
            <a:r>
              <a:rPr lang="tr-TR" dirty="0"/>
              <a:t>Word </a:t>
            </a:r>
            <a:r>
              <a:rPr lang="tr-TR" dirty="0" err="1"/>
              <a:t>Embeddings</a:t>
            </a:r>
            <a:endParaRPr lang="tr-TR" dirty="0"/>
          </a:p>
        </p:txBody>
      </p:sp>
      <p:pic>
        <p:nvPicPr>
          <p:cNvPr id="5" name="Resim 4">
            <a:extLst>
              <a:ext uri="{FF2B5EF4-FFF2-40B4-BE49-F238E27FC236}">
                <a16:creationId xmlns:a16="http://schemas.microsoft.com/office/drawing/2014/main" id="{11234E4A-AE23-BAF3-EACF-F222AE47CC66}"/>
              </a:ext>
            </a:extLst>
          </p:cNvPr>
          <p:cNvPicPr>
            <a:picLocks noChangeAspect="1"/>
          </p:cNvPicPr>
          <p:nvPr/>
        </p:nvPicPr>
        <p:blipFill>
          <a:blip r:embed="rId3"/>
          <a:stretch>
            <a:fillRect/>
          </a:stretch>
        </p:blipFill>
        <p:spPr>
          <a:xfrm>
            <a:off x="1846579" y="1580377"/>
            <a:ext cx="21154097" cy="11967844"/>
          </a:xfrm>
          <a:prstGeom prst="rect">
            <a:avLst/>
          </a:prstGeom>
        </p:spPr>
      </p:pic>
    </p:spTree>
    <p:extLst>
      <p:ext uri="{BB962C8B-B14F-4D97-AF65-F5344CB8AC3E}">
        <p14:creationId xmlns:p14="http://schemas.microsoft.com/office/powerpoint/2010/main" val="1038017018"/>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rPr>
              <a:t>Transformer'dan Büyük Dil Modeline</a:t>
            </a:r>
          </a:p>
        </p:txBody>
      </p:sp>
      <p:sp>
        <p:nvSpPr>
          <p:cNvPr id="3" name="TextBox 2"/>
          <p:cNvSpPr txBox="1"/>
          <p:nvPr/>
        </p:nvSpPr>
        <p:spPr>
          <a:xfrm>
            <a:off x="2066543" y="1874519"/>
            <a:ext cx="20244816" cy="1737360"/>
          </a:xfrm>
          <a:prstGeom prst="rect">
            <a:avLst/>
          </a:prstGeom>
          <a:noFill/>
        </p:spPr>
        <p:txBody>
          <a:bodyPr wrap="square" lIns="0" tIns="0" rIns="0" bIns="0" anchor="t">
            <a:spAutoFit/>
          </a:bodyPr>
          <a:lstStyle/>
          <a:p>
            <a:pPr algn="ctr">
              <a:lnSpc>
                <a:spcPct val="115000"/>
              </a:lnSpc>
            </a:pPr>
            <a:r>
              <a:rPr sz="3400" b="0">
                <a:solidFill>
                  <a:srgbClr val="1A1A1A"/>
                </a:solidFill>
              </a:rPr>
              <a:t>GPT = </a:t>
            </a:r>
            <a:r>
              <a:rPr sz="3400" b="1">
                <a:solidFill>
                  <a:srgbClr val="1A1A1A"/>
                </a:solidFill>
              </a:rPr>
              <a:t>G</a:t>
            </a:r>
            <a:r>
              <a:rPr sz="3400" b="0">
                <a:solidFill>
                  <a:srgbClr val="1A1A1A"/>
                </a:solidFill>
              </a:rPr>
              <a:t>enerative </a:t>
            </a:r>
            <a:r>
              <a:rPr sz="3400" b="1">
                <a:solidFill>
                  <a:srgbClr val="1A1A1A"/>
                </a:solidFill>
              </a:rPr>
              <a:t>P</a:t>
            </a:r>
            <a:r>
              <a:rPr sz="3400" b="0">
                <a:solidFill>
                  <a:srgbClr val="1A1A1A"/>
                </a:solidFill>
              </a:rPr>
              <a:t>re-trained </a:t>
            </a:r>
            <a:r>
              <a:rPr sz="3400" b="1">
                <a:solidFill>
                  <a:srgbClr val="1A1A1A"/>
                </a:solidFill>
              </a:rPr>
              <a:t>T</a:t>
            </a:r>
            <a:r>
              <a:rPr sz="3400" b="0">
                <a:solidFill>
                  <a:srgbClr val="1A1A1A"/>
                </a:solidFill>
              </a:rPr>
              <a:t>ransformer — aynı mimari, internet ölçeğinde veriyle eğitilince </a:t>
            </a:r>
            <a:r>
              <a:rPr sz="3400" b="1">
                <a:solidFill>
                  <a:srgbClr val="1A1A1A"/>
                </a:solidFill>
              </a:rPr>
              <a:t>büyük dil modeli</a:t>
            </a:r>
            <a:r>
              <a:rPr sz="3400" b="0">
                <a:solidFill>
                  <a:srgbClr val="1A1A1A"/>
                </a:solidFill>
              </a:rPr>
              <a:t> oluyor.</a:t>
            </a:r>
          </a:p>
        </p:txBody>
      </p:sp>
      <p:pic>
        <p:nvPicPr>
          <p:cNvPr id="4" name="Picture 3" descr="llm.png"/>
          <p:cNvPicPr>
            <a:picLocks noChangeAspect="1"/>
          </p:cNvPicPr>
          <p:nvPr/>
        </p:nvPicPr>
        <p:blipFill>
          <a:blip r:embed="rId3"/>
          <a:stretch>
            <a:fillRect/>
          </a:stretch>
        </p:blipFill>
        <p:spPr>
          <a:xfrm>
            <a:off x="3689604" y="4206240"/>
            <a:ext cx="17007840" cy="6903955"/>
          </a:xfrm>
          <a:prstGeom prst="rect">
            <a:avLst/>
          </a:prstGeom>
          <a:ln w="12700">
            <a:solidFill>
              <a:srgbClr val="E2E2E2"/>
            </a:solidFill>
          </a:ln>
        </p:spPr>
      </p:pic>
      <p:sp>
        <p:nvSpPr>
          <p:cNvPr id="5" name="TextBox 4"/>
          <p:cNvSpPr txBox="1"/>
          <p:nvPr/>
        </p:nvSpPr>
        <p:spPr>
          <a:xfrm>
            <a:off x="1280160" y="12710160"/>
            <a:ext cx="12801600" cy="411480"/>
          </a:xfrm>
          <a:prstGeom prst="rect">
            <a:avLst/>
          </a:prstGeom>
          <a:noFill/>
        </p:spPr>
        <p:txBody>
          <a:bodyPr wrap="square" lIns="0" tIns="0" rIns="0" bIns="0" anchor="t">
            <a:spAutoFit/>
          </a:bodyPr>
          <a:lstStyle/>
          <a:p>
            <a:pPr algn="l"/>
            <a:r>
              <a:rPr sz="1500" b="0">
                <a:solidFill>
                  <a:srgbClr val="9A9A9A"/>
                </a:solidFill>
              </a:rPr>
              <a:t>Görsel: 'Klasik vs Üretken Yapay Zekâ' sunumundan</a:t>
            </a:r>
          </a:p>
        </p:txBody>
      </p:sp>
      <p:sp>
        <p:nvSpPr>
          <p:cNvPr id="6" name="Rectangle 5"/>
          <p:cNvSpPr/>
          <p:nvPr/>
        </p:nvSpPr>
        <p:spPr>
          <a:xfrm>
            <a:off x="1280160" y="11384280"/>
            <a:ext cx="21826728" cy="1188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2011680" y="11384280"/>
            <a:ext cx="20363688" cy="1188720"/>
          </a:xfrm>
          <a:prstGeom prst="rect">
            <a:avLst/>
          </a:prstGeom>
          <a:noFill/>
        </p:spPr>
        <p:txBody>
          <a:bodyPr wrap="square" lIns="0" tIns="0" rIns="0" bIns="0" anchor="ctr">
            <a:spAutoFit/>
          </a:bodyPr>
          <a:lstStyle/>
          <a:p>
            <a:pPr algn="ctr">
              <a:lnSpc>
                <a:spcPct val="120000"/>
              </a:lnSpc>
            </a:pPr>
            <a:r>
              <a:rPr sz="2400" b="0">
                <a:solidFill>
                  <a:srgbClr val="15263F"/>
                </a:solidFill>
              </a:rPr>
              <a:t>Ön eğitim dili öğretir, ince ayar işi öğretir, </a:t>
            </a:r>
            <a:r>
              <a:rPr sz="2400" b="1">
                <a:solidFill>
                  <a:srgbClr val="15263F"/>
                </a:solidFill>
              </a:rPr>
              <a:t>RLHF ise nasıl konuşacağını öğretir.</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Yer Tutucusu 1">
            <a:extLst>
              <a:ext uri="{FF2B5EF4-FFF2-40B4-BE49-F238E27FC236}">
                <a16:creationId xmlns:a16="http://schemas.microsoft.com/office/drawing/2014/main" id="{017A0868-D031-F8E5-7CAB-27ACF49E7EC1}"/>
              </a:ext>
            </a:extLst>
          </p:cNvPr>
          <p:cNvSpPr>
            <a:spLocks noGrp="1"/>
          </p:cNvSpPr>
          <p:nvPr>
            <p:ph type="body" sz="quarter" idx="22"/>
          </p:nvPr>
        </p:nvSpPr>
        <p:spPr/>
        <p:txBody>
          <a:bodyPr/>
          <a:lstStyle/>
          <a:p>
            <a:r>
              <a:rPr lang="tr-TR" dirty="0" err="1"/>
              <a:t>Taming</a:t>
            </a:r>
            <a:r>
              <a:rPr lang="tr-TR" dirty="0"/>
              <a:t> </a:t>
            </a:r>
            <a:r>
              <a:rPr lang="tr-TR" dirty="0" err="1"/>
              <a:t>The</a:t>
            </a:r>
            <a:r>
              <a:rPr lang="tr-TR" dirty="0"/>
              <a:t> Monster</a:t>
            </a:r>
          </a:p>
        </p:txBody>
      </p:sp>
      <p:pic>
        <p:nvPicPr>
          <p:cNvPr id="4" name="Resim 3">
            <a:extLst>
              <a:ext uri="{FF2B5EF4-FFF2-40B4-BE49-F238E27FC236}">
                <a16:creationId xmlns:a16="http://schemas.microsoft.com/office/drawing/2014/main" id="{EDB3E636-49EE-8974-BCA5-2AE11ACC3514}"/>
              </a:ext>
            </a:extLst>
          </p:cNvPr>
          <p:cNvPicPr>
            <a:picLocks noChangeAspect="1"/>
          </p:cNvPicPr>
          <p:nvPr/>
        </p:nvPicPr>
        <p:blipFill>
          <a:blip r:embed="rId3"/>
          <a:stretch>
            <a:fillRect/>
          </a:stretch>
        </p:blipFill>
        <p:spPr>
          <a:xfrm>
            <a:off x="1049411" y="1882456"/>
            <a:ext cx="21974712" cy="11752220"/>
          </a:xfrm>
          <a:prstGeom prst="rect">
            <a:avLst/>
          </a:prstGeom>
        </p:spPr>
      </p:pic>
    </p:spTree>
    <p:extLst>
      <p:ext uri="{BB962C8B-B14F-4D97-AF65-F5344CB8AC3E}">
        <p14:creationId xmlns:p14="http://schemas.microsoft.com/office/powerpoint/2010/main" val="4114120570"/>
      </p:ext>
    </p:extLst>
  </p:cSld>
  <p:clrMapOvr>
    <a:masterClrMapping/>
  </p:clrMapOvr>
  <p:transition spd="med"/>
</p:sld>
</file>

<file path=ppt/theme/theme1.xml><?xml version="1.0" encoding="utf-8"?>
<a:theme xmlns:a="http://schemas.openxmlformats.org/drawingml/2006/main" name="Eğitim Adı">
  <a:themeElements>
    <a:clrScheme name="Miuul Renk Paleti">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2" id="{888531EB-B80A-DC4E-87AD-AD8478769648}" vid="{6D0E7461-0100-8046-8FFF-5C1D91E67DD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1A34E06-6EF4-0747-BE1A-750CADD77380}">
  <we:reference id="wa200007130" version="1.0.0.1" store="en-GB"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Eğitim Adı</Template>
  <TotalTime>36920</TotalTime>
  <Words>6617</Words>
  <Application>Microsoft Office PowerPoint</Application>
  <PresentationFormat>Özel</PresentationFormat>
  <Paragraphs>1544</Paragraphs>
  <Slides>46</Slides>
  <Notes>43</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46</vt:i4>
      </vt:variant>
    </vt:vector>
  </HeadingPairs>
  <TitlesOfParts>
    <vt:vector size="54" baseType="lpstr">
      <vt:lpstr>Arial</vt:lpstr>
      <vt:lpstr>Cambria</vt:lpstr>
      <vt:lpstr>Cambria Math</vt:lpstr>
      <vt:lpstr>Chromatica</vt:lpstr>
      <vt:lpstr>Chromatica Medium</vt:lpstr>
      <vt:lpstr>Helvetica Neue</vt:lpstr>
      <vt:lpstr>Helvetica Neue Medium</vt:lpstr>
      <vt:lpstr>Eğitim Adı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 Bilimciler için Python Programlama</dc:title>
  <dc:creator>oytun@miuul.com</dc:creator>
  <cp:lastModifiedBy>Veysel GORKEN</cp:lastModifiedBy>
  <cp:revision>911</cp:revision>
  <cp:lastPrinted>2026-07-16T05:32:25Z</cp:lastPrinted>
  <dcterms:created xsi:type="dcterms:W3CDTF">2021-05-22T14:24:12Z</dcterms:created>
  <dcterms:modified xsi:type="dcterms:W3CDTF">2026-08-07T11:58:02Z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aa6781e-fd15-4a75-92c1-1621a66939fe_Enabled">
    <vt:lpwstr>true</vt:lpwstr>
  </property>
  <property fmtid="{D5CDD505-2E9C-101B-9397-08002B2CF9AE}" pid="3" name="MSIP_Label_caa6781e-fd15-4a75-92c1-1621a66939fe_SetDate">
    <vt:lpwstr>2026-08-03T13:20:08Z</vt:lpwstr>
  </property>
  <property fmtid="{D5CDD505-2E9C-101B-9397-08002B2CF9AE}" pid="4" name="MSIP_Label_caa6781e-fd15-4a75-92c1-1621a66939fe_Method">
    <vt:lpwstr>Standard</vt:lpwstr>
  </property>
  <property fmtid="{D5CDD505-2E9C-101B-9397-08002B2CF9AE}" pid="5" name="MSIP_Label_caa6781e-fd15-4a75-92c1-1621a66939fe_Name">
    <vt:lpwstr>Internal</vt:lpwstr>
  </property>
  <property fmtid="{D5CDD505-2E9C-101B-9397-08002B2CF9AE}" pid="6" name="MSIP_Label_caa6781e-fd15-4a75-92c1-1621a66939fe_SiteId">
    <vt:lpwstr>9125c4fe-bdb3-4367-a98f-040efd278531</vt:lpwstr>
  </property>
  <property fmtid="{D5CDD505-2E9C-101B-9397-08002B2CF9AE}" pid="7" name="MSIP_Label_caa6781e-fd15-4a75-92c1-1621a66939fe_ActionId">
    <vt:lpwstr>44a5bbbe-bb31-4696-b358-107658b30da5</vt:lpwstr>
  </property>
  <property fmtid="{D5CDD505-2E9C-101B-9397-08002B2CF9AE}" pid="8" name="MSIP_Label_caa6781e-fd15-4a75-92c1-1621a66939fe_ContentBits">
    <vt:lpwstr>0</vt:lpwstr>
  </property>
  <property fmtid="{D5CDD505-2E9C-101B-9397-08002B2CF9AE}" pid="9" name="MSIP_Label_caa6781e-fd15-4a75-92c1-1621a66939fe_Tag">
    <vt:lpwstr>10, 3, 0, 1</vt:lpwstr>
  </property>
</Properties>
</file>