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5683" r:id="rId2"/>
    <p:sldId id="5680" r:id="rId3"/>
    <p:sldId id="5593" r:id="rId4"/>
    <p:sldId id="5594" r:id="rId5"/>
    <p:sldId id="5582" r:id="rId6"/>
    <p:sldId id="5583" r:id="rId7"/>
    <p:sldId id="5597" r:id="rId8"/>
    <p:sldId id="5598" r:id="rId9"/>
    <p:sldId id="5589" r:id="rId10"/>
    <p:sldId id="5588" r:id="rId11"/>
    <p:sldId id="5590" r:id="rId12"/>
    <p:sldId id="5591" r:id="rId13"/>
    <p:sldId id="5592"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FFC7"/>
    <a:srgbClr val="03523C"/>
    <a:srgbClr val="BEBF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7"/>
    <p:restoredTop sz="80860"/>
  </p:normalViewPr>
  <p:slideViewPr>
    <p:cSldViewPr snapToGrid="0" snapToObjects="1">
      <p:cViewPr varScale="1">
        <p:scale>
          <a:sx n="40" d="100"/>
          <a:sy n="40" d="100"/>
        </p:scale>
        <p:origin x="1960" y="2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39076-D56C-2252-6BD8-B5ECB96A2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BF635-B8E4-A8E4-D275-EE324C9395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E135414-5FED-9784-AE3E-0EB5F2D28CDD}"/>
              </a:ext>
            </a:extLst>
          </p:cNvPr>
          <p:cNvSpPr>
            <a:spLocks noGrp="1"/>
          </p:cNvSpPr>
          <p:nvPr>
            <p:ph type="body" idx="1"/>
          </p:nvPr>
        </p:nvSpPr>
        <p:spPr/>
        <p:txBody>
          <a:bodyPr/>
          <a:lstStyle/>
          <a:p>
            <a:r>
              <a:rPr lang="en-ES" sz="2200" b="0" i="0">
                <a:effectLst/>
                <a:latin typeface="+mn-lt"/>
                <a:ea typeface="+mn-ea"/>
                <a:cs typeface="+mn-cs"/>
                <a:sym typeface="Helvetica Neue"/>
              </a:rPr>
              <a:t>Buradaki önemli mesaj, kuantum bilgisayarların yarın bütün klasik bilgisayarların yerini alacağı değildir. Kuantum sistemleri yalnızca bazı problem türlerinde avantaj sağlayabilir. Günlük işlemler, veri hazırlama, yapay zekâ modellerinin çoğu ve sistem kontrolü yine CPU ve GPU’larda gerçekleşecektir. QPU ise moleküler simülasyon, optimizasyon veya belirli matematiksel problemlerde yardımcı işlemci olarak kullanılacaktır.</a:t>
            </a:r>
          </a:p>
          <a:p>
            <a:r>
              <a:rPr lang="en-ES" sz="2200" b="0" i="0">
                <a:effectLst/>
                <a:latin typeface="+mn-lt"/>
                <a:ea typeface="+mn-ea"/>
                <a:cs typeface="+mn-cs"/>
                <a:sym typeface="Helvetica Neue"/>
              </a:rPr>
              <a:t>Bu nedenle geleceğin mimarisini CPU’ya karşı QPU şeklinde değil; CPU, GPU, AI ve QPU’nun birlikte çalıştığı hibrit bir yapı olarak düşünmeliyiz. Cleveland Clinic örneğinde de kuantum bilgisayarı tek başına ilaç üretmiyor. Yapay zekâ, klasik süper bilgisayarlar ve kuantum yöntemleri aynı araştırma ekosisteminde birlikte kullanılıyor.</a:t>
            </a:r>
          </a:p>
          <a:p>
            <a:r>
              <a:rPr lang="en-ES" sz="2200" b="0" i="0">
                <a:effectLst/>
                <a:latin typeface="+mn-lt"/>
                <a:ea typeface="+mn-ea"/>
                <a:cs typeface="+mn-cs"/>
                <a:sym typeface="Helvetica Neue"/>
              </a:rPr>
              <a:t>Ayrıca kuantumun bugünkü en somut stratejik etkilerinden biri siber güvenliktir. NIST, kuantum saldırılarına dayanıklı ilk üç post-kuantum kriptografi standardını 2024 yılında yayımladı ve kurumlara geçiş çalışmalarına başlamalarını önerdi. Yani kuantum avantajını beklemek ayrı bir konu, mevcut verileri gelecekteki kuantum risklerine karşı korumak ayrı bir konudur.</a:t>
            </a:r>
          </a:p>
          <a:p>
            <a:endParaRPr lang="en-ES" sz="2200" b="0" i="0">
              <a:effectLst/>
              <a:latin typeface="+mn-lt"/>
              <a:ea typeface="+mn-ea"/>
              <a:cs typeface="+mn-cs"/>
              <a:sym typeface="Helvetica Neue"/>
            </a:endParaRPr>
          </a:p>
          <a:p>
            <a:r>
              <a:rPr lang="en-GB" sz="2200" b="0" i="0">
                <a:effectLst/>
                <a:latin typeface="+mn-lt"/>
                <a:ea typeface="+mn-ea"/>
                <a:cs typeface="+mn-cs"/>
                <a:sym typeface="Helvetica Neue"/>
              </a:rPr>
              <a:t>https://newsroom.ibm.com/2023-03-20-Cleveland-Clinic-and-IBM-Unveil-First-Quantum-Computer-Dedicated-to-Healthcare-Research?utm_source=chatgpt.com</a:t>
            </a:r>
          </a:p>
          <a:p>
            <a:endParaRPr lang="en-ES" sz="2200" b="0" i="0">
              <a:effectLst/>
              <a:latin typeface="+mn-lt"/>
              <a:ea typeface="+mn-ea"/>
              <a:cs typeface="+mn-cs"/>
              <a:sym typeface="Helvetica Neue"/>
            </a:endParaRPr>
          </a:p>
        </p:txBody>
      </p:sp>
    </p:spTree>
    <p:extLst>
      <p:ext uri="{BB962C8B-B14F-4D97-AF65-F5344CB8AC3E}">
        <p14:creationId xmlns:p14="http://schemas.microsoft.com/office/powerpoint/2010/main" val="4065165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71E0A-3CC0-E86C-D321-165E18BC7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03ED6-833E-E0D2-A955-750A349A399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9D60C20-0957-CD9E-416F-04F88B827505}"/>
              </a:ext>
            </a:extLst>
          </p:cNvPr>
          <p:cNvSpPr>
            <a:spLocks noGrp="1"/>
          </p:cNvSpPr>
          <p:nvPr>
            <p:ph type="body" idx="1"/>
          </p:nvPr>
        </p:nvSpPr>
        <p:spPr/>
        <p:txBody>
          <a:bodyPr/>
          <a:lstStyle/>
          <a:p>
            <a:r>
              <a:rPr lang="en-ES" sz="2200" b="0" i="0">
                <a:effectLst/>
                <a:latin typeface="+mn-lt"/>
                <a:ea typeface="+mn-ea"/>
                <a:cs typeface="+mn-cs"/>
                <a:sym typeface="Helvetica Neue"/>
              </a:rPr>
              <a:t>Bu grafikte iki farklı hız görüyoruz. Üst tarafta kuantum teknolojisindeki ilerleme var: daha fazla kübit, daha iyi hata kontrolü ve daha güçlü algoritmalar. Alt tarafta ise kurumların güvenlik ve mevzuat hazırlıkları yer alıyor.</a:t>
            </a:r>
          </a:p>
          <a:p>
            <a:r>
              <a:rPr lang="en-ES" sz="2200" b="0" i="0">
                <a:effectLst/>
                <a:latin typeface="+mn-lt"/>
                <a:ea typeface="+mn-ea"/>
                <a:cs typeface="+mn-cs"/>
                <a:sym typeface="Helvetica Neue"/>
              </a:rPr>
              <a:t>Buradaki Q-Day, yeterince güçlü ve hataya dayanıklı bir kuantum bilgisayarın bugün kullanılan bazı açık anahtarlı şifreleme yöntemlerini kırabilecek seviyeye ulaştığı varsayımsal günü ifade ediyor. Bu günün ne zaman geleceğini bilmiyoruz.</a:t>
            </a:r>
          </a:p>
          <a:p>
            <a:r>
              <a:rPr lang="en-ES" sz="2200" b="0" i="0">
                <a:effectLst/>
                <a:latin typeface="+mn-lt"/>
                <a:ea typeface="+mn-ea"/>
                <a:cs typeface="+mn-cs"/>
                <a:sym typeface="Helvetica Neue"/>
              </a:rPr>
              <a:t>Ancak hazırlığı Q-Day geldiğinde başlatmak çok geç olabilir. Çünkü büyük bir kurumun kullandığı bütün şifreleme sistemlerini bulması, yazılımlarını güncellemesi, tedarikçilerini değiştirmesi ve verilerini yeniden koruması yıllar sürebilir.</a:t>
            </a:r>
          </a:p>
          <a:p>
            <a:r>
              <a:rPr lang="en-ES" sz="2200" b="0" i="0">
                <a:effectLst/>
                <a:latin typeface="+mn-lt"/>
                <a:ea typeface="+mn-ea"/>
                <a:cs typeface="+mn-cs"/>
                <a:sym typeface="Helvetica Neue"/>
              </a:rPr>
              <a:t>Bu nedenle mesele ‘Kuantum bilgisayar bugün şifreleri kırabiliyor mu?’ sorusu değildir. Asıl soru, ‘Kırabilecek seviyeye geldiğinde biz hazır olacak mıyız?’ sorusudur.</a:t>
            </a:r>
          </a:p>
          <a:p>
            <a:endParaRPr lang="en-ES"/>
          </a:p>
        </p:txBody>
      </p:sp>
    </p:spTree>
    <p:extLst>
      <p:ext uri="{BB962C8B-B14F-4D97-AF65-F5344CB8AC3E}">
        <p14:creationId xmlns:p14="http://schemas.microsoft.com/office/powerpoint/2010/main" val="1525570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ES" sz="2200" b="0" i="0">
                <a:effectLst/>
                <a:latin typeface="+mn-lt"/>
                <a:ea typeface="+mn-ea"/>
                <a:cs typeface="+mn-cs"/>
                <a:sym typeface="Helvetica Neue"/>
              </a:rPr>
              <a:t>Bu slaytın mesajı, her şirketin hemen bir kuantum bilgisayar satın alması gerektiği değildir. Zaten çoğu kurum kuantum donanımına bulut üzerinden erişecektir.</a:t>
            </a:r>
          </a:p>
          <a:p>
            <a:r>
              <a:rPr lang="en-ES" sz="2200" b="0" i="0">
                <a:effectLst/>
                <a:latin typeface="+mn-lt"/>
                <a:ea typeface="+mn-ea"/>
                <a:cs typeface="+mn-cs"/>
                <a:sym typeface="Helvetica Neue"/>
              </a:rPr>
              <a:t>Stratejik hazırlık üç seviyede düşünülebilir. Birincisi, kurumun hangi problemlerinin kuantum bilişime uygun olabileceğini belirlemektir. Her zor problem kuantum problemi değildir. Özellikle moleküler simülasyon, belirli optimizasyon problemleri ve kriptografi ön plana çıkmaktadır.</a:t>
            </a:r>
          </a:p>
          <a:p>
            <a:r>
              <a:rPr lang="en-ES" sz="2200" b="0" i="0">
                <a:effectLst/>
                <a:latin typeface="+mn-lt"/>
                <a:ea typeface="+mn-ea"/>
                <a:cs typeface="+mn-cs"/>
                <a:sym typeface="Helvetica Neue"/>
              </a:rPr>
              <a:t>İkincisi, kurum içinde temel kuantum okuryazarlığı oluşturmaktır. Bunun için herkesin kuantum fizikçisi olması gerekmez. İş birimleri, veri bilimciler ve teknoloji ekipleri kuantumun neyi yapabileceğini ve neyi yapamayacağını anlayabilmelidir.</a:t>
            </a:r>
          </a:p>
          <a:p>
            <a:r>
              <a:rPr lang="en-ES" sz="2200" b="0" i="0">
                <a:effectLst/>
                <a:latin typeface="+mn-lt"/>
                <a:ea typeface="+mn-ea"/>
                <a:cs typeface="+mn-cs"/>
                <a:sym typeface="Helvetica Neue"/>
              </a:rPr>
              <a:t>Üçüncüsü ise küçük pilotlar ve iş birlikleridir. Şirketler üniversitelerle, teknoloji sağlayıcılarıyla veya kuantum girişimleriyle birlikte çalışarak bilgi biriktirebilir. Bugünkü en değerli çıktı çoğu zaman doğrudan finansal kazanç değil, kurumsal öğrenmedir.</a:t>
            </a:r>
          </a:p>
          <a:p>
            <a:r>
              <a:rPr lang="en-ES" sz="2200" b="0" i="0">
                <a:effectLst/>
                <a:latin typeface="+mn-lt"/>
                <a:ea typeface="+mn-ea"/>
                <a:cs typeface="+mn-cs"/>
                <a:sym typeface="Helvetica Neue"/>
              </a:rPr>
              <a:t>Bu nedenle kuantum stratejisi yalnızca teknoloji satın alma kararı değildir. İnsan, problem seçimi, veri, ortaklık ve zamanlama kararıdır.</a:t>
            </a:r>
          </a:p>
        </p:txBody>
      </p:sp>
    </p:spTree>
    <p:extLst>
      <p:ext uri="{BB962C8B-B14F-4D97-AF65-F5344CB8AC3E}">
        <p14:creationId xmlns:p14="http://schemas.microsoft.com/office/powerpoint/2010/main" val="32090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sz="2200" b="0" i="0">
                <a:effectLst/>
                <a:latin typeface="+mn-lt"/>
                <a:ea typeface="+mn-ea"/>
                <a:cs typeface="+mn-cs"/>
                <a:sym typeface="Helvetica Neue"/>
              </a:rPr>
              <a:t>https://www.ibm.com/quantum/blog/riken-fugaku-qcsc?utm_source=chatgpt.com</a:t>
            </a:r>
          </a:p>
          <a:p>
            <a:endParaRPr lang="en-ES" sz="2200" b="0" i="0">
              <a:effectLst/>
              <a:latin typeface="+mn-lt"/>
              <a:ea typeface="+mn-ea"/>
              <a:cs typeface="+mn-cs"/>
              <a:sym typeface="Helvetica Neue"/>
            </a:endParaRPr>
          </a:p>
          <a:p>
            <a:endParaRPr lang="en-ES" sz="2200" b="0" i="0">
              <a:effectLst/>
              <a:latin typeface="+mn-lt"/>
              <a:ea typeface="+mn-ea"/>
              <a:cs typeface="+mn-cs"/>
              <a:sym typeface="Helvetica Neue"/>
            </a:endParaRPr>
          </a:p>
          <a:p>
            <a:r>
              <a:rPr lang="en-ES" sz="2200" b="0" i="0">
                <a:effectLst/>
                <a:latin typeface="+mn-lt"/>
                <a:ea typeface="+mn-ea"/>
                <a:cs typeface="+mn-cs"/>
                <a:sym typeface="Helvetica Neue"/>
              </a:rPr>
              <a:t>Bilgisayarların gelişimi uzun süre daha güçlü ve daha hızlı CPU üretmeye dayanıyordu. Ancak transistörleri küçültmek artık geçmişteki kadar kolay performans artışı sağlamıyor. Özellikle enerji tüketimi ve ısı önemli sınırlara dönüşmüş durumda.</a:t>
            </a:r>
          </a:p>
          <a:p>
            <a:r>
              <a:rPr lang="en-ES" sz="2200" b="0" i="0">
                <a:effectLst/>
                <a:latin typeface="+mn-lt"/>
                <a:ea typeface="+mn-ea"/>
                <a:cs typeface="+mn-cs"/>
                <a:sym typeface="Helvetica Neue"/>
              </a:rPr>
              <a:t>Çözüm, tek bir işlemciyi her işte daha güçlü hâle getirmek değil; farklı görevler için farklı işlemciler kullanmak. CPU sistemi yönetiyor, GPU yapay zekâ ve paralel hesaplamaları hızlandırıyor, DPU veri merkezi trafiğini üstleniyor. QPU ise gelecekte yalnızca kuantuma uygun belirli alt problemleri ele alacak.</a:t>
            </a:r>
          </a:p>
          <a:p>
            <a:r>
              <a:rPr lang="en-ES" sz="2200" b="0" i="0">
                <a:effectLst/>
                <a:latin typeface="+mn-lt"/>
                <a:ea typeface="+mn-ea"/>
                <a:cs typeface="+mn-cs"/>
                <a:sym typeface="Helvetica Neue"/>
              </a:rPr>
              <a:t>Burada QPU’yu yeni CPU olarak düşünmemeliyiz. Daha doğru benzetme, QPU’nun GPU gibi uzman bir yardımcı işlemci olmasıdır. Örneğin bir optimizasyon probleminde CPU veriyi hazırlar, klasik algoritmayı yönetir, QPU belirli bir alt hesabı gerçekleştirir ve sonuç tekrar CPU tarafından değerlendirilir.</a:t>
            </a:r>
          </a:p>
          <a:p>
            <a:r>
              <a:rPr lang="en-ES" sz="2200" b="0" i="0">
                <a:effectLst/>
                <a:latin typeface="+mn-lt"/>
                <a:ea typeface="+mn-ea"/>
                <a:cs typeface="+mn-cs"/>
                <a:sym typeface="Helvetica Neue"/>
              </a:rPr>
              <a:t>Dolayısıyla kuantum bilişimin geleceği, klasik bilgisayarın ortadan kalkması değil; klasik ve kuantum sistemlerin birlikte çalışmasıdır.</a:t>
            </a:r>
          </a:p>
          <a:p>
            <a:endParaRPr lang="en-ES"/>
          </a:p>
        </p:txBody>
      </p:sp>
    </p:spTree>
    <p:extLst>
      <p:ext uri="{BB962C8B-B14F-4D97-AF65-F5344CB8AC3E}">
        <p14:creationId xmlns:p14="http://schemas.microsoft.com/office/powerpoint/2010/main" val="3129627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C996-7B96-5B53-A9B4-13F09CB20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012CB-A20D-9E4A-2F17-DDD94930D3D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040749F-E1A8-AE67-E7F1-F797C785672B}"/>
              </a:ext>
            </a:extLst>
          </p:cNvPr>
          <p:cNvSpPr>
            <a:spLocks noGrp="1"/>
          </p:cNvSpPr>
          <p:nvPr>
            <p:ph type="body" idx="1"/>
          </p:nvPr>
        </p:nvSpPr>
        <p:spPr/>
        <p:txBody>
          <a:bodyPr/>
          <a:lstStyle/>
          <a:p>
            <a:endParaRPr lang="en-ES"/>
          </a:p>
        </p:txBody>
      </p:sp>
    </p:spTree>
    <p:extLst>
      <p:ext uri="{BB962C8B-B14F-4D97-AF65-F5344CB8AC3E}">
        <p14:creationId xmlns:p14="http://schemas.microsoft.com/office/powerpoint/2010/main" val="817740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985E4-AA9B-A6B0-F447-526D05405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0E673-7D1D-028D-54F7-2181DB7D51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0ABF3D0-6538-E683-96D4-6549CCF25AA9}"/>
              </a:ext>
            </a:extLst>
          </p:cNvPr>
          <p:cNvSpPr>
            <a:spLocks noGrp="1"/>
          </p:cNvSpPr>
          <p:nvPr>
            <p:ph type="body" idx="1"/>
          </p:nvPr>
        </p:nvSpPr>
        <p:spPr/>
        <p:txBody>
          <a:bodyPr/>
          <a:lstStyle/>
          <a:p>
            <a:r>
              <a:rPr lang="en-ES" sz="2200" b="0" i="0">
                <a:effectLst/>
                <a:latin typeface="+mn-lt"/>
                <a:ea typeface="+mn-ea"/>
                <a:cs typeface="+mn-cs"/>
                <a:sym typeface="Helvetica Neue"/>
              </a:rPr>
              <a:t>Bu zaman çizelgesi bize kuantum bilgisayarın tek bir anda icat edilmediğini gösteriyor. Önce kuantum mekaniğiyle doğanın davranışını açıklayan fiziksel temel oluştu. Feynman, kuantum sistemlerini klasik bilgisayarlarla simüle etmenin çok zor olduğunu fark ederek kuantum tabanlı makineler fikrini gündeme getirdi. Deutsch bu fikri genel amaçlı bir bilgisayar modeline dönüştürdü.</a:t>
            </a:r>
          </a:p>
          <a:p>
            <a:r>
              <a:rPr lang="en-ES" sz="2200" b="0" i="0">
                <a:effectLst/>
                <a:latin typeface="+mn-lt"/>
                <a:ea typeface="+mn-ea"/>
                <a:cs typeface="+mn-cs"/>
                <a:sym typeface="Helvetica Neue"/>
              </a:rPr>
              <a:t>Shor ve Grover ise bu makinelerin yalnızca teorik olarak ilginç olmadığını, belirli problemlerde klasik yöntemlerden farklı avantajlar sağlayabileceğini gösterdi. IBM’in 2016’daki bulut erişimi, araştırmacıların gerçek kuantum donanımı üzerinde deney yapmasını kolaylaştırdı. Google’ın 2019 deneyi ise özel bir görevde kuantum işlemcinin klasik sistemleri geçebileceğini gösteren önemli bir dönüm noktası oldu.</a:t>
            </a:r>
          </a:p>
          <a:p>
            <a:r>
              <a:rPr lang="en-ES" sz="2200" b="0" i="0">
                <a:effectLst/>
                <a:latin typeface="+mn-lt"/>
                <a:ea typeface="+mn-ea"/>
                <a:cs typeface="+mn-cs"/>
                <a:sym typeface="Helvetica Neue"/>
              </a:rPr>
              <a:t>Bugün temel soru artık kuantum bilgisayarların çalışıp çalışmadığı değil; hangi gerçek problemlerde güvenilir, ölçeklenebilir ve ekonomik bir avantaj sağlayacağıdır.</a:t>
            </a:r>
          </a:p>
        </p:txBody>
      </p:sp>
    </p:spTree>
    <p:extLst>
      <p:ext uri="{BB962C8B-B14F-4D97-AF65-F5344CB8AC3E}">
        <p14:creationId xmlns:p14="http://schemas.microsoft.com/office/powerpoint/2010/main" val="1170413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ES"/>
          </a:p>
        </p:txBody>
      </p:sp>
    </p:spTree>
    <p:extLst>
      <p:ext uri="{BB962C8B-B14F-4D97-AF65-F5344CB8AC3E}">
        <p14:creationId xmlns:p14="http://schemas.microsoft.com/office/powerpoint/2010/main" val="4271330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ES" dirty="0"/>
          </a:p>
        </p:txBody>
      </p:sp>
    </p:spTree>
    <p:extLst>
      <p:ext uri="{BB962C8B-B14F-4D97-AF65-F5344CB8AC3E}">
        <p14:creationId xmlns:p14="http://schemas.microsoft.com/office/powerpoint/2010/main" val="777524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sz="2200" b="0" i="0" u="none" strike="noStrike">
                <a:effectLst/>
                <a:latin typeface="+mn-lt"/>
                <a:ea typeface="+mn-ea"/>
                <a:cs typeface="+mn-cs"/>
                <a:sym typeface="Helvetica Neue"/>
              </a:rPr>
              <a:t>In data science, there are both </a:t>
            </a:r>
            <a:r>
              <a:rPr lang="en-GB" sz="2200" b="1" i="0" u="none" strike="noStrike">
                <a:effectLst/>
                <a:latin typeface="+mn-lt"/>
                <a:ea typeface="+mn-ea"/>
                <a:cs typeface="+mn-cs"/>
                <a:sym typeface="Helvetica Neue"/>
              </a:rPr>
              <a:t>self-taught</a:t>
            </a:r>
            <a:r>
              <a:rPr lang="en-GB" sz="2200" b="0" i="0" u="none" strike="noStrike">
                <a:effectLst/>
                <a:latin typeface="+mn-lt"/>
                <a:ea typeface="+mn-ea"/>
                <a:cs typeface="+mn-cs"/>
                <a:sym typeface="Helvetica Neue"/>
              </a:rPr>
              <a:t> professionals and </a:t>
            </a:r>
            <a:r>
              <a:rPr lang="en-GB" sz="2200" b="1" i="0" u="none" strike="noStrike">
                <a:effectLst/>
                <a:latin typeface="+mn-lt"/>
                <a:ea typeface="+mn-ea"/>
                <a:cs typeface="+mn-cs"/>
                <a:sym typeface="Helvetica Neue"/>
              </a:rPr>
              <a:t>formally educated</a:t>
            </a:r>
            <a:r>
              <a:rPr lang="en-GB" sz="2200" b="0" i="0" u="none" strike="noStrike">
                <a:effectLst/>
                <a:latin typeface="+mn-lt"/>
                <a:ea typeface="+mn-ea"/>
                <a:cs typeface="+mn-cs"/>
                <a:sym typeface="Helvetica Neue"/>
              </a:rPr>
              <a:t> ones.</a:t>
            </a:r>
            <a:endParaRPr lang="en-ES"/>
          </a:p>
        </p:txBody>
      </p:sp>
    </p:spTree>
    <p:extLst>
      <p:ext uri="{BB962C8B-B14F-4D97-AF65-F5344CB8AC3E}">
        <p14:creationId xmlns:p14="http://schemas.microsoft.com/office/powerpoint/2010/main" val="1388365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ES"/>
          </a:p>
        </p:txBody>
      </p:sp>
    </p:spTree>
    <p:extLst>
      <p:ext uri="{BB962C8B-B14F-4D97-AF65-F5344CB8AC3E}">
        <p14:creationId xmlns:p14="http://schemas.microsoft.com/office/powerpoint/2010/main" val="1980181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ES" sz="2200" b="0" i="0">
                <a:effectLst/>
                <a:latin typeface="+mn-lt"/>
                <a:ea typeface="+mn-ea"/>
                <a:cs typeface="+mn-cs"/>
                <a:sym typeface="Helvetica Neue"/>
              </a:rPr>
              <a:t>AI ile kuantum arasındaki ilişkiyi iki yönlü düşünmeliyiz. Bugün daha somut olan yön, AI’nın kuantum bilgisayarlara yardım etmesidir. Kuantum işlemciler çok hassastır ve sürekli gürültü üretir. Yapay zekâ, milyonlarca ölçüm içindeki hata örüntülerini öğrenerek hangi kübitlerde sorun oluştuğunu tahmin edebilir.</a:t>
            </a:r>
          </a:p>
          <a:p>
            <a:r>
              <a:rPr lang="en-ES" sz="2200" b="0" i="0">
                <a:effectLst/>
                <a:latin typeface="+mn-lt"/>
                <a:ea typeface="+mn-ea"/>
                <a:cs typeface="+mn-cs"/>
                <a:sym typeface="Helvetica Neue"/>
              </a:rPr>
              <a:t>Google’ın AlphaQubit çalışması bunun gerçek bir örneğidir. AI modeli kuantum hesaplamasını yapmıyor; kuantum işlemciden gelen hata sinyallerini yorumlayarak hangi düzeltmenin gerekli olduğunu belirlemeye yardımcı oluyor.</a:t>
            </a:r>
          </a:p>
          <a:p>
            <a:r>
              <a:rPr lang="en-ES" sz="2200" b="0" i="0">
                <a:effectLst/>
                <a:latin typeface="+mn-lt"/>
                <a:ea typeface="+mn-ea"/>
                <a:cs typeface="+mn-cs"/>
                <a:sym typeface="Helvetica Neue"/>
              </a:rPr>
              <a:t>Diğer yön ise kuantum bilgisayarların AI’a katkısıdır. Bazı optimizasyon, örnekleme ve doğrusal cebir problemlerinde teorik avantajlar bulunuyor. Ancak bugün büyük dil modellerini kuantum bilgisayarlarda daha hızlı eğittiğimizi söyleyemeyiz.</a:t>
            </a:r>
          </a:p>
          <a:p>
            <a:r>
              <a:rPr lang="en-ES" sz="2200" b="0" i="0">
                <a:effectLst/>
                <a:latin typeface="+mn-lt"/>
                <a:ea typeface="+mn-ea"/>
                <a:cs typeface="+mn-cs"/>
                <a:sym typeface="Helvetica Neue"/>
              </a:rPr>
              <a:t>Bu nedenle 1+1=3 ifadesi bir sonuç değil, bir vizyondur: AI kuantum sistemlerini daha kullanılabilir hâle getirirken, kuantum da gelecekte AI için yeni hesaplama yöntemleri sağlayabilir.</a:t>
            </a:r>
          </a:p>
          <a:p>
            <a:endParaRPr lang="en-ES"/>
          </a:p>
        </p:txBody>
      </p:sp>
    </p:spTree>
    <p:extLst>
      <p:ext uri="{BB962C8B-B14F-4D97-AF65-F5344CB8AC3E}">
        <p14:creationId xmlns:p14="http://schemas.microsoft.com/office/powerpoint/2010/main" val="2935734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çılış Ekranı ">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0623C506-61A1-A34E-B1DD-A0DD7D141873}"/>
              </a:ext>
            </a:extLst>
          </p:cNvPr>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a:lnSpc>
                <a:spcPct val="100000"/>
              </a:lnSpc>
              <a:spcBef>
                <a:spcPts val="1200"/>
              </a:spcBef>
              <a:spcAft>
                <a:spcPts val="1200"/>
              </a:spcAft>
              <a:defRPr/>
            </a:lvl1pPr>
          </a:lstStyle>
          <a:p>
            <a:r>
              <a:rPr lang="tr-TR" dirty="0"/>
              <a:t>Eğitim/Bölüm/Ders Adı</a:t>
            </a:r>
            <a:endParaRPr dirty="0"/>
          </a:p>
        </p:txBody>
      </p:sp>
    </p:spTree>
    <p:extLst>
      <p:ext uri="{BB962C8B-B14F-4D97-AF65-F5344CB8AC3E}">
        <p14:creationId xmlns:p14="http://schemas.microsoft.com/office/powerpoint/2010/main" val="30860707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23" name="Author and Date">
            <a:extLst>
              <a:ext uri="{FF2B5EF4-FFF2-40B4-BE49-F238E27FC236}">
                <a16:creationId xmlns:a16="http://schemas.microsoft.com/office/drawing/2014/main" id="{EE642577-6C65-AC44-8B45-E9CBE07C539A}"/>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 </a:t>
            </a:r>
            <a:br>
              <a:rPr lang="tr-TR" dirty="0"/>
            </a:br>
            <a:endParaRPr lang="tr-TR" dirty="0"/>
          </a:p>
        </p:txBody>
      </p:sp>
    </p:spTree>
    <p:extLst>
      <p:ext uri="{BB962C8B-B14F-4D97-AF65-F5344CB8AC3E}">
        <p14:creationId xmlns:p14="http://schemas.microsoft.com/office/powerpoint/2010/main" val="158593886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ygulama/Proj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BA3E2F-7310-664B-8F7C-BCAA61B43015}"/>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Uygulama:</a:t>
            </a:r>
          </a:p>
        </p:txBody>
      </p:sp>
      <p:cxnSp>
        <p:nvCxnSpPr>
          <p:cNvPr id="4" name="Straight Connector 3">
            <a:extLst>
              <a:ext uri="{FF2B5EF4-FFF2-40B4-BE49-F238E27FC236}">
                <a16:creationId xmlns:a16="http://schemas.microsoft.com/office/drawing/2014/main" id="{5D29AF0C-F761-0D48-B6EA-493695665B9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D843065F-7CF2-7246-8CC0-F1495A4666C3}"/>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6" name="TextBox 5">
            <a:extLst>
              <a:ext uri="{FF2B5EF4-FFF2-40B4-BE49-F238E27FC236}">
                <a16:creationId xmlns:a16="http://schemas.microsoft.com/office/drawing/2014/main" id="{696F1535-6CBA-3E42-8BE4-22718C21AF32}"/>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7" name="TextBox 6">
            <a:extLst>
              <a:ext uri="{FF2B5EF4-FFF2-40B4-BE49-F238E27FC236}">
                <a16:creationId xmlns:a16="http://schemas.microsoft.com/office/drawing/2014/main" id="{83896031-03CB-FC42-8AC2-462CCE101649}"/>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8" name="TextBox 7">
            <a:extLst>
              <a:ext uri="{FF2B5EF4-FFF2-40B4-BE49-F238E27FC236}">
                <a16:creationId xmlns:a16="http://schemas.microsoft.com/office/drawing/2014/main" id="{D7928544-B5DB-ED48-90E0-26946CC9B600}"/>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9" name="Author and Date">
            <a:extLst>
              <a:ext uri="{FF2B5EF4-FFF2-40B4-BE49-F238E27FC236}">
                <a16:creationId xmlns:a16="http://schemas.microsoft.com/office/drawing/2014/main" id="{715D275F-DFDA-D245-9BDB-996B1F6EC6BD}"/>
              </a:ext>
            </a:extLst>
          </p:cNvPr>
          <p:cNvSpPr txBox="1">
            <a:spLocks noGrp="1"/>
          </p:cNvSpPr>
          <p:nvPr>
            <p:ph type="body" sz="quarter" idx="22" hasCustomPrompt="1"/>
          </p:nvPr>
        </p:nvSpPr>
        <p:spPr>
          <a:xfrm>
            <a:off x="3529146" y="167779"/>
            <a:ext cx="13742854"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‘Projenin adını buraya yazın’</a:t>
            </a:r>
          </a:p>
        </p:txBody>
      </p:sp>
      <p:sp>
        <p:nvSpPr>
          <p:cNvPr id="10" name="Author and Date">
            <a:extLst>
              <a:ext uri="{FF2B5EF4-FFF2-40B4-BE49-F238E27FC236}">
                <a16:creationId xmlns:a16="http://schemas.microsoft.com/office/drawing/2014/main" id="{0F3C4248-EB51-CF40-BD7E-040A2460A589}"/>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a:t>
            </a:r>
          </a:p>
        </p:txBody>
      </p:sp>
    </p:spTree>
    <p:extLst>
      <p:ext uri="{BB962C8B-B14F-4D97-AF65-F5344CB8AC3E}">
        <p14:creationId xmlns:p14="http://schemas.microsoft.com/office/powerpoint/2010/main" val="302757029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ölüm Özeti">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31EE74-3E9F-4D4B-B3CB-FBB357DA2DF9}"/>
              </a:ext>
            </a:extLst>
          </p:cNvPr>
          <p:cNvSpPr/>
          <p:nvPr userDrawn="1"/>
        </p:nvSpPr>
        <p:spPr>
          <a:xfrm>
            <a:off x="1104899" y="2393941"/>
            <a:ext cx="10820397" cy="10350453"/>
          </a:xfrm>
          <a:prstGeom prst="rect">
            <a:avLst/>
          </a:prstGeom>
          <a:solidFill>
            <a:srgbClr val="03523C"/>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TR"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4" name="TextBox 3">
            <a:extLst>
              <a:ext uri="{FF2B5EF4-FFF2-40B4-BE49-F238E27FC236}">
                <a16:creationId xmlns:a16="http://schemas.microsoft.com/office/drawing/2014/main" id="{4F539120-26FA-9341-962C-7F435C73C35B}"/>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Bölüm Özeti</a:t>
            </a:r>
          </a:p>
        </p:txBody>
      </p:sp>
      <p:cxnSp>
        <p:nvCxnSpPr>
          <p:cNvPr id="5" name="Straight Connector 4">
            <a:extLst>
              <a:ext uri="{FF2B5EF4-FFF2-40B4-BE49-F238E27FC236}">
                <a16:creationId xmlns:a16="http://schemas.microsoft.com/office/drawing/2014/main" id="{D8C12F33-0B8E-BC43-B871-1EA5470A992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9FA109C9-B7D5-DB4E-850C-7A5E9DB5B35C}"/>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7" name="TextBox 6">
            <a:extLst>
              <a:ext uri="{FF2B5EF4-FFF2-40B4-BE49-F238E27FC236}">
                <a16:creationId xmlns:a16="http://schemas.microsoft.com/office/drawing/2014/main" id="{BB8A04EF-CF2A-4A4F-A9F2-EBBBD1E4DE2B}"/>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8" name="TextBox 7">
            <a:extLst>
              <a:ext uri="{FF2B5EF4-FFF2-40B4-BE49-F238E27FC236}">
                <a16:creationId xmlns:a16="http://schemas.microsoft.com/office/drawing/2014/main" id="{36347171-6DE6-5548-A5D2-656F5E929FC1}"/>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9" name="TextBox 8">
            <a:extLst>
              <a:ext uri="{FF2B5EF4-FFF2-40B4-BE49-F238E27FC236}">
                <a16:creationId xmlns:a16="http://schemas.microsoft.com/office/drawing/2014/main" id="{BCAD83E3-93BE-A248-92F5-A6089CE21B46}"/>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0" name="Title 10">
            <a:extLst>
              <a:ext uri="{FF2B5EF4-FFF2-40B4-BE49-F238E27FC236}">
                <a16:creationId xmlns:a16="http://schemas.microsoft.com/office/drawing/2014/main" id="{54354A9F-DFCA-2E49-B4AA-AD78CA9ACE13}"/>
              </a:ext>
            </a:extLst>
          </p:cNvPr>
          <p:cNvSpPr>
            <a:spLocks noGrp="1"/>
          </p:cNvSpPr>
          <p:nvPr>
            <p:ph type="title" hasCustomPrompt="1"/>
          </p:nvPr>
        </p:nvSpPr>
        <p:spPr>
          <a:xfrm>
            <a:off x="1676397" y="6753904"/>
            <a:ext cx="9677400" cy="1433163"/>
          </a:xfrm>
        </p:spPr>
        <p:txBody>
          <a:bodyPr>
            <a:normAutofit/>
          </a:bodyPr>
          <a:lstStyle>
            <a:lvl1pPr>
              <a:lnSpc>
                <a:spcPct val="150000"/>
              </a:lnSpc>
              <a:spcBef>
                <a:spcPts val="0"/>
              </a:spcBef>
              <a:spcAft>
                <a:spcPts val="600"/>
              </a:spcAft>
              <a:defRPr sz="3200" b="0" i="0" spc="0">
                <a:solidFill>
                  <a:srgbClr val="C9FFC7"/>
                </a:solidFill>
                <a:latin typeface="Chromatica" pitchFamily="2" charset="77"/>
              </a:defRPr>
            </a:lvl1pPr>
          </a:lstStyle>
          <a:p>
            <a:r>
              <a:rPr lang="en-US" dirty="0" err="1"/>
              <a:t>Bölüm</a:t>
            </a:r>
            <a:r>
              <a:rPr lang="en-US" dirty="0"/>
              <a:t> </a:t>
            </a:r>
            <a:r>
              <a:rPr lang="en-US" dirty="0" err="1"/>
              <a:t>adını</a:t>
            </a:r>
            <a:r>
              <a:rPr lang="en-US" dirty="0"/>
              <a:t> </a:t>
            </a:r>
            <a:r>
              <a:rPr lang="en-US" dirty="0" err="1"/>
              <a:t>buraya</a:t>
            </a:r>
            <a:r>
              <a:rPr lang="en-US" dirty="0"/>
              <a:t> </a:t>
            </a:r>
            <a:r>
              <a:rPr lang="en-US" dirty="0" err="1"/>
              <a:t>yazın</a:t>
            </a:r>
            <a:endParaRPr lang="en-TR" dirty="0"/>
          </a:p>
        </p:txBody>
      </p:sp>
      <p:sp>
        <p:nvSpPr>
          <p:cNvPr id="13" name="Text Placeholder 12">
            <a:extLst>
              <a:ext uri="{FF2B5EF4-FFF2-40B4-BE49-F238E27FC236}">
                <a16:creationId xmlns:a16="http://schemas.microsoft.com/office/drawing/2014/main" id="{870CC902-E0D0-8F48-8054-775921E13ECC}"/>
              </a:ext>
            </a:extLst>
          </p:cNvPr>
          <p:cNvSpPr>
            <a:spLocks noGrp="1"/>
          </p:cNvSpPr>
          <p:nvPr>
            <p:ph type="body" sz="quarter" idx="10" hasCustomPrompt="1"/>
          </p:nvPr>
        </p:nvSpPr>
        <p:spPr>
          <a:xfrm>
            <a:off x="12458706" y="2393942"/>
            <a:ext cx="10820394" cy="10350452"/>
          </a:xfrm>
          <a:prstGeom prst="rect">
            <a:avLst/>
          </a:prstGeom>
        </p:spPr>
        <p:txBody>
          <a:bodyPr anchor="ctr"/>
          <a:lstStyle>
            <a:lvl1pPr algn="l">
              <a:defRPr sz="3200" b="0" i="0">
                <a:latin typeface="Chromatica" pitchFamily="2" charset="77"/>
              </a:defRPr>
            </a:lvl1pPr>
          </a:lstStyle>
          <a:p>
            <a:pPr lvl="0"/>
            <a:r>
              <a:rPr lang="en-US" dirty="0"/>
              <a:t>’</a:t>
            </a:r>
            <a:r>
              <a:rPr lang="en-US" dirty="0" err="1"/>
              <a:t>Neler</a:t>
            </a:r>
            <a:r>
              <a:rPr lang="en-US" dirty="0"/>
              <a:t> </a:t>
            </a:r>
            <a:r>
              <a:rPr lang="en-US" dirty="0" err="1"/>
              <a:t>Öğrendik</a:t>
            </a:r>
            <a:r>
              <a:rPr lang="en-US" dirty="0"/>
              <a:t>?’ </a:t>
            </a:r>
            <a:r>
              <a:rPr lang="en-US" dirty="0" err="1"/>
              <a:t>kısa</a:t>
            </a:r>
            <a:r>
              <a:rPr lang="en-US" dirty="0"/>
              <a:t> </a:t>
            </a:r>
            <a:r>
              <a:rPr lang="en-US" dirty="0" err="1"/>
              <a:t>maddeler</a:t>
            </a:r>
            <a:r>
              <a:rPr lang="en-US" dirty="0"/>
              <a:t> </a:t>
            </a:r>
            <a:r>
              <a:rPr lang="en-US" dirty="0" err="1"/>
              <a:t>ile</a:t>
            </a:r>
            <a:r>
              <a:rPr lang="en-US" dirty="0"/>
              <a:t> </a:t>
            </a:r>
            <a:r>
              <a:rPr lang="en-US" dirty="0" err="1"/>
              <a:t>listeleyelim</a:t>
            </a:r>
            <a:endParaRPr lang="en-US" dirty="0"/>
          </a:p>
        </p:txBody>
      </p:sp>
    </p:spTree>
    <p:extLst>
      <p:ext uri="{BB962C8B-B14F-4D97-AF65-F5344CB8AC3E}">
        <p14:creationId xmlns:p14="http://schemas.microsoft.com/office/powerpoint/2010/main" val="391225771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1022315224"/>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rPr lang="tr-TR" dirty="0"/>
              <a:t>Eğitim/Bölüm/Ders Adı</a:t>
            </a:r>
            <a:endParaRPr dirty="0"/>
          </a:p>
        </p:txBody>
      </p:sp>
    </p:spTree>
  </p:cSld>
  <p:clrMap bg1="lt1" tx1="dk1" bg2="lt2" tx2="dk2" accent1="accent1" accent2="accent2" accent3="accent3" accent4="accent4" accent5="accent5" accent6="accent6" hlink="hlink" folHlink="folHlink"/>
  <p:sldLayoutIdLst>
    <p:sldLayoutId id="2147483653" r:id="rId1"/>
    <p:sldLayoutId id="2147483651" r:id="rId2"/>
    <p:sldLayoutId id="2147483654" r:id="rId3"/>
    <p:sldLayoutId id="2147483656" r:id="rId4"/>
    <p:sldLayoutId id="2147483657" r:id="rId5"/>
  </p:sldLayoutIdLst>
  <p:transition spd="med"/>
  <p:txStyles>
    <p:titleStyle>
      <a:lvl1pPr marL="0" marR="0" indent="0" algn="ctr" defTabSz="2438338" rtl="0" eaLnBrk="1" latinLnBrk="0" hangingPunct="1">
        <a:lnSpc>
          <a:spcPct val="100000"/>
        </a:lnSpc>
        <a:spcBef>
          <a:spcPts val="1200"/>
        </a:spcBef>
        <a:spcAft>
          <a:spcPts val="1200"/>
        </a:spcAft>
        <a:buClrTx/>
        <a:buSzTx/>
        <a:buFontTx/>
        <a:buNone/>
        <a:tabLst/>
        <a:defRPr sz="7200" b="0" i="0" u="none" strike="noStrike" cap="none" spc="-170" baseline="0">
          <a:solidFill>
            <a:srgbClr val="000000"/>
          </a:solidFill>
          <a:uFillTx/>
          <a:latin typeface="Chromatica" pitchFamily="2" charset="77"/>
          <a:ea typeface="+mn-ea"/>
          <a:cs typeface="+mn-cs"/>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hyperlink" Target="https://www.riken.jp/en/research/labs/rqc/"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5.xml"/><Relationship Id="rId7" Type="http://schemas.openxmlformats.org/officeDocument/2006/relationships/image" Target="../media/image1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FCC81-C4D1-0D60-DD5D-C9DFC8157B4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7AF143-170E-D483-D114-4D8AE35597F6}"/>
              </a:ext>
            </a:extLst>
          </p:cNvPr>
          <p:cNvSpPr/>
          <p:nvPr/>
        </p:nvSpPr>
        <p:spPr>
          <a:xfrm>
            <a:off x="0" y="0"/>
            <a:ext cx="24384000" cy="13716000"/>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E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Metin Yer Tutucusu 1">
            <a:extLst>
              <a:ext uri="{FF2B5EF4-FFF2-40B4-BE49-F238E27FC236}">
                <a16:creationId xmlns:a16="http://schemas.microsoft.com/office/drawing/2014/main" id="{0DE38740-4EE8-BE8E-32D4-BE7FE69F64A8}"/>
              </a:ext>
            </a:extLst>
          </p:cNvPr>
          <p:cNvSpPr>
            <a:spLocks noGrp="1"/>
          </p:cNvSpPr>
          <p:nvPr>
            <p:ph type="body" sz="quarter" idx="22"/>
          </p:nvPr>
        </p:nvSpPr>
        <p:spPr/>
        <p:txBody>
          <a:bodyPr/>
          <a:lstStyle/>
          <a:p>
            <a:r>
              <a:rPr lang="en-GB" dirty="0"/>
              <a:t>Normal Distribution</a:t>
            </a:r>
            <a:endParaRPr lang="en-ES" dirty="0"/>
          </a:p>
        </p:txBody>
      </p:sp>
      <p:sp>
        <p:nvSpPr>
          <p:cNvPr id="6" name="TextBox 5">
            <a:extLst>
              <a:ext uri="{FF2B5EF4-FFF2-40B4-BE49-F238E27FC236}">
                <a16:creationId xmlns:a16="http://schemas.microsoft.com/office/drawing/2014/main" id="{52FE0CAD-DB26-83F7-E2A4-AE55F193DA8C}"/>
              </a:ext>
            </a:extLst>
          </p:cNvPr>
          <p:cNvSpPr txBox="1"/>
          <p:nvPr/>
        </p:nvSpPr>
        <p:spPr>
          <a:xfrm>
            <a:off x="4697674" y="3340601"/>
            <a:ext cx="15347150" cy="93358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1143000" marR="0" indent="-1143000" algn="l" defTabSz="2438338" rtl="0" fontAlgn="auto" latinLnBrk="0" hangingPunct="0">
              <a:lnSpc>
                <a:spcPct val="100000"/>
              </a:lnSpc>
              <a:spcBef>
                <a:spcPts val="0"/>
              </a:spcBef>
              <a:spcAft>
                <a:spcPts val="0"/>
              </a:spcAft>
              <a:buClrTx/>
              <a:buSzPct val="40000"/>
              <a:buFont typeface="Wingdings" pitchFamily="2" charset="2"/>
              <a:buChar char="q"/>
              <a:tabLst/>
            </a:pPr>
            <a:r>
              <a:rPr lang="en-ES" sz="6000" b="1" i="1" dirty="0">
                <a:solidFill>
                  <a:schemeClr val="bg1"/>
                </a:solidFill>
                <a:latin typeface="Chromatica" pitchFamily="2" charset="77"/>
              </a:rPr>
              <a:t>Quantum ML Intro</a:t>
            </a:r>
          </a:p>
          <a:p>
            <a:pPr marL="1143000" indent="-1143000" algn="l">
              <a:buSzPct val="40000"/>
              <a:buFont typeface="Wingdings" pitchFamily="2" charset="2"/>
              <a:buChar char="q"/>
            </a:pPr>
            <a:r>
              <a:rPr lang="en-GB" sz="6000" b="1" i="1" dirty="0">
                <a:solidFill>
                  <a:schemeClr val="bg1"/>
                </a:solidFill>
                <a:latin typeface="Chromatica" pitchFamily="2" charset="77"/>
              </a:rPr>
              <a:t>Quantum Bilgisayarlara Giriș  &amp; Donanımlar</a:t>
            </a:r>
          </a:p>
          <a:p>
            <a:pPr marL="1143000" indent="-1143000" algn="l">
              <a:buSzPct val="40000"/>
              <a:buFont typeface="Wingdings" pitchFamily="2" charset="2"/>
              <a:buChar char="q"/>
            </a:pPr>
            <a:r>
              <a:rPr lang="en-GB" sz="6000" b="1" i="1" dirty="0">
                <a:solidFill>
                  <a:schemeClr val="bg1"/>
                </a:solidFill>
                <a:latin typeface="Chromatica" pitchFamily="2" charset="77"/>
              </a:rPr>
              <a:t>Kuantum Fizik Temelleri &amp; Algoritmalar</a:t>
            </a:r>
          </a:p>
          <a:p>
            <a:pPr marL="1143000" indent="-1143000" algn="l">
              <a:buSzPct val="40000"/>
              <a:buFont typeface="Wingdings" pitchFamily="2" charset="2"/>
              <a:buChar char="q"/>
            </a:pPr>
            <a:r>
              <a:rPr lang="en-GB" sz="6000" b="1" i="1" dirty="0">
                <a:solidFill>
                  <a:schemeClr val="bg1"/>
                </a:solidFill>
                <a:latin typeface="Chromatica" pitchFamily="2" charset="77"/>
              </a:rPr>
              <a:t>Yapay Zeka &amp; Makine Öğrenmesi</a:t>
            </a:r>
          </a:p>
          <a:p>
            <a:pPr marL="1143000" indent="-1143000" algn="l">
              <a:buSzPct val="40000"/>
              <a:buFont typeface="Wingdings" pitchFamily="2" charset="2"/>
              <a:buChar char="q"/>
            </a:pPr>
            <a:r>
              <a:rPr lang="en-GB" sz="6000" b="1" i="1" dirty="0">
                <a:solidFill>
                  <a:schemeClr val="bg1"/>
                </a:solidFill>
                <a:latin typeface="Chromatica" pitchFamily="2" charset="77"/>
              </a:rPr>
              <a:t>ML vs QML Karşılaştırması</a:t>
            </a:r>
          </a:p>
          <a:p>
            <a:pPr marL="1143000" indent="-1143000" algn="l">
              <a:buSzPct val="40000"/>
              <a:buFont typeface="Wingdings" pitchFamily="2" charset="2"/>
              <a:buChar char="q"/>
            </a:pPr>
            <a:r>
              <a:rPr lang="en-GB" sz="6000" b="1" i="1" dirty="0">
                <a:solidFill>
                  <a:schemeClr val="bg1"/>
                </a:solidFill>
                <a:latin typeface="Chromatica" pitchFamily="2" charset="77"/>
              </a:rPr>
              <a:t>Python ile Kuantum Uygulama</a:t>
            </a:r>
          </a:p>
          <a:p>
            <a:pPr marL="1143000" indent="-1143000" algn="l">
              <a:buSzPct val="40000"/>
              <a:buFont typeface="Wingdings" pitchFamily="2" charset="2"/>
              <a:buChar char="q"/>
            </a:pPr>
            <a:r>
              <a:rPr lang="en-GB" sz="6000" b="1" i="1" dirty="0">
                <a:solidFill>
                  <a:schemeClr val="bg1"/>
                </a:solidFill>
                <a:latin typeface="Chromatica" pitchFamily="2" charset="77"/>
              </a:rPr>
              <a:t>Quantum AI &amp; Quantum ML</a:t>
            </a:r>
          </a:p>
          <a:p>
            <a:pPr marL="1143000" indent="-1143000" algn="l">
              <a:buSzPct val="40000"/>
              <a:buFont typeface="Wingdings" pitchFamily="2" charset="2"/>
              <a:buChar char="q"/>
            </a:pPr>
            <a:r>
              <a:rPr lang="en-GB" sz="6000" b="1" i="1" dirty="0">
                <a:solidFill>
                  <a:schemeClr val="bg1"/>
                </a:solidFill>
                <a:latin typeface="Chromatica" pitchFamily="2" charset="77"/>
              </a:rPr>
              <a:t>Hybrid Model Stratejisi</a:t>
            </a:r>
          </a:p>
          <a:p>
            <a:pPr marL="1143000" indent="-1143000" algn="l">
              <a:buSzPct val="40000"/>
              <a:buFont typeface="Wingdings" pitchFamily="2" charset="2"/>
              <a:buChar char="q"/>
            </a:pPr>
            <a:r>
              <a:rPr lang="en-GB" sz="6000" b="1" i="1" dirty="0">
                <a:solidFill>
                  <a:schemeClr val="bg1"/>
                </a:solidFill>
                <a:latin typeface="Chromatica" pitchFamily="2" charset="77"/>
              </a:rPr>
              <a:t>Güvenlik &amp; Risk Modelleme</a:t>
            </a:r>
          </a:p>
          <a:p>
            <a:pPr marL="1143000" indent="-1143000" algn="l">
              <a:buSzPct val="40000"/>
              <a:buFont typeface="Wingdings" pitchFamily="2" charset="2"/>
              <a:buChar char="q"/>
            </a:pPr>
            <a:r>
              <a:rPr lang="en-GB" sz="6000" b="1" i="1" dirty="0">
                <a:solidFill>
                  <a:schemeClr val="bg1"/>
                </a:solidFill>
                <a:latin typeface="Chromatica" pitchFamily="2" charset="77"/>
              </a:rPr>
              <a:t>Capstone Sunum Çalışması</a:t>
            </a:r>
          </a:p>
        </p:txBody>
      </p:sp>
      <p:sp>
        <p:nvSpPr>
          <p:cNvPr id="9" name="Rectangle 8">
            <a:extLst>
              <a:ext uri="{FF2B5EF4-FFF2-40B4-BE49-F238E27FC236}">
                <a16:creationId xmlns:a16="http://schemas.microsoft.com/office/drawing/2014/main" id="{8DFE8C18-DFA2-F12C-BE41-1D1E9CE659E4}"/>
              </a:ext>
            </a:extLst>
          </p:cNvPr>
          <p:cNvSpPr/>
          <p:nvPr/>
        </p:nvSpPr>
        <p:spPr>
          <a:xfrm>
            <a:off x="89363" y="12728089"/>
            <a:ext cx="2224725" cy="820132"/>
          </a:xfrm>
          <a:prstGeom prst="rect">
            <a:avLst/>
          </a:prstGeom>
          <a:solidFill>
            <a:schemeClr val="bg1">
              <a:lumMod val="65000"/>
            </a:schemeClr>
          </a:solidFill>
          <a:ln>
            <a:no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6C61DB4C-9901-2B0F-C712-49A7FAABDDA9}"/>
              </a:ext>
            </a:extLst>
          </p:cNvPr>
          <p:cNvPicPr>
            <a:picLocks noChangeAspect="1"/>
          </p:cNvPicPr>
          <p:nvPr/>
        </p:nvPicPr>
        <p:blipFill>
          <a:blip r:embed="rId2"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08415" y="12528543"/>
            <a:ext cx="1986619" cy="1219224"/>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C21739F8-8DDB-C101-2CA7-71924F0E602B}"/>
              </a:ext>
            </a:extLst>
          </p:cNvPr>
          <p:cNvSpPr txBox="1"/>
          <p:nvPr/>
        </p:nvSpPr>
        <p:spPr>
          <a:xfrm>
            <a:off x="2994381" y="-31767"/>
            <a:ext cx="19410763" cy="26725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ES" sz="16700" b="1" i="1" dirty="0">
                <a:solidFill>
                  <a:schemeClr val="bg1"/>
                </a:solidFill>
                <a:latin typeface="Chromatica" pitchFamily="2" charset="77"/>
              </a:rPr>
              <a:t>Quantum ML Kapsam</a:t>
            </a:r>
            <a:endParaRPr kumimoji="0" lang="en-ES" sz="9600" b="1" i="1" u="none" strike="noStrike" cap="none" spc="0" normalizeH="0" baseline="-25000" dirty="0">
              <a:ln>
                <a:noFill/>
              </a:ln>
              <a:solidFill>
                <a:schemeClr val="bg1"/>
              </a:solidFill>
              <a:effectLst/>
              <a:uFillTx/>
              <a:latin typeface="Chromatica" pitchFamily="2" charset="77"/>
              <a:sym typeface="Helvetica Neue"/>
            </a:endParaRPr>
          </a:p>
        </p:txBody>
      </p:sp>
      <p:sp>
        <p:nvSpPr>
          <p:cNvPr id="3" name="Rounded Rectangle 2">
            <a:extLst>
              <a:ext uri="{FF2B5EF4-FFF2-40B4-BE49-F238E27FC236}">
                <a16:creationId xmlns:a16="http://schemas.microsoft.com/office/drawing/2014/main" id="{88B3205E-7C89-C5A2-AE8C-BFB40CABF59B}"/>
              </a:ext>
            </a:extLst>
          </p:cNvPr>
          <p:cNvSpPr/>
          <p:nvPr/>
        </p:nvSpPr>
        <p:spPr>
          <a:xfrm>
            <a:off x="3908612" y="4295358"/>
            <a:ext cx="18969317" cy="1011746"/>
          </a:xfrm>
          <a:prstGeom prst="roundRect">
            <a:avLst/>
          </a:prstGeom>
          <a:solidFill>
            <a:srgbClr val="FFC000">
              <a:alpha val="44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E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5182914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C6136-9B5D-47B5-B945-198734BA443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0343062-789A-BEA2-3E7F-C089B8173049}"/>
              </a:ext>
            </a:extLst>
          </p:cNvPr>
          <p:cNvSpPr/>
          <p:nvPr/>
        </p:nvSpPr>
        <p:spPr>
          <a:xfrm>
            <a:off x="0" y="0"/>
            <a:ext cx="24384000" cy="13716000"/>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E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Metin Yer Tutucusu 1">
            <a:extLst>
              <a:ext uri="{FF2B5EF4-FFF2-40B4-BE49-F238E27FC236}">
                <a16:creationId xmlns:a16="http://schemas.microsoft.com/office/drawing/2014/main" id="{EDFC44AC-A284-7BB9-1D1D-0FD358AED0A1}"/>
              </a:ext>
            </a:extLst>
          </p:cNvPr>
          <p:cNvSpPr>
            <a:spLocks noGrp="1"/>
          </p:cNvSpPr>
          <p:nvPr>
            <p:ph type="body" sz="quarter" idx="22"/>
          </p:nvPr>
        </p:nvSpPr>
        <p:spPr/>
        <p:txBody>
          <a:bodyPr/>
          <a:lstStyle/>
          <a:p>
            <a:r>
              <a:rPr lang="en-GB" dirty="0"/>
              <a:t>Normal Distribution</a:t>
            </a:r>
            <a:endParaRPr lang="en-ES" dirty="0"/>
          </a:p>
        </p:txBody>
      </p:sp>
      <p:sp>
        <p:nvSpPr>
          <p:cNvPr id="6" name="TextBox 5">
            <a:extLst>
              <a:ext uri="{FF2B5EF4-FFF2-40B4-BE49-F238E27FC236}">
                <a16:creationId xmlns:a16="http://schemas.microsoft.com/office/drawing/2014/main" id="{2E48644B-0056-7339-6EB6-69843970A71C}"/>
              </a:ext>
            </a:extLst>
          </p:cNvPr>
          <p:cNvSpPr txBox="1"/>
          <p:nvPr/>
        </p:nvSpPr>
        <p:spPr>
          <a:xfrm>
            <a:off x="3413386" y="2608647"/>
            <a:ext cx="16610317" cy="26725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ES" sz="16700" b="1" i="1" dirty="0">
                <a:solidFill>
                  <a:schemeClr val="bg1"/>
                </a:solidFill>
                <a:latin typeface="Chromatica" pitchFamily="2" charset="77"/>
              </a:rPr>
              <a:t>Quantum ML Intro</a:t>
            </a:r>
            <a:endParaRPr kumimoji="0" lang="en-ES" sz="9600" b="1" i="1" u="none" strike="noStrike" cap="none" spc="0" normalizeH="0" baseline="-25000" dirty="0">
              <a:ln>
                <a:noFill/>
              </a:ln>
              <a:solidFill>
                <a:schemeClr val="bg1"/>
              </a:solidFill>
              <a:effectLst/>
              <a:uFillTx/>
              <a:latin typeface="Chromatica" pitchFamily="2" charset="77"/>
              <a:sym typeface="Helvetica Neue"/>
            </a:endParaRPr>
          </a:p>
        </p:txBody>
      </p:sp>
      <p:sp>
        <p:nvSpPr>
          <p:cNvPr id="9" name="Rectangle 8">
            <a:extLst>
              <a:ext uri="{FF2B5EF4-FFF2-40B4-BE49-F238E27FC236}">
                <a16:creationId xmlns:a16="http://schemas.microsoft.com/office/drawing/2014/main" id="{ED7BFEE2-F4B1-84B1-FEE4-149F2C1C8E57}"/>
              </a:ext>
            </a:extLst>
          </p:cNvPr>
          <p:cNvSpPr/>
          <p:nvPr/>
        </p:nvSpPr>
        <p:spPr>
          <a:xfrm>
            <a:off x="89363" y="12728089"/>
            <a:ext cx="2224725" cy="820132"/>
          </a:xfrm>
          <a:prstGeom prst="rect">
            <a:avLst/>
          </a:prstGeom>
          <a:solidFill>
            <a:schemeClr val="bg1">
              <a:lumMod val="65000"/>
            </a:schemeClr>
          </a:solidFill>
          <a:ln>
            <a:no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82E997DA-9356-44DE-F1DD-B78A7749D785}"/>
              </a:ext>
            </a:extLst>
          </p:cNvPr>
          <p:cNvPicPr>
            <a:picLocks noChangeAspect="1"/>
          </p:cNvPicPr>
          <p:nvPr/>
        </p:nvPicPr>
        <p:blipFill>
          <a:blip r:embed="rId2"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08415" y="12528543"/>
            <a:ext cx="1986619" cy="1219224"/>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0DA32DAE-A0D7-1B7A-2738-A8A8E827C410}"/>
              </a:ext>
            </a:extLst>
          </p:cNvPr>
          <p:cNvPicPr>
            <a:picLocks noChangeAspect="1"/>
          </p:cNvPicPr>
          <p:nvPr/>
        </p:nvPicPr>
        <p:blipFill>
          <a:blip r:embed="rId3">
            <a:duotone>
              <a:prstClr val="black"/>
              <a:schemeClr val="accent1">
                <a:tint val="45000"/>
                <a:satMod val="400000"/>
              </a:schemeClr>
            </a:duotone>
          </a:blip>
          <a:srcRect r="7780"/>
          <a:stretch>
            <a:fillRect/>
          </a:stretch>
        </p:blipFill>
        <p:spPr>
          <a:xfrm>
            <a:off x="6910817" y="7322813"/>
            <a:ext cx="10280058" cy="5205730"/>
          </a:xfrm>
          <a:prstGeom prst="rect">
            <a:avLst/>
          </a:prstGeom>
          <a:ln>
            <a:noFill/>
          </a:ln>
          <a:effectLst>
            <a:softEdge rad="112500"/>
          </a:effectLst>
        </p:spPr>
      </p:pic>
    </p:spTree>
    <p:extLst>
      <p:ext uri="{BB962C8B-B14F-4D97-AF65-F5344CB8AC3E}">
        <p14:creationId xmlns:p14="http://schemas.microsoft.com/office/powerpoint/2010/main" val="321357736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C8CDF-9AB1-B62A-DDF1-F6E4399B4026}"/>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8C374C9A-A1BA-2943-74EE-40D3D4AB39C6}"/>
              </a:ext>
            </a:extLst>
          </p:cNvPr>
          <p:cNvSpPr>
            <a:spLocks noGrp="1"/>
          </p:cNvSpPr>
          <p:nvPr>
            <p:ph type="body" sz="quarter" idx="22"/>
          </p:nvPr>
        </p:nvSpPr>
        <p:spPr/>
        <p:txBody>
          <a:bodyPr/>
          <a:lstStyle/>
          <a:p>
            <a:r>
              <a:rPr lang="tr-TR" dirty="0"/>
              <a:t>Kuantum ve Yapay Zekanın Stratejik Birleșimi</a:t>
            </a:r>
            <a:endParaRPr lang="en-GB" dirty="0"/>
          </a:p>
        </p:txBody>
      </p:sp>
      <p:pic>
        <p:nvPicPr>
          <p:cNvPr id="6" name="Picture 5">
            <a:extLst>
              <a:ext uri="{FF2B5EF4-FFF2-40B4-BE49-F238E27FC236}">
                <a16:creationId xmlns:a16="http://schemas.microsoft.com/office/drawing/2014/main" id="{069B1FF7-BF6A-501A-2CC2-A9274C912E3C}"/>
              </a:ext>
            </a:extLst>
          </p:cNvPr>
          <p:cNvPicPr>
            <a:picLocks noChangeAspect="1"/>
          </p:cNvPicPr>
          <p:nvPr/>
        </p:nvPicPr>
        <p:blipFill>
          <a:blip r:embed="rId3"/>
          <a:stretch>
            <a:fillRect/>
          </a:stretch>
        </p:blipFill>
        <p:spPr>
          <a:xfrm>
            <a:off x="2325515" y="3626577"/>
            <a:ext cx="16053806" cy="8878479"/>
          </a:xfrm>
          <a:prstGeom prst="rect">
            <a:avLst/>
          </a:prstGeom>
        </p:spPr>
      </p:pic>
      <p:sp>
        <p:nvSpPr>
          <p:cNvPr id="7" name="Metin Yer Tutucusu 1">
            <a:extLst>
              <a:ext uri="{FF2B5EF4-FFF2-40B4-BE49-F238E27FC236}">
                <a16:creationId xmlns:a16="http://schemas.microsoft.com/office/drawing/2014/main" id="{987BA8B9-C92A-EAF0-C67D-73D0DE20FD79}"/>
              </a:ext>
            </a:extLst>
          </p:cNvPr>
          <p:cNvSpPr txBox="1">
            <a:spLocks/>
          </p:cNvSpPr>
          <p:nvPr/>
        </p:nvSpPr>
        <p:spPr>
          <a:xfrm>
            <a:off x="2068708" y="1897178"/>
            <a:ext cx="20246583"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4000" dirty="0"/>
              <a:t>Kuantum bilgisayarlar, yapay zekanın veya klasik bilgisayarların yerini almak yerine, belirli ve karmaşık problemlerde onları </a:t>
            </a:r>
            <a:r>
              <a:rPr lang="tr-TR" sz="4000" b="1" dirty="0"/>
              <a:t>tamamlayan hibrit sistemlerin bir parçası olacaktır.</a:t>
            </a:r>
            <a:endParaRPr lang="en-GB" sz="4000" b="1" dirty="0"/>
          </a:p>
        </p:txBody>
      </p:sp>
      <p:sp>
        <p:nvSpPr>
          <p:cNvPr id="8" name="Metin Yer Tutucusu 1">
            <a:extLst>
              <a:ext uri="{FF2B5EF4-FFF2-40B4-BE49-F238E27FC236}">
                <a16:creationId xmlns:a16="http://schemas.microsoft.com/office/drawing/2014/main" id="{4B7C3423-D2FB-0BA0-2593-1483DBCF58B9}"/>
              </a:ext>
            </a:extLst>
          </p:cNvPr>
          <p:cNvSpPr txBox="1">
            <a:spLocks/>
          </p:cNvSpPr>
          <p:nvPr/>
        </p:nvSpPr>
        <p:spPr>
          <a:xfrm>
            <a:off x="19036144" y="7732995"/>
            <a:ext cx="4906557"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2800" b="1" dirty="0">
                <a:latin typeface="Aptos Serif" panose="02020604070405020304" pitchFamily="18" charset="0"/>
                <a:cs typeface="Aptos Serif" panose="02020604070405020304" pitchFamily="18" charset="0"/>
              </a:rPr>
              <a:t>Cleveland Clinic ve IBM, biyomedikal keşiflerde AI, süper bilgisayarlar ve kuantum hesaplamayı birlikte kullanıyor.</a:t>
            </a:r>
          </a:p>
          <a:p>
            <a:pPr algn="ctr"/>
            <a:endParaRPr lang="tr-TR" sz="2800" dirty="0">
              <a:latin typeface="Aptos Serif" panose="02020604070405020304" pitchFamily="18" charset="0"/>
              <a:cs typeface="Aptos Serif" panose="02020604070405020304" pitchFamily="18" charset="0"/>
            </a:endParaRPr>
          </a:p>
          <a:p>
            <a:pPr algn="ctr"/>
            <a:r>
              <a:rPr lang="tr-TR" sz="2800" dirty="0">
                <a:latin typeface="Aptos Serif" panose="02020604070405020304" pitchFamily="18" charset="0"/>
                <a:cs typeface="Aptos Serif" panose="02020604070405020304" pitchFamily="18" charset="0"/>
              </a:rPr>
              <a:t>Amaç; moleküler modelleme, ilaç keşfi ve hastalık araştırmalarında yeni hesaplama yöntemleri geliştirmek. </a:t>
            </a:r>
          </a:p>
        </p:txBody>
      </p:sp>
    </p:spTree>
    <p:extLst>
      <p:ext uri="{BB962C8B-B14F-4D97-AF65-F5344CB8AC3E}">
        <p14:creationId xmlns:p14="http://schemas.microsoft.com/office/powerpoint/2010/main" val="155753665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8B3EB-9641-8D39-E5C0-1FED083D100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461F11EE-47AE-8763-0B9B-122CCF3CAF7C}"/>
              </a:ext>
            </a:extLst>
          </p:cNvPr>
          <p:cNvSpPr>
            <a:spLocks noGrp="1"/>
          </p:cNvSpPr>
          <p:nvPr>
            <p:ph type="body" sz="quarter" idx="22"/>
          </p:nvPr>
        </p:nvSpPr>
        <p:spPr/>
        <p:txBody>
          <a:bodyPr/>
          <a:lstStyle/>
          <a:p>
            <a:r>
              <a:rPr lang="tr-TR" dirty="0"/>
              <a:t>First Quantum algorithm</a:t>
            </a:r>
            <a:endParaRPr lang="en-GB" dirty="0"/>
          </a:p>
        </p:txBody>
      </p:sp>
      <p:sp>
        <p:nvSpPr>
          <p:cNvPr id="3" name="Metin Yer Tutucusu 1">
            <a:extLst>
              <a:ext uri="{FF2B5EF4-FFF2-40B4-BE49-F238E27FC236}">
                <a16:creationId xmlns:a16="http://schemas.microsoft.com/office/drawing/2014/main" id="{A6D853F4-DAE0-67D3-A1DD-C6BD2C927B10}"/>
              </a:ext>
            </a:extLst>
          </p:cNvPr>
          <p:cNvSpPr txBox="1">
            <a:spLocks/>
          </p:cNvSpPr>
          <p:nvPr/>
        </p:nvSpPr>
        <p:spPr>
          <a:xfrm>
            <a:off x="2068708" y="1897178"/>
            <a:ext cx="20246583"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4000" dirty="0"/>
              <a:t>Q-Day’in tarihi bilinmese de kuantuma dayanıklı şifrelemeye geçiş yıllar sürebileceği için hazırlık bugünden başlamalıdır.</a:t>
            </a:r>
            <a:endParaRPr lang="en-GB" sz="4000" b="1" dirty="0"/>
          </a:p>
        </p:txBody>
      </p:sp>
      <p:pic>
        <p:nvPicPr>
          <p:cNvPr id="7" name="Picture 6">
            <a:extLst>
              <a:ext uri="{FF2B5EF4-FFF2-40B4-BE49-F238E27FC236}">
                <a16:creationId xmlns:a16="http://schemas.microsoft.com/office/drawing/2014/main" id="{37E50138-5E37-30AA-6EB4-618399310A1F}"/>
              </a:ext>
            </a:extLst>
          </p:cNvPr>
          <p:cNvPicPr>
            <a:picLocks noChangeAspect="1"/>
          </p:cNvPicPr>
          <p:nvPr/>
        </p:nvPicPr>
        <p:blipFill>
          <a:blip r:embed="rId3"/>
          <a:stretch>
            <a:fillRect/>
          </a:stretch>
        </p:blipFill>
        <p:spPr>
          <a:xfrm>
            <a:off x="5642719" y="3365139"/>
            <a:ext cx="17545483" cy="9858029"/>
          </a:xfrm>
          <a:prstGeom prst="rect">
            <a:avLst/>
          </a:prstGeom>
        </p:spPr>
      </p:pic>
      <p:sp>
        <p:nvSpPr>
          <p:cNvPr id="8" name="Metin Yer Tutucusu 1">
            <a:extLst>
              <a:ext uri="{FF2B5EF4-FFF2-40B4-BE49-F238E27FC236}">
                <a16:creationId xmlns:a16="http://schemas.microsoft.com/office/drawing/2014/main" id="{BD3FDD44-ED62-9B3F-B060-E471220A2EFB}"/>
              </a:ext>
            </a:extLst>
          </p:cNvPr>
          <p:cNvSpPr txBox="1">
            <a:spLocks/>
          </p:cNvSpPr>
          <p:nvPr/>
        </p:nvSpPr>
        <p:spPr>
          <a:xfrm>
            <a:off x="293840" y="3365139"/>
            <a:ext cx="7935760" cy="2675443"/>
          </a:xfrm>
          <a:prstGeom prst="rect">
            <a:avLst/>
          </a:prstGeom>
          <a:solidFill>
            <a:schemeClr val="bg1">
              <a:lumMod val="95000"/>
            </a:schemeClr>
          </a:solidFill>
          <a:effectLst>
            <a:outerShdw blurRad="50800" dist="38100" dir="2700000" algn="tl" rotWithShape="0">
              <a:prstClr val="black">
                <a:alpha val="40000"/>
              </a:prstClr>
            </a:outerShdw>
          </a:effectLst>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2800" b="1" dirty="0">
                <a:latin typeface="Aptos Serif" panose="02020604070405020304" pitchFamily="18" charset="0"/>
                <a:cs typeface="Aptos Serif" panose="02020604070405020304" pitchFamily="18" charset="0"/>
              </a:rPr>
              <a:t>NIST, 2024’te ilk post-kuantum güvenlik standartlarını yayımladı; kurumlar geçiş planlarını şimdiden hazırlıyor.</a:t>
            </a:r>
            <a:endParaRPr lang="tr-TR" sz="2800" dirty="0">
              <a:latin typeface="Aptos Serif" panose="02020604070405020304" pitchFamily="18" charset="0"/>
              <a:cs typeface="Aptos Serif" panose="02020604070405020304" pitchFamily="18" charset="0"/>
            </a:endParaRPr>
          </a:p>
        </p:txBody>
      </p:sp>
    </p:spTree>
    <p:extLst>
      <p:ext uri="{BB962C8B-B14F-4D97-AF65-F5344CB8AC3E}">
        <p14:creationId xmlns:p14="http://schemas.microsoft.com/office/powerpoint/2010/main" val="307096509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B3F-AEFC-63BA-23DA-EF5CE58007B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E159D2B0-EBD3-AC25-8304-C6521CE959D0}"/>
              </a:ext>
            </a:extLst>
          </p:cNvPr>
          <p:cNvSpPr>
            <a:spLocks noGrp="1"/>
          </p:cNvSpPr>
          <p:nvPr>
            <p:ph type="body" sz="quarter" idx="22"/>
          </p:nvPr>
        </p:nvSpPr>
        <p:spPr/>
        <p:txBody>
          <a:bodyPr/>
          <a:lstStyle/>
          <a:p>
            <a:r>
              <a:rPr lang="tr-TR" dirty="0"/>
              <a:t>Kuantum Bilişim: Bilim Kurgudan Stratejik Hazırlık Alanına</a:t>
            </a:r>
            <a:endParaRPr lang="en-GB" dirty="0"/>
          </a:p>
        </p:txBody>
      </p:sp>
      <p:pic>
        <p:nvPicPr>
          <p:cNvPr id="5" name="yapıştırılan-film.png" descr="yapıştırılan-film.png">
            <a:extLst>
              <a:ext uri="{FF2B5EF4-FFF2-40B4-BE49-F238E27FC236}">
                <a16:creationId xmlns:a16="http://schemas.microsoft.com/office/drawing/2014/main" id="{53913160-23A3-4249-9DFB-D4CFCEF211D5}"/>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80050" y="3803609"/>
            <a:ext cx="17363021" cy="9028770"/>
          </a:xfrm>
          <a:prstGeom prst="rect">
            <a:avLst/>
          </a:prstGeom>
          <a:ln w="12700">
            <a:miter lim="400000"/>
          </a:ln>
        </p:spPr>
      </p:pic>
      <p:sp>
        <p:nvSpPr>
          <p:cNvPr id="3" name="Metin Yer Tutucusu 1">
            <a:extLst>
              <a:ext uri="{FF2B5EF4-FFF2-40B4-BE49-F238E27FC236}">
                <a16:creationId xmlns:a16="http://schemas.microsoft.com/office/drawing/2014/main" id="{37CB6109-B8C7-3651-8C13-690F9C9D0286}"/>
              </a:ext>
            </a:extLst>
          </p:cNvPr>
          <p:cNvSpPr txBox="1">
            <a:spLocks/>
          </p:cNvSpPr>
          <p:nvPr/>
        </p:nvSpPr>
        <p:spPr>
          <a:xfrm>
            <a:off x="2068708" y="1897178"/>
            <a:ext cx="20246583"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4000" dirty="0"/>
              <a:t>Kuantuma hazırlanmak, bugün büyük yatırımlar yapmak değil; doğru kullanım alanlarını, yetenekleri ve iş ortaklıklarını erkenden geliştirmektir.</a:t>
            </a:r>
            <a:endParaRPr lang="en-GB" sz="4000" b="1" dirty="0"/>
          </a:p>
        </p:txBody>
      </p:sp>
      <p:sp>
        <p:nvSpPr>
          <p:cNvPr id="4" name="Metin Yer Tutucusu 1">
            <a:extLst>
              <a:ext uri="{FF2B5EF4-FFF2-40B4-BE49-F238E27FC236}">
                <a16:creationId xmlns:a16="http://schemas.microsoft.com/office/drawing/2014/main" id="{497F0BAB-56BB-75E4-E83D-163BF2E3AF25}"/>
              </a:ext>
            </a:extLst>
          </p:cNvPr>
          <p:cNvSpPr txBox="1">
            <a:spLocks/>
          </p:cNvSpPr>
          <p:nvPr/>
        </p:nvSpPr>
        <p:spPr>
          <a:xfrm>
            <a:off x="19036144" y="7732995"/>
            <a:ext cx="4906557"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2800" b="1" dirty="0">
                <a:latin typeface="Aptos Serif" panose="02020604070405020304" pitchFamily="18" charset="0"/>
                <a:cs typeface="Aptos Serif" panose="02020604070405020304" pitchFamily="18" charset="0"/>
              </a:rPr>
              <a:t>HSBC, kuantum teknolojisini doğrudan yaygınlaştırmak yerine IBM ile finansal kullanım senaryolarını pilot çalışmalarla test ediyor.</a:t>
            </a:r>
            <a:endParaRPr lang="tr-TR" sz="2800" dirty="0">
              <a:latin typeface="Aptos Serif" panose="02020604070405020304" pitchFamily="18" charset="0"/>
              <a:cs typeface="Aptos Serif" panose="02020604070405020304" pitchFamily="18" charset="0"/>
            </a:endParaRPr>
          </a:p>
        </p:txBody>
      </p:sp>
    </p:spTree>
    <p:extLst>
      <p:ext uri="{BB962C8B-B14F-4D97-AF65-F5344CB8AC3E}">
        <p14:creationId xmlns:p14="http://schemas.microsoft.com/office/powerpoint/2010/main" val="57445816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B3F-AEFC-63BA-23DA-EF5CE58007B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E159D2B0-EBD3-AC25-8304-C6521CE959D0}"/>
              </a:ext>
            </a:extLst>
          </p:cNvPr>
          <p:cNvSpPr>
            <a:spLocks noGrp="1"/>
          </p:cNvSpPr>
          <p:nvPr>
            <p:ph type="body" sz="quarter" idx="22"/>
          </p:nvPr>
        </p:nvSpPr>
        <p:spPr>
          <a:xfrm>
            <a:off x="1049411" y="167779"/>
            <a:ext cx="18475718" cy="1169999"/>
          </a:xfrm>
        </p:spPr>
        <p:txBody>
          <a:bodyPr/>
          <a:lstStyle/>
          <a:p>
            <a:r>
              <a:rPr lang="tr-TR" dirty="0"/>
              <a:t>Tek İşlemciden Heterojen Bilişime Geçiş</a:t>
            </a:r>
            <a:endParaRPr lang="en-GB" dirty="0"/>
          </a:p>
        </p:txBody>
      </p:sp>
      <p:pic>
        <p:nvPicPr>
          <p:cNvPr id="4" name="Picture 3">
            <a:extLst>
              <a:ext uri="{FF2B5EF4-FFF2-40B4-BE49-F238E27FC236}">
                <a16:creationId xmlns:a16="http://schemas.microsoft.com/office/drawing/2014/main" id="{2CDC3557-B3EA-7F69-BBAC-9E9E4E4086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2353" y="3626577"/>
            <a:ext cx="16113788" cy="9059185"/>
          </a:xfrm>
          <a:prstGeom prst="rect">
            <a:avLst/>
          </a:prstGeom>
        </p:spPr>
      </p:pic>
      <p:sp>
        <p:nvSpPr>
          <p:cNvPr id="6" name="Metin Yer Tutucusu 1">
            <a:extLst>
              <a:ext uri="{FF2B5EF4-FFF2-40B4-BE49-F238E27FC236}">
                <a16:creationId xmlns:a16="http://schemas.microsoft.com/office/drawing/2014/main" id="{858B5FA4-7351-5AB9-5A10-FE291057B085}"/>
              </a:ext>
            </a:extLst>
          </p:cNvPr>
          <p:cNvSpPr txBox="1">
            <a:spLocks/>
          </p:cNvSpPr>
          <p:nvPr/>
        </p:nvSpPr>
        <p:spPr>
          <a:xfrm>
            <a:off x="2068708" y="1897178"/>
            <a:ext cx="20246583"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4000" dirty="0"/>
              <a:t>Geleceğin bilgisayarları, her görevi en uygun işlemciye yönlendiren CPU, GPU ve QPU tabanlı heterojen sistemler olacaktır.</a:t>
            </a:r>
            <a:endParaRPr lang="en-GB" sz="4000" b="1" dirty="0"/>
          </a:p>
        </p:txBody>
      </p:sp>
      <p:sp>
        <p:nvSpPr>
          <p:cNvPr id="7" name="Metin Yer Tutucusu 1">
            <a:extLst>
              <a:ext uri="{FF2B5EF4-FFF2-40B4-BE49-F238E27FC236}">
                <a16:creationId xmlns:a16="http://schemas.microsoft.com/office/drawing/2014/main" id="{97B1EB9A-1372-F9CE-7188-200D71168A81}"/>
              </a:ext>
            </a:extLst>
          </p:cNvPr>
          <p:cNvSpPr txBox="1">
            <a:spLocks/>
          </p:cNvSpPr>
          <p:nvPr/>
        </p:nvSpPr>
        <p:spPr>
          <a:xfrm>
            <a:off x="1049411" y="4989334"/>
            <a:ext cx="4906557"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2800" b="1" dirty="0">
                <a:latin typeface="Aptos Serif" panose="02020604070405020304" pitchFamily="18" charset="0"/>
                <a:cs typeface="Aptos Serif" panose="02020604070405020304" pitchFamily="18" charset="0"/>
              </a:rPr>
              <a:t>RIKEN ve IBM, süper bilgisayarlarla kuantum işlemcilerini aynı hibrit iş akışında birleştiriyor.</a:t>
            </a:r>
            <a:endParaRPr lang="tr-TR" sz="2800" dirty="0">
              <a:latin typeface="Aptos Serif" panose="02020604070405020304" pitchFamily="18" charset="0"/>
              <a:cs typeface="Aptos Serif" panose="02020604070405020304" pitchFamily="18" charset="0"/>
            </a:endParaRPr>
          </a:p>
        </p:txBody>
      </p:sp>
      <p:pic>
        <p:nvPicPr>
          <p:cNvPr id="8" name="Picture 7">
            <a:extLst>
              <a:ext uri="{FF2B5EF4-FFF2-40B4-BE49-F238E27FC236}">
                <a16:creationId xmlns:a16="http://schemas.microsoft.com/office/drawing/2014/main" id="{9B6A8A28-52D9-7482-8A6D-4EB612C5DBBF}"/>
              </a:ext>
            </a:extLst>
          </p:cNvPr>
          <p:cNvPicPr>
            <a:picLocks noChangeAspect="1"/>
          </p:cNvPicPr>
          <p:nvPr/>
        </p:nvPicPr>
        <p:blipFill>
          <a:blip r:embed="rId4"/>
          <a:stretch>
            <a:fillRect/>
          </a:stretch>
        </p:blipFill>
        <p:spPr>
          <a:xfrm>
            <a:off x="1773679" y="7117603"/>
            <a:ext cx="3458020" cy="1354044"/>
          </a:xfrm>
          <a:prstGeom prst="rect">
            <a:avLst/>
          </a:prstGeom>
        </p:spPr>
      </p:pic>
      <p:sp>
        <p:nvSpPr>
          <p:cNvPr id="10" name="TextBox 9">
            <a:extLst>
              <a:ext uri="{FF2B5EF4-FFF2-40B4-BE49-F238E27FC236}">
                <a16:creationId xmlns:a16="http://schemas.microsoft.com/office/drawing/2014/main" id="{A5A2CB2C-97E0-9025-637A-CB090F188F91}"/>
              </a:ext>
            </a:extLst>
          </p:cNvPr>
          <p:cNvSpPr txBox="1"/>
          <p:nvPr/>
        </p:nvSpPr>
        <p:spPr>
          <a:xfrm>
            <a:off x="1102388" y="8829752"/>
            <a:ext cx="5997659"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ES">
                <a:hlinkClick r:id="rId5"/>
              </a:rPr>
              <a:t>https://www.riken.jp/en/research/labs/rqc/</a:t>
            </a:r>
            <a:endParaRPr lang="en-ES"/>
          </a:p>
          <a:p>
            <a:endParaRPr lang="en-ES"/>
          </a:p>
        </p:txBody>
      </p:sp>
    </p:spTree>
    <p:extLst>
      <p:ext uri="{BB962C8B-B14F-4D97-AF65-F5344CB8AC3E}">
        <p14:creationId xmlns:p14="http://schemas.microsoft.com/office/powerpoint/2010/main" val="168891975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DD9A2-D41E-ACA2-6FA8-73B2755C54DE}"/>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8F3B4A45-4F90-B659-1D04-8C966B6EAB4B}"/>
              </a:ext>
            </a:extLst>
          </p:cNvPr>
          <p:cNvSpPr>
            <a:spLocks noGrp="1"/>
          </p:cNvSpPr>
          <p:nvPr>
            <p:ph type="body" sz="quarter" idx="22"/>
          </p:nvPr>
        </p:nvSpPr>
        <p:spPr>
          <a:xfrm>
            <a:off x="1049411" y="167779"/>
            <a:ext cx="18475718" cy="1169999"/>
          </a:xfrm>
        </p:spPr>
        <p:txBody>
          <a:bodyPr/>
          <a:lstStyle/>
          <a:p>
            <a:r>
              <a:rPr lang="tr-TR" dirty="0"/>
              <a:t>RIKEN vakası nedir?</a:t>
            </a:r>
            <a:endParaRPr lang="en-GB" dirty="0"/>
          </a:p>
        </p:txBody>
      </p:sp>
      <p:sp>
        <p:nvSpPr>
          <p:cNvPr id="6" name="Metin Yer Tutucusu 1">
            <a:extLst>
              <a:ext uri="{FF2B5EF4-FFF2-40B4-BE49-F238E27FC236}">
                <a16:creationId xmlns:a16="http://schemas.microsoft.com/office/drawing/2014/main" id="{B48ADE01-F32A-8196-D1EE-8D45E725C020}"/>
              </a:ext>
            </a:extLst>
          </p:cNvPr>
          <p:cNvSpPr txBox="1">
            <a:spLocks/>
          </p:cNvSpPr>
          <p:nvPr/>
        </p:nvSpPr>
        <p:spPr>
          <a:xfrm>
            <a:off x="1049411" y="6579066"/>
            <a:ext cx="21361986"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tr-TR" sz="4000" b="1" dirty="0"/>
              <a:t>RIKEN, Fugaku süper bilgisayarını 156 kübitlik IBM Quantum System Two ile entegre ederek klasik ve kuantum işlemcilerin aynı bilimsel iş akışında birlikte çalışmasını test ediyor.</a:t>
            </a:r>
            <a:endParaRPr lang="en-GB" sz="4000" b="1" dirty="0"/>
          </a:p>
        </p:txBody>
      </p:sp>
      <p:pic>
        <p:nvPicPr>
          <p:cNvPr id="8" name="Picture 7">
            <a:extLst>
              <a:ext uri="{FF2B5EF4-FFF2-40B4-BE49-F238E27FC236}">
                <a16:creationId xmlns:a16="http://schemas.microsoft.com/office/drawing/2014/main" id="{B3DC5E93-44FA-D7BC-6D06-14F443181A78}"/>
              </a:ext>
            </a:extLst>
          </p:cNvPr>
          <p:cNvPicPr>
            <a:picLocks noChangeAspect="1"/>
          </p:cNvPicPr>
          <p:nvPr/>
        </p:nvPicPr>
        <p:blipFill>
          <a:blip r:embed="rId3"/>
          <a:stretch>
            <a:fillRect/>
          </a:stretch>
        </p:blipFill>
        <p:spPr>
          <a:xfrm>
            <a:off x="590337" y="1763415"/>
            <a:ext cx="4793888" cy="1877125"/>
          </a:xfrm>
          <a:prstGeom prst="rect">
            <a:avLst/>
          </a:prstGeom>
        </p:spPr>
      </p:pic>
      <p:sp>
        <p:nvSpPr>
          <p:cNvPr id="5" name="TextBox 4">
            <a:extLst>
              <a:ext uri="{FF2B5EF4-FFF2-40B4-BE49-F238E27FC236}">
                <a16:creationId xmlns:a16="http://schemas.microsoft.com/office/drawing/2014/main" id="{12FF6926-0875-7D8D-2F5B-D759BE8029BD}"/>
              </a:ext>
            </a:extLst>
          </p:cNvPr>
          <p:cNvSpPr txBox="1"/>
          <p:nvPr/>
        </p:nvSpPr>
        <p:spPr>
          <a:xfrm>
            <a:off x="5782234" y="2085324"/>
            <a:ext cx="13964771" cy="24787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lnSpc>
                <a:spcPct val="150000"/>
              </a:lnSpc>
            </a:pPr>
            <a:r>
              <a:rPr lang="en-ES" sz="3600"/>
              <a:t>RIKEN, Japonya’nın büyük kamu araştırma kurumlarından biridir. Kobe’deki RIKEN Center for Computational Science, dünyanın önde gelen </a:t>
            </a:r>
            <a:r>
              <a:rPr lang="en-ES" sz="3600" b="1"/>
              <a:t>süper bilgisayarlarından Fugaku’yu işletiyor. </a:t>
            </a:r>
            <a:endParaRPr lang="en-ES" sz="3600"/>
          </a:p>
        </p:txBody>
      </p:sp>
      <p:pic>
        <p:nvPicPr>
          <p:cNvPr id="10" name="Picture 9">
            <a:extLst>
              <a:ext uri="{FF2B5EF4-FFF2-40B4-BE49-F238E27FC236}">
                <a16:creationId xmlns:a16="http://schemas.microsoft.com/office/drawing/2014/main" id="{6B9804DC-8D0B-7117-CE8A-52A4AC6BB0F1}"/>
              </a:ext>
            </a:extLst>
          </p:cNvPr>
          <p:cNvPicPr>
            <a:picLocks noChangeAspect="1"/>
          </p:cNvPicPr>
          <p:nvPr/>
        </p:nvPicPr>
        <p:blipFill>
          <a:blip r:embed="rId4"/>
          <a:stretch>
            <a:fillRect/>
          </a:stretch>
        </p:blipFill>
        <p:spPr>
          <a:xfrm>
            <a:off x="1049411" y="3845660"/>
            <a:ext cx="4495800" cy="2489200"/>
          </a:xfrm>
          <a:prstGeom prst="rect">
            <a:avLst/>
          </a:prstGeom>
          <a:ln>
            <a:noFill/>
          </a:ln>
          <a:effectLst>
            <a:softEdge rad="112500"/>
          </a:effectLst>
        </p:spPr>
      </p:pic>
      <p:sp>
        <p:nvSpPr>
          <p:cNvPr id="11" name="TextBox 10">
            <a:extLst>
              <a:ext uri="{FF2B5EF4-FFF2-40B4-BE49-F238E27FC236}">
                <a16:creationId xmlns:a16="http://schemas.microsoft.com/office/drawing/2014/main" id="{1BE6C615-8D5C-DFB7-A1BE-A16941D67EF4}"/>
              </a:ext>
            </a:extLst>
          </p:cNvPr>
          <p:cNvSpPr txBox="1"/>
          <p:nvPr/>
        </p:nvSpPr>
        <p:spPr>
          <a:xfrm>
            <a:off x="2987281" y="8507960"/>
            <a:ext cx="20898603" cy="2594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en-GB" sz="2800" b="1" u="sng" dirty="0"/>
              <a:t>Somut </a:t>
            </a:r>
            <a:r>
              <a:rPr lang="en-GB" sz="2800" b="1" u="sng" dirty="0" err="1"/>
              <a:t>olarak</a:t>
            </a:r>
            <a:r>
              <a:rPr lang="en-GB" sz="2800" b="1" u="sng" dirty="0"/>
              <a:t> hangi problem </a:t>
            </a:r>
            <a:r>
              <a:rPr lang="en-GB" sz="2800" b="1" u="sng" dirty="0" err="1"/>
              <a:t>üzerinde</a:t>
            </a:r>
            <a:r>
              <a:rPr lang="en-GB" sz="2800" b="1" u="sng" dirty="0"/>
              <a:t> </a:t>
            </a:r>
            <a:r>
              <a:rPr lang="en-GB" sz="2800" b="1" u="sng" dirty="0" err="1"/>
              <a:t>çalışıyorlar</a:t>
            </a:r>
            <a:r>
              <a:rPr lang="en-GB" sz="2800" b="1" u="sng" dirty="0"/>
              <a:t>?</a:t>
            </a:r>
          </a:p>
          <a:p>
            <a:pPr algn="l">
              <a:lnSpc>
                <a:spcPct val="150000"/>
              </a:lnSpc>
            </a:pPr>
            <a:r>
              <a:rPr lang="en-GB" sz="2800" dirty="0"/>
              <a:t>RIKEN </a:t>
            </a:r>
            <a:r>
              <a:rPr lang="en-GB" sz="2800" dirty="0" err="1"/>
              <a:t>ve</a:t>
            </a:r>
            <a:r>
              <a:rPr lang="en-GB" sz="2800" dirty="0"/>
              <a:t> IBM, </a:t>
            </a:r>
            <a:r>
              <a:rPr lang="en-GB" sz="2800" dirty="0" err="1"/>
              <a:t>bu</a:t>
            </a:r>
            <a:r>
              <a:rPr lang="en-GB" sz="2800" dirty="0"/>
              <a:t> </a:t>
            </a:r>
            <a:r>
              <a:rPr lang="en-GB" sz="2800" dirty="0" err="1"/>
              <a:t>yapıyı</a:t>
            </a:r>
            <a:r>
              <a:rPr lang="en-GB" sz="2800" dirty="0"/>
              <a:t> </a:t>
            </a:r>
            <a:r>
              <a:rPr lang="en-GB" sz="2800" dirty="0" err="1"/>
              <a:t>özellikle</a:t>
            </a:r>
            <a:r>
              <a:rPr lang="en-GB" sz="2800" dirty="0"/>
              <a:t> </a:t>
            </a:r>
            <a:r>
              <a:rPr lang="en-GB" sz="2800" dirty="0" err="1"/>
              <a:t>kuantum</a:t>
            </a:r>
            <a:r>
              <a:rPr lang="en-GB" sz="2800" dirty="0"/>
              <a:t> </a:t>
            </a:r>
            <a:r>
              <a:rPr lang="en-GB" sz="2800" dirty="0" err="1"/>
              <a:t>kimyası</a:t>
            </a:r>
            <a:r>
              <a:rPr lang="en-GB" sz="2800" dirty="0"/>
              <a:t> </a:t>
            </a:r>
            <a:r>
              <a:rPr lang="en-GB" sz="2800" dirty="0" err="1"/>
              <a:t>ve</a:t>
            </a:r>
            <a:r>
              <a:rPr lang="en-GB" sz="2800" dirty="0"/>
              <a:t> </a:t>
            </a:r>
            <a:r>
              <a:rPr lang="en-GB" sz="2800" dirty="0" err="1"/>
              <a:t>malzeme</a:t>
            </a:r>
            <a:r>
              <a:rPr lang="en-GB" sz="2800" dirty="0"/>
              <a:t> </a:t>
            </a:r>
            <a:r>
              <a:rPr lang="en-GB" sz="2800" dirty="0" err="1"/>
              <a:t>bilimi</a:t>
            </a:r>
            <a:r>
              <a:rPr lang="en-GB" sz="2800" dirty="0"/>
              <a:t> </a:t>
            </a:r>
            <a:r>
              <a:rPr lang="en-GB" sz="2800" dirty="0" err="1"/>
              <a:t>problemlerinde</a:t>
            </a:r>
            <a:r>
              <a:rPr lang="en-GB" sz="2800" dirty="0"/>
              <a:t> </a:t>
            </a:r>
            <a:r>
              <a:rPr lang="en-GB" sz="2800" dirty="0" err="1"/>
              <a:t>kullanıyor</a:t>
            </a:r>
            <a:r>
              <a:rPr lang="en-GB" sz="2800" dirty="0"/>
              <a:t>. </a:t>
            </a:r>
            <a:r>
              <a:rPr lang="en-GB" sz="2800" dirty="0" err="1"/>
              <a:t>Şubat</a:t>
            </a:r>
            <a:r>
              <a:rPr lang="en-GB" sz="2800" dirty="0"/>
              <a:t> 2026’da </a:t>
            </a:r>
            <a:r>
              <a:rPr lang="en-GB" sz="2800" dirty="0" err="1"/>
              <a:t>duyurulan</a:t>
            </a:r>
            <a:r>
              <a:rPr lang="en-GB" sz="2800" dirty="0"/>
              <a:t> </a:t>
            </a:r>
            <a:r>
              <a:rPr lang="en-GB" sz="2800" dirty="0" err="1"/>
              <a:t>bir</a:t>
            </a:r>
            <a:r>
              <a:rPr lang="en-GB" sz="2800" dirty="0"/>
              <a:t> </a:t>
            </a:r>
            <a:r>
              <a:rPr lang="en-GB" sz="2800" dirty="0" err="1"/>
              <a:t>çalışmada</a:t>
            </a:r>
            <a:r>
              <a:rPr lang="en-GB" sz="2800" dirty="0"/>
              <a:t> </a:t>
            </a:r>
            <a:r>
              <a:rPr lang="en-GB" sz="2800" dirty="0" err="1"/>
              <a:t>kuantum</a:t>
            </a:r>
            <a:r>
              <a:rPr lang="en-GB" sz="2800" dirty="0"/>
              <a:t> </a:t>
            </a:r>
            <a:r>
              <a:rPr lang="en-GB" sz="2800" dirty="0" err="1"/>
              <a:t>bilgisayar</a:t>
            </a:r>
            <a:r>
              <a:rPr lang="en-GB" sz="2800" dirty="0"/>
              <a:t> </a:t>
            </a:r>
            <a:r>
              <a:rPr lang="en-GB" sz="2800" dirty="0" err="1"/>
              <a:t>ile</a:t>
            </a:r>
            <a:r>
              <a:rPr lang="en-GB" sz="2800" dirty="0"/>
              <a:t> </a:t>
            </a:r>
            <a:r>
              <a:rPr lang="en-GB" sz="2800" dirty="0" err="1"/>
              <a:t>klasik</a:t>
            </a:r>
            <a:r>
              <a:rPr lang="en-GB" sz="2800" dirty="0"/>
              <a:t> </a:t>
            </a:r>
            <a:r>
              <a:rPr lang="en-GB" sz="2800" dirty="0" err="1"/>
              <a:t>süper</a:t>
            </a:r>
            <a:r>
              <a:rPr lang="en-GB" sz="2800" dirty="0"/>
              <a:t> </a:t>
            </a:r>
            <a:r>
              <a:rPr lang="en-GB" sz="2800" dirty="0" err="1"/>
              <a:t>bilgisayar</a:t>
            </a:r>
            <a:r>
              <a:rPr lang="en-GB" sz="2800" dirty="0"/>
              <a:t>, </a:t>
            </a:r>
            <a:r>
              <a:rPr lang="en-GB" sz="2800" dirty="0" err="1"/>
              <a:t>yüksek</a:t>
            </a:r>
            <a:r>
              <a:rPr lang="en-GB" sz="2800" dirty="0"/>
              <a:t> </a:t>
            </a:r>
            <a:r>
              <a:rPr lang="en-GB" sz="2800" dirty="0" err="1"/>
              <a:t>doğrulukta</a:t>
            </a:r>
            <a:r>
              <a:rPr lang="en-GB" sz="2800" dirty="0"/>
              <a:t> </a:t>
            </a:r>
            <a:r>
              <a:rPr lang="en-GB" sz="2800" dirty="0" err="1"/>
              <a:t>bir</a:t>
            </a:r>
            <a:r>
              <a:rPr lang="en-GB" sz="2800" dirty="0"/>
              <a:t> </a:t>
            </a:r>
            <a:r>
              <a:rPr lang="en-GB" sz="2800" dirty="0" err="1"/>
              <a:t>kuantum</a:t>
            </a:r>
            <a:r>
              <a:rPr lang="en-GB" sz="2800" dirty="0"/>
              <a:t> </a:t>
            </a:r>
            <a:r>
              <a:rPr lang="en-GB" sz="2800" dirty="0" err="1"/>
              <a:t>kimyası</a:t>
            </a:r>
            <a:r>
              <a:rPr lang="en-GB" sz="2800" dirty="0"/>
              <a:t> </a:t>
            </a:r>
            <a:r>
              <a:rPr lang="en-GB" sz="2800" dirty="0" err="1"/>
              <a:t>hesabı</a:t>
            </a:r>
            <a:r>
              <a:rPr lang="en-GB" sz="2800" dirty="0"/>
              <a:t> </a:t>
            </a:r>
            <a:r>
              <a:rPr lang="en-GB" sz="2800" dirty="0" err="1"/>
              <a:t>için</a:t>
            </a:r>
            <a:r>
              <a:rPr lang="en-GB" sz="2800" dirty="0"/>
              <a:t> </a:t>
            </a:r>
            <a:r>
              <a:rPr lang="en-GB" sz="2800" dirty="0" err="1"/>
              <a:t>kapalı</a:t>
            </a:r>
            <a:r>
              <a:rPr lang="en-GB" sz="2800" dirty="0"/>
              <a:t> </a:t>
            </a:r>
            <a:r>
              <a:rPr lang="en-GB" sz="2800" dirty="0" err="1"/>
              <a:t>döngü</a:t>
            </a:r>
            <a:r>
              <a:rPr lang="en-GB" sz="2800" dirty="0"/>
              <a:t> </a:t>
            </a:r>
            <a:r>
              <a:rPr lang="en-GB" sz="2800" dirty="0" err="1"/>
              <a:t>içinde</a:t>
            </a:r>
            <a:r>
              <a:rPr lang="en-GB" sz="2800" dirty="0"/>
              <a:t> </a:t>
            </a:r>
            <a:r>
              <a:rPr lang="en-GB" sz="2800" dirty="0" err="1"/>
              <a:t>birlikte</a:t>
            </a:r>
            <a:r>
              <a:rPr lang="en-GB" sz="2800" dirty="0"/>
              <a:t> </a:t>
            </a:r>
            <a:r>
              <a:rPr lang="en-GB" sz="2800" dirty="0" err="1"/>
              <a:t>çalıştırıldı</a:t>
            </a:r>
            <a:r>
              <a:rPr lang="en-GB" sz="2800" dirty="0"/>
              <a:t>. IBM </a:t>
            </a:r>
            <a:r>
              <a:rPr lang="en-GB" sz="2800" dirty="0" err="1"/>
              <a:t>bu</a:t>
            </a:r>
            <a:r>
              <a:rPr lang="en-GB" sz="2800" dirty="0"/>
              <a:t> </a:t>
            </a:r>
            <a:r>
              <a:rPr lang="en-GB" sz="2800" dirty="0" err="1"/>
              <a:t>yaklaşımı</a:t>
            </a:r>
            <a:r>
              <a:rPr lang="en-GB" sz="2800" dirty="0"/>
              <a:t> “quantum-centric supercomputing” </a:t>
            </a:r>
            <a:r>
              <a:rPr lang="en-GB" sz="2800" dirty="0" err="1"/>
              <a:t>olarak</a:t>
            </a:r>
            <a:r>
              <a:rPr lang="en-GB" sz="2800" dirty="0"/>
              <a:t> </a:t>
            </a:r>
            <a:r>
              <a:rPr lang="en-GB" sz="2800" dirty="0" err="1"/>
              <a:t>adlandırıyor</a:t>
            </a:r>
            <a:r>
              <a:rPr lang="en-GB" sz="2800" dirty="0"/>
              <a:t>.</a:t>
            </a:r>
            <a:endParaRPr lang="en-ES" sz="2800"/>
          </a:p>
        </p:txBody>
      </p:sp>
    </p:spTree>
    <p:extLst>
      <p:ext uri="{BB962C8B-B14F-4D97-AF65-F5344CB8AC3E}">
        <p14:creationId xmlns:p14="http://schemas.microsoft.com/office/powerpoint/2010/main" val="193766921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8ECCD-22B7-4948-2D50-B9373C5228E0}"/>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996F0DA6-62DE-EF2C-35FC-5A48A521EE47}"/>
              </a:ext>
            </a:extLst>
          </p:cNvPr>
          <p:cNvSpPr>
            <a:spLocks noGrp="1"/>
          </p:cNvSpPr>
          <p:nvPr>
            <p:ph type="body" sz="quarter" idx="22"/>
          </p:nvPr>
        </p:nvSpPr>
        <p:spPr/>
        <p:txBody>
          <a:bodyPr/>
          <a:lstStyle/>
          <a:p>
            <a:r>
              <a:rPr lang="tr-TR" dirty="0"/>
              <a:t>Qiskit</a:t>
            </a:r>
            <a:endParaRPr lang="en-GB" dirty="0"/>
          </a:p>
        </p:txBody>
      </p:sp>
      <p:sp>
        <p:nvSpPr>
          <p:cNvPr id="7" name="Metin Yer Tutucusu 1">
            <a:extLst>
              <a:ext uri="{FF2B5EF4-FFF2-40B4-BE49-F238E27FC236}">
                <a16:creationId xmlns:a16="http://schemas.microsoft.com/office/drawing/2014/main" id="{3199F4DA-F6EC-ABB9-6842-8477D8C69D37}"/>
              </a:ext>
            </a:extLst>
          </p:cNvPr>
          <p:cNvSpPr txBox="1">
            <a:spLocks/>
          </p:cNvSpPr>
          <p:nvPr/>
        </p:nvSpPr>
        <p:spPr>
          <a:xfrm>
            <a:off x="1263139" y="11024407"/>
            <a:ext cx="9623508"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tr-TR" sz="8000" dirty="0"/>
              <a:t>!pip install qiskit</a:t>
            </a:r>
            <a:endParaRPr lang="en-GB" sz="8000" b="1" dirty="0"/>
          </a:p>
        </p:txBody>
      </p:sp>
      <p:pic>
        <p:nvPicPr>
          <p:cNvPr id="4" name="Picture 3">
            <a:extLst>
              <a:ext uri="{FF2B5EF4-FFF2-40B4-BE49-F238E27FC236}">
                <a16:creationId xmlns:a16="http://schemas.microsoft.com/office/drawing/2014/main" id="{37343DC6-6870-252B-99B7-8FFFC1F723A5}"/>
              </a:ext>
            </a:extLst>
          </p:cNvPr>
          <p:cNvPicPr>
            <a:picLocks noChangeAspect="1"/>
          </p:cNvPicPr>
          <p:nvPr/>
        </p:nvPicPr>
        <p:blipFill>
          <a:blip r:embed="rId5"/>
          <a:srcRect r="51727" b="7683"/>
          <a:stretch>
            <a:fillRect/>
          </a:stretch>
        </p:blipFill>
        <p:spPr>
          <a:xfrm>
            <a:off x="563893" y="2106594"/>
            <a:ext cx="8633896" cy="5645311"/>
          </a:xfrm>
          <a:prstGeom prst="rect">
            <a:avLst/>
          </a:prstGeom>
        </p:spPr>
      </p:pic>
      <p:pic>
        <p:nvPicPr>
          <p:cNvPr id="9" name="Picture 8">
            <a:extLst>
              <a:ext uri="{FF2B5EF4-FFF2-40B4-BE49-F238E27FC236}">
                <a16:creationId xmlns:a16="http://schemas.microsoft.com/office/drawing/2014/main" id="{99B49DDC-DE30-F6D7-4C44-BBDC9520C144}"/>
              </a:ext>
            </a:extLst>
          </p:cNvPr>
          <p:cNvPicPr>
            <a:picLocks noChangeAspect="1"/>
          </p:cNvPicPr>
          <p:nvPr/>
        </p:nvPicPr>
        <p:blipFill>
          <a:blip r:embed="rId6"/>
          <a:stretch>
            <a:fillRect/>
          </a:stretch>
        </p:blipFill>
        <p:spPr>
          <a:xfrm>
            <a:off x="563893" y="8520721"/>
            <a:ext cx="3621609" cy="1529124"/>
          </a:xfrm>
          <a:prstGeom prst="rect">
            <a:avLst/>
          </a:prstGeom>
        </p:spPr>
      </p:pic>
      <p:pic>
        <p:nvPicPr>
          <p:cNvPr id="5" name="Quantum-Code-Animation-v4">
            <a:hlinkClick r:id="" action="ppaction://media"/>
            <a:extLst>
              <a:ext uri="{FF2B5EF4-FFF2-40B4-BE49-F238E27FC236}">
                <a16:creationId xmlns:a16="http://schemas.microsoft.com/office/drawing/2014/main" id="{13CF63C8-B488-31E7-C56A-0A98DB27BBA4}"/>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9437545" y="2086099"/>
            <a:ext cx="8980227" cy="5645311"/>
          </a:xfrm>
          <a:prstGeom prst="rect">
            <a:avLst/>
          </a:prstGeom>
        </p:spPr>
      </p:pic>
      <p:pic>
        <p:nvPicPr>
          <p:cNvPr id="10" name="Picture 9">
            <a:extLst>
              <a:ext uri="{FF2B5EF4-FFF2-40B4-BE49-F238E27FC236}">
                <a16:creationId xmlns:a16="http://schemas.microsoft.com/office/drawing/2014/main" id="{FE1F9E43-0217-C2D8-2618-7E7761A9A325}"/>
              </a:ext>
            </a:extLst>
          </p:cNvPr>
          <p:cNvPicPr>
            <a:picLocks noChangeAspect="1"/>
          </p:cNvPicPr>
          <p:nvPr/>
        </p:nvPicPr>
        <p:blipFill>
          <a:blip r:embed="rId8"/>
          <a:stretch>
            <a:fillRect/>
          </a:stretch>
        </p:blipFill>
        <p:spPr>
          <a:xfrm>
            <a:off x="10027023" y="8479731"/>
            <a:ext cx="11703873" cy="4308174"/>
          </a:xfrm>
          <a:prstGeom prst="rect">
            <a:avLst/>
          </a:prstGeom>
        </p:spPr>
      </p:pic>
    </p:spTree>
    <p:extLst>
      <p:ext uri="{BB962C8B-B14F-4D97-AF65-F5344CB8AC3E}">
        <p14:creationId xmlns:p14="http://schemas.microsoft.com/office/powerpoint/2010/main" val="238124906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3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B3F-AEFC-63BA-23DA-EF5CE58007B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E159D2B0-EBD3-AC25-8304-C6521CE959D0}"/>
              </a:ext>
            </a:extLst>
          </p:cNvPr>
          <p:cNvSpPr>
            <a:spLocks noGrp="1"/>
          </p:cNvSpPr>
          <p:nvPr>
            <p:ph type="body" sz="quarter" idx="22"/>
          </p:nvPr>
        </p:nvSpPr>
        <p:spPr/>
        <p:txBody>
          <a:bodyPr/>
          <a:lstStyle/>
          <a:p>
            <a:r>
              <a:rPr lang="tr-TR" dirty="0"/>
              <a:t>Efsaneler ve Gerçekler</a:t>
            </a:r>
            <a:endParaRPr lang="en-GB" dirty="0"/>
          </a:p>
        </p:txBody>
      </p:sp>
      <p:pic>
        <p:nvPicPr>
          <p:cNvPr id="4" name="Picture 3">
            <a:extLst>
              <a:ext uri="{FF2B5EF4-FFF2-40B4-BE49-F238E27FC236}">
                <a16:creationId xmlns:a16="http://schemas.microsoft.com/office/drawing/2014/main" id="{21E98CC9-33FC-16E9-CA92-50DD591B8700}"/>
              </a:ext>
            </a:extLst>
          </p:cNvPr>
          <p:cNvPicPr>
            <a:picLocks noChangeAspect="1"/>
          </p:cNvPicPr>
          <p:nvPr/>
        </p:nvPicPr>
        <p:blipFill>
          <a:blip r:embed="rId3">
            <a:extLst>
              <a:ext uri="{28A0092B-C50C-407E-A947-70E740481C1C}">
                <a14:useLocalDpi xmlns:a14="http://schemas.microsoft.com/office/drawing/2010/main" val="0"/>
              </a:ext>
            </a:extLst>
          </a:blip>
          <a:srcRect t="15951"/>
          <a:stretch>
            <a:fillRect/>
          </a:stretch>
        </p:blipFill>
        <p:spPr>
          <a:xfrm>
            <a:off x="1049411" y="2618959"/>
            <a:ext cx="21080620" cy="9961074"/>
          </a:xfrm>
          <a:prstGeom prst="rect">
            <a:avLst/>
          </a:prstGeom>
        </p:spPr>
      </p:pic>
    </p:spTree>
    <p:extLst>
      <p:ext uri="{BB962C8B-B14F-4D97-AF65-F5344CB8AC3E}">
        <p14:creationId xmlns:p14="http://schemas.microsoft.com/office/powerpoint/2010/main" val="383419060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B3F-AEFC-63BA-23DA-EF5CE58007B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580753-66FC-71B1-4865-ABC96E665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70" y="2032780"/>
            <a:ext cx="18879671" cy="10614168"/>
          </a:xfrm>
          <a:prstGeom prst="rect">
            <a:avLst/>
          </a:prstGeom>
        </p:spPr>
      </p:pic>
      <p:pic>
        <p:nvPicPr>
          <p:cNvPr id="4" name="Picture 3">
            <a:extLst>
              <a:ext uri="{FF2B5EF4-FFF2-40B4-BE49-F238E27FC236}">
                <a16:creationId xmlns:a16="http://schemas.microsoft.com/office/drawing/2014/main" id="{647E8474-BC07-C048-E48B-DE2F440ABB4A}"/>
              </a:ext>
            </a:extLst>
          </p:cNvPr>
          <p:cNvPicPr>
            <a:picLocks noChangeAspect="1"/>
          </p:cNvPicPr>
          <p:nvPr/>
        </p:nvPicPr>
        <p:blipFill>
          <a:blip r:embed="rId4"/>
          <a:stretch>
            <a:fillRect/>
          </a:stretch>
        </p:blipFill>
        <p:spPr>
          <a:xfrm>
            <a:off x="18950217" y="4329952"/>
            <a:ext cx="5338113" cy="6864713"/>
          </a:xfrm>
          <a:prstGeom prst="rect">
            <a:avLst/>
          </a:prstGeom>
        </p:spPr>
      </p:pic>
      <p:sp>
        <p:nvSpPr>
          <p:cNvPr id="8" name="Metin Yer Tutucusu 1">
            <a:extLst>
              <a:ext uri="{FF2B5EF4-FFF2-40B4-BE49-F238E27FC236}">
                <a16:creationId xmlns:a16="http://schemas.microsoft.com/office/drawing/2014/main" id="{86164302-6CF0-E8B4-2617-28082F3AF9F6}"/>
              </a:ext>
            </a:extLst>
          </p:cNvPr>
          <p:cNvSpPr>
            <a:spLocks noGrp="1"/>
          </p:cNvSpPr>
          <p:nvPr>
            <p:ph type="body" sz="quarter" idx="22"/>
          </p:nvPr>
        </p:nvSpPr>
        <p:spPr>
          <a:xfrm>
            <a:off x="1049411" y="167779"/>
            <a:ext cx="15709901" cy="1169999"/>
          </a:xfrm>
        </p:spPr>
        <p:txBody>
          <a:bodyPr/>
          <a:lstStyle/>
          <a:p>
            <a:r>
              <a:rPr lang="tr-TR" dirty="0"/>
              <a:t>Tanışmanız Gereken Dört Oyuncu</a:t>
            </a:r>
          </a:p>
        </p:txBody>
      </p:sp>
    </p:spTree>
    <p:extLst>
      <p:ext uri="{BB962C8B-B14F-4D97-AF65-F5344CB8AC3E}">
        <p14:creationId xmlns:p14="http://schemas.microsoft.com/office/powerpoint/2010/main" val="206635786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B3F-AEFC-63BA-23DA-EF5CE58007B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E159D2B0-EBD3-AC25-8304-C6521CE959D0}"/>
              </a:ext>
            </a:extLst>
          </p:cNvPr>
          <p:cNvSpPr>
            <a:spLocks noGrp="1"/>
          </p:cNvSpPr>
          <p:nvPr>
            <p:ph type="body" sz="quarter" idx="22"/>
          </p:nvPr>
        </p:nvSpPr>
        <p:spPr/>
        <p:txBody>
          <a:bodyPr/>
          <a:lstStyle/>
          <a:p>
            <a:r>
              <a:rPr lang="tr-TR" dirty="0"/>
              <a:t>Kurallardan Öğrenmeye: Makine Öğreniminde Paradigma Değişimi</a:t>
            </a:r>
            <a:endParaRPr lang="en-GB" dirty="0"/>
          </a:p>
        </p:txBody>
      </p:sp>
      <p:pic>
        <p:nvPicPr>
          <p:cNvPr id="5" name="Picture 4">
            <a:extLst>
              <a:ext uri="{FF2B5EF4-FFF2-40B4-BE49-F238E27FC236}">
                <a16:creationId xmlns:a16="http://schemas.microsoft.com/office/drawing/2014/main" id="{4AE2D428-4C09-9D8D-D0AC-583E789238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411" y="1611064"/>
            <a:ext cx="21799304" cy="11479957"/>
          </a:xfrm>
          <a:prstGeom prst="rect">
            <a:avLst/>
          </a:prstGeom>
        </p:spPr>
      </p:pic>
    </p:spTree>
    <p:extLst>
      <p:ext uri="{BB962C8B-B14F-4D97-AF65-F5344CB8AC3E}">
        <p14:creationId xmlns:p14="http://schemas.microsoft.com/office/powerpoint/2010/main" val="118292061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B3F-AEFC-63BA-23DA-EF5CE58007B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E159D2B0-EBD3-AC25-8304-C6521CE959D0}"/>
              </a:ext>
            </a:extLst>
          </p:cNvPr>
          <p:cNvSpPr>
            <a:spLocks noGrp="1"/>
          </p:cNvSpPr>
          <p:nvPr>
            <p:ph type="body" sz="quarter" idx="22"/>
          </p:nvPr>
        </p:nvSpPr>
        <p:spPr/>
        <p:txBody>
          <a:bodyPr/>
          <a:lstStyle/>
          <a:p>
            <a:r>
              <a:rPr lang="tr-TR" dirty="0"/>
              <a:t>DİKKAT</a:t>
            </a:r>
            <a:endParaRPr lang="en-GB" dirty="0"/>
          </a:p>
        </p:txBody>
      </p:sp>
      <p:sp>
        <p:nvSpPr>
          <p:cNvPr id="7" name="Metin Yer Tutucusu 1">
            <a:extLst>
              <a:ext uri="{FF2B5EF4-FFF2-40B4-BE49-F238E27FC236}">
                <a16:creationId xmlns:a16="http://schemas.microsoft.com/office/drawing/2014/main" id="{6AC08F72-E09A-6DD8-4ABD-8A6D858EB2D4}"/>
              </a:ext>
            </a:extLst>
          </p:cNvPr>
          <p:cNvSpPr txBox="1">
            <a:spLocks/>
          </p:cNvSpPr>
          <p:nvPr/>
        </p:nvSpPr>
        <p:spPr>
          <a:xfrm>
            <a:off x="14253882" y="9322075"/>
            <a:ext cx="9753601"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4000" b="1" dirty="0">
                <a:solidFill>
                  <a:srgbClr val="FF0000"/>
                </a:solidFill>
              </a:rPr>
              <a:t>HATIRLA !</a:t>
            </a:r>
          </a:p>
          <a:p>
            <a:pPr algn="ctr"/>
            <a:r>
              <a:rPr lang="tr-TR" sz="4000" b="1" dirty="0">
                <a:solidFill>
                  <a:srgbClr val="FF0000"/>
                </a:solidFill>
              </a:rPr>
              <a:t>Kuantum bilgisayar olasılıkların makinesidir. Tek bir cevap üretmez; doğru cevabın olasılığını yükseltip yanlışlarınkini bastırmaya çalışır. Bu yüzden aynı programı birçok kez çalıştırıp sonuçların dağılımına bakarız.</a:t>
            </a:r>
          </a:p>
          <a:p>
            <a:pPr algn="ctr"/>
            <a:endParaRPr lang="tr-TR" sz="4000" b="1" dirty="0">
              <a:solidFill>
                <a:srgbClr val="FF0000"/>
              </a:solidFill>
            </a:endParaRPr>
          </a:p>
        </p:txBody>
      </p:sp>
      <p:sp>
        <p:nvSpPr>
          <p:cNvPr id="8" name="Metin Yer Tutucusu 1">
            <a:extLst>
              <a:ext uri="{FF2B5EF4-FFF2-40B4-BE49-F238E27FC236}">
                <a16:creationId xmlns:a16="http://schemas.microsoft.com/office/drawing/2014/main" id="{CAEC4BFD-06EB-7AA0-1939-74A8AA7FB928}"/>
              </a:ext>
            </a:extLst>
          </p:cNvPr>
          <p:cNvSpPr txBox="1">
            <a:spLocks/>
          </p:cNvSpPr>
          <p:nvPr/>
        </p:nvSpPr>
        <p:spPr>
          <a:xfrm>
            <a:off x="1846462" y="2854099"/>
            <a:ext cx="20691075"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endParaRPr lang="tr-TR" sz="4000" b="1" dirty="0">
              <a:solidFill>
                <a:srgbClr val="002060"/>
              </a:solidFill>
            </a:endParaRPr>
          </a:p>
          <a:p>
            <a:pPr algn="ctr"/>
            <a:r>
              <a:rPr lang="tr-TR" sz="4000" b="1" dirty="0">
                <a:solidFill>
                  <a:srgbClr val="002060"/>
                </a:solidFill>
              </a:rPr>
              <a:t>DEĞİLDİR  !</a:t>
            </a:r>
          </a:p>
          <a:p>
            <a:pPr algn="ctr"/>
            <a:r>
              <a:rPr lang="tr-TR" sz="4000" b="1" dirty="0">
                <a:solidFill>
                  <a:srgbClr val="002060"/>
                </a:solidFill>
              </a:rPr>
              <a:t> Kuantum bilgisayar “süper hızlı klasik bilgisayar” DEĞİLDİR</a:t>
            </a:r>
          </a:p>
          <a:p>
            <a:pPr algn="ctr"/>
            <a:r>
              <a:rPr lang="tr-TR" sz="4000" b="1" dirty="0">
                <a:solidFill>
                  <a:srgbClr val="002060"/>
                </a:solidFill>
              </a:rPr>
              <a:t>Efsane şudur: </a:t>
            </a:r>
            <a:r>
              <a:rPr lang="tr-TR" sz="4000" b="1" strike="sngStrike" dirty="0">
                <a:solidFill>
                  <a:srgbClr val="002060"/>
                </a:solidFill>
              </a:rPr>
              <a:t>“kuantum bilgisayar her şeyi milyarlarca kat hızlı yapar.”. </a:t>
            </a:r>
          </a:p>
          <a:p>
            <a:pPr algn="ctr"/>
            <a:endParaRPr lang="tr-TR" sz="4000" b="1" dirty="0">
              <a:solidFill>
                <a:srgbClr val="002060"/>
              </a:solidFill>
            </a:endParaRPr>
          </a:p>
          <a:p>
            <a:pPr algn="ctr"/>
            <a:r>
              <a:rPr lang="tr-TR" sz="4000" b="1" dirty="0">
                <a:solidFill>
                  <a:srgbClr val="002060"/>
                </a:solidFill>
              </a:rPr>
              <a:t>Kuantum bilgisayar, belirli problem türlerinde (simülasyon, optimizasyon, çarpanlara ayırma gibi) avantaj sağlar. E-postanızı açmakta veya video oynatmakta klasik bilgisayarınız çok daha iyidir.</a:t>
            </a:r>
          </a:p>
        </p:txBody>
      </p:sp>
      <p:pic>
        <p:nvPicPr>
          <p:cNvPr id="10" name="Picture 9">
            <a:extLst>
              <a:ext uri="{FF2B5EF4-FFF2-40B4-BE49-F238E27FC236}">
                <a16:creationId xmlns:a16="http://schemas.microsoft.com/office/drawing/2014/main" id="{4CD8DBC6-B136-2C99-FBCB-EC60B684B706}"/>
              </a:ext>
            </a:extLst>
          </p:cNvPr>
          <p:cNvPicPr>
            <a:picLocks noChangeAspect="1"/>
          </p:cNvPicPr>
          <p:nvPr/>
        </p:nvPicPr>
        <p:blipFill>
          <a:blip r:embed="rId3">
            <a:extLst>
              <a:ext uri="{28A0092B-C50C-407E-A947-70E740481C1C}">
                <a14:useLocalDpi xmlns:a14="http://schemas.microsoft.com/office/drawing/2010/main" val="0"/>
              </a:ext>
            </a:extLst>
          </a:blip>
          <a:srcRect t="14186"/>
          <a:stretch>
            <a:fillRect/>
          </a:stretch>
        </p:blipFill>
        <p:spPr>
          <a:xfrm>
            <a:off x="376517" y="6605732"/>
            <a:ext cx="12793835" cy="6172342"/>
          </a:xfrm>
          <a:prstGeom prst="rect">
            <a:avLst/>
          </a:prstGeom>
        </p:spPr>
      </p:pic>
    </p:spTree>
    <p:extLst>
      <p:ext uri="{BB962C8B-B14F-4D97-AF65-F5344CB8AC3E}">
        <p14:creationId xmlns:p14="http://schemas.microsoft.com/office/powerpoint/2010/main" val="362208293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B3F-AEFC-63BA-23DA-EF5CE58007B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E159D2B0-EBD3-AC25-8304-C6521CE959D0}"/>
              </a:ext>
            </a:extLst>
          </p:cNvPr>
          <p:cNvSpPr>
            <a:spLocks noGrp="1"/>
          </p:cNvSpPr>
          <p:nvPr>
            <p:ph type="body" sz="quarter" idx="22"/>
          </p:nvPr>
        </p:nvSpPr>
        <p:spPr/>
        <p:txBody>
          <a:bodyPr/>
          <a:lstStyle/>
          <a:p>
            <a:r>
              <a:rPr lang="tr-TR" dirty="0"/>
              <a:t>AI ve Kuantum Bilişim: Karşılıklı Güçlendiren İki Teknoloji</a:t>
            </a:r>
          </a:p>
        </p:txBody>
      </p:sp>
      <p:sp>
        <p:nvSpPr>
          <p:cNvPr id="3" name="Metin Yer Tutucusu 1">
            <a:extLst>
              <a:ext uri="{FF2B5EF4-FFF2-40B4-BE49-F238E27FC236}">
                <a16:creationId xmlns:a16="http://schemas.microsoft.com/office/drawing/2014/main" id="{0E72BCDB-F30E-FB7D-BB76-78177911C9AB}"/>
              </a:ext>
            </a:extLst>
          </p:cNvPr>
          <p:cNvSpPr txBox="1">
            <a:spLocks/>
          </p:cNvSpPr>
          <p:nvPr/>
        </p:nvSpPr>
        <p:spPr>
          <a:xfrm>
            <a:off x="2068708" y="1897178"/>
            <a:ext cx="20246583" cy="1169999"/>
          </a:xfrm>
          <a:prstGeom prst="rect">
            <a:avLst/>
          </a:prstGeom>
        </p:spPr>
        <p:txBody>
          <a:bodyPr lIns="45719" tIns="45719" rIns="45719" bIns="45719" anchor="ctr"/>
          <a:lstStyle>
            <a:lvl1pPr marL="0" marR="0" indent="0" algn="l" defTabSz="825500" rtl="0" eaLnBrk="1" latinLnBrk="0" hangingPunct="1">
              <a:lnSpc>
                <a:spcPct val="100000"/>
              </a:lnSpc>
              <a:spcBef>
                <a:spcPts val="0"/>
              </a:spcBef>
              <a:spcAft>
                <a:spcPts val="0"/>
              </a:spcAft>
              <a:buClrTx/>
              <a:buSzTx/>
              <a:buFontTx/>
              <a:buNone/>
              <a:tabLst/>
              <a:defRPr sz="3200" b="0" i="0" u="none" strike="noStrike" cap="none" spc="0" baseline="0">
                <a:solidFill>
                  <a:srgbClr val="000000"/>
                </a:solidFill>
                <a:uFillTx/>
                <a:latin typeface="Chromatica Medium" pitchFamily="2" charset="77"/>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a:r>
              <a:rPr lang="tr-TR" sz="4000" dirty="0"/>
              <a:t>AI bugünün kuantum sistemlerini iyileştirirken, kuantum bilişim geleceğin belirli AI hesaplamalarına katkı sunabilir.</a:t>
            </a:r>
            <a:endParaRPr lang="en-GB" sz="4000" b="1" dirty="0"/>
          </a:p>
        </p:txBody>
      </p:sp>
      <p:pic>
        <p:nvPicPr>
          <p:cNvPr id="5" name="Picture 4">
            <a:extLst>
              <a:ext uri="{FF2B5EF4-FFF2-40B4-BE49-F238E27FC236}">
                <a16:creationId xmlns:a16="http://schemas.microsoft.com/office/drawing/2014/main" id="{6169AA98-43F5-D6E3-09F7-BFC8B1B16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053" y="3067177"/>
            <a:ext cx="17998924" cy="10119011"/>
          </a:xfrm>
          <a:prstGeom prst="rect">
            <a:avLst/>
          </a:prstGeom>
        </p:spPr>
      </p:pic>
    </p:spTree>
    <p:extLst>
      <p:ext uri="{BB962C8B-B14F-4D97-AF65-F5344CB8AC3E}">
        <p14:creationId xmlns:p14="http://schemas.microsoft.com/office/powerpoint/2010/main" val="1950754162"/>
      </p:ext>
    </p:extLst>
  </p:cSld>
  <p:clrMapOvr>
    <a:masterClrMapping/>
  </p:clrMapOvr>
  <p:transition spd="med"/>
</p:sld>
</file>

<file path=ppt/theme/theme1.xml><?xml version="1.0" encoding="utf-8"?>
<a:theme xmlns:a="http://schemas.openxmlformats.org/drawingml/2006/main" name="Eğitim Adı">
  <a:themeElements>
    <a:clrScheme name="Miuul Renk Paleti">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888531EB-B80A-DC4E-87AD-AD8478769648}" vid="{6D0E7461-0100-8046-8FFF-5C1D91E67DD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A34E06-6EF4-0747-BE1A-750CADD77380}">
  <we:reference id="wa200007130" version="1.0.0.1" store="en-GB"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Eğitim Adı</Template>
  <TotalTime>33131</TotalTime>
  <Words>1389</Words>
  <Application>Microsoft Macintosh PowerPoint</Application>
  <PresentationFormat>Custom</PresentationFormat>
  <Paragraphs>79</Paragraphs>
  <Slides>13</Slides>
  <Notes>11</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 Serif</vt:lpstr>
      <vt:lpstr>Chromatica</vt:lpstr>
      <vt:lpstr>Chromatica Medium</vt:lpstr>
      <vt:lpstr>Helvetica Neue</vt:lpstr>
      <vt:lpstr>Helvetica Neue Medium</vt:lpstr>
      <vt:lpstr>Wingdings</vt:lpstr>
      <vt:lpstr>Eğitim Adı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 Bilimciler için Python Programlama</dc:title>
  <dc:creator>oytun@miuul.com</dc:creator>
  <cp:lastModifiedBy>Atilla YARDIMCI</cp:lastModifiedBy>
  <cp:revision>902</cp:revision>
  <cp:lastPrinted>2026-07-16T05:32:25Z</cp:lastPrinted>
  <dcterms:created xsi:type="dcterms:W3CDTF">2021-05-22T14:24:12Z</dcterms:created>
  <dcterms:modified xsi:type="dcterms:W3CDTF">2026-07-31T12:03:19Z</dcterms:modified>
</cp:coreProperties>
</file>