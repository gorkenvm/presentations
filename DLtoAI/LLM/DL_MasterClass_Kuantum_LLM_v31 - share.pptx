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9"/>
  </p:notesMasterIdLst>
  <p:sldIdLst>
    <p:sldId id="256" r:id="rId2"/>
    <p:sldId id="257" r:id="rId3"/>
    <p:sldId id="343" r:id="rId94"/>
    <p:sldId id="344" r:id="rId95"/>
    <p:sldId id="258" r:id="rId4"/>
    <p:sldId id="355" r:id="rId106"/>
    <p:sldId id="356" r:id="rId107"/>
    <p:sldId id="259" r:id="rId5"/>
    <p:sldId id="353" r:id="rId104"/>
    <p:sldId id="354" r:id="rId105"/>
    <p:sldId id="260" r:id="rId6"/>
    <p:sldId id="351" r:id="rId102"/>
    <p:sldId id="352" r:id="rId103"/>
    <p:sldId id="261" r:id="rId7"/>
    <p:sldId id="349" r:id="rId100"/>
    <p:sldId id="350" r:id="rId101"/>
    <p:sldId id="262" r:id="rId8"/>
    <p:sldId id="347" r:id="rId98"/>
    <p:sldId id="348" r:id="rId99"/>
    <p:sldId id="263" r:id="rId9"/>
    <p:sldId id="346" r:id="rId97"/>
    <p:sldId id="264" r:id="rId10"/>
    <p:sldId id="345" r:id="rId96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357" r:id="rId108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40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1" r:id="rId87"/>
    <p:sldId id="358" r:id="rId109"/>
    <p:sldId id="359" r:id="rId110"/>
    <p:sldId id="342" r:id="rId8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FFC7"/>
    <a:srgbClr val="03523C"/>
    <a:srgbClr val="BEBF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97"/>
    <p:restoredTop sz="66344" autoAdjust="0"/>
  </p:normalViewPr>
  <p:slideViewPr>
    <p:cSldViewPr snapToGrid="0" snapToObjects="1">
      <p:cViewPr varScale="1">
        <p:scale>
          <a:sx n="37" d="100"/>
          <a:sy n="37" d="100"/>
        </p:scale>
        <p:origin x="2496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5.xml"/><Relationship Id="rId5" Type="http://schemas.openxmlformats.org/officeDocument/2006/relationships/slide" Target="slides/slide8.xml"/><Relationship Id="rId6" Type="http://schemas.openxmlformats.org/officeDocument/2006/relationships/slide" Target="slides/slide11.xml"/><Relationship Id="rId7" Type="http://schemas.openxmlformats.org/officeDocument/2006/relationships/slide" Target="slides/slide14.xml"/><Relationship Id="rId8" Type="http://schemas.openxmlformats.org/officeDocument/2006/relationships/slide" Target="slides/slide17.xml"/><Relationship Id="rId9" Type="http://schemas.openxmlformats.org/officeDocument/2006/relationships/slide" Target="slides/slide20.xml"/><Relationship Id="rId10" Type="http://schemas.openxmlformats.org/officeDocument/2006/relationships/slide" Target="slides/slide22.xml"/><Relationship Id="rId11" Type="http://schemas.openxmlformats.org/officeDocument/2006/relationships/slide" Target="slides/slide24.xml"/><Relationship Id="rId12" Type="http://schemas.openxmlformats.org/officeDocument/2006/relationships/slide" Target="slides/slide25.xml"/><Relationship Id="rId13" Type="http://schemas.openxmlformats.org/officeDocument/2006/relationships/slide" Target="slides/slide26.xml"/><Relationship Id="rId14" Type="http://schemas.openxmlformats.org/officeDocument/2006/relationships/slide" Target="slides/slide27.xml"/><Relationship Id="rId15" Type="http://schemas.openxmlformats.org/officeDocument/2006/relationships/slide" Target="slides/slide28.xml"/><Relationship Id="rId16" Type="http://schemas.openxmlformats.org/officeDocument/2006/relationships/slide" Target="slides/slide29.xml"/><Relationship Id="rId17" Type="http://schemas.openxmlformats.org/officeDocument/2006/relationships/slide" Target="slides/slide30.xml"/><Relationship Id="rId18" Type="http://schemas.openxmlformats.org/officeDocument/2006/relationships/slide" Target="slides/slide31.xml"/><Relationship Id="rId19" Type="http://schemas.openxmlformats.org/officeDocument/2006/relationships/slide" Target="slides/slide32.xml"/><Relationship Id="rId20" Type="http://schemas.openxmlformats.org/officeDocument/2006/relationships/slide" Target="slides/slide33.xml"/><Relationship Id="rId21" Type="http://schemas.openxmlformats.org/officeDocument/2006/relationships/slide" Target="slides/slide34.xml"/><Relationship Id="rId22" Type="http://schemas.openxmlformats.org/officeDocument/2006/relationships/slide" Target="slides/slide35.xml"/><Relationship Id="rId23" Type="http://schemas.openxmlformats.org/officeDocument/2006/relationships/slide" Target="slides/slide36.xml"/><Relationship Id="rId24" Type="http://schemas.openxmlformats.org/officeDocument/2006/relationships/slide" Target="slides/slide37.xml"/><Relationship Id="rId25" Type="http://schemas.openxmlformats.org/officeDocument/2006/relationships/slide" Target="slides/slide38.xml"/><Relationship Id="rId26" Type="http://schemas.openxmlformats.org/officeDocument/2006/relationships/slide" Target="slides/slide39.xml"/><Relationship Id="rId27" Type="http://schemas.openxmlformats.org/officeDocument/2006/relationships/slide" Target="slides/slide40.xml"/><Relationship Id="rId28" Type="http://schemas.openxmlformats.org/officeDocument/2006/relationships/slide" Target="slides/slide41.xml"/><Relationship Id="rId29" Type="http://schemas.openxmlformats.org/officeDocument/2006/relationships/slide" Target="slides/slide42.xml"/><Relationship Id="rId30" Type="http://schemas.openxmlformats.org/officeDocument/2006/relationships/slide" Target="slides/slide43.xml"/><Relationship Id="rId31" Type="http://schemas.openxmlformats.org/officeDocument/2006/relationships/slide" Target="slides/slide44.xml"/><Relationship Id="rId32" Type="http://schemas.openxmlformats.org/officeDocument/2006/relationships/slide" Target="slides/slide45.xml"/><Relationship Id="rId33" Type="http://schemas.openxmlformats.org/officeDocument/2006/relationships/slide" Target="slides/slide46.xml"/><Relationship Id="rId34" Type="http://schemas.openxmlformats.org/officeDocument/2006/relationships/slide" Target="slides/slide47.xml"/><Relationship Id="rId35" Type="http://schemas.openxmlformats.org/officeDocument/2006/relationships/slide" Target="slides/slide48.xml"/><Relationship Id="rId36" Type="http://schemas.openxmlformats.org/officeDocument/2006/relationships/slide" Target="slides/slide49.xml"/><Relationship Id="rId37" Type="http://schemas.openxmlformats.org/officeDocument/2006/relationships/slide" Target="slides/slide51.xml"/><Relationship Id="rId38" Type="http://schemas.openxmlformats.org/officeDocument/2006/relationships/slide" Target="slides/slide52.xml"/><Relationship Id="rId39" Type="http://schemas.openxmlformats.org/officeDocument/2006/relationships/slide" Target="slides/slide53.xml"/><Relationship Id="rId40" Type="http://schemas.openxmlformats.org/officeDocument/2006/relationships/slide" Target="slides/slide54.xml"/><Relationship Id="rId41" Type="http://schemas.openxmlformats.org/officeDocument/2006/relationships/slide" Target="slides/slide55.xml"/><Relationship Id="rId42" Type="http://schemas.openxmlformats.org/officeDocument/2006/relationships/slide" Target="slides/slide56.xml"/><Relationship Id="rId43" Type="http://schemas.openxmlformats.org/officeDocument/2006/relationships/slide" Target="slides/slide57.xml"/><Relationship Id="rId44" Type="http://schemas.openxmlformats.org/officeDocument/2006/relationships/slide" Target="slides/slide58.xml"/><Relationship Id="rId45" Type="http://schemas.openxmlformats.org/officeDocument/2006/relationships/slide" Target="slides/slide59.xml"/><Relationship Id="rId46" Type="http://schemas.openxmlformats.org/officeDocument/2006/relationships/slide" Target="slides/slide60.xml"/><Relationship Id="rId47" Type="http://schemas.openxmlformats.org/officeDocument/2006/relationships/slide" Target="slides/slide61.xml"/><Relationship Id="rId48" Type="http://schemas.openxmlformats.org/officeDocument/2006/relationships/slide" Target="slides/slide62.xml"/><Relationship Id="rId49" Type="http://schemas.openxmlformats.org/officeDocument/2006/relationships/slide" Target="slides/slide63.xml"/><Relationship Id="rId50" Type="http://schemas.openxmlformats.org/officeDocument/2006/relationships/slide" Target="slides/slide64.xml"/><Relationship Id="rId51" Type="http://schemas.openxmlformats.org/officeDocument/2006/relationships/slide" Target="slides/slide65.xml"/><Relationship Id="rId52" Type="http://schemas.openxmlformats.org/officeDocument/2006/relationships/slide" Target="slides/slide66.xml"/><Relationship Id="rId53" Type="http://schemas.openxmlformats.org/officeDocument/2006/relationships/slide" Target="slides/slide67.xml"/><Relationship Id="rId54" Type="http://schemas.openxmlformats.org/officeDocument/2006/relationships/slide" Target="slides/slide68.xml"/><Relationship Id="rId55" Type="http://schemas.openxmlformats.org/officeDocument/2006/relationships/slide" Target="slides/slide69.xml"/><Relationship Id="rId56" Type="http://schemas.openxmlformats.org/officeDocument/2006/relationships/slide" Target="slides/slide70.xml"/><Relationship Id="rId57" Type="http://schemas.openxmlformats.org/officeDocument/2006/relationships/slide" Target="slides/slide71.xml"/><Relationship Id="rId58" Type="http://schemas.openxmlformats.org/officeDocument/2006/relationships/slide" Target="slides/slide72.xml"/><Relationship Id="rId59" Type="http://schemas.openxmlformats.org/officeDocument/2006/relationships/slide" Target="slides/slide73.xml"/><Relationship Id="rId60" Type="http://schemas.openxmlformats.org/officeDocument/2006/relationships/slide" Target="slides/slide74.xml"/><Relationship Id="rId61" Type="http://schemas.openxmlformats.org/officeDocument/2006/relationships/slide" Target="slides/slide75.xml"/><Relationship Id="rId62" Type="http://schemas.openxmlformats.org/officeDocument/2006/relationships/slide" Target="slides/slide76.xml"/><Relationship Id="rId63" Type="http://schemas.openxmlformats.org/officeDocument/2006/relationships/slide" Target="slides/slide77.xml"/><Relationship Id="rId64" Type="http://schemas.openxmlformats.org/officeDocument/2006/relationships/slide" Target="slides/slide78.xml"/><Relationship Id="rId65" Type="http://schemas.openxmlformats.org/officeDocument/2006/relationships/slide" Target="slides/slide79.xml"/><Relationship Id="rId66" Type="http://schemas.openxmlformats.org/officeDocument/2006/relationships/slide" Target="slides/slide80.xml"/><Relationship Id="rId67" Type="http://schemas.openxmlformats.org/officeDocument/2006/relationships/slide" Target="slides/slide81.xml"/><Relationship Id="rId68" Type="http://schemas.openxmlformats.org/officeDocument/2006/relationships/slide" Target="slides/slide82.xml"/><Relationship Id="rId69" Type="http://schemas.openxmlformats.org/officeDocument/2006/relationships/slide" Target="slides/slide83.xml"/><Relationship Id="rId70" Type="http://schemas.openxmlformats.org/officeDocument/2006/relationships/slide" Target="slides/slide84.xml"/><Relationship Id="rId71" Type="http://schemas.openxmlformats.org/officeDocument/2006/relationships/slide" Target="slides/slide85.xml"/><Relationship Id="rId72" Type="http://schemas.openxmlformats.org/officeDocument/2006/relationships/slide" Target="slides/slide86.xml"/><Relationship Id="rId73" Type="http://schemas.openxmlformats.org/officeDocument/2006/relationships/slide" Target="slides/slide87.xml"/><Relationship Id="rId74" Type="http://schemas.openxmlformats.org/officeDocument/2006/relationships/slide" Target="slides/slide88.xml"/><Relationship Id="rId75" Type="http://schemas.openxmlformats.org/officeDocument/2006/relationships/slide" Target="slides/slide89.xml"/><Relationship Id="rId76" Type="http://schemas.openxmlformats.org/officeDocument/2006/relationships/slide" Target="slides/slide90.xml"/><Relationship Id="rId77" Type="http://schemas.openxmlformats.org/officeDocument/2006/relationships/slide" Target="slides/slide91.xml"/><Relationship Id="rId78" Type="http://schemas.openxmlformats.org/officeDocument/2006/relationships/slide" Target="slides/slide92.xml"/><Relationship Id="rId79" Type="http://schemas.openxmlformats.org/officeDocument/2006/relationships/slide" Target="slides/slide93.xml"/><Relationship Id="rId80" Type="http://schemas.openxmlformats.org/officeDocument/2006/relationships/slide" Target="slides/slide94.xml"/><Relationship Id="rId81" Type="http://schemas.openxmlformats.org/officeDocument/2006/relationships/slide" Target="slides/slide95.xml"/><Relationship Id="rId82" Type="http://schemas.openxmlformats.org/officeDocument/2006/relationships/slide" Target="slides/slide96.xml"/><Relationship Id="rId83" Type="http://schemas.openxmlformats.org/officeDocument/2006/relationships/slide" Target="slides/slide97.xml"/><Relationship Id="rId84" Type="http://schemas.openxmlformats.org/officeDocument/2006/relationships/slide" Target="slides/slide98.xml"/><Relationship Id="rId85" Type="http://schemas.openxmlformats.org/officeDocument/2006/relationships/slide" Target="slides/slide99.xml"/><Relationship Id="rId86" Type="http://schemas.openxmlformats.org/officeDocument/2006/relationships/slide" Target="slides/slide100.xml"/><Relationship Id="rId87" Type="http://schemas.openxmlformats.org/officeDocument/2006/relationships/slide" Target="slides/slide101.xml"/><Relationship Id="rId88" Type="http://schemas.openxmlformats.org/officeDocument/2006/relationships/slide" Target="slides/slide104.xml"/><Relationship Id="rId89" Type="http://schemas.openxmlformats.org/officeDocument/2006/relationships/notesMaster" Target="notesMasters/notesMaster1.xml"/><Relationship Id="rId90" Type="http://schemas.openxmlformats.org/officeDocument/2006/relationships/presProps" Target="presProps.xml"/><Relationship Id="rId91" Type="http://schemas.openxmlformats.org/officeDocument/2006/relationships/viewProps" Target="viewProps.xml"/><Relationship Id="rId92" Type="http://schemas.openxmlformats.org/officeDocument/2006/relationships/theme" Target="theme/theme1.xml"/><Relationship Id="rId93" Type="http://schemas.openxmlformats.org/officeDocument/2006/relationships/tableStyles" Target="tableStyles.xml"/><Relationship Id="rId94" Type="http://schemas.openxmlformats.org/officeDocument/2006/relationships/slide" Target="slides/slide3.xml"/><Relationship Id="rId95" Type="http://schemas.openxmlformats.org/officeDocument/2006/relationships/slide" Target="slides/slide4.xml"/><Relationship Id="rId96" Type="http://schemas.openxmlformats.org/officeDocument/2006/relationships/slide" Target="slides/slide23.xml"/><Relationship Id="rId97" Type="http://schemas.openxmlformats.org/officeDocument/2006/relationships/slide" Target="slides/slide21.xml"/><Relationship Id="rId98" Type="http://schemas.openxmlformats.org/officeDocument/2006/relationships/slide" Target="slides/slide18.xml"/><Relationship Id="rId99" Type="http://schemas.openxmlformats.org/officeDocument/2006/relationships/slide" Target="slides/slide19.xml"/><Relationship Id="rId100" Type="http://schemas.openxmlformats.org/officeDocument/2006/relationships/slide" Target="slides/slide15.xml"/><Relationship Id="rId101" Type="http://schemas.openxmlformats.org/officeDocument/2006/relationships/slide" Target="slides/slide16.xml"/><Relationship Id="rId102" Type="http://schemas.openxmlformats.org/officeDocument/2006/relationships/slide" Target="slides/slide12.xml"/><Relationship Id="rId103" Type="http://schemas.openxmlformats.org/officeDocument/2006/relationships/slide" Target="slides/slide13.xml"/><Relationship Id="rId104" Type="http://schemas.openxmlformats.org/officeDocument/2006/relationships/slide" Target="slides/slide9.xml"/><Relationship Id="rId105" Type="http://schemas.openxmlformats.org/officeDocument/2006/relationships/slide" Target="slides/slide10.xml"/><Relationship Id="rId106" Type="http://schemas.openxmlformats.org/officeDocument/2006/relationships/slide" Target="slides/slide6.xml"/><Relationship Id="rId107" Type="http://schemas.openxmlformats.org/officeDocument/2006/relationships/slide" Target="slides/slide7.xml"/><Relationship Id="rId108" Type="http://schemas.openxmlformats.org/officeDocument/2006/relationships/slide" Target="slides/slide50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çılış Ekranı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Title">
            <a:extLst>
              <a:ext uri="{FF2B5EF4-FFF2-40B4-BE49-F238E27FC236}">
                <a16:creationId xmlns:a16="http://schemas.microsoft.com/office/drawing/2014/main" id="{0623C506-61A1-A34E-B1DD-A0DD7D14187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500" y="5572609"/>
            <a:ext cx="21971000" cy="2570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/>
            </a:lvl1pPr>
          </a:lstStyle>
          <a:p>
            <a:r>
              <a:rPr lang="tr-TR" dirty="0"/>
              <a:t>Eğitim/Bölüm/Ders Adı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607076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rs Anlatım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hor and Date">
            <a:extLst>
              <a:ext uri="{FF2B5EF4-FFF2-40B4-BE49-F238E27FC236}">
                <a16:creationId xmlns:a16="http://schemas.microsoft.com/office/drawing/2014/main" id="{E5E2BDF8-0349-334B-BF6A-D7072B112F49}"/>
              </a:ext>
            </a:extLst>
          </p:cNvPr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049411" y="167779"/>
            <a:ext cx="15709901" cy="1169999"/>
          </a:xfrm>
          <a:prstGeom prst="rect">
            <a:avLst/>
          </a:prstGeom>
        </p:spPr>
        <p:txBody>
          <a:bodyPr lIns="45719" tIns="45719" rIns="45719" bIns="45719" anchor="ctr"/>
          <a:lstStyle>
            <a:lvl1pPr marL="0" indent="0" algn="l" defTabSz="825500">
              <a:lnSpc>
                <a:spcPct val="100000"/>
              </a:lnSpc>
              <a:spcBef>
                <a:spcPts val="0"/>
              </a:spcBef>
              <a:buSzTx/>
              <a:buNone/>
              <a:defRPr sz="3200" b="0" i="0">
                <a:latin typeface="Chromatica Medium" pitchFamily="2" charset="77"/>
              </a:defRPr>
            </a:lvl1pPr>
          </a:lstStyle>
          <a:p>
            <a:r>
              <a:rPr lang="tr-TR" dirty="0"/>
              <a:t>Dersin adını buraya yazın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B40B19-566E-A743-BF82-7FDFA5614D83}"/>
              </a:ext>
            </a:extLst>
          </p:cNvPr>
          <p:cNvCxnSpPr>
            <a:cxnSpLocks/>
          </p:cNvCxnSpPr>
          <p:nvPr userDrawn="1"/>
        </p:nvCxnSpPr>
        <p:spPr>
          <a:xfrm>
            <a:off x="1104900" y="1481652"/>
            <a:ext cx="22174200" cy="0"/>
          </a:xfrm>
          <a:prstGeom prst="line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01E5980-45BA-614F-AC8B-C106D2EB33A8}"/>
              </a:ext>
            </a:extLst>
          </p:cNvPr>
          <p:cNvSpPr txBox="1"/>
          <p:nvPr userDrawn="1"/>
        </p:nvSpPr>
        <p:spPr>
          <a:xfrm>
            <a:off x="6160286" y="631141"/>
            <a:ext cx="1026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TR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6EF5B0-9520-1A41-8DBD-9F983BCFBB0F}"/>
              </a:ext>
            </a:extLst>
          </p:cNvPr>
          <p:cNvSpPr txBox="1"/>
          <p:nvPr userDrawn="1"/>
        </p:nvSpPr>
        <p:spPr>
          <a:xfrm>
            <a:off x="22320369" y="231769"/>
            <a:ext cx="912109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1800" b="0" i="0" u="none" strike="noStrike" kern="100" cap="none" spc="11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MIUUL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5CF718-ACE3-2946-B725-C3C12C26870E}"/>
              </a:ext>
            </a:extLst>
          </p:cNvPr>
          <p:cNvSpPr txBox="1"/>
          <p:nvPr userDrawn="1"/>
        </p:nvSpPr>
        <p:spPr>
          <a:xfrm>
            <a:off x="23133892" y="279950"/>
            <a:ext cx="197170" cy="1795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5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TM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8CEC82-FA21-5D4B-8318-FE278F38F3F6}"/>
              </a:ext>
            </a:extLst>
          </p:cNvPr>
          <p:cNvSpPr txBox="1"/>
          <p:nvPr userDrawn="1"/>
        </p:nvSpPr>
        <p:spPr>
          <a:xfrm>
            <a:off x="19365581" y="857221"/>
            <a:ext cx="3970924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www.miuul.com</a:t>
            </a:r>
          </a:p>
          <a:p>
            <a: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Copyright </a:t>
            </a:r>
            <a:r>
              <a:rPr kumimoji="0" lang="en-TR" sz="1300" b="0" i="0" u="none" strike="noStrike" cap="none" spc="0" normalizeH="0" baseline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© Miuul. </a:t>
            </a: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All Rights Reserved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50CEEE-A67E-6A49-B778-7AAC10C70C22}"/>
              </a:ext>
            </a:extLst>
          </p:cNvPr>
          <p:cNvSpPr txBox="1"/>
          <p:nvPr userDrawn="1"/>
        </p:nvSpPr>
        <p:spPr>
          <a:xfrm>
            <a:off x="22922972" y="-172462"/>
            <a:ext cx="1026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TR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23" name="Author and Date">
            <a:extLst>
              <a:ext uri="{FF2B5EF4-FFF2-40B4-BE49-F238E27FC236}">
                <a16:creationId xmlns:a16="http://schemas.microsoft.com/office/drawing/2014/main" id="{EE642577-6C65-AC44-8B45-E9CBE07C539A}"/>
              </a:ext>
            </a:extLst>
          </p:cNvPr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049411" y="2393941"/>
            <a:ext cx="22229689" cy="10350448"/>
          </a:xfrm>
          <a:prstGeom prst="rect">
            <a:avLst/>
          </a:prstGeom>
        </p:spPr>
        <p:txBody>
          <a:bodyPr lIns="45719" tIns="45719" rIns="45719" bIns="45719" anchor="t"/>
          <a:lstStyle>
            <a:lvl1pPr marL="0" indent="0" algn="l" defTabSz="825500">
              <a:lnSpc>
                <a:spcPct val="100000"/>
              </a:lnSpc>
              <a:spcBef>
                <a:spcPts val="0"/>
              </a:spcBef>
              <a:buSzTx/>
              <a:buNone/>
              <a:defRPr sz="3200" b="0" i="0">
                <a:latin typeface="Chromatica" pitchFamily="2" charset="77"/>
              </a:defRPr>
            </a:lvl1pPr>
          </a:lstStyle>
          <a:p>
            <a:r>
              <a:rPr lang="tr-TR" dirty="0"/>
              <a:t>Sayfa içine eklenecek yazıları ve görselleri bu çerçeve sınırları içerisinde tutuyoruz. </a:t>
            </a:r>
            <a:br>
              <a:rPr lang="tr-TR" dirty="0"/>
            </a:b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85938865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ygulama/Pro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BA3E2F-7310-664B-8F7C-BCAA61B43015}"/>
              </a:ext>
            </a:extLst>
          </p:cNvPr>
          <p:cNvSpPr txBox="1"/>
          <p:nvPr userDrawn="1"/>
        </p:nvSpPr>
        <p:spPr>
          <a:xfrm>
            <a:off x="1020437" y="445773"/>
            <a:ext cx="3970924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32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Uygulama: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D29AF0C-F761-0D48-B6EA-493695665B97}"/>
              </a:ext>
            </a:extLst>
          </p:cNvPr>
          <p:cNvCxnSpPr>
            <a:cxnSpLocks/>
          </p:cNvCxnSpPr>
          <p:nvPr userDrawn="1"/>
        </p:nvCxnSpPr>
        <p:spPr>
          <a:xfrm>
            <a:off x="1104900" y="1481652"/>
            <a:ext cx="22174200" cy="0"/>
          </a:xfrm>
          <a:prstGeom prst="line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843065F-7CF2-7246-8CC0-F1495A4666C3}"/>
              </a:ext>
            </a:extLst>
          </p:cNvPr>
          <p:cNvSpPr txBox="1"/>
          <p:nvPr userDrawn="1"/>
        </p:nvSpPr>
        <p:spPr>
          <a:xfrm>
            <a:off x="22320369" y="231769"/>
            <a:ext cx="912109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1800" b="0" i="0" u="none" strike="noStrike" kern="100" cap="none" spc="11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MIUUL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6F1535-6CBA-3E42-8BE4-22718C21AF32}"/>
              </a:ext>
            </a:extLst>
          </p:cNvPr>
          <p:cNvSpPr txBox="1"/>
          <p:nvPr userDrawn="1"/>
        </p:nvSpPr>
        <p:spPr>
          <a:xfrm>
            <a:off x="23133892" y="275554"/>
            <a:ext cx="197170" cy="1795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5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TM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896031-03CB-FC42-8AC2-462CCE101649}"/>
              </a:ext>
            </a:extLst>
          </p:cNvPr>
          <p:cNvSpPr txBox="1"/>
          <p:nvPr userDrawn="1"/>
        </p:nvSpPr>
        <p:spPr>
          <a:xfrm>
            <a:off x="19365581" y="857221"/>
            <a:ext cx="3970924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www.miuul.com</a:t>
            </a:r>
          </a:p>
          <a:p>
            <a: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Copyright </a:t>
            </a:r>
            <a:r>
              <a:rPr kumimoji="0" lang="en-TR" sz="1300" b="0" i="0" u="none" strike="noStrike" cap="none" spc="0" normalizeH="0" baseline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© Miuul. </a:t>
            </a: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All Rights Reserved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928544-B5DB-ED48-90E0-26946CC9B600}"/>
              </a:ext>
            </a:extLst>
          </p:cNvPr>
          <p:cNvSpPr txBox="1"/>
          <p:nvPr userDrawn="1"/>
        </p:nvSpPr>
        <p:spPr>
          <a:xfrm>
            <a:off x="22922972" y="-172462"/>
            <a:ext cx="1026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TR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9" name="Author and Date">
            <a:extLst>
              <a:ext uri="{FF2B5EF4-FFF2-40B4-BE49-F238E27FC236}">
                <a16:creationId xmlns:a16="http://schemas.microsoft.com/office/drawing/2014/main" id="{715D275F-DFDA-D245-9BDB-996B1F6EC6BD}"/>
              </a:ext>
            </a:extLst>
          </p:cNvPr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3529146" y="167779"/>
            <a:ext cx="13742854" cy="1169999"/>
          </a:xfrm>
          <a:prstGeom prst="rect">
            <a:avLst/>
          </a:prstGeom>
        </p:spPr>
        <p:txBody>
          <a:bodyPr lIns="45719" tIns="45719" rIns="45719" bIns="45719" anchor="ctr"/>
          <a:lstStyle>
            <a:lvl1pPr marL="0" indent="0" algn="l" defTabSz="825500">
              <a:lnSpc>
                <a:spcPct val="100000"/>
              </a:lnSpc>
              <a:spcBef>
                <a:spcPts val="0"/>
              </a:spcBef>
              <a:buSzTx/>
              <a:buNone/>
              <a:defRPr sz="3200" b="0" i="0">
                <a:latin typeface="Chromatica Medium" pitchFamily="2" charset="77"/>
              </a:defRPr>
            </a:lvl1pPr>
          </a:lstStyle>
          <a:p>
            <a:r>
              <a:rPr lang="tr-TR" dirty="0"/>
              <a:t>‘Projenin adını buraya yazın’</a:t>
            </a:r>
          </a:p>
        </p:txBody>
      </p:sp>
      <p:sp>
        <p:nvSpPr>
          <p:cNvPr id="10" name="Author and Date">
            <a:extLst>
              <a:ext uri="{FF2B5EF4-FFF2-40B4-BE49-F238E27FC236}">
                <a16:creationId xmlns:a16="http://schemas.microsoft.com/office/drawing/2014/main" id="{0F3C4248-EB51-CF40-BD7E-040A2460A589}"/>
              </a:ext>
            </a:extLst>
          </p:cNvPr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049411" y="2393941"/>
            <a:ext cx="22229689" cy="10350448"/>
          </a:xfrm>
          <a:prstGeom prst="rect">
            <a:avLst/>
          </a:prstGeom>
        </p:spPr>
        <p:txBody>
          <a:bodyPr lIns="45719" tIns="45719" rIns="45719" bIns="45719" anchor="t"/>
          <a:lstStyle>
            <a:lvl1pPr marL="0" indent="0" algn="l" defTabSz="825500">
              <a:lnSpc>
                <a:spcPct val="100000"/>
              </a:lnSpc>
              <a:spcBef>
                <a:spcPts val="0"/>
              </a:spcBef>
              <a:buSzTx/>
              <a:buNone/>
              <a:defRPr sz="3200" b="0" i="0">
                <a:latin typeface="Chromatica" pitchFamily="2" charset="77"/>
              </a:defRPr>
            </a:lvl1pPr>
          </a:lstStyle>
          <a:p>
            <a:r>
              <a:rPr lang="tr-TR" dirty="0"/>
              <a:t>Sayfa içine eklenecek yazıları ve görselleri bu çerçeve sınırları içerisinde tutuyoruz</a:t>
            </a:r>
          </a:p>
        </p:txBody>
      </p:sp>
    </p:spTree>
    <p:extLst>
      <p:ext uri="{BB962C8B-B14F-4D97-AF65-F5344CB8AC3E}">
        <p14:creationId xmlns:p14="http://schemas.microsoft.com/office/powerpoint/2010/main" val="302757029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ölüm Öze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A31EE74-3E9F-4D4B-B3CB-FBB357DA2DF9}"/>
              </a:ext>
            </a:extLst>
          </p:cNvPr>
          <p:cNvSpPr/>
          <p:nvPr userDrawn="1"/>
        </p:nvSpPr>
        <p:spPr>
          <a:xfrm>
            <a:off x="1104899" y="2393941"/>
            <a:ext cx="10820397" cy="10350453"/>
          </a:xfrm>
          <a:prstGeom prst="rect">
            <a:avLst/>
          </a:prstGeom>
          <a:solidFill>
            <a:srgbClr val="03523C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T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539120-26FA-9341-962C-7F435C73C35B}"/>
              </a:ext>
            </a:extLst>
          </p:cNvPr>
          <p:cNvSpPr txBox="1"/>
          <p:nvPr userDrawn="1"/>
        </p:nvSpPr>
        <p:spPr>
          <a:xfrm>
            <a:off x="1020437" y="445773"/>
            <a:ext cx="3970924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32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Bölüm Özeti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C12F33-0B8E-BC43-B871-1EA5470A9927}"/>
              </a:ext>
            </a:extLst>
          </p:cNvPr>
          <p:cNvCxnSpPr>
            <a:cxnSpLocks/>
          </p:cNvCxnSpPr>
          <p:nvPr userDrawn="1"/>
        </p:nvCxnSpPr>
        <p:spPr>
          <a:xfrm>
            <a:off x="1104900" y="1481652"/>
            <a:ext cx="22174200" cy="0"/>
          </a:xfrm>
          <a:prstGeom prst="line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FA109C9-B7D5-DB4E-850C-7A5E9DB5B35C}"/>
              </a:ext>
            </a:extLst>
          </p:cNvPr>
          <p:cNvSpPr txBox="1"/>
          <p:nvPr userDrawn="1"/>
        </p:nvSpPr>
        <p:spPr>
          <a:xfrm>
            <a:off x="22320369" y="231769"/>
            <a:ext cx="912109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1800" b="0" i="0" u="none" strike="noStrike" kern="100" cap="none" spc="11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MIUUL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8A04EF-CF2A-4A4F-A9F2-EBBBD1E4DE2B}"/>
              </a:ext>
            </a:extLst>
          </p:cNvPr>
          <p:cNvSpPr txBox="1"/>
          <p:nvPr userDrawn="1"/>
        </p:nvSpPr>
        <p:spPr>
          <a:xfrm>
            <a:off x="23133892" y="275554"/>
            <a:ext cx="197170" cy="1795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5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TM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347171-6DE6-5548-A5D2-656F5E929FC1}"/>
              </a:ext>
            </a:extLst>
          </p:cNvPr>
          <p:cNvSpPr txBox="1"/>
          <p:nvPr userDrawn="1"/>
        </p:nvSpPr>
        <p:spPr>
          <a:xfrm>
            <a:off x="19365581" y="857221"/>
            <a:ext cx="3970924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www.miuul.com</a:t>
            </a:r>
          </a:p>
          <a:p>
            <a: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Copyright </a:t>
            </a:r>
            <a:r>
              <a:rPr kumimoji="0" lang="en-TR" sz="1300" b="0" i="0" u="none" strike="noStrike" cap="none" spc="0" normalizeH="0" baseline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© Miuul. </a:t>
            </a: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All Rights Reserved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AD83E3-93BE-A248-92F5-A6089CE21B46}"/>
              </a:ext>
            </a:extLst>
          </p:cNvPr>
          <p:cNvSpPr txBox="1"/>
          <p:nvPr userDrawn="1"/>
        </p:nvSpPr>
        <p:spPr>
          <a:xfrm>
            <a:off x="22922972" y="-172462"/>
            <a:ext cx="1026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TR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0" name="Title 10">
            <a:extLst>
              <a:ext uri="{FF2B5EF4-FFF2-40B4-BE49-F238E27FC236}">
                <a16:creationId xmlns:a16="http://schemas.microsoft.com/office/drawing/2014/main" id="{54354A9F-DFCA-2E49-B4AA-AD78CA9ACE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397" y="6753904"/>
            <a:ext cx="9677400" cy="143316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defRPr sz="3200" b="0" i="0" spc="0">
                <a:solidFill>
                  <a:srgbClr val="C9FFC7"/>
                </a:solidFill>
                <a:latin typeface="Chromatica" pitchFamily="2" charset="77"/>
              </a:defRPr>
            </a:lvl1pPr>
          </a:lstStyle>
          <a:p>
            <a:r>
              <a:rPr lang="en-US" dirty="0" err="1"/>
              <a:t>Bölüm</a:t>
            </a:r>
            <a:r>
              <a:rPr lang="en-US" dirty="0"/>
              <a:t> </a:t>
            </a:r>
            <a:r>
              <a:rPr lang="en-US" dirty="0" err="1"/>
              <a:t>adını</a:t>
            </a:r>
            <a:r>
              <a:rPr lang="en-US" dirty="0"/>
              <a:t> </a:t>
            </a:r>
            <a:r>
              <a:rPr lang="en-US" dirty="0" err="1"/>
              <a:t>buraya</a:t>
            </a:r>
            <a:r>
              <a:rPr lang="en-US" dirty="0"/>
              <a:t> </a:t>
            </a:r>
            <a:r>
              <a:rPr lang="en-US" dirty="0" err="1"/>
              <a:t>yazın</a:t>
            </a:r>
            <a:endParaRPr lang="en-TR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70CC902-E0D0-8F48-8054-775921E13E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458706" y="2393942"/>
            <a:ext cx="10820394" cy="10350452"/>
          </a:xfrm>
          <a:prstGeom prst="rect">
            <a:avLst/>
          </a:prstGeom>
        </p:spPr>
        <p:txBody>
          <a:bodyPr anchor="ctr"/>
          <a:lstStyle>
            <a:lvl1pPr algn="l">
              <a:defRPr sz="3200" b="0" i="0">
                <a:latin typeface="Chromatica" pitchFamily="2" charset="77"/>
              </a:defRPr>
            </a:lvl1pPr>
          </a:lstStyle>
          <a:p>
            <a:pPr lvl="0"/>
            <a:r>
              <a:rPr lang="en-US" dirty="0"/>
              <a:t>’</a:t>
            </a:r>
            <a:r>
              <a:rPr lang="en-US" dirty="0" err="1"/>
              <a:t>Neler</a:t>
            </a:r>
            <a:r>
              <a:rPr lang="en-US" dirty="0"/>
              <a:t> </a:t>
            </a:r>
            <a:r>
              <a:rPr lang="en-US" dirty="0" err="1"/>
              <a:t>Öğrendik</a:t>
            </a:r>
            <a:r>
              <a:rPr lang="en-US" dirty="0"/>
              <a:t>?’ </a:t>
            </a:r>
            <a:r>
              <a:rPr lang="en-US" dirty="0" err="1"/>
              <a:t>kısa</a:t>
            </a:r>
            <a:r>
              <a:rPr lang="en-US" dirty="0"/>
              <a:t> </a:t>
            </a:r>
            <a:r>
              <a:rPr lang="en-US" dirty="0" err="1"/>
              <a:t>maddeler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listeleyelim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25771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rs Anlatım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hor and Date">
            <a:extLst>
              <a:ext uri="{FF2B5EF4-FFF2-40B4-BE49-F238E27FC236}">
                <a16:creationId xmlns:a16="http://schemas.microsoft.com/office/drawing/2014/main" id="{E5E2BDF8-0349-334B-BF6A-D7072B112F49}"/>
              </a:ext>
            </a:extLst>
          </p:cNvPr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049411" y="167779"/>
            <a:ext cx="15709901" cy="1169999"/>
          </a:xfrm>
          <a:prstGeom prst="rect">
            <a:avLst/>
          </a:prstGeom>
        </p:spPr>
        <p:txBody>
          <a:bodyPr lIns="45719" tIns="45719" rIns="45719" bIns="45719" anchor="ctr"/>
          <a:lstStyle>
            <a:lvl1pPr marL="0" indent="0" algn="l" defTabSz="825500">
              <a:lnSpc>
                <a:spcPct val="100000"/>
              </a:lnSpc>
              <a:spcBef>
                <a:spcPts val="0"/>
              </a:spcBef>
              <a:buSzTx/>
              <a:buNone/>
              <a:defRPr sz="3200" b="0" i="0">
                <a:latin typeface="Chromatica Medium" pitchFamily="2" charset="77"/>
              </a:defRPr>
            </a:lvl1pPr>
          </a:lstStyle>
          <a:p>
            <a:r>
              <a:rPr lang="tr-TR" dirty="0"/>
              <a:t>Dersin adını buraya yazın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B40B19-566E-A743-BF82-7FDFA5614D83}"/>
              </a:ext>
            </a:extLst>
          </p:cNvPr>
          <p:cNvCxnSpPr>
            <a:cxnSpLocks/>
          </p:cNvCxnSpPr>
          <p:nvPr userDrawn="1"/>
        </p:nvCxnSpPr>
        <p:spPr>
          <a:xfrm>
            <a:off x="1104900" y="1481652"/>
            <a:ext cx="22174200" cy="0"/>
          </a:xfrm>
          <a:prstGeom prst="line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01E5980-45BA-614F-AC8B-C106D2EB33A8}"/>
              </a:ext>
            </a:extLst>
          </p:cNvPr>
          <p:cNvSpPr txBox="1"/>
          <p:nvPr userDrawn="1"/>
        </p:nvSpPr>
        <p:spPr>
          <a:xfrm>
            <a:off x="6160286" y="631141"/>
            <a:ext cx="1026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TR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6EF5B0-9520-1A41-8DBD-9F983BCFBB0F}"/>
              </a:ext>
            </a:extLst>
          </p:cNvPr>
          <p:cNvSpPr txBox="1"/>
          <p:nvPr userDrawn="1"/>
        </p:nvSpPr>
        <p:spPr>
          <a:xfrm>
            <a:off x="22320369" y="231769"/>
            <a:ext cx="912109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1800" b="0" i="0" u="none" strike="noStrike" kern="100" cap="none" spc="11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MIUUL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5CF718-ACE3-2946-B725-C3C12C26870E}"/>
              </a:ext>
            </a:extLst>
          </p:cNvPr>
          <p:cNvSpPr txBox="1"/>
          <p:nvPr userDrawn="1"/>
        </p:nvSpPr>
        <p:spPr>
          <a:xfrm>
            <a:off x="23133892" y="279950"/>
            <a:ext cx="197170" cy="1795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5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TM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8CEC82-FA21-5D4B-8318-FE278F38F3F6}"/>
              </a:ext>
            </a:extLst>
          </p:cNvPr>
          <p:cNvSpPr txBox="1"/>
          <p:nvPr userDrawn="1"/>
        </p:nvSpPr>
        <p:spPr>
          <a:xfrm>
            <a:off x="19365581" y="857221"/>
            <a:ext cx="3970924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www.miuul.com</a:t>
            </a:r>
          </a:p>
          <a:p>
            <a: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Copyright </a:t>
            </a:r>
            <a:r>
              <a:rPr kumimoji="0" lang="en-TR" sz="1300" b="0" i="0" u="none" strike="noStrike" cap="none" spc="0" normalizeH="0" baseline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© Miuul. </a:t>
            </a: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All Rights Reserved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50CEEE-A67E-6A49-B778-7AAC10C70C22}"/>
              </a:ext>
            </a:extLst>
          </p:cNvPr>
          <p:cNvSpPr txBox="1"/>
          <p:nvPr userDrawn="1"/>
        </p:nvSpPr>
        <p:spPr>
          <a:xfrm>
            <a:off x="22922972" y="-172462"/>
            <a:ext cx="1026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TR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022315224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5572609"/>
            <a:ext cx="21971000" cy="2570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rPr lang="tr-TR" dirty="0"/>
              <a:t>Eğitim/Bölüm/Ders Adı</a:t>
            </a:r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1" r:id="rId2"/>
    <p:sldLayoutId id="2147483654" r:id="rId3"/>
    <p:sldLayoutId id="2147483656" r:id="rId4"/>
    <p:sldLayoutId id="2147483657" r:id="rId5"/>
  </p:sldLayoutIdLst>
  <p:transition spd="med"/>
  <p:txStyles>
    <p:titleStyle>
      <a:lvl1pPr marL="0" marR="0" indent="0" algn="ctr" defTabSz="2438338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ClrTx/>
        <a:buSzTx/>
        <a:buFontTx/>
        <a:buNone/>
        <a:tabLst/>
        <a:defRPr sz="7200" b="0" i="0" u="none" strike="noStrike" cap="none" spc="-170" baseline="0">
          <a:solidFill>
            <a:srgbClr val="000000"/>
          </a:solidFill>
          <a:uFillTx/>
          <a:latin typeface="Chromatica" pitchFamily="2" charset="77"/>
          <a:ea typeface="+mn-ea"/>
          <a:cs typeface="+mn-cs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hyperlink" Target="https://www.youtube.com/@cicekileteknoloji" TargetMode="External"/><Relationship Id="rId6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5.jp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3.png"/><Relationship Id="rId4" Type="http://schemas.openxmlformats.org/officeDocument/2006/relationships/image" Target="../media/image5.jpg"/><Relationship Id="rId5" Type="http://schemas.openxmlformats.org/officeDocument/2006/relationships/image" Target="../media/image8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3.png"/><Relationship Id="rId4" Type="http://schemas.openxmlformats.org/officeDocument/2006/relationships/image" Target="../media/image5.jpg"/><Relationship Id="rId5" Type="http://schemas.openxmlformats.org/officeDocument/2006/relationships/image" Target="../media/image9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3.png"/><Relationship Id="rId4" Type="http://schemas.openxmlformats.org/officeDocument/2006/relationships/image" Target="../media/image8.jpg"/><Relationship Id="rId5" Type="http://schemas.openxmlformats.org/officeDocument/2006/relationships/image" Target="../media/image10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3.png"/><Relationship Id="rId4" Type="http://schemas.openxmlformats.org/officeDocument/2006/relationships/image" Target="../media/image8.jpg"/><Relationship Id="rId5" Type="http://schemas.openxmlformats.org/officeDocument/2006/relationships/image" Target="../media/image10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3.png"/><Relationship Id="rId4" Type="http://schemas.openxmlformats.org/officeDocument/2006/relationships/image" Target="../media/image9.jpg"/><Relationship Id="rId5" Type="http://schemas.openxmlformats.org/officeDocument/2006/relationships/image" Target="../media/image9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3.png"/><Relationship Id="rId4" Type="http://schemas.openxmlformats.org/officeDocument/2006/relationships/image" Target="../media/image9.jpg"/><Relationship Id="rId5" Type="http://schemas.openxmlformats.org/officeDocument/2006/relationships/image" Target="../media/image10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3.png"/><Relationship Id="rId4" Type="http://schemas.openxmlformats.org/officeDocument/2006/relationships/image" Target="../media/image10.jpg"/><Relationship Id="rId5" Type="http://schemas.openxmlformats.org/officeDocument/2006/relationships/image" Target="../media/image9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3.png"/><Relationship Id="rId4" Type="http://schemas.openxmlformats.org/officeDocument/2006/relationships/image" Target="../media/image10.jpg"/><Relationship Id="rId5" Type="http://schemas.openxmlformats.org/officeDocument/2006/relationships/image" Target="../media/image9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3.png"/><Relationship Id="rId4" Type="http://schemas.openxmlformats.org/officeDocument/2006/relationships/image" Target="../media/image11.jpg"/><Relationship Id="rId5" Type="http://schemas.openxmlformats.org/officeDocument/2006/relationships/image" Target="../media/image9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3.png"/><Relationship Id="rId4" Type="http://schemas.openxmlformats.org/officeDocument/2006/relationships/image" Target="../media/image11.jpg"/><Relationship Id="rId5" Type="http://schemas.openxmlformats.org/officeDocument/2006/relationships/image" Target="../media/image9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3.png"/><Relationship Id="rId4" Type="http://schemas.openxmlformats.org/officeDocument/2006/relationships/image" Target="../media/image12.jpg"/><Relationship Id="rId5" Type="http://schemas.openxmlformats.org/officeDocument/2006/relationships/image" Target="../media/image9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3.png"/><Relationship Id="rId4" Type="http://schemas.openxmlformats.org/officeDocument/2006/relationships/image" Target="../media/image12.jpg"/><Relationship Id="rId5" Type="http://schemas.openxmlformats.org/officeDocument/2006/relationships/image" Target="../media/image94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3.png"/><Relationship Id="rId4" Type="http://schemas.openxmlformats.org/officeDocument/2006/relationships/image" Target="../media/image13.jpg"/><Relationship Id="rId5" Type="http://schemas.openxmlformats.org/officeDocument/2006/relationships/image" Target="../media/image9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4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3.png"/><Relationship Id="rId4" Type="http://schemas.openxmlformats.org/officeDocument/2006/relationships/image" Target="../media/image14.jpg"/><Relationship Id="rId5" Type="http://schemas.openxmlformats.org/officeDocument/2006/relationships/image" Target="../media/image9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17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18.jp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2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2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2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2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2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2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3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3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3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3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3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3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3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3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3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39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39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4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5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5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5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5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5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55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56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57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58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59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6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6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63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3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64.png"/><Relationship Id="rId4" Type="http://schemas.openxmlformats.org/officeDocument/2006/relationships/image" Target="../media/image65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64.png"/><Relationship Id="rId4" Type="http://schemas.openxmlformats.org/officeDocument/2006/relationships/image" Target="../media/image65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66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67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68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69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70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7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72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73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74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75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76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77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78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1.png"/><Relationship Id="rId3" Type="http://schemas.openxmlformats.org/officeDocument/2006/relationships/image" Target="../media/image80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82.png"/><Relationship Id="rId4" Type="http://schemas.openxmlformats.org/officeDocument/2006/relationships/image" Target="../media/image83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4.png"/><Relationship Id="rId3" Type="http://schemas.openxmlformats.org/officeDocument/2006/relationships/image" Target="../media/image83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85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86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87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4030" cy="13716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kapak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0" y="1417320"/>
            <a:ext cx="18900648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200" b="1">
                <a:solidFill>
                  <a:srgbClr val="C08A2E"/>
                </a:solidFill>
                <a:latin typeface="Helvetica Neue"/>
              </a:rPr>
              <a:t>Large Language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206240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C08A2E"/>
                </a:solidFill>
                <a:latin typeface="Helvetica Neue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4160520"/>
            <a:ext cx="142646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Helvetica Neue"/>
              </a:rPr>
              <a:t>Önümüzdeki 50 yıla hazır mısınız?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250210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C08A2E"/>
                </a:solidFill>
                <a:latin typeface="Helvetica Neue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204490"/>
            <a:ext cx="142646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Helvetica Neue"/>
              </a:rPr>
              <a:t>Kaputun altı: Transformer mimarisi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11978640"/>
            <a:ext cx="1892808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43200" y="12252960"/>
            <a:ext cx="18900648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Veysel Murat Görken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2938760"/>
            <a:ext cx="18900648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0">
                <a:solidFill>
                  <a:srgbClr val="C08A2E"/>
                </a:solidFill>
                <a:latin typeface="Helvetica Neue"/>
              </a:rPr>
              <a:t>Data Scientist / AI Engineer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66960" y="12344400"/>
            <a:ext cx="11676888" cy="749808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youtu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12536424"/>
            <a:ext cx="548640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018520" y="12508992"/>
            <a:ext cx="10378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u="none">
                <a:solidFill>
                  <a:srgbClr val="D14639"/>
                </a:solidFill>
                <a:latin typeface="Helvetica Neue"/>
                <a:hlinkClick r:id="rId5"/>
              </a:rPr>
              <a:t>@cicekileteknoloji</a:t>
            </a:r>
            <a:r>
              <a:rPr sz="1800" b="0">
                <a:solidFill>
                  <a:srgbClr val="8A8A8A"/>
                </a:solidFill>
                <a:latin typeface="Helvetica Neue"/>
              </a:rPr>
              <a:t>   ·   Harari hikâye ve görselleri bu kanaldan alınmıştır.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" y="127284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312" y="12527280"/>
            <a:ext cx="1984248" cy="12161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Önümüzdeki 50 yıla hazır mısınız?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Yetmiş bin yıl boyunca dil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yalnızca bize aitti.</a:t>
            </a:r>
          </a:p>
        </p:txBody>
      </p:sp>
      <p:pic>
        <p:nvPicPr>
          <p:cNvPr id="10" name="!!gorsel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2999" y="2103120"/>
            <a:ext cx="16258032" cy="91440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/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Önümüzdeki 50 yıla hazır mısınız?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Dil sayesinde binlerce yabancı aynı hikâyeye inanıp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birlikte hareket edebildi.</a:t>
            </a:r>
          </a:p>
        </p:txBody>
      </p:sp>
      <p:pic>
        <p:nvPicPr>
          <p:cNvPr id="10" name="!!gorsel" descr="harari_dil_o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2999" y="2103120"/>
            <a:ext cx="16258032" cy="91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/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Önümüzdeki 50 yıla hazır mısınız?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Harari'nin sorusu teknik bir soru değil: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50 yıl sonra kararları kim veriyor olacak?</a:t>
            </a:r>
          </a:p>
        </p:txBody>
      </p:sp>
      <p:pic>
        <p:nvPicPr>
          <p:cNvPr id="10" name="!!gorsel" descr="harari_akto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2999" y="2103120"/>
            <a:ext cx="16258032" cy="91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Yapay zekâ bir araç değil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pic>
        <p:nvPicPr>
          <p:cNvPr id="7" name="Picture 6" descr="chrome_aMLJ8pyyt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4555" y="2103120"/>
            <a:ext cx="16617939" cy="9144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Matbaa neyi basacağına karar veremez.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Aracın amacı hep dışarıdan verilir.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/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Yapay zekâ bir araç değil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Harari'nin sözcüğü araç değil: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fail — eylemde bulunan.</a:t>
            </a:r>
          </a:p>
        </p:txBody>
      </p:sp>
      <p:pic>
        <p:nvPicPr>
          <p:cNvPr id="10" name="!!gorsel" descr="lMnI79iq0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2999" y="2103120"/>
            <a:ext cx="16258032" cy="91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/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Yapay zekâ bir araç değil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Silikon Vadisi: "Bir tanrı yaratacağız ama o bizim kölemiz olacak."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Bir tanrı köle kalmaz.</a:t>
            </a:r>
          </a:p>
        </p:txBody>
      </p:sp>
      <p:pic>
        <p:nvPicPr>
          <p:cNvPr id="10" name="!!gorsel" descr="O3KkxnPYo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2999" y="2103120"/>
            <a:ext cx="16258032" cy="91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Uygarlığın işletim sistemi: dil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pic>
        <p:nvPicPr>
          <p:cNvPr id="7" name="Picture 6" descr="chrome_Ux36R888vx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4018" y="2103120"/>
            <a:ext cx="16339012" cy="9144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Anayasa, din, para —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hepsi kelimelerden yapılmış.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/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Uygarlığın işletim sistemi: dil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Paralı askerler işlerini yaptı.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Sonra yönetimi ele geçirdiler.</a:t>
            </a:r>
          </a:p>
        </p:txBody>
      </p:sp>
      <p:pic>
        <p:nvPicPr>
          <p:cNvPr id="10" name="!!gorsel" descr="2eggVqP3S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2999" y="2103120"/>
            <a:ext cx="16258032" cy="91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/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Uygarlığın işletim sistemi: dil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İşletim sistemini ele geçiren,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üzerinde çalışan her şeyi ele geçirir.</a:t>
            </a:r>
          </a:p>
        </p:txBody>
      </p:sp>
      <p:pic>
        <p:nvPicPr>
          <p:cNvPr id="10" name="!!gorsel" descr="4byF3PUYBx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2999" y="2103120"/>
            <a:ext cx="16258032" cy="91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Demokrasi sarsılıyor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pic>
        <p:nvPicPr>
          <p:cNvPr id="7" name="Picture 6" descr="chrome_9t6Xr6Esf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8585" y="2103120"/>
            <a:ext cx="16389877" cy="9144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Demokrasi bir konuşmadır.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Konuşanın kim olduğu artık belli değil.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/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Demokrasi sarsılıyor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15263F"/>
                </a:solidFill>
                <a:latin typeface="Helvetica Neue"/>
              </a:rPr>
              <a:t>Cambridge Analytica </a:t>
            </a:r>
            <a:r>
              <a:rPr sz="2400" b="0">
                <a:solidFill>
                  <a:srgbClr val="15263F"/>
                </a:solidFill>
                <a:latin typeface="Helvetica Neue"/>
              </a:rPr>
              <a:t>— ve bu, 2016'nın teknolojisiydi.</a:t>
            </a:r>
          </a:p>
        </p:txBody>
      </p:sp>
      <p:pic>
        <p:nvPicPr>
          <p:cNvPr id="10" name="!!gorsel" descr="enHU5Jwur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2999" y="2103120"/>
            <a:ext cx="16258032" cy="91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/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Demokrasi sarsılıyor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En büyük zaafımız: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hissetmeyen ama hissediyormuş gibi yapan şeye anında empati duymak.</a:t>
            </a:r>
          </a:p>
        </p:txBody>
      </p:sp>
      <p:pic>
        <p:nvPicPr>
          <p:cNvPr id="10" name="!!gorsel" descr="K6eR2tFyB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2999" y="2103120"/>
            <a:ext cx="16258032" cy="91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Doğuştan bürokrat: tüzel kişilik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pic>
        <p:nvPicPr>
          <p:cNvPr id="7" name="Picture 6" descr="chrome_PqcZk2sTP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6838" y="2103120"/>
            <a:ext cx="16373372" cy="9144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Tüzel kişilik demek: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banka hesabı, mülk, dava, sözleşme, lobi.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/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Doğuştan bürokrat: tüzel kişilik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Arkasında hiçbir insan olmayan bir yapı mahkemeye gidebilir.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Kim dava edecek, kimi?</a:t>
            </a:r>
          </a:p>
        </p:txBody>
      </p:sp>
      <p:pic>
        <p:nvPicPr>
          <p:cNvPr id="10" name="!!gorsel" descr="eehoJCpBy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2999" y="2103120"/>
            <a:ext cx="16258032" cy="91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/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Doğuştan bürokrat: tüzel kişilik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Tilki kümese girerse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koruyan ve denetleyen aynı taraf olur.</a:t>
            </a:r>
          </a:p>
        </p:txBody>
      </p:sp>
      <p:pic>
        <p:nvPicPr>
          <p:cNvPr id="10" name="!!gorsel" descr="harari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2999" y="2103120"/>
            <a:ext cx="16258032" cy="91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Dijital egemenlik ve kapatma düğmesi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pic>
        <p:nvPicPr>
          <p:cNvPr id="7" name="Picture 6" descr="chrome_ngC3CXLyb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2031" y="2103120"/>
            <a:ext cx="16162986" cy="9144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Tüm dünyanın verisi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tek bir merkezde toplanabiliyor.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/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Dijital egemenlik ve kapatma düğmesi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15263F"/>
                </a:solidFill>
                <a:latin typeface="Helvetica Neue"/>
              </a:rPr>
              <a:t>Starlink örneği: </a:t>
            </a:r>
            <a:r>
              <a:rPr sz="2400" b="0">
                <a:solidFill>
                  <a:srgbClr val="15263F"/>
                </a:solidFill>
                <a:latin typeface="Helvetica Neue"/>
              </a:rPr>
              <a:t>dünyanın öbür ucundaki bir sistem, tek hamlede felç edilebilir.</a:t>
            </a:r>
          </a:p>
        </p:txBody>
      </p:sp>
      <p:pic>
        <p:nvPicPr>
          <p:cNvPr id="10" name="!!gorsel" descr="43RLoom6r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2999" y="2103120"/>
            <a:ext cx="16258032" cy="91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/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Dijital egemenlik ve kapatma düğmesi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Yurttaş olmaktan çıkıp kullanıcıya dönüşmek: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yapay devlet.</a:t>
            </a:r>
          </a:p>
        </p:txBody>
      </p:sp>
      <p:pic>
        <p:nvPicPr>
          <p:cNvPr id="10" name="!!gorsel" descr="lqrtuS7vl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2999" y="2103120"/>
            <a:ext cx="16258032" cy="91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Gerçek mi, kurgu mu?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pic>
        <p:nvPicPr>
          <p:cNvPr id="7" name="Picture 6" descr="chrome_QOmmvB5aSZ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2844" y="2103120"/>
            <a:ext cx="16521360" cy="9144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Gerçek pahalı ve can yakıcı.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Kurgu ucuz, basit ve tam duymak istediğiniz şey.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/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Gerçek mi, kurgu mu?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Atların önünde para el değiştirir;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atlar ne döndüğünü anlamaz.</a:t>
            </a:r>
          </a:p>
        </p:txBody>
      </p:sp>
      <p:pic>
        <p:nvPicPr>
          <p:cNvPr id="10" name="!!gorsel" descr="KNRLv6B0pv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2999" y="2103120"/>
            <a:ext cx="16258032" cy="91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Asıl ihtiyaç: bilgelik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pic>
        <p:nvPicPr>
          <p:cNvPr id="7" name="Picture 6" descr="chrome_J7RvwAOMu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7778" y="2103120"/>
            <a:ext cx="16191492" cy="9144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Zekâ problemi çözer.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Bilgelik hangi problemin çözülmeye değer olduğunu seçer.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/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Asıl ihtiyaç: bilgelik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Soru "yapay zekâ ne yapabilir?" değil.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Soru: "Biz ne istiyoruz?"</a:t>
            </a:r>
          </a:p>
        </p:txBody>
      </p:sp>
      <p:pic>
        <p:nvPicPr>
          <p:cNvPr id="10" name="!!gorsel" descr="HqaQSLtNHq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2999" y="2103120"/>
            <a:ext cx="16258032" cy="91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kuA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84048"/>
            <a:ext cx="1828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Bunlar gelecek zaman değil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1645920"/>
            <a:ext cx="22265640" cy="0"/>
          </a:xfrm>
          <a:prstGeom prst="line">
            <a:avLst/>
          </a:prstGeom>
          <a:ln w="190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579840" y="384048"/>
            <a:ext cx="222199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8712" y="182880"/>
            <a:ext cx="1984248" cy="12161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66544" y="3063240"/>
            <a:ext cx="2024481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0">
                <a:solidFill>
                  <a:srgbClr val="FFFFFF"/>
                </a:solidFill>
                <a:latin typeface="Helvetica Neue"/>
              </a:rPr>
              <a:t>Harari'nin uyardığı şeyler gelecek zaman değil — </a:t>
            </a:r>
            <a:r>
              <a:rPr sz="3800" b="1">
                <a:solidFill>
                  <a:srgbClr val="FFFFFF"/>
                </a:solidFill>
                <a:latin typeface="Helvetica Neue"/>
              </a:rPr>
              <a:t>bunlar oldu.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4846320"/>
            <a:ext cx="10730484" cy="57607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11096" y="5349240"/>
            <a:ext cx="946861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8A3B2F"/>
                </a:solidFill>
                <a:latin typeface="Helvetica Neue"/>
              </a:rPr>
              <a:t>Avianca davası  ·  2023, New York</a:t>
            </a:r>
          </a:p>
        </p:txBody>
      </p:sp>
      <p:pic>
        <p:nvPicPr>
          <p:cNvPr id="10" name="Picture 9" descr="gorsel_avian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1096" y="6263640"/>
            <a:ext cx="9468612" cy="392947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2376404" y="4846320"/>
            <a:ext cx="10730484" cy="57607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007340" y="5349240"/>
            <a:ext cx="946861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5263F"/>
                </a:solidFill>
                <a:latin typeface="Helvetica Neue"/>
              </a:rPr>
              <a:t>Otomat deneyi  ·  2026, Andon Labs</a:t>
            </a:r>
          </a:p>
        </p:txBody>
      </p:sp>
      <p:pic>
        <p:nvPicPr>
          <p:cNvPr id="13" name="Picture 12" descr="gorsel_otom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07340" y="6263640"/>
            <a:ext cx="9468612" cy="392947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Biri gerçeği umursamadı, diğeri kendi çıkarını kolladı.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İkisine de kimse söylemedi.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Kaputun altı: Transformer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66544" y="3063240"/>
            <a:ext cx="2024481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0">
                <a:solidFill>
                  <a:srgbClr val="1A1A1A"/>
                </a:solidFill>
                <a:latin typeface="Helvetica Neue"/>
              </a:rPr>
              <a:t>2017'de sekiz sayfalık bir makale çıktı. </a:t>
            </a:r>
            <a:r>
              <a:rPr sz="3800" b="1">
                <a:solidFill>
                  <a:srgbClr val="1A1A1A"/>
                </a:solidFill>
                <a:latin typeface="Helvetica Neue"/>
              </a:rPr>
              <a:t>Bugün kullandığınız her modelin atası.</a:t>
            </a:r>
          </a:p>
        </p:txBody>
      </p:sp>
      <p:pic>
        <p:nvPicPr>
          <p:cNvPr id="4" name="Picture 3" descr="maka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6312" y="4709160"/>
            <a:ext cx="9431407" cy="6537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Attention fikri yeni değildi. Yeni olan iddia şuydu: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tek başına yetiyor.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Transformer'ı Transformer yapan üç şey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80160" y="2514600"/>
            <a:ext cx="6970471" cy="8092440"/>
          </a:xfrm>
          <a:prstGeom prst="roundRect">
            <a:avLst>
              <a:gd name="adj" fmla="val 6000"/>
            </a:avLst>
          </a:prstGeom>
          <a:solidFill>
            <a:srgbClr val="F8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280160" y="2514600"/>
            <a:ext cx="6970471" cy="164592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47088" y="3017520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400" b="1">
                <a:solidFill>
                  <a:srgbClr val="C08A2E"/>
                </a:solidFill>
                <a:latin typeface="Helvetica Neue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4023360"/>
            <a:ext cx="58366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C08A2E"/>
                </a:solidFill>
                <a:latin typeface="Helvetica Neue"/>
              </a:rPr>
              <a:t>Paralel işleme</a:t>
            </a:r>
          </a:p>
        </p:txBody>
      </p:sp>
      <p:pic>
        <p:nvPicPr>
          <p:cNvPr id="7" name="Picture 6" descr="recurre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6078065"/>
            <a:ext cx="6330391" cy="297719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707831" y="2514600"/>
            <a:ext cx="6970471" cy="8092440"/>
          </a:xfrm>
          <a:prstGeom prst="roundRect">
            <a:avLst>
              <a:gd name="adj" fmla="val 6000"/>
            </a:avLst>
          </a:prstGeom>
          <a:solidFill>
            <a:srgbClr val="E7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707831" y="2514600"/>
            <a:ext cx="6970471" cy="164592"/>
          </a:xfrm>
          <a:prstGeom prst="rect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74759" y="3017520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400" b="1">
                <a:solidFill>
                  <a:srgbClr val="15263F"/>
                </a:solidFill>
                <a:latin typeface="Helvetica Neue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74759" y="4023360"/>
            <a:ext cx="58366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5263F"/>
                </a:solidFill>
                <a:latin typeface="Helvetica Neue"/>
              </a:rPr>
              <a:t>Self-attention</a:t>
            </a:r>
          </a:p>
        </p:txBody>
      </p:sp>
      <p:pic>
        <p:nvPicPr>
          <p:cNvPr id="12" name="Picture 11" descr="gorsel_selfatten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7871" y="5588413"/>
            <a:ext cx="6330391" cy="395649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6135502" y="2514600"/>
            <a:ext cx="6970471" cy="8092440"/>
          </a:xfrm>
          <a:prstGeom prst="roundRect">
            <a:avLst>
              <a:gd name="adj" fmla="val 6000"/>
            </a:avLst>
          </a:prstGeom>
          <a:solidFill>
            <a:srgbClr val="F6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135502" y="2514600"/>
            <a:ext cx="6970471" cy="164592"/>
          </a:xfrm>
          <a:prstGeom prst="rect">
            <a:avLst/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702430" y="3017520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400" b="1">
                <a:solidFill>
                  <a:srgbClr val="8A3B2F"/>
                </a:solidFill>
                <a:latin typeface="Helvetica Neue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02430" y="4023360"/>
            <a:ext cx="58366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8A3B2F"/>
                </a:solidFill>
                <a:latin typeface="Helvetica Neue"/>
              </a:rPr>
              <a:t>Positional encoding</a:t>
            </a:r>
          </a:p>
        </p:txBody>
      </p:sp>
      <p:pic>
        <p:nvPicPr>
          <p:cNvPr id="17" name="Picture 16" descr="gorsel_pose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5542" y="5588413"/>
            <a:ext cx="6330391" cy="3956494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Paralel işle, neyin önemli olduğunu kendin bul,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sırayı unutma.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Transformer mimarisi</a:t>
            </a:r>
          </a:p>
        </p:txBody>
      </p:sp>
      <p:pic>
        <p:nvPicPr>
          <p:cNvPr id="3" name="!!decoder" descr="deco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7588" y="1874520"/>
            <a:ext cx="4258882" cy="9418320"/>
          </a:xfrm>
          <a:prstGeom prst="rect">
            <a:avLst/>
          </a:prstGeom>
        </p:spPr>
      </p:pic>
      <p:pic>
        <p:nvPicPr>
          <p:cNvPr id="4" name="!!encoder" descr="enco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7561" y="4332289"/>
            <a:ext cx="4090027" cy="4709160"/>
          </a:xfrm>
          <a:prstGeom prst="rect">
            <a:avLst/>
          </a:prstGeom>
        </p:spPr>
      </p:pic>
      <p:pic>
        <p:nvPicPr>
          <p:cNvPr id="5" name="!!embed" descr="emb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7561" y="9041449"/>
            <a:ext cx="4090027" cy="225139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Transformer mimarisi  ·  Encoder</a:t>
            </a:r>
          </a:p>
        </p:txBody>
      </p:sp>
      <p:pic>
        <p:nvPicPr>
          <p:cNvPr id="3" name="!!decoder" descr="deco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0" y="1874520"/>
            <a:ext cx="4258882" cy="9418320"/>
          </a:xfrm>
          <a:prstGeom prst="rect">
            <a:avLst/>
          </a:prstGeom>
        </p:spPr>
      </p:pic>
      <p:pic>
        <p:nvPicPr>
          <p:cNvPr id="4" name="!!encoder" descr="enco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4908" y="1874520"/>
            <a:ext cx="5534215" cy="6371963"/>
          </a:xfrm>
          <a:prstGeom prst="rect">
            <a:avLst/>
          </a:prstGeom>
        </p:spPr>
      </p:pic>
      <p:pic>
        <p:nvPicPr>
          <p:cNvPr id="5" name="!!embed" descr="emb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4908" y="8246483"/>
            <a:ext cx="5534215" cy="30463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Transformer mimarisi  ·  Girdi</a:t>
            </a:r>
          </a:p>
        </p:txBody>
      </p:sp>
      <p:pic>
        <p:nvPicPr>
          <p:cNvPr id="3" name="!!encoder" descr="enco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4908" y="-8229600"/>
            <a:ext cx="5534215" cy="6371963"/>
          </a:xfrm>
          <a:prstGeom prst="rect">
            <a:avLst/>
          </a:prstGeom>
        </p:spPr>
      </p:pic>
      <p:pic>
        <p:nvPicPr>
          <p:cNvPr id="4" name="!!embed" descr="emb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15" y="3471784"/>
            <a:ext cx="12801600" cy="70467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embed" descr="emb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5920" y="4663440"/>
            <a:ext cx="10058400" cy="5536734"/>
          </a:xfrm>
          <a:prstGeom prst="rect">
            <a:avLst/>
          </a:prstGeom>
        </p:spPr>
      </p:pic>
      <p:sp>
        <p:nvSpPr>
          <p:cNvPr id="3" name="!!baslik"/>
          <p:cNvSpPr txBox="1"/>
          <p:nvPr/>
        </p:nvSpPr>
        <p:spPr>
          <a:xfrm>
            <a:off x="2011680" y="2377440"/>
            <a:ext cx="100584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600" b="1">
                <a:solidFill>
                  <a:srgbClr val="1A1A1A"/>
                </a:solidFill>
                <a:latin typeface="Helvetica Neue"/>
              </a:rPr>
              <a:t>Embeddings</a:t>
            </a:r>
          </a:p>
        </p:txBody>
      </p:sp>
      <p:sp>
        <p:nvSpPr>
          <p:cNvPr id="4" name="!!no0"/>
          <p:cNvSpPr txBox="1"/>
          <p:nvPr/>
        </p:nvSpPr>
        <p:spPr>
          <a:xfrm>
            <a:off x="2377440" y="5120640"/>
            <a:ext cx="12801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C08A2E"/>
                </a:solidFill>
                <a:latin typeface="Helvetica Neue"/>
              </a:rPr>
              <a:t>1)</a:t>
            </a:r>
          </a:p>
        </p:txBody>
      </p:sp>
      <p:sp>
        <p:nvSpPr>
          <p:cNvPr id="5" name="!!ad0"/>
          <p:cNvSpPr txBox="1"/>
          <p:nvPr/>
        </p:nvSpPr>
        <p:spPr>
          <a:xfrm>
            <a:off x="3931920" y="5120640"/>
            <a:ext cx="9144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Helvetica Neue"/>
              </a:rPr>
              <a:t>Tokenization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embed" descr="emb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5920" y="4663440"/>
            <a:ext cx="10058400" cy="5536734"/>
          </a:xfrm>
          <a:prstGeom prst="rect">
            <a:avLst/>
          </a:prstGeom>
        </p:spPr>
      </p:pic>
      <p:sp>
        <p:nvSpPr>
          <p:cNvPr id="3" name="!!baslik"/>
          <p:cNvSpPr txBox="1"/>
          <p:nvPr/>
        </p:nvSpPr>
        <p:spPr>
          <a:xfrm>
            <a:off x="2011680" y="2377440"/>
            <a:ext cx="100584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600" b="1">
                <a:solidFill>
                  <a:srgbClr val="1A1A1A"/>
                </a:solidFill>
                <a:latin typeface="Helvetica Neue"/>
              </a:rPr>
              <a:t>Embeddings</a:t>
            </a:r>
          </a:p>
        </p:txBody>
      </p:sp>
      <p:sp>
        <p:nvSpPr>
          <p:cNvPr id="4" name="!!no0"/>
          <p:cNvSpPr txBox="1"/>
          <p:nvPr/>
        </p:nvSpPr>
        <p:spPr>
          <a:xfrm>
            <a:off x="2377440" y="5120640"/>
            <a:ext cx="12801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C08A2E"/>
                </a:solidFill>
                <a:latin typeface="Helvetica Neue"/>
              </a:rPr>
              <a:t>1)</a:t>
            </a:r>
          </a:p>
        </p:txBody>
      </p:sp>
      <p:sp>
        <p:nvSpPr>
          <p:cNvPr id="5" name="!!ad0"/>
          <p:cNvSpPr txBox="1"/>
          <p:nvPr/>
        </p:nvSpPr>
        <p:spPr>
          <a:xfrm>
            <a:off x="3931920" y="5120640"/>
            <a:ext cx="9144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Helvetica Neue"/>
              </a:rPr>
              <a:t>Tokenization</a:t>
            </a:r>
          </a:p>
        </p:txBody>
      </p:sp>
      <p:sp>
        <p:nvSpPr>
          <p:cNvPr id="6" name="!!no1"/>
          <p:cNvSpPr txBox="1"/>
          <p:nvPr/>
        </p:nvSpPr>
        <p:spPr>
          <a:xfrm>
            <a:off x="2377440" y="6995160"/>
            <a:ext cx="12801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C08A2E"/>
                </a:solidFill>
                <a:latin typeface="Helvetica Neue"/>
              </a:rPr>
              <a:t>2)</a:t>
            </a:r>
          </a:p>
        </p:txBody>
      </p:sp>
      <p:sp>
        <p:nvSpPr>
          <p:cNvPr id="7" name="!!ad1"/>
          <p:cNvSpPr txBox="1"/>
          <p:nvPr/>
        </p:nvSpPr>
        <p:spPr>
          <a:xfrm>
            <a:off x="3931920" y="6995160"/>
            <a:ext cx="9144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Helvetica Neue"/>
              </a:rPr>
              <a:t>Token Embeddings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embed" descr="emb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5920" y="4663440"/>
            <a:ext cx="10058400" cy="5536734"/>
          </a:xfrm>
          <a:prstGeom prst="rect">
            <a:avLst/>
          </a:prstGeom>
        </p:spPr>
      </p:pic>
      <p:sp>
        <p:nvSpPr>
          <p:cNvPr id="3" name="!!baslik"/>
          <p:cNvSpPr txBox="1"/>
          <p:nvPr/>
        </p:nvSpPr>
        <p:spPr>
          <a:xfrm>
            <a:off x="2011680" y="2377440"/>
            <a:ext cx="100584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600" b="1">
                <a:solidFill>
                  <a:srgbClr val="1A1A1A"/>
                </a:solidFill>
                <a:latin typeface="Helvetica Neue"/>
              </a:rPr>
              <a:t>Embeddings</a:t>
            </a:r>
          </a:p>
        </p:txBody>
      </p:sp>
      <p:sp>
        <p:nvSpPr>
          <p:cNvPr id="4" name="!!no0"/>
          <p:cNvSpPr txBox="1"/>
          <p:nvPr/>
        </p:nvSpPr>
        <p:spPr>
          <a:xfrm>
            <a:off x="2377440" y="5120640"/>
            <a:ext cx="12801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C08A2E"/>
                </a:solidFill>
                <a:latin typeface="Helvetica Neue"/>
              </a:rPr>
              <a:t>1)</a:t>
            </a:r>
          </a:p>
        </p:txBody>
      </p:sp>
      <p:sp>
        <p:nvSpPr>
          <p:cNvPr id="5" name="!!ad0"/>
          <p:cNvSpPr txBox="1"/>
          <p:nvPr/>
        </p:nvSpPr>
        <p:spPr>
          <a:xfrm>
            <a:off x="3931920" y="5120640"/>
            <a:ext cx="9144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Helvetica Neue"/>
              </a:rPr>
              <a:t>Tokenization</a:t>
            </a:r>
          </a:p>
        </p:txBody>
      </p:sp>
      <p:sp>
        <p:nvSpPr>
          <p:cNvPr id="6" name="!!no1"/>
          <p:cNvSpPr txBox="1"/>
          <p:nvPr/>
        </p:nvSpPr>
        <p:spPr>
          <a:xfrm>
            <a:off x="2377440" y="6995160"/>
            <a:ext cx="12801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C08A2E"/>
                </a:solidFill>
                <a:latin typeface="Helvetica Neue"/>
              </a:rPr>
              <a:t>2)</a:t>
            </a:r>
          </a:p>
        </p:txBody>
      </p:sp>
      <p:sp>
        <p:nvSpPr>
          <p:cNvPr id="7" name="!!ad1"/>
          <p:cNvSpPr txBox="1"/>
          <p:nvPr/>
        </p:nvSpPr>
        <p:spPr>
          <a:xfrm>
            <a:off x="3931920" y="6995160"/>
            <a:ext cx="9144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Helvetica Neue"/>
              </a:rPr>
              <a:t>Token Embeddings</a:t>
            </a:r>
          </a:p>
        </p:txBody>
      </p:sp>
      <p:sp>
        <p:nvSpPr>
          <p:cNvPr id="8" name="!!no2"/>
          <p:cNvSpPr txBox="1"/>
          <p:nvPr/>
        </p:nvSpPr>
        <p:spPr>
          <a:xfrm>
            <a:off x="2377440" y="8869680"/>
            <a:ext cx="12801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C08A2E"/>
                </a:solidFill>
                <a:latin typeface="Helvetica Neue"/>
              </a:rPr>
              <a:t>3)</a:t>
            </a:r>
          </a:p>
        </p:txBody>
      </p:sp>
      <p:sp>
        <p:nvSpPr>
          <p:cNvPr id="9" name="!!ad2"/>
          <p:cNvSpPr txBox="1"/>
          <p:nvPr/>
        </p:nvSpPr>
        <p:spPr>
          <a:xfrm>
            <a:off x="3931920" y="8869680"/>
            <a:ext cx="9144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Helvetica Neue"/>
              </a:rPr>
              <a:t>Positional Encodings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Embeddings  ·  1) Tokenization</a:t>
            </a:r>
          </a:p>
        </p:txBody>
      </p:sp>
      <p:pic>
        <p:nvPicPr>
          <p:cNvPr id="3" name="!!adim" descr="tok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2377440"/>
            <a:ext cx="11471514" cy="418173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Model metni görmez.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Önce sayıya çevrilmesi gerekir.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Gerçek token'lar nasıl görünüyor?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66544" y="2651760"/>
            <a:ext cx="2024481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1A1A1A"/>
                </a:solidFill>
                <a:latin typeface="Helvetica Neue"/>
              </a:rPr>
              <a:t>Aynı Türkçe cümle, </a:t>
            </a:r>
            <a:r>
              <a:rPr sz="3400" b="1">
                <a:solidFill>
                  <a:srgbClr val="1A1A1A"/>
                </a:solidFill>
                <a:latin typeface="Helvetica Neue"/>
              </a:rPr>
              <a:t>üç farklı tokenizer.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4480560"/>
            <a:ext cx="21460968" cy="173736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965960" y="502920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9A9A9A"/>
                </a:solidFill>
                <a:latin typeface="Helvetica Neue"/>
              </a:rPr>
              <a:t>GPT-3</a:t>
            </a:r>
          </a:p>
        </p:txBody>
      </p:sp>
      <p:pic>
        <p:nvPicPr>
          <p:cNvPr id="6" name="Picture 5" descr="gpt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4909430"/>
            <a:ext cx="17922240" cy="8796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463040" y="6629400"/>
            <a:ext cx="21460968" cy="173736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65960" y="717804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5263F"/>
                </a:solidFill>
                <a:latin typeface="Helvetica Neue"/>
              </a:rPr>
              <a:t>GPT-4</a:t>
            </a:r>
          </a:p>
        </p:txBody>
      </p:sp>
      <p:pic>
        <p:nvPicPr>
          <p:cNvPr id="9" name="Picture 8" descr="gpt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7010768"/>
            <a:ext cx="17922240" cy="97462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463040" y="8778240"/>
            <a:ext cx="21460968" cy="173736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65960" y="932688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C08A2E"/>
                </a:solidFill>
                <a:latin typeface="Helvetica Neue"/>
              </a:rPr>
              <a:t>GPT-5</a:t>
            </a:r>
          </a:p>
        </p:txBody>
      </p:sp>
      <p:pic>
        <p:nvPicPr>
          <p:cNvPr id="12" name="Picture 11" descr="gpt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9176710"/>
            <a:ext cx="17922240" cy="9404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Aynı cümle, farklı bölünme: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token sayısı modelden modele değişir.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Embeddings  ·  1) Tokenization</a:t>
            </a:r>
          </a:p>
        </p:txBody>
      </p:sp>
      <p:pic>
        <p:nvPicPr>
          <p:cNvPr id="3" name="!!adim" descr="tok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2377440"/>
            <a:ext cx="7694767" cy="14880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Elimizde tek bir cümle var.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Şimdi onu parçalayacağız.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Embeddings  ·  1) Tokenization</a:t>
            </a:r>
          </a:p>
        </p:txBody>
      </p:sp>
      <p:pic>
        <p:nvPicPr>
          <p:cNvPr id="3" name="!!adim" descr="tok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2377440"/>
            <a:ext cx="9258209" cy="227923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Token her zaman bir kelime değildir —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parçadır.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Embeddings  ·  2) Token Embeddings</a:t>
            </a:r>
          </a:p>
        </p:txBody>
      </p:sp>
      <p:pic>
        <p:nvPicPr>
          <p:cNvPr id="3" name="!!adim" descr="em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2377440"/>
            <a:ext cx="9267627" cy="302328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Her token sözlükte bir numaraya karşılık gelir.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Ama numara anlam taşımaz.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Embeddings  ·  2) Token Embeddings</a:t>
            </a:r>
          </a:p>
        </p:txBody>
      </p:sp>
      <p:pic>
        <p:nvPicPr>
          <p:cNvPr id="3" name="!!adim" descr="em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2377440"/>
            <a:ext cx="13232740" cy="914518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Numara vektöre dönüşür: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anlam artık bir sayı dizisinde.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Embeddings  ·  2) Token Embeddings</a:t>
            </a:r>
          </a:p>
        </p:txBody>
      </p:sp>
      <p:pic>
        <p:nvPicPr>
          <p:cNvPr id="3" name="!!adim" descr="emb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2377440"/>
            <a:ext cx="15747431" cy="824103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Matrisin iki boyutu var: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kaç token ve her token kaç sayı.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Embeddings  ·  2) Token Embeddings</a:t>
            </a:r>
          </a:p>
        </p:txBody>
      </p:sp>
      <p:pic>
        <p:nvPicPr>
          <p:cNvPr id="3" name="!!adim" descr="em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2377440"/>
            <a:ext cx="15851033" cy="883438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Bu rakamlar henüz öğrenilmiş değil: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eğitim öncesi rastgele başlatılan ağırlıklar.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Embeddings  ·  2) Token Embeddings</a:t>
            </a:r>
          </a:p>
        </p:txBody>
      </p:sp>
      <p:pic>
        <p:nvPicPr>
          <p:cNvPr id="3" name="!!adim" descr="em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2377440"/>
            <a:ext cx="15851033" cy="883438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Aynı tablo, eğitimden sonra: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rastgele sayılar yerine oturdu.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Embeddings  ·  3) Positional Encodings</a:t>
            </a:r>
          </a:p>
        </p:txBody>
      </p:sp>
      <p:pic>
        <p:nvPicPr>
          <p:cNvPr id="3" name="!!sahne" descr="po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443" y="2377440"/>
            <a:ext cx="16011144" cy="805266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Aynı boyutta ikinci bir matris: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bu sefer kelime değil, konum.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Embeddings  ·  3) Positional Encodings</a:t>
            </a:r>
          </a:p>
        </p:txBody>
      </p:sp>
      <p:pic>
        <p:nvPicPr>
          <p:cNvPr id="3" name="!!sahne" descr="po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346" y="2377440"/>
            <a:ext cx="11895338" cy="729919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Her konuma sinüs ve kosinüsten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benzersiz bir parmak izi.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Embeddings  ·  Toplam</a:t>
            </a:r>
          </a:p>
        </p:txBody>
      </p:sp>
      <p:pic>
        <p:nvPicPr>
          <p:cNvPr id="3" name="!!sahne" descr="po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443" y="2377440"/>
            <a:ext cx="16011144" cy="843881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İki matris toplanır: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her satır artık hem ne olduğunu hem nerede olduğunu taşır.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Attention</a:t>
            </a:r>
          </a:p>
        </p:txBody>
      </p:sp>
      <p:pic>
        <p:nvPicPr>
          <p:cNvPr id="3" name="!!sahne" descr="at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180" y="2377440"/>
            <a:ext cx="14739671" cy="733687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Şimdiye kadar mavi kutunun altındaydık.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Artık içine giriyoruz.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Self-Attention</a:t>
            </a:r>
          </a:p>
        </p:txBody>
      </p:sp>
      <p:pic>
        <p:nvPicPr>
          <p:cNvPr id="3" name="!!sema" descr="att_s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8352" y="2468880"/>
            <a:ext cx="6487327" cy="78638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Aşağıdan yukarı: kaynak, embedding, konum,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sonra attention.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Self-Attention</a:t>
            </a:r>
          </a:p>
        </p:txBody>
      </p:sp>
      <p:pic>
        <p:nvPicPr>
          <p:cNvPr id="3" name="!!sema" descr="att_s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894335" y="1556977"/>
            <a:ext cx="8595360" cy="1041916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Aynı şema, yan çevrildi: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artık soldan sağa bir akış.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Self-Attention  ·  Key, Query, Value</a:t>
            </a:r>
          </a:p>
        </p:txBody>
      </p:sp>
      <p:pic>
        <p:nvPicPr>
          <p:cNvPr id="3" name="!!sahne" descr="att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797" y="2377440"/>
            <a:ext cx="13982437" cy="89611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Aynı matristen üç farklı çıktı: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Key, Query, Value.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Self-Attention  ·  Aynı kelime, üç rol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80160" y="2103120"/>
            <a:ext cx="21826728" cy="12344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03120"/>
            <a:ext cx="21826728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>
                <a:solidFill>
                  <a:srgbClr val="15263F"/>
                </a:solidFill>
                <a:latin typeface="Helvetica Neue"/>
              </a:rPr>
              <a:t>“Çanta valize sığmadı, çünkü o çok büyüktü.”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3749040"/>
            <a:ext cx="6903720" cy="64008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0240" y="4297680"/>
            <a:ext cx="1188720" cy="1188720"/>
          </a:xfrm>
          <a:prstGeom prst="ellipse">
            <a:avLst/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4544568"/>
            <a:ext cx="1188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Helvetica Neue"/>
              </a:rPr>
              <a:t>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4407408"/>
            <a:ext cx="4160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8A3B2F"/>
                </a:solidFill>
                <a:latin typeface="Helvetica Neue"/>
              </a:rPr>
              <a:t>SORAN 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4992624"/>
            <a:ext cx="4160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8A8A8A"/>
                </a:solidFill>
                <a:latin typeface="Helvetica Neue"/>
              </a:rPr>
              <a:t>Q = X · W</a:t>
            </a:r>
            <a:r>
              <a:rPr sz="1500" baseline="-25000">
                <a:solidFill>
                  <a:srgbClr val="8A8A8A"/>
                </a:solidFill>
                <a:latin typeface="Helvetica Neue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6080760"/>
            <a:ext cx="56235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1A1A"/>
                </a:solidFill>
                <a:latin typeface="Helvetica Neue"/>
              </a:rPr>
              <a:t>“Ben ne arıyorum?”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7452360"/>
            <a:ext cx="56235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1A1A1A"/>
                </a:solidFill>
                <a:latin typeface="Helvetica Neue"/>
              </a:rPr>
              <a:t>Her token'ın kendi sorusu var. Cümlede tek bir soru yok — yedi kelime varsa yedi soru var, hepsi aynı anda.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41664" y="3749040"/>
            <a:ext cx="6903720" cy="64008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81744" y="4297680"/>
            <a:ext cx="1188720" cy="1188720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81744" y="4544568"/>
            <a:ext cx="1188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Helvetica Neue"/>
              </a:rPr>
              <a:t>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44784" y="4407408"/>
            <a:ext cx="4160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15263F"/>
                </a:solidFill>
                <a:latin typeface="Helvetica Neue"/>
              </a:rPr>
              <a:t>TANITAN 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44784" y="4992624"/>
            <a:ext cx="4160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8A8A8A"/>
                </a:solidFill>
                <a:latin typeface="Helvetica Neue"/>
              </a:rPr>
              <a:t>K = X · W</a:t>
            </a:r>
            <a:r>
              <a:rPr sz="1500" baseline="-25000">
                <a:solidFill>
                  <a:srgbClr val="8A8A8A"/>
                </a:solidFill>
                <a:latin typeface="Helvetica Neue"/>
              </a:rPr>
              <a:t>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81744" y="6080760"/>
            <a:ext cx="56235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1A1A"/>
                </a:solidFill>
                <a:latin typeface="Helvetica Neue"/>
              </a:rPr>
              <a:t>“Ben ne diye aranırım?”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81744" y="7452360"/>
            <a:ext cx="56235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1A1A1A"/>
                </a:solidFill>
                <a:latin typeface="Helvetica Neue"/>
              </a:rPr>
              <a:t>Her token kendini tanıtan bir etiket üretiyor. Eşleşme bu etiketler üzerinden oluyor.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203168" y="3749040"/>
            <a:ext cx="6903720" cy="64008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6843248" y="4297680"/>
            <a:ext cx="1188720" cy="1188720"/>
          </a:xfrm>
          <a:prstGeom prst="ellipse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843248" y="4544568"/>
            <a:ext cx="1188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Helvetica Neue"/>
              </a:rPr>
              <a:t>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306288" y="4407408"/>
            <a:ext cx="4160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C08A2E"/>
                </a:solidFill>
                <a:latin typeface="Helvetica Neue"/>
              </a:rPr>
              <a:t>TAŞIYAN 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306288" y="4992624"/>
            <a:ext cx="4160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8A8A8A"/>
                </a:solidFill>
                <a:latin typeface="Helvetica Neue"/>
              </a:rPr>
              <a:t>V = X · W</a:t>
            </a:r>
            <a:r>
              <a:rPr sz="1500" baseline="-25000">
                <a:solidFill>
                  <a:srgbClr val="8A8A8A"/>
                </a:solidFill>
                <a:latin typeface="Helvetica Neue"/>
              </a:rPr>
              <a:t>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843248" y="6080760"/>
            <a:ext cx="56235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1A1A"/>
                </a:solidFill>
                <a:latin typeface="Helvetica Neue"/>
              </a:rPr>
              <a:t>“Bana ulaşan ne alır?”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843248" y="7452360"/>
            <a:ext cx="56235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1A1A1A"/>
                </a:solidFill>
                <a:latin typeface="Helvetica Neue"/>
              </a:rPr>
              <a:t>O token'ın taşıdığı içerik. Eşleşmeden bağımsız, zaten hazır. Eşleşme sadece ne kadarının aktığını belirler.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10469880"/>
            <a:ext cx="218267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15263F"/>
                </a:solidFill>
                <a:latin typeface="Helvetica Neue"/>
              </a:rPr>
              <a:t>Üç matris de eğitimle öğrenilir. </a:t>
            </a:r>
            <a:r>
              <a:rPr sz="2200" b="1">
                <a:solidFill>
                  <a:srgbClr val="15263F"/>
                </a:solidFill>
                <a:latin typeface="Helvetica Neue"/>
              </a:rPr>
              <a:t>Girdi üçünde de aynı — değişen şey ağırlıklar.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Aynı kelime üç işe koşuluyor: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sormak, tanıtmak, taşımak.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Self-Attention  ·  Cümledeki her kelimenin üçü de var</a:t>
            </a:r>
          </a:p>
        </p:txBody>
      </p:sp>
      <p:sp>
        <p:nvSpPr>
          <p:cNvPr id="3" name="Rectangle 2"/>
          <p:cNvSpPr/>
          <p:nvPr/>
        </p:nvSpPr>
        <p:spPr>
          <a:xfrm>
            <a:off x="1280160" y="2148840"/>
            <a:ext cx="2834640" cy="777240"/>
          </a:xfrm>
          <a:prstGeom prst="rect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2148840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token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148840"/>
            <a:ext cx="6327648" cy="777240"/>
          </a:xfrm>
          <a:prstGeom prst="rect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34840" y="2148840"/>
            <a:ext cx="568756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Q — ne arıyor?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42448" y="2148840"/>
            <a:ext cx="6327648" cy="777240"/>
          </a:xfrm>
          <a:prstGeom prst="rect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62488" y="2148840"/>
            <a:ext cx="568756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K — nasıl tanıtıyor?</a:t>
            </a:r>
          </a:p>
        </p:txBody>
      </p:sp>
      <p:sp>
        <p:nvSpPr>
          <p:cNvPr id="9" name="Rectangle 8"/>
          <p:cNvSpPr/>
          <p:nvPr/>
        </p:nvSpPr>
        <p:spPr>
          <a:xfrm>
            <a:off x="16770096" y="2148840"/>
            <a:ext cx="6336792" cy="777240"/>
          </a:xfrm>
          <a:prstGeom prst="rect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90136" y="2148840"/>
            <a:ext cx="569671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V — ne taşıyor?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2926080"/>
            <a:ext cx="2834640" cy="86868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2926080"/>
            <a:ext cx="2194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15263F"/>
                </a:solidFill>
                <a:latin typeface="Helvetica Neue"/>
              </a:rPr>
              <a:t>çanta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2926080"/>
            <a:ext cx="6327648" cy="86868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926080"/>
            <a:ext cx="568756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1A1A1A"/>
                </a:solidFill>
                <a:latin typeface="Helvetica Neue"/>
              </a:rPr>
              <a:t>beni ne niteliyor?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42448" y="2926080"/>
            <a:ext cx="6327648" cy="86868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62488" y="2926080"/>
            <a:ext cx="568756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1A1A1A"/>
                </a:solidFill>
                <a:latin typeface="Helvetica Neue"/>
              </a:rPr>
              <a:t>tekil somut nesne, özne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770096" y="2926080"/>
            <a:ext cx="6336792" cy="86868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090136" y="2926080"/>
            <a:ext cx="569671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1A1A1A"/>
                </a:solidFill>
                <a:latin typeface="Helvetica Neue"/>
              </a:rPr>
              <a:t>hacimli, eşya alan kap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80160" y="3794760"/>
            <a:ext cx="21826728" cy="0"/>
          </a:xfrm>
          <a:prstGeom prst="line">
            <a:avLst/>
          </a:prstGeom>
          <a:ln w="1270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280160" y="3794760"/>
            <a:ext cx="28346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00200" y="3794760"/>
            <a:ext cx="2194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15263F"/>
                </a:solidFill>
                <a:latin typeface="Helvetica Neue"/>
              </a:rPr>
              <a:t>valize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3794760"/>
            <a:ext cx="6327648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794760"/>
            <a:ext cx="568756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1A1A1A"/>
                </a:solidFill>
                <a:latin typeface="Helvetica Neue"/>
              </a:rPr>
              <a:t>ben neyin içindeyim?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42448" y="3794760"/>
            <a:ext cx="6327648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62488" y="3794760"/>
            <a:ext cx="568756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1A1A1A"/>
                </a:solidFill>
                <a:latin typeface="Helvetica Neue"/>
              </a:rPr>
              <a:t>tekil somut nesne, yer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770096" y="3794760"/>
            <a:ext cx="6336792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090136" y="3794760"/>
            <a:ext cx="569671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1A1A1A"/>
                </a:solidFill>
                <a:latin typeface="Helvetica Neue"/>
              </a:rPr>
              <a:t>sert, hacmi belli kap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280160" y="4663440"/>
            <a:ext cx="21826728" cy="0"/>
          </a:xfrm>
          <a:prstGeom prst="line">
            <a:avLst/>
          </a:prstGeom>
          <a:ln w="1270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1280160" y="4663440"/>
            <a:ext cx="2834640" cy="86868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00200" y="4663440"/>
            <a:ext cx="2194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15263F"/>
                </a:solidFill>
                <a:latin typeface="Helvetica Neue"/>
              </a:rPr>
              <a:t>sığmadı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0" y="4663440"/>
            <a:ext cx="6327648" cy="86868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4840" y="4663440"/>
            <a:ext cx="568756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1A1A1A"/>
                </a:solidFill>
                <a:latin typeface="Helvetica Neue"/>
              </a:rPr>
              <a:t>öznem kim, nesnem ne?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442448" y="4663440"/>
            <a:ext cx="6327648" cy="86868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62488" y="4663440"/>
            <a:ext cx="568756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1A1A1A"/>
                </a:solidFill>
                <a:latin typeface="Helvetica Neue"/>
              </a:rPr>
              <a:t>olumsuz fiil, geçmiş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770096" y="4663440"/>
            <a:ext cx="6336792" cy="86868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090136" y="4663440"/>
            <a:ext cx="569671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1A1A1A"/>
                </a:solidFill>
                <a:latin typeface="Helvetica Neue"/>
              </a:rPr>
              <a:t>boyut uyuşmazlığı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280160" y="5532120"/>
            <a:ext cx="21826728" cy="0"/>
          </a:xfrm>
          <a:prstGeom prst="line">
            <a:avLst/>
          </a:prstGeom>
          <a:ln w="1270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280160" y="5532120"/>
            <a:ext cx="28346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00200" y="5532120"/>
            <a:ext cx="2194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15263F"/>
                </a:solidFill>
                <a:latin typeface="Helvetica Neue"/>
              </a:rPr>
              <a:t>çünkü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5532120"/>
            <a:ext cx="6327648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4840" y="5532120"/>
            <a:ext cx="568756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1A1A1A"/>
                </a:solidFill>
                <a:latin typeface="Helvetica Neue"/>
              </a:rPr>
              <a:t>hangi iki olayı bağlıyorum?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442448" y="5532120"/>
            <a:ext cx="6327648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62488" y="5532120"/>
            <a:ext cx="568756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1A1A1A"/>
                </a:solidFill>
                <a:latin typeface="Helvetica Neue"/>
              </a:rPr>
              <a:t>bağlaç, neden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770096" y="5532120"/>
            <a:ext cx="6336792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090136" y="5532120"/>
            <a:ext cx="569671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1A1A1A"/>
                </a:solidFill>
                <a:latin typeface="Helvetica Neue"/>
              </a:rPr>
              <a:t>nedensellik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280160" y="6400800"/>
            <a:ext cx="21826728" cy="0"/>
          </a:xfrm>
          <a:prstGeom prst="line">
            <a:avLst/>
          </a:prstGeom>
          <a:ln w="1270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1280160" y="6400800"/>
            <a:ext cx="2834640" cy="868680"/>
          </a:xfrm>
          <a:prstGeom prst="rect">
            <a:avLst/>
          </a:prstGeom>
          <a:solidFill>
            <a:srgbClr val="F7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600200" y="6400800"/>
            <a:ext cx="2194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8A3B2F"/>
                </a:solidFill>
                <a:latin typeface="Helvetica Neue"/>
              </a:rPr>
              <a:t>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0" y="6400800"/>
            <a:ext cx="6327648" cy="868680"/>
          </a:xfrm>
          <a:prstGeom prst="rect">
            <a:avLst/>
          </a:prstGeom>
          <a:solidFill>
            <a:srgbClr val="F7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34840" y="6400800"/>
            <a:ext cx="568756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A1A1A"/>
                </a:solidFill>
                <a:latin typeface="Helvetica Neue"/>
              </a:rPr>
              <a:t>hangi nesneyi işaret ediyorum?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42448" y="6400800"/>
            <a:ext cx="6327648" cy="868680"/>
          </a:xfrm>
          <a:prstGeom prst="rect">
            <a:avLst/>
          </a:prstGeom>
          <a:solidFill>
            <a:srgbClr val="F7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762488" y="6400800"/>
            <a:ext cx="568756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A1A1A"/>
                </a:solidFill>
                <a:latin typeface="Helvetica Neue"/>
              </a:rPr>
              <a:t>zamir, tekil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770096" y="6400800"/>
            <a:ext cx="6336792" cy="868680"/>
          </a:xfrm>
          <a:prstGeom prst="rect">
            <a:avLst/>
          </a:prstGeom>
          <a:solidFill>
            <a:srgbClr val="F7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7090136" y="6400800"/>
            <a:ext cx="569671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1A1A1A"/>
                </a:solidFill>
                <a:latin typeface="Helvetica Neue"/>
              </a:rPr>
              <a:t>henüz boş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280160" y="7269480"/>
            <a:ext cx="21826728" cy="0"/>
          </a:xfrm>
          <a:prstGeom prst="line">
            <a:avLst/>
          </a:prstGeom>
          <a:ln w="1270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1280160" y="7269480"/>
            <a:ext cx="28346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600200" y="7269480"/>
            <a:ext cx="2194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15263F"/>
                </a:solidFill>
                <a:latin typeface="Helvetica Neue"/>
              </a:rPr>
              <a:t>çok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0" y="7269480"/>
            <a:ext cx="6327648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34840" y="7269480"/>
            <a:ext cx="568756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1A1A1A"/>
                </a:solidFill>
                <a:latin typeface="Helvetica Neue"/>
              </a:rPr>
              <a:t>neyi derecelendiriyorum?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42448" y="7269480"/>
            <a:ext cx="6327648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762488" y="7269480"/>
            <a:ext cx="568756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1A1A1A"/>
                </a:solidFill>
                <a:latin typeface="Helvetica Neue"/>
              </a:rPr>
              <a:t>derece zarfı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770096" y="7269480"/>
            <a:ext cx="6336792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7090136" y="7269480"/>
            <a:ext cx="569671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1A1A1A"/>
                </a:solidFill>
                <a:latin typeface="Helvetica Neue"/>
              </a:rPr>
              <a:t>yoğunluk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280160" y="8138160"/>
            <a:ext cx="21826728" cy="0"/>
          </a:xfrm>
          <a:prstGeom prst="line">
            <a:avLst/>
          </a:prstGeom>
          <a:ln w="1270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1280160" y="8138160"/>
            <a:ext cx="2834640" cy="86868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00200" y="8138160"/>
            <a:ext cx="2194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15263F"/>
                </a:solidFill>
                <a:latin typeface="Helvetica Neue"/>
              </a:rPr>
              <a:t>büyüktü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14800" y="8138160"/>
            <a:ext cx="6327648" cy="86868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34840" y="8138160"/>
            <a:ext cx="568756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1A1A1A"/>
                </a:solidFill>
                <a:latin typeface="Helvetica Neue"/>
              </a:rPr>
              <a:t>kimin sıfatıyım?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442448" y="8138160"/>
            <a:ext cx="6327648" cy="86868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762488" y="8138160"/>
            <a:ext cx="568756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1A1A1A"/>
                </a:solidFill>
                <a:latin typeface="Helvetica Neue"/>
              </a:rPr>
              <a:t>boyut sıfatı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770096" y="8138160"/>
            <a:ext cx="6336792" cy="86868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7090136" y="8138160"/>
            <a:ext cx="569671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1A1A1A"/>
                </a:solidFill>
                <a:latin typeface="Helvetica Neue"/>
              </a:rPr>
              <a:t>büyüklük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280160" y="9006840"/>
            <a:ext cx="21826728" cy="0"/>
          </a:xfrm>
          <a:prstGeom prst="line">
            <a:avLst/>
          </a:prstGeom>
          <a:ln w="1270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1280160" y="9281160"/>
            <a:ext cx="218267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8A8A8A"/>
                </a:solidFill>
                <a:latin typeface="Helvetica Neue"/>
              </a:rPr>
              <a:t>“o” kelimesinin Query'si, cümledeki bütün Key'lerle tek tek çarpılınca: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280160" y="9829800"/>
            <a:ext cx="3931920" cy="65836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8A3B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280160" y="9829800"/>
            <a:ext cx="3931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8A3B2F"/>
                </a:solidFill>
                <a:latin typeface="Helvetica Neue"/>
              </a:rPr>
              <a:t>çanta  </a:t>
            </a:r>
            <a:r>
              <a:rPr sz="2000" b="1">
                <a:solidFill>
                  <a:srgbClr val="8A3B2F"/>
                </a:solidFill>
                <a:latin typeface="Helvetica Neue"/>
              </a:rPr>
              <a:t>0.62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779008" y="9829800"/>
            <a:ext cx="3931920" cy="65836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779008" y="9829800"/>
            <a:ext cx="3931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8A8A8A"/>
                </a:solidFill>
                <a:latin typeface="Helvetica Neue"/>
              </a:rPr>
              <a:t>valiz  </a:t>
            </a:r>
            <a:r>
              <a:rPr sz="2000" b="1">
                <a:solidFill>
                  <a:srgbClr val="8A8A8A"/>
                </a:solidFill>
                <a:latin typeface="Helvetica Neue"/>
              </a:rPr>
              <a:t>0.15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0277856" y="9829800"/>
            <a:ext cx="3931920" cy="65836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277856" y="9829800"/>
            <a:ext cx="3931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8A8A8A"/>
                </a:solidFill>
                <a:latin typeface="Helvetica Neue"/>
              </a:rPr>
              <a:t>büyüktü  </a:t>
            </a:r>
            <a:r>
              <a:rPr sz="2000" b="1">
                <a:solidFill>
                  <a:srgbClr val="8A8A8A"/>
                </a:solidFill>
                <a:latin typeface="Helvetica Neue"/>
              </a:rPr>
              <a:t>0.09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4776704" y="9829800"/>
            <a:ext cx="3931920" cy="65836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4776704" y="9829800"/>
            <a:ext cx="3931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8A8A8A"/>
                </a:solidFill>
                <a:latin typeface="Helvetica Neue"/>
              </a:rPr>
              <a:t>sığmadı  </a:t>
            </a:r>
            <a:r>
              <a:rPr sz="2000" b="1">
                <a:solidFill>
                  <a:srgbClr val="8A8A8A"/>
                </a:solidFill>
                <a:latin typeface="Helvetica Neue"/>
              </a:rPr>
              <a:t>0.07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9275552" y="9829800"/>
            <a:ext cx="3931920" cy="65836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9275552" y="9829800"/>
            <a:ext cx="3931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8A8A8A"/>
                </a:solidFill>
                <a:latin typeface="Helvetica Neue"/>
              </a:rPr>
              <a:t>diğerleri  </a:t>
            </a:r>
            <a:r>
              <a:rPr sz="2000" b="1">
                <a:solidFill>
                  <a:srgbClr val="8A8A8A"/>
                </a:solidFill>
                <a:latin typeface="Helvetica Neue"/>
              </a:rPr>
              <a:t>0.07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280160" y="10607040"/>
            <a:ext cx="21826728" cy="82296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280160" y="10607040"/>
            <a:ext cx="2182672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5263F"/>
                </a:solidFill>
                <a:latin typeface="Helvetica Neue"/>
              </a:rPr>
              <a:t>yeni “o”  =  </a:t>
            </a:r>
            <a:r>
              <a:rPr sz="2400" b="0">
                <a:solidFill>
                  <a:srgbClr val="15263F"/>
                </a:solidFill>
                <a:latin typeface="Helvetica Neue"/>
              </a:rPr>
              <a:t>0.62·V(çanta) + 0.15·V(valiz) + 0.09·V(büyüktü) + …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Hiçbiri seçilmedi —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hepsi ağırlığınca karıştı.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Self-Attention  ·  Query ve Key</a:t>
            </a:r>
          </a:p>
        </p:txBody>
      </p:sp>
      <p:pic>
        <p:nvPicPr>
          <p:cNvPr id="3" name="!!sahne" descr="sa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443" y="2377440"/>
            <a:ext cx="16011144" cy="5716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Her token için bir Query,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her token için bir Key.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Self-Attention  ·  Query × Keyᵀ</a:t>
            </a:r>
          </a:p>
        </p:txBody>
      </p:sp>
      <p:pic>
        <p:nvPicPr>
          <p:cNvPr id="3" name="!!sahne" descr="sa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443" y="2377440"/>
            <a:ext cx="16011144" cy="58299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Query matrisi, Key matrisinin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devriğiyle çarpılır.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Self-Attention  ·  Dot Product</a:t>
            </a:r>
          </a:p>
        </p:txBody>
      </p:sp>
      <p:pic>
        <p:nvPicPr>
          <p:cNvPr id="3" name="!!sahne" descr="sa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6111" y="2377440"/>
            <a:ext cx="13311809" cy="89611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Sonuç kare bir matris: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sequence length × sequence length.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Self-Attention  ·  Scaled Dot Product</a:t>
            </a:r>
          </a:p>
        </p:txBody>
      </p:sp>
      <p:pic>
        <p:nvPicPr>
          <p:cNvPr id="3" name="!!sahne" descr="sa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443" y="2377440"/>
            <a:ext cx="16011144" cy="631027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Head size'ın kareköküne bölünür,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sonra softmax uygulanır.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Self-Attention  ·  Attention Weights</a:t>
            </a:r>
          </a:p>
        </p:txBody>
      </p:sp>
      <p:pic>
        <p:nvPicPr>
          <p:cNvPr id="3" name="!!sahne" descr="sa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6035" y="2377440"/>
            <a:ext cx="12111960" cy="838230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Her satır 1'e toplanır: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o token'ın dikkat dağılımı.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Self-Attention  ·  × Value</a:t>
            </a:r>
          </a:p>
        </p:txBody>
      </p:sp>
      <p:pic>
        <p:nvPicPr>
          <p:cNvPr id="3" name="!!sahne" descr="sa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443" y="2377440"/>
            <a:ext cx="16011144" cy="75252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Ağırlıklar Value matrisiyle çarpılır.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Self-Attention  ·  Context Vector</a:t>
            </a:r>
          </a:p>
        </p:txBody>
      </p:sp>
      <p:pic>
        <p:nvPicPr>
          <p:cNvPr id="3" name="!!sahne" descr="sa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5231" y="2377440"/>
            <a:ext cx="12733569" cy="839172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Çıktı: her token için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bağlamla zenginleştirilmiş yeni bir vektör.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Self-Attention  ·  Neler yaptık?</a:t>
            </a:r>
          </a:p>
        </p:txBody>
      </p:sp>
      <p:pic>
        <p:nvPicPr>
          <p:cNvPr id="3" name="!!sahne" descr="sa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302" y="2377440"/>
            <a:ext cx="10501427" cy="4388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Self-Attention  ·  Özet  1/3</a:t>
            </a:r>
          </a:p>
        </p:txBody>
      </p:sp>
      <p:pic>
        <p:nvPicPr>
          <p:cNvPr id="3" name="!!sahne" descr="sa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6227" y="2377440"/>
            <a:ext cx="13251576" cy="874961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Embeddings'ten üç matris: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Key, Query, Value.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Self-Attention  ·  Özet  2/3</a:t>
            </a:r>
          </a:p>
        </p:txBody>
      </p:sp>
      <p:pic>
        <p:nvPicPr>
          <p:cNvPr id="3" name="!!sahne" descr="sa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86" y="2377440"/>
            <a:ext cx="13910859" cy="647038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Key ve Query'den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Scaled Dot Product.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Self-Attention  ·  Özet  3/3</a:t>
            </a:r>
          </a:p>
        </p:txBody>
      </p:sp>
      <p:pic>
        <p:nvPicPr>
          <p:cNvPr id="3" name="!!sahne" descr="sa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443" y="2377440"/>
            <a:ext cx="16011144" cy="668700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Value ile çarpım: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Context Vector.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Peki ya Multi-Head Attention?</a:t>
            </a:r>
          </a:p>
        </p:txBody>
      </p:sp>
      <p:pic>
        <p:nvPicPr>
          <p:cNvPr id="3" name="!!sahne" descr="sa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443" y="2377440"/>
            <a:ext cx="16011144" cy="740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Single Head Attention</a:t>
            </a:r>
          </a:p>
        </p:txBody>
      </p:sp>
      <p:pic>
        <p:nvPicPr>
          <p:cNvPr id="3" name="!!sahne" descr="mh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443" y="3118927"/>
            <a:ext cx="16011144" cy="747814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Şimdiye kadar anlattığımız: tek bir attention başlığı.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Multi-Head Attention</a:t>
            </a:r>
          </a:p>
        </p:txBody>
      </p:sp>
      <p:pic>
        <p:nvPicPr>
          <p:cNvPr id="3" name="!!sahne" descr="mh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3674608"/>
            <a:ext cx="7431054" cy="636678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Tek bir Key matrisi vardı…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Multi-Head Attention</a:t>
            </a:r>
          </a:p>
        </p:txBody>
      </p:sp>
      <p:pic>
        <p:nvPicPr>
          <p:cNvPr id="3" name="!!sahne" descr="mh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443" y="3523915"/>
            <a:ext cx="16011144" cy="666817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…artık birden fazla Key matrisi var.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Multi-Head Attention</a:t>
            </a:r>
          </a:p>
        </p:txBody>
      </p:sp>
      <p:pic>
        <p:nvPicPr>
          <p:cNvPr id="3" name="!!sahne" descr="mh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443" y="3095381"/>
            <a:ext cx="16011144" cy="75252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Her başlık kendi Key, Query ve Value'sunu üretir.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Multi-Head Attention  ·  Concat</a:t>
            </a:r>
          </a:p>
        </p:txBody>
      </p:sp>
      <p:pic>
        <p:nvPicPr>
          <p:cNvPr id="3" name="!!sahne" descr="mh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443" y="3679317"/>
            <a:ext cx="16011144" cy="635736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Başlıkların çıktısı birleştirilip tek projeksiyondan geçer.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</a:rPr>
              <a:t>Hangi Mimariler Var?  ·  CNN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66543" y="1874519"/>
            <a:ext cx="20244816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0">
                <a:solidFill>
                  <a:srgbClr val="1A1A1A"/>
                </a:solidFill>
              </a:rPr>
              <a:t>Görüntüden öznitelikleri </a:t>
            </a:r>
            <a:r>
              <a:rPr sz="4000" b="1">
                <a:solidFill>
                  <a:srgbClr val="1A1A1A"/>
                </a:solidFill>
              </a:rPr>
              <a:t>katman katman kendisi çıkarır</a:t>
            </a:r>
            <a:r>
              <a:rPr sz="4000" b="0">
                <a:solidFill>
                  <a:srgbClr val="1A1A1A"/>
                </a:solidFill>
              </a:rPr>
              <a:t>, sonuna da bir sinir ağı ekler.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4480" y="5715000"/>
            <a:ext cx="210312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B6C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83080" y="5943600"/>
            <a:ext cx="182880" cy="173736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148840" y="5943600"/>
            <a:ext cx="182880" cy="173736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514600" y="5943600"/>
            <a:ext cx="182880" cy="173736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880360" y="5943600"/>
            <a:ext cx="182880" cy="173736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46120" y="5943600"/>
            <a:ext cx="182880" cy="173736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606040" y="6858000"/>
            <a:ext cx="502920" cy="502920"/>
          </a:xfrm>
          <a:prstGeom prst="rect">
            <a:avLst/>
          </a:prstGeom>
          <a:noFill/>
          <a:ln w="31750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813816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6E6E6E"/>
                </a:solidFill>
              </a:rPr>
              <a:t>Girdi görüntü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859536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>
                <a:solidFill>
                  <a:srgbClr val="C08A2E"/>
                </a:solidFill>
              </a:rPr>
              <a:t>+ filtre (kernel)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3931920" y="6656832"/>
            <a:ext cx="310896" cy="310896"/>
          </a:xfrm>
          <a:prstGeom prst="triangle">
            <a:avLst/>
          </a:prstGeom>
          <a:solidFill>
            <a:srgbClr val="9A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26280" y="5852160"/>
            <a:ext cx="1920240" cy="1920240"/>
          </a:xfrm>
          <a:prstGeom prst="rect">
            <a:avLst/>
          </a:prstGeom>
          <a:solidFill>
            <a:srgbClr val="148F7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45736" y="6071616"/>
            <a:ext cx="1920240" cy="1920240"/>
          </a:xfrm>
          <a:prstGeom prst="rect">
            <a:avLst/>
          </a:prstGeom>
          <a:solidFill>
            <a:srgbClr val="148F7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65192" y="6291072"/>
            <a:ext cx="1920240" cy="1920240"/>
          </a:xfrm>
          <a:prstGeom prst="rect">
            <a:avLst/>
          </a:prstGeom>
          <a:solidFill>
            <a:srgbClr val="148F7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06240" y="81381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0">
                <a:solidFill>
                  <a:srgbClr val="6E6E6E"/>
                </a:solidFill>
              </a:rPr>
              <a:t>Convolution
+ ReLU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7205472" y="6656832"/>
            <a:ext cx="310896" cy="310896"/>
          </a:xfrm>
          <a:prstGeom prst="triangle">
            <a:avLst/>
          </a:prstGeom>
          <a:solidFill>
            <a:srgbClr val="9A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589520" y="6035040"/>
            <a:ext cx="1554480" cy="1554480"/>
          </a:xfrm>
          <a:prstGeom prst="rect">
            <a:avLst/>
          </a:prstGeom>
          <a:solidFill>
            <a:srgbClr val="148F7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0" y="6217920"/>
            <a:ext cx="1554480" cy="1554480"/>
          </a:xfrm>
          <a:prstGeom prst="rect">
            <a:avLst/>
          </a:prstGeom>
          <a:solidFill>
            <a:srgbClr val="148F7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955280" y="6400800"/>
            <a:ext cx="1554480" cy="1554480"/>
          </a:xfrm>
          <a:prstGeom prst="rect">
            <a:avLst/>
          </a:prstGeom>
          <a:solidFill>
            <a:srgbClr val="148F7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38160" y="6583680"/>
            <a:ext cx="1554480" cy="1554480"/>
          </a:xfrm>
          <a:prstGeom prst="rect">
            <a:avLst/>
          </a:prstGeom>
          <a:solidFill>
            <a:srgbClr val="148F7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0" y="81381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0">
                <a:solidFill>
                  <a:srgbClr val="6E6E6E"/>
                </a:solidFill>
              </a:rPr>
              <a:t>Pooling
+ Convolution</a:t>
            </a:r>
          </a:p>
        </p:txBody>
      </p:sp>
      <p:sp>
        <p:nvSpPr>
          <p:cNvPr id="24" name="Isosceles Triangle 23"/>
          <p:cNvSpPr/>
          <p:nvPr/>
        </p:nvSpPr>
        <p:spPr>
          <a:xfrm rot="5400000">
            <a:off x="10012680" y="6656832"/>
            <a:ext cx="310896" cy="310896"/>
          </a:xfrm>
          <a:prstGeom prst="triangle">
            <a:avLst/>
          </a:prstGeom>
          <a:solidFill>
            <a:srgbClr val="9A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287000" y="6217920"/>
            <a:ext cx="1188720" cy="1188720"/>
          </a:xfrm>
          <a:prstGeom prst="rect">
            <a:avLst/>
          </a:prstGeom>
          <a:solidFill>
            <a:srgbClr val="148F7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433304" y="6364224"/>
            <a:ext cx="1188720" cy="1188720"/>
          </a:xfrm>
          <a:prstGeom prst="rect">
            <a:avLst/>
          </a:prstGeom>
          <a:solidFill>
            <a:srgbClr val="148F7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579608" y="6510528"/>
            <a:ext cx="1188720" cy="1188720"/>
          </a:xfrm>
          <a:prstGeom prst="rect">
            <a:avLst/>
          </a:prstGeom>
          <a:solidFill>
            <a:srgbClr val="148F7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725912" y="6656831"/>
            <a:ext cx="1188720" cy="1188720"/>
          </a:xfrm>
          <a:prstGeom prst="rect">
            <a:avLst/>
          </a:prstGeom>
          <a:solidFill>
            <a:srgbClr val="148F7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872216" y="6803136"/>
            <a:ext cx="1188720" cy="1188720"/>
          </a:xfrm>
          <a:prstGeom prst="rect">
            <a:avLst/>
          </a:prstGeom>
          <a:solidFill>
            <a:srgbClr val="148F7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0" y="8138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6E6E6E"/>
                </a:solidFill>
              </a:rPr>
              <a:t>Pooling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12380976" y="6656832"/>
            <a:ext cx="310896" cy="310896"/>
          </a:xfrm>
          <a:prstGeom prst="triangle">
            <a:avLst/>
          </a:prstGeom>
          <a:solidFill>
            <a:srgbClr val="9A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2664440" y="4892040"/>
            <a:ext cx="411480" cy="3840480"/>
          </a:xfrm>
          <a:prstGeom prst="rect">
            <a:avLst/>
          </a:prstGeom>
          <a:solidFill>
            <a:srgbClr val="148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750040" y="886968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6E6E6E"/>
                </a:solidFill>
              </a:rPr>
              <a:t>Flatten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3350240" y="6656832"/>
            <a:ext cx="310896" cy="310896"/>
          </a:xfrm>
          <a:prstGeom prst="triangle">
            <a:avLst/>
          </a:prstGeom>
          <a:solidFill>
            <a:srgbClr val="9A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cxnSp>
        <p:nvCxnSpPr>
          <p:cNvPr id="35" name="Connector 34"/>
          <p:cNvCxnSpPr/>
          <p:nvPr/>
        </p:nvCxnSpPr>
        <p:spPr>
          <a:xfrm>
            <a:off x="14292072" y="5111496"/>
            <a:ext cx="1499616" cy="566928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4292072" y="5111496"/>
            <a:ext cx="1499616" cy="1133856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4292072" y="5111496"/>
            <a:ext cx="1499616" cy="1700784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4292072" y="5111496"/>
            <a:ext cx="1499616" cy="2267712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4292072" y="5111496"/>
            <a:ext cx="1499616" cy="2834640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4292072" y="5678424"/>
            <a:ext cx="1499616" cy="0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4292072" y="5678424"/>
            <a:ext cx="1499616" cy="566928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4292072" y="5678424"/>
            <a:ext cx="1499616" cy="1133856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4292072" y="5678424"/>
            <a:ext cx="1499616" cy="1700784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4292072" y="5678424"/>
            <a:ext cx="1499616" cy="2267712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4292072" y="5678424"/>
            <a:ext cx="1499616" cy="566928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4292072" y="6245352"/>
            <a:ext cx="1499616" cy="0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4292072" y="6245352"/>
            <a:ext cx="1499616" cy="566928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4292072" y="6245352"/>
            <a:ext cx="1499616" cy="1133856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4292072" y="6245352"/>
            <a:ext cx="1499616" cy="1700784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4292072" y="5678424"/>
            <a:ext cx="1499616" cy="1133855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4292072" y="6245352"/>
            <a:ext cx="1499616" cy="566927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4292072" y="6812279"/>
            <a:ext cx="1499616" cy="1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4292072" y="6812279"/>
            <a:ext cx="1499616" cy="566929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4292072" y="6812279"/>
            <a:ext cx="1499616" cy="1133857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4292072" y="5678424"/>
            <a:ext cx="1499616" cy="1700784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4292072" y="6245352"/>
            <a:ext cx="1499616" cy="1133856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4292072" y="6812280"/>
            <a:ext cx="1499616" cy="566928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4292072" y="7379208"/>
            <a:ext cx="1499616" cy="0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4292072" y="7379208"/>
            <a:ext cx="1499616" cy="566928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4292072" y="5678424"/>
            <a:ext cx="1499616" cy="2267712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4292072" y="6245352"/>
            <a:ext cx="1499616" cy="1700784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4292072" y="6812280"/>
            <a:ext cx="1499616" cy="1133856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4292072" y="7379208"/>
            <a:ext cx="1499616" cy="566928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4292072" y="7946136"/>
            <a:ext cx="1499616" cy="0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4292072" y="5678424"/>
            <a:ext cx="1499616" cy="2834639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4292072" y="6245352"/>
            <a:ext cx="1499616" cy="2267711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4292072" y="6812280"/>
            <a:ext cx="1499616" cy="1700783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4292072" y="7379208"/>
            <a:ext cx="1499616" cy="1133855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4292072" y="7946136"/>
            <a:ext cx="1499616" cy="566927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6120872" y="5678424"/>
            <a:ext cx="1408176" cy="566928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6120872" y="5678424"/>
            <a:ext cx="1408176" cy="1133856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6120872" y="5678424"/>
            <a:ext cx="1408176" cy="1700784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6120872" y="6245352"/>
            <a:ext cx="1408176" cy="0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6120872" y="6245352"/>
            <a:ext cx="1408176" cy="566928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6120872" y="6245352"/>
            <a:ext cx="1408176" cy="1133856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6120872" y="6245352"/>
            <a:ext cx="1408176" cy="566928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6120872" y="6812280"/>
            <a:ext cx="1408176" cy="0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6120872" y="6812280"/>
            <a:ext cx="1408176" cy="566928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6120872" y="6245352"/>
            <a:ext cx="1408176" cy="1133856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6120872" y="6812280"/>
            <a:ext cx="1408176" cy="566928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6120872" y="7379208"/>
            <a:ext cx="1408176" cy="0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6120872" y="6245352"/>
            <a:ext cx="1408176" cy="1700784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6120872" y="6812280"/>
            <a:ext cx="1408176" cy="1133856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6120872" y="7379208"/>
            <a:ext cx="1408176" cy="566928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3075920" y="5111496"/>
            <a:ext cx="886968" cy="1700784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3075920" y="5678424"/>
            <a:ext cx="886968" cy="1133856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3075920" y="6245352"/>
            <a:ext cx="886968" cy="566928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3075920" y="6812279"/>
            <a:ext cx="886968" cy="1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3075920" y="6812280"/>
            <a:ext cx="886968" cy="566928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3075920" y="6812280"/>
            <a:ext cx="886968" cy="1133856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3075920" y="6812280"/>
            <a:ext cx="886968" cy="1700783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13962888" y="4946904"/>
            <a:ext cx="329184" cy="329184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13962888" y="5513832"/>
            <a:ext cx="329184" cy="329184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13962888" y="6080760"/>
            <a:ext cx="329184" cy="329184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13962888" y="6647688"/>
            <a:ext cx="329184" cy="329184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13962888" y="7214616"/>
            <a:ext cx="329184" cy="329184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13962888" y="7781544"/>
            <a:ext cx="329184" cy="329184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13962888" y="8348471"/>
            <a:ext cx="329184" cy="329184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15791688" y="5513832"/>
            <a:ext cx="329184" cy="329184"/>
          </a:xfrm>
          <a:prstGeom prst="ellipse">
            <a:avLst/>
          </a:prstGeom>
          <a:solidFill>
            <a:srgbClr val="148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15791688" y="6080760"/>
            <a:ext cx="329184" cy="329184"/>
          </a:xfrm>
          <a:prstGeom prst="ellipse">
            <a:avLst/>
          </a:prstGeom>
          <a:solidFill>
            <a:srgbClr val="148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15791688" y="6647688"/>
            <a:ext cx="329184" cy="329184"/>
          </a:xfrm>
          <a:prstGeom prst="ellipse">
            <a:avLst/>
          </a:prstGeom>
          <a:solidFill>
            <a:srgbClr val="148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15791688" y="7214616"/>
            <a:ext cx="329184" cy="329184"/>
          </a:xfrm>
          <a:prstGeom prst="ellipse">
            <a:avLst/>
          </a:prstGeom>
          <a:solidFill>
            <a:srgbClr val="148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15791688" y="7781544"/>
            <a:ext cx="329184" cy="329184"/>
          </a:xfrm>
          <a:prstGeom prst="ellipse">
            <a:avLst/>
          </a:prstGeom>
          <a:solidFill>
            <a:srgbClr val="148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17529048" y="6080760"/>
            <a:ext cx="329184" cy="329184"/>
          </a:xfrm>
          <a:prstGeom prst="ellipse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17529048" y="6647688"/>
            <a:ext cx="329184" cy="329184"/>
          </a:xfrm>
          <a:prstGeom prst="ellipse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17529048" y="7214616"/>
            <a:ext cx="329184" cy="329184"/>
          </a:xfrm>
          <a:prstGeom prst="ellipse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3898880" y="886968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6E6E6E"/>
                </a:solidFill>
              </a:rPr>
              <a:t>Fully Connected Layer</a:t>
            </a:r>
          </a:p>
        </p:txBody>
      </p:sp>
      <p:sp>
        <p:nvSpPr>
          <p:cNvPr id="108" name="Isosceles Triangle 107"/>
          <p:cNvSpPr/>
          <p:nvPr/>
        </p:nvSpPr>
        <p:spPr>
          <a:xfrm rot="5400000">
            <a:off x="18608040" y="6656832"/>
            <a:ext cx="310896" cy="310896"/>
          </a:xfrm>
          <a:prstGeom prst="triangle">
            <a:avLst/>
          </a:prstGeom>
          <a:solidFill>
            <a:srgbClr val="9A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cxnSp>
        <p:nvCxnSpPr>
          <p:cNvPr id="109" name="Connector 108"/>
          <p:cNvCxnSpPr/>
          <p:nvPr/>
        </p:nvCxnSpPr>
        <p:spPr>
          <a:xfrm flipV="1">
            <a:off x="17858232" y="6044184"/>
            <a:ext cx="1389888" cy="201168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7858232" y="6044184"/>
            <a:ext cx="1389888" cy="768096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7858232" y="6044184"/>
            <a:ext cx="1389888" cy="1335024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ounded Rectangle 111"/>
          <p:cNvSpPr/>
          <p:nvPr/>
        </p:nvSpPr>
        <p:spPr>
          <a:xfrm>
            <a:off x="19248120" y="5760720"/>
            <a:ext cx="1325880" cy="566928"/>
          </a:xfrm>
          <a:prstGeom prst="roundRect">
            <a:avLst>
              <a:gd name="adj" fmla="val 15000"/>
            </a:avLst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2000" b="0">
                <a:solidFill>
                  <a:srgbClr val="1A1A1A"/>
                </a:solidFill>
              </a:rPr>
              <a:t>0.2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0756880" y="5760720"/>
            <a:ext cx="2194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0">
                <a:solidFill>
                  <a:srgbClr val="6E6E6E"/>
                </a:solidFill>
              </a:rPr>
              <a:t>At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17858232" y="6245352"/>
            <a:ext cx="1389888" cy="850392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17858232" y="6812280"/>
            <a:ext cx="1389888" cy="283464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7858232" y="7095744"/>
            <a:ext cx="1389888" cy="283464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ounded Rectangle 116"/>
          <p:cNvSpPr/>
          <p:nvPr/>
        </p:nvSpPr>
        <p:spPr>
          <a:xfrm>
            <a:off x="19248120" y="6812280"/>
            <a:ext cx="1325880" cy="566928"/>
          </a:xfrm>
          <a:prstGeom prst="roundRect">
            <a:avLst>
              <a:gd name="adj" fmla="val 15000"/>
            </a:avLst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0.7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0756880" y="6812280"/>
            <a:ext cx="2194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C08A2E"/>
                </a:solidFill>
              </a:rPr>
              <a:t>Zebra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17858232" y="6245352"/>
            <a:ext cx="1389888" cy="1901952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7858232" y="6812280"/>
            <a:ext cx="1389888" cy="1335024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7858232" y="7379208"/>
            <a:ext cx="1389888" cy="768096"/>
          </a:xfrm>
          <a:prstGeom prst="line">
            <a:avLst/>
          </a:prstGeom>
          <a:ln w="9525">
            <a:solidFill>
              <a:srgbClr val="DB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ounded Rectangle 121"/>
          <p:cNvSpPr/>
          <p:nvPr/>
        </p:nvSpPr>
        <p:spPr>
          <a:xfrm>
            <a:off x="19248120" y="7863840"/>
            <a:ext cx="1325880" cy="566928"/>
          </a:xfrm>
          <a:prstGeom prst="roundRect">
            <a:avLst>
              <a:gd name="adj" fmla="val 15000"/>
            </a:avLst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2000" b="0">
                <a:solidFill>
                  <a:srgbClr val="1A1A1A"/>
                </a:solidFill>
              </a:rPr>
              <a:t>0.1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0756880" y="7863840"/>
            <a:ext cx="2194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0">
                <a:solidFill>
                  <a:srgbClr val="6E6E6E"/>
                </a:solidFill>
              </a:rPr>
              <a:t>Köpek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8836640" y="886968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6E6E6E"/>
                </a:solidFill>
              </a:rPr>
              <a:t>Softmax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1463040" y="9829800"/>
            <a:ext cx="10744200" cy="0"/>
          </a:xfrm>
          <a:prstGeom prst="line">
            <a:avLst/>
          </a:prstGeom>
          <a:ln w="1905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463040" y="9628632"/>
            <a:ext cx="0" cy="201168"/>
          </a:xfrm>
          <a:prstGeom prst="line">
            <a:avLst/>
          </a:prstGeom>
          <a:ln w="1905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2207240" y="9628632"/>
            <a:ext cx="0" cy="201168"/>
          </a:xfrm>
          <a:prstGeom prst="line">
            <a:avLst/>
          </a:prstGeom>
          <a:ln w="1905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1463040" y="9957816"/>
            <a:ext cx="10744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6E6E6E"/>
                </a:solidFill>
              </a:rPr>
              <a:t>Öznitelik çıkarımı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12435840" y="9829800"/>
            <a:ext cx="6035040" cy="0"/>
          </a:xfrm>
          <a:prstGeom prst="line">
            <a:avLst/>
          </a:prstGeom>
          <a:ln w="1905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2435840" y="9628632"/>
            <a:ext cx="0" cy="201168"/>
          </a:xfrm>
          <a:prstGeom prst="line">
            <a:avLst/>
          </a:prstGeom>
          <a:ln w="1905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8470880" y="9628632"/>
            <a:ext cx="0" cy="201168"/>
          </a:xfrm>
          <a:prstGeom prst="line">
            <a:avLst/>
          </a:prstGeom>
          <a:ln w="1905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12435840" y="9957816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6E6E6E"/>
                </a:solidFill>
              </a:rPr>
              <a:t>Sınıflandırma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18699480" y="9829800"/>
            <a:ext cx="4343400" cy="0"/>
          </a:xfrm>
          <a:prstGeom prst="line">
            <a:avLst/>
          </a:prstGeom>
          <a:ln w="1905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18699480" y="9628632"/>
            <a:ext cx="0" cy="201168"/>
          </a:xfrm>
          <a:prstGeom prst="line">
            <a:avLst/>
          </a:prstGeom>
          <a:ln w="1905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3042880" y="9628632"/>
            <a:ext cx="0" cy="201168"/>
          </a:xfrm>
          <a:prstGeom prst="line">
            <a:avLst/>
          </a:prstGeom>
          <a:ln w="1905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18699480" y="9957816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6E6E6E"/>
                </a:solidFill>
              </a:rPr>
              <a:t>Olasılık dağılımı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280160" y="10607040"/>
            <a:ext cx="727557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C08A2E"/>
                </a:solidFill>
              </a:rPr>
              <a:t>NE İÇİN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645919" y="11082528"/>
            <a:ext cx="654405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100" b="0">
                <a:solidFill>
                  <a:srgbClr val="1A1A1A"/>
                </a:solidFill>
              </a:rPr>
              <a:t>Görüntü, video, ses spektrogramı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555736" y="10607040"/>
            <a:ext cx="727557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C08A2E"/>
                </a:solidFill>
              </a:rPr>
              <a:t>ANAHTAR FİKİR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921496" y="11082528"/>
            <a:ext cx="654405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100" b="0">
                <a:solidFill>
                  <a:srgbClr val="1A1A1A"/>
                </a:solidFill>
              </a:rPr>
              <a:t>Aynı filtre tüm görüntüde gezer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5831312" y="10607040"/>
            <a:ext cx="727557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C08A2E"/>
                </a:solidFill>
              </a:rPr>
              <a:t>NEREDE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6197071" y="11082528"/>
            <a:ext cx="654405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100" b="0">
                <a:solidFill>
                  <a:srgbClr val="1A1A1A"/>
                </a:solidFill>
              </a:rPr>
              <a:t>Yüz tanıma, tıbbi görüntü, otonom sürüş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280160" y="11795760"/>
            <a:ext cx="21826728" cy="1143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2011680" y="11795760"/>
            <a:ext cx="20363688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>
                <a:solidFill>
                  <a:srgbClr val="15263F"/>
                </a:solidFill>
              </a:rPr>
              <a:t>Sondaki sinir ağı bildiğimiz ANN. </a:t>
            </a:r>
            <a:r>
              <a:rPr sz="2300" b="1">
                <a:solidFill>
                  <a:srgbClr val="15263F"/>
                </a:solidFill>
              </a:rPr>
              <a:t>CNN'in yaptığı iş, o ağa vereceği öznitelikleri kendi çıkarmak.</a:t>
            </a:r>
          </a:p>
        </p:txBody>
      </p:sp>
      <p:pic>
        <p:nvPicPr>
          <p:cNvPr id="146" name="Resim 145">
            <a:extLst>
              <a:ext uri="{FF2B5EF4-FFF2-40B4-BE49-F238E27FC236}">
                <a16:creationId xmlns:a16="http://schemas.microsoft.com/office/drawing/2014/main" id="{FD57DEEE-3943-DAD0-BA21-AC5820E5A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138" y="4078264"/>
            <a:ext cx="2960283" cy="3877016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Multi-Head Attention  ·  Şemadaki yeri</a:t>
            </a:r>
          </a:p>
        </p:txBody>
      </p:sp>
      <p:pic>
        <p:nvPicPr>
          <p:cNvPr id="3" name="!!encalt" descr="enc_a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0">
            <a:off x="9453415" y="4038472"/>
            <a:ext cx="5477201" cy="545617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Bloktaki mavi kutu tam olarak buydu.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Multi-Head Attention  ·  Şemadaki yeri</a:t>
            </a:r>
          </a:p>
        </p:txBody>
      </p:sp>
      <p:pic>
        <p:nvPicPr>
          <p:cNvPr id="3" name="!!encalt" descr="enc_a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3415" y="4038472"/>
            <a:ext cx="5477201" cy="5456176"/>
          </a:xfrm>
          <a:prstGeom prst="rect">
            <a:avLst/>
          </a:prstGeom>
        </p:spPr>
      </p:pic>
      <p:pic>
        <p:nvPicPr>
          <p:cNvPr id="4" name="!!encust" descr="enc_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3415" y="-5669280"/>
            <a:ext cx="5477201" cy="33220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Multi-head attention ve Add &amp; norm: bloğun alt yarısı.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Feed-Forward Networks</a:t>
            </a:r>
          </a:p>
        </p:txBody>
      </p:sp>
      <p:pic>
        <p:nvPicPr>
          <p:cNvPr id="3" name="!!encalt" descr="enc_a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3415" y="5699504"/>
            <a:ext cx="5477201" cy="5456176"/>
          </a:xfrm>
          <a:prstGeom prst="rect">
            <a:avLst/>
          </a:prstGeom>
        </p:spPr>
      </p:pic>
      <p:pic>
        <p:nvPicPr>
          <p:cNvPr id="4" name="!!encust" descr="enc_u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3415" y="2377440"/>
            <a:ext cx="5477201" cy="3322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0" y="4206240"/>
            <a:ext cx="69494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200" b="0">
                <a:solidFill>
                  <a:srgbClr val="9A9A9A"/>
                </a:solidFill>
                <a:latin typeface="Helvetica Neue"/>
              </a:rPr>
              <a:t>Feed-Forward</a:t>
            </a:r>
          </a:p>
          <a:p>
            <a:pPr algn="l">
              <a:lnSpc>
                <a:spcPct val="110000"/>
              </a:lnSpc>
            </a:pPr>
            <a:r>
              <a:rPr sz="5200" b="0">
                <a:solidFill>
                  <a:srgbClr val="9A9A9A"/>
                </a:solidFill>
                <a:latin typeface="Helvetica Neue"/>
              </a:rPr>
              <a:t>Networks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Üst yarı yerine oturunca encoder bloğu tamamlanıyor.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Feed-Forward Networks</a:t>
            </a:r>
          </a:p>
        </p:txBody>
      </p:sp>
      <p:pic>
        <p:nvPicPr>
          <p:cNvPr id="3" name="!!sahne" descr="mh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303" y="3118927"/>
            <a:ext cx="12865425" cy="747814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Her token için ayrı çalışan, ReLU'lu küçük bir ağ.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Encoder</a:t>
            </a:r>
          </a:p>
        </p:txBody>
      </p:sp>
      <p:pic>
        <p:nvPicPr>
          <p:cNvPr id="3" name="!!sahne" descr="mh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443" y="3702863"/>
            <a:ext cx="16011144" cy="631027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Multi-Head Attention, Add &amp; Norm, FFN, Add &amp; Norm.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Encoder</a:t>
            </a:r>
          </a:p>
        </p:txBody>
      </p:sp>
      <p:pic>
        <p:nvPicPr>
          <p:cNvPr id="3" name="!!encY" descr="mh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3622" y="2911724"/>
            <a:ext cx="13976787" cy="78925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Soldan sağa: kaynak metinden encoder çıktısına.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Encoder</a:t>
            </a:r>
          </a:p>
        </p:txBody>
      </p:sp>
      <p:pic>
        <p:nvPicPr>
          <p:cNvPr id="3" name="!!encY" descr="mh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7802895" y="4288068"/>
            <a:ext cx="8778240" cy="495698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Aynı blok, dik gösterim. n kez tekrarlanır.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Encoder</a:t>
            </a:r>
          </a:p>
        </p:txBody>
      </p:sp>
      <p:pic>
        <p:nvPicPr>
          <p:cNvPr id="3" name="!!enc12" descr="enc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223" y="2377440"/>
            <a:ext cx="3392157" cy="8778240"/>
          </a:xfrm>
          <a:prstGeom prst="rect">
            <a:avLst/>
          </a:prstGeom>
        </p:spPr>
      </p:pic>
      <p:pic>
        <p:nvPicPr>
          <p:cNvPr id="4" name="!!dec12" descr="dec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37440" y="2377440"/>
            <a:ext cx="4277427" cy="87782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Encoder tamam. Peki üretimi kim yapıyor?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Encoder ve Decoder</a:t>
            </a:r>
          </a:p>
        </p:txBody>
      </p:sp>
      <p:pic>
        <p:nvPicPr>
          <p:cNvPr id="3" name="!!enc12" descr="enc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223" y="2377440"/>
            <a:ext cx="3392157" cy="8778240"/>
          </a:xfrm>
          <a:prstGeom prst="rect">
            <a:avLst/>
          </a:prstGeom>
        </p:spPr>
      </p:pic>
      <p:pic>
        <p:nvPicPr>
          <p:cNvPr id="4" name="!!dec12" descr="dec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49380" y="2377440"/>
            <a:ext cx="4277427" cy="87782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İki blok; aradaki bağ yine attention.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Decoder</a:t>
            </a:r>
          </a:p>
        </p:txBody>
      </p:sp>
      <p:pic>
        <p:nvPicPr>
          <p:cNvPr id="3" name="!!sahne" descr="m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2112" y="2377440"/>
            <a:ext cx="9539806" cy="89611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Üç kat: masked attention, cross attention, FFN.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Cross Attention</a:t>
            </a:r>
          </a:p>
        </p:txBody>
      </p:sp>
      <p:pic>
        <p:nvPicPr>
          <p:cNvPr id="3" name="!!sahne" descr="mh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2162" y="4418655"/>
            <a:ext cx="9719706" cy="48786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Normal Attention</a:t>
            </a:r>
          </a:p>
        </p:txBody>
      </p:sp>
      <p:pic>
        <p:nvPicPr>
          <p:cNvPr id="3" name="!!sahne" descr="mh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443" y="3679317"/>
            <a:ext cx="16011144" cy="635736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Hatırlatma: üç matris de tek bir kaynaktan geliyordu.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Normal Attention</a:t>
            </a:r>
          </a:p>
        </p:txBody>
      </p:sp>
      <p:pic>
        <p:nvPicPr>
          <p:cNvPr id="3" name="!!sahne" descr="mh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218" y="2841087"/>
            <a:ext cx="9559595" cy="803382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Aynı akış, dikey gösterim.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Normal Attention</a:t>
            </a:r>
          </a:p>
        </p:txBody>
      </p:sp>
      <p:pic>
        <p:nvPicPr>
          <p:cNvPr id="3" name="!!sahne" descr="mh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6122" y="2775158"/>
            <a:ext cx="10171786" cy="816568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Key, Query ve Value'nun üçü de bir önceki katmandan.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Cross Attention</a:t>
            </a:r>
          </a:p>
        </p:txBody>
      </p:sp>
      <p:pic>
        <p:nvPicPr>
          <p:cNvPr id="3" name="!!sahne" descr="mh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856" y="2775158"/>
            <a:ext cx="11782318" cy="816568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Key ve Value encoder'dan, Query decoder'dan gelir.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Masked Attention</a:t>
            </a:r>
          </a:p>
        </p:txBody>
      </p:sp>
      <p:pic>
        <p:nvPicPr>
          <p:cNvPr id="3" name="!!sahne" descr="mh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4132" y="2377440"/>
            <a:ext cx="9775767" cy="89611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Decoder'ın en alt katmanı.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Masked Attention</a:t>
            </a:r>
          </a:p>
        </p:txBody>
      </p:sp>
      <p:pic>
        <p:nvPicPr>
          <p:cNvPr id="3" name="!!sahne" descr="mh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959" y="4074886"/>
            <a:ext cx="10134112" cy="556622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Maskeleme tam olarak burada uygulanıyor.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Masked Attention</a:t>
            </a:r>
          </a:p>
        </p:txBody>
      </p:sp>
      <p:pic>
        <p:nvPicPr>
          <p:cNvPr id="3" name="!!sahne" descr="mh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443" y="3279038"/>
            <a:ext cx="16011144" cy="715792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Aynı boru hattı; tek fark maskeleme adımı.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Unmasked Attention</a:t>
            </a:r>
          </a:p>
        </p:txBody>
      </p:sp>
      <p:pic>
        <p:nvPicPr>
          <p:cNvPr id="3" name="!!sahne" descr="mh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8146" y="2963525"/>
            <a:ext cx="9427738" cy="778895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Maskesiz: her token bütün cümleyi görüyor.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Unmasked vs Masked</a:t>
            </a:r>
          </a:p>
        </p:txBody>
      </p:sp>
      <p:pic>
        <p:nvPicPr>
          <p:cNvPr id="3" name="!!sahne" descr="mh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443" y="3194274"/>
            <a:ext cx="16011144" cy="732745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Maskeliyken üst üçgen sıfır: gelecek görünmüyor.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Transformer</a:t>
            </a:r>
          </a:p>
        </p:txBody>
      </p:sp>
      <p:pic>
        <p:nvPicPr>
          <p:cNvPr id="3" name="!!sahne" descr="mh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485" y="2377440"/>
            <a:ext cx="11927061" cy="89611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Tokenize, embedding, encoder ve decoder.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Transformer</a:t>
            </a:r>
          </a:p>
        </p:txBody>
      </p:sp>
      <p:pic>
        <p:nvPicPr>
          <p:cNvPr id="3" name="!!sahne" descr="mh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513" y="2377440"/>
            <a:ext cx="11921005" cy="89611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Decoder çıkışında Linear ve Softmax.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Transformer  ·  Üretim</a:t>
            </a:r>
          </a:p>
        </p:txBody>
      </p:sp>
      <p:pic>
        <p:nvPicPr>
          <p:cNvPr id="3" name="!!sahne" descr="mh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755" y="2377440"/>
            <a:ext cx="11250520" cy="8961120"/>
          </a:xfrm>
          <a:prstGeom prst="rect">
            <a:avLst/>
          </a:prstGeom>
        </p:spPr>
      </p:pic>
      <p:pic>
        <p:nvPicPr>
          <p:cNvPr id="4" name="!!urun" descr="urun_ja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58524" y="2505578"/>
            <a:ext cx="1008019" cy="50401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[BOS] ile başlanır; ilk kelime üretilir.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Transformer  ·  Üretim</a:t>
            </a:r>
          </a:p>
        </p:txBody>
      </p:sp>
      <p:pic>
        <p:nvPicPr>
          <p:cNvPr id="3" name="!!sahne" descr="mh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755" y="2377440"/>
            <a:ext cx="11250520" cy="89611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5694516" y="2441570"/>
            <a:ext cx="1136035" cy="63202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!!urun" descr="urun_j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51649" y="2505578"/>
            <a:ext cx="1008019" cy="50401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[BOS] ile başlanır; ilk kelime üretilir.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">
        <p159:morph option="byObject"/>
      </p:transition>
    </mc:Choice>
    <mc:Fallback xmlns:p14="http://schemas.microsoft.com/office/powerpoint/2010/main" xmlns="">
      <p:transition spd="slow" advTm="10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Transformer  ·  Üretim</a:t>
            </a:r>
          </a:p>
        </p:txBody>
      </p:sp>
      <p:pic>
        <p:nvPicPr>
          <p:cNvPr id="3" name="!!sahne" descr="mh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755" y="2377440"/>
            <a:ext cx="11250520" cy="89611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5694516" y="2441570"/>
            <a:ext cx="1136035" cy="63202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!!urun" descr="urun_j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51649" y="10808794"/>
            <a:ext cx="1059531" cy="52976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[BOS] ile başlanır; ilk kelime üretilir.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">
        <p159:morph option="byObject"/>
      </p:transition>
    </mc:Choice>
    <mc:Fallback xmlns:p14="http://schemas.microsoft.com/office/powerpoint/2010/main" xmlns="">
      <p:transition spd="slow" advTm="10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Transformer  ·  Üretim</a:t>
            </a:r>
          </a:p>
        </p:txBody>
      </p:sp>
      <p:pic>
        <p:nvPicPr>
          <p:cNvPr id="3" name="!!sahne" descr="mh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250" y="2377440"/>
            <a:ext cx="11789530" cy="8961120"/>
          </a:xfrm>
          <a:prstGeom prst="rect">
            <a:avLst/>
          </a:prstGeom>
        </p:spPr>
      </p:pic>
      <p:pic>
        <p:nvPicPr>
          <p:cNvPr id="4" name="!!urun" descr="urun_j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8529" y="10808794"/>
            <a:ext cx="1059531" cy="52976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Üretilen kelime girdiye geri beslenir.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Transformer  ·  Üretim</a:t>
            </a:r>
          </a:p>
        </p:txBody>
      </p:sp>
      <p:pic>
        <p:nvPicPr>
          <p:cNvPr id="3" name="!!sahne" descr="mh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530" y="2377440"/>
            <a:ext cx="11158970" cy="8961120"/>
          </a:xfrm>
          <a:prstGeom prst="rect">
            <a:avLst/>
          </a:prstGeom>
        </p:spPr>
      </p:pic>
      <p:pic>
        <p:nvPicPr>
          <p:cNvPr id="4" name="!!urun" descr="urun_vis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51854" y="2504729"/>
            <a:ext cx="992851" cy="50066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İkinci kelime üretiliyor.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Transformer  ·  Üretim</a:t>
            </a:r>
          </a:p>
        </p:txBody>
      </p:sp>
      <p:pic>
        <p:nvPicPr>
          <p:cNvPr id="3" name="!!sahne" descr="mh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530" y="2377440"/>
            <a:ext cx="11158970" cy="89611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5687846" y="2440721"/>
            <a:ext cx="1120867" cy="62868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!!urun" descr="urun_vi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53646" y="2504729"/>
            <a:ext cx="992851" cy="50066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İkinci kelime üretiliyor.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">
        <p159:morph option="byObject"/>
      </p:transition>
    </mc:Choice>
    <mc:Fallback xmlns:p14="http://schemas.microsoft.com/office/powerpoint/2010/main" xmlns="">
      <p:transition spd="slow" advTm="10"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Transformer  ·  Üretim</a:t>
            </a:r>
          </a:p>
        </p:txBody>
      </p:sp>
      <p:pic>
        <p:nvPicPr>
          <p:cNvPr id="3" name="!!sahne" descr="mh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530" y="2377440"/>
            <a:ext cx="11158970" cy="89611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5687846" y="2440721"/>
            <a:ext cx="1120867" cy="62868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!!urun" descr="urun_vi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53646" y="10833708"/>
            <a:ext cx="1054780" cy="50485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İkinci kelime üretiliyor.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">
        <p159:morph option="byObject"/>
      </p:transition>
    </mc:Choice>
    <mc:Fallback xmlns:p14="http://schemas.microsoft.com/office/powerpoint/2010/main" xmlns="">
      <p:transition spd="slow" advTm="10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Transformer  ·  Üretim</a:t>
            </a:r>
          </a:p>
        </p:txBody>
      </p:sp>
      <p:pic>
        <p:nvPicPr>
          <p:cNvPr id="3" name="!!sahne" descr="mh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0991" y="2377440"/>
            <a:ext cx="11882048" cy="8961120"/>
          </a:xfrm>
          <a:prstGeom prst="rect">
            <a:avLst/>
          </a:prstGeom>
        </p:spPr>
      </p:pic>
      <p:pic>
        <p:nvPicPr>
          <p:cNvPr id="4" name="!!urun" descr="urun_vi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0526" y="10833708"/>
            <a:ext cx="1054780" cy="50485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Her adımda girdi bir token uzuyor.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Transformer  ·  Üretim</a:t>
            </a:r>
          </a:p>
        </p:txBody>
      </p:sp>
      <p:pic>
        <p:nvPicPr>
          <p:cNvPr id="3" name="!!sahne" descr="mh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331" y="2377440"/>
            <a:ext cx="12071368" cy="89611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Üçüncü kelime.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9="http://schemas.microsoft.com/office/powerpoint/2015/09/main" xmlns:mc="http://schemas.openxmlformats.org/markup-compatibility/2006" mc:Ignorable="p14 p159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Transformer  ·  Üretim</a:t>
            </a:r>
          </a:p>
        </p:txBody>
      </p:sp>
      <p:pic>
        <p:nvPicPr>
          <p:cNvPr id="3" name="!!sahne" descr="mh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443" y="2539700"/>
            <a:ext cx="16011144" cy="863659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[EOS] gelince üretim biter.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</a:rPr>
              <a:t>Transformer'dan Büyük Dil Modeline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66543" y="1874519"/>
            <a:ext cx="20244816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1A1A1A"/>
                </a:solidFill>
              </a:rPr>
              <a:t>GPT = </a:t>
            </a:r>
            <a:r>
              <a:rPr sz="3400" b="1">
                <a:solidFill>
                  <a:srgbClr val="1A1A1A"/>
                </a:solidFill>
              </a:rPr>
              <a:t>G</a:t>
            </a:r>
            <a:r>
              <a:rPr sz="3400" b="0">
                <a:solidFill>
                  <a:srgbClr val="1A1A1A"/>
                </a:solidFill>
              </a:rPr>
              <a:t>enerative </a:t>
            </a:r>
            <a:r>
              <a:rPr sz="3400" b="1">
                <a:solidFill>
                  <a:srgbClr val="1A1A1A"/>
                </a:solidFill>
              </a:rPr>
              <a:t>P</a:t>
            </a:r>
            <a:r>
              <a:rPr sz="3400" b="0">
                <a:solidFill>
                  <a:srgbClr val="1A1A1A"/>
                </a:solidFill>
              </a:rPr>
              <a:t>re-trained </a:t>
            </a:r>
            <a:r>
              <a:rPr sz="3400" b="1">
                <a:solidFill>
                  <a:srgbClr val="1A1A1A"/>
                </a:solidFill>
              </a:rPr>
              <a:t>T</a:t>
            </a:r>
            <a:r>
              <a:rPr sz="3400" b="0">
                <a:solidFill>
                  <a:srgbClr val="1A1A1A"/>
                </a:solidFill>
              </a:rPr>
              <a:t>ransformer — aynı mimari, internet ölçeğinde veriyle eğitilince </a:t>
            </a:r>
            <a:r>
              <a:rPr sz="3400" b="1">
                <a:solidFill>
                  <a:srgbClr val="1A1A1A"/>
                </a:solidFill>
              </a:rPr>
              <a:t>büyük dil modeli</a:t>
            </a:r>
            <a:r>
              <a:rPr sz="3400" b="0">
                <a:solidFill>
                  <a:srgbClr val="1A1A1A"/>
                </a:solidFill>
              </a:rPr>
              <a:t> oluyor.</a:t>
            </a:r>
          </a:p>
        </p:txBody>
      </p:sp>
      <p:pic>
        <p:nvPicPr>
          <p:cNvPr id="4" name="Picture 3" descr="ll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604" y="4206240"/>
            <a:ext cx="17007840" cy="6903955"/>
          </a:xfrm>
          <a:prstGeom prst="rect">
            <a:avLst/>
          </a:prstGeom>
          <a:ln w="12700">
            <a:solidFill>
              <a:srgbClr val="E2E2E2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280160" y="12710160"/>
            <a:ext cx="1280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9A9A9A"/>
                </a:solidFill>
              </a:rPr>
              <a:t>Görsel: 'Klasik vs Üretken Yapay Zekâ' sunumundan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1384280"/>
            <a:ext cx="21826728" cy="11887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1680" y="11384280"/>
            <a:ext cx="20363688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</a:rPr>
              <a:t>Ön eğitim dili öğretir, ince ayar işi öğretir, </a:t>
            </a:r>
            <a:r>
              <a:rPr sz="2400" b="1">
                <a:solidFill>
                  <a:srgbClr val="15263F"/>
                </a:solidFill>
              </a:rPr>
              <a:t>RLHF ise nasıl konuşacağını öğretir.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Eğitim verisi neye benziyor?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80160" y="2103120"/>
            <a:ext cx="6903720" cy="9144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83080" y="2560320"/>
            <a:ext cx="4206240" cy="713232"/>
          </a:xfrm>
          <a:prstGeom prst="roundRect">
            <a:avLst>
              <a:gd name="adj" fmla="val 35000"/>
            </a:avLst>
          </a:prstGeom>
          <a:solidFill>
            <a:srgbClr val="8A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83080" y="2560320"/>
            <a:ext cx="42062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Helvetica Neue"/>
              </a:rPr>
              <a:t>①  ÖN EĞİTİM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3566160"/>
            <a:ext cx="5897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15263F"/>
                </a:solidFill>
                <a:latin typeface="Helvetica Neue"/>
              </a:rPr>
              <a:t>Ham metin — etiket yok</a:t>
            </a:r>
          </a:p>
        </p:txBody>
      </p:sp>
      <p:sp>
        <p:nvSpPr>
          <p:cNvPr id="7" name="Rectangle 6"/>
          <p:cNvSpPr/>
          <p:nvPr/>
        </p:nvSpPr>
        <p:spPr>
          <a:xfrm>
            <a:off x="1783080" y="4343400"/>
            <a:ext cx="5897880" cy="3063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4553712"/>
            <a:ext cx="5440680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Consolas"/>
              </a:rPr>
              <a:t>"...Ankara, Türkiye'nin başkentidir ve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Consolas"/>
              </a:rPr>
              <a:t> ülkenin ikinci büyük şehridir..."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Consolas"/>
              </a:rPr>
              <a:t>girdi :  Ankara   ,      Türkiye'nin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Consolas"/>
              </a:rPr>
              <a:t>hedef :  ,     Türkiye'nin  başkentidir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7680960"/>
            <a:ext cx="58978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1A1A1A"/>
                </a:solidFill>
                <a:latin typeface="Helvetica Neue"/>
              </a:rPr>
              <a:t>Etiket, metnin kendisi. Hedef = girdinin bir sağa kaymış hâli.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1A1A1A"/>
                </a:solidFill>
                <a:latin typeface="Helvetica Neue"/>
              </a:rPr>
              <a:t>İnsan etiketçi: sıfır.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83080" y="9464040"/>
            <a:ext cx="5897880" cy="0"/>
          </a:xfrm>
          <a:prstGeom prst="line">
            <a:avLst/>
          </a:prstGeom>
          <a:ln w="1270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783080" y="9692640"/>
            <a:ext cx="5897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8A8A8A"/>
                </a:solidFill>
                <a:latin typeface="Helvetica Neue"/>
              </a:rPr>
              <a:t>HACİM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0149840"/>
            <a:ext cx="5897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8A3B2F"/>
                </a:solidFill>
                <a:latin typeface="Helvetica Neue"/>
              </a:rPr>
              <a:t>trilyonlarca token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41664" y="2103120"/>
            <a:ext cx="6903720" cy="9144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244584" y="2560320"/>
            <a:ext cx="4206240" cy="713232"/>
          </a:xfrm>
          <a:prstGeom prst="roundRect">
            <a:avLst>
              <a:gd name="adj" fmla="val 35000"/>
            </a:avLst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44584" y="2560320"/>
            <a:ext cx="42062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Helvetica Neue"/>
              </a:rPr>
              <a:t>②  İNCE AYAR  (SFT)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44584" y="3566160"/>
            <a:ext cx="5897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15263F"/>
                </a:solidFill>
                <a:latin typeface="Helvetica Neue"/>
              </a:rPr>
              <a:t>Talimat – cevap çiftleri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4584" y="4343400"/>
            <a:ext cx="5897880" cy="3063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73184" y="4553712"/>
            <a:ext cx="5440680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Consolas"/>
              </a:rPr>
              <a:t>{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  "system"   : "Miuul destek asistanısın.",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  "user"     : "Data Scientist Path kaç saat?",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  "assistant": "68 saat, 9 modül, 300 USD."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4584" y="7680960"/>
            <a:ext cx="58978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1A1A1A"/>
                </a:solidFill>
                <a:latin typeface="Helvetica Neue"/>
              </a:rPr>
              <a:t>Loss sadece assistant satırından hesaplanır — soru maskelenir.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1A1A1A"/>
                </a:solidFill>
                <a:latin typeface="Helvetica Neue"/>
              </a:rPr>
              <a:t>SFT'nin imzası bu.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44584" y="9464040"/>
            <a:ext cx="5897880" cy="0"/>
          </a:xfrm>
          <a:prstGeom prst="line">
            <a:avLst/>
          </a:prstGeom>
          <a:ln w="1270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244584" y="9692640"/>
            <a:ext cx="5897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8A8A8A"/>
                </a:solidFill>
                <a:latin typeface="Helvetica Neue"/>
              </a:rPr>
              <a:t>HACİM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4584" y="10149840"/>
            <a:ext cx="5897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C08A2E"/>
                </a:solidFill>
                <a:latin typeface="Helvetica Neue"/>
              </a:rPr>
              <a:t>on binler – yüz binler diyalog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203168" y="2103120"/>
            <a:ext cx="6903720" cy="9144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6706088" y="2560320"/>
            <a:ext cx="4206240" cy="713232"/>
          </a:xfrm>
          <a:prstGeom prst="roundRect">
            <a:avLst>
              <a:gd name="adj" fmla="val 35000"/>
            </a:avLst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706088" y="2560320"/>
            <a:ext cx="42062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Helvetica Neue"/>
              </a:rPr>
              <a:t>③  RLHF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706088" y="3566160"/>
            <a:ext cx="5897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15263F"/>
                </a:solidFill>
                <a:latin typeface="Helvetica Neue"/>
              </a:rPr>
              <a:t>Tercih verisi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706088" y="4343400"/>
            <a:ext cx="5897880" cy="3063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934688" y="4553712"/>
            <a:ext cx="5440680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Consolas"/>
              </a:rPr>
              <a:t>{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  "prompt"  : "Data Scientist Path'i özetle",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  "chosen"  : "68 saat, 9 modül, 300 USD.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               Kaynak: katalog, Eğitim 44.",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  "rejected": "Sanırım 40 saat civarı,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               fiyatını tam bilmiyorum."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1A1A"/>
                </a:solidFill>
                <a:latin typeface="Consolas"/>
              </a:rPr>
              <a:t>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706088" y="7680960"/>
            <a:ext cx="58978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1A1A1A"/>
                </a:solidFill>
                <a:latin typeface="Helvetica Neue"/>
              </a:rPr>
              <a:t>Doğru / yanlış yok — tercih edilen ve edilmeyen var.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1A1A1A"/>
                </a:solidFill>
                <a:latin typeface="Helvetica Neue"/>
              </a:rPr>
              <a:t>Seçimi insan yapıyor.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6706088" y="9464040"/>
            <a:ext cx="5897880" cy="0"/>
          </a:xfrm>
          <a:prstGeom prst="line">
            <a:avLst/>
          </a:prstGeom>
          <a:ln w="12700">
            <a:solidFill>
              <a:srgbClr val="D5D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6706088" y="9692640"/>
            <a:ext cx="5897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8A8A8A"/>
                </a:solidFill>
                <a:latin typeface="Helvetica Neue"/>
              </a:rPr>
              <a:t>HACİM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706088" y="10149840"/>
            <a:ext cx="5897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5263F"/>
                </a:solidFill>
                <a:latin typeface="Helvetica Neue"/>
              </a:rPr>
              <a:t>on binler karşılaştırma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Modelin bildiği her şeyin neredeyse tamamı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ilk sütundan geliyor.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rPr sz="3200">
                <a:solidFill>
                  <a:srgbClr val="1A1A1A"/>
                </a:solidFill>
                <a:latin typeface="Helvetica Neue"/>
              </a:rPr>
              <a:t>İnce ayarda ne değişiyor, neye hiç dokunulmuyor?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80160" y="2926080"/>
            <a:ext cx="10625328" cy="38404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057400" y="4320540"/>
            <a:ext cx="1051560" cy="1051560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57400" y="4530852"/>
            <a:ext cx="1051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0440" y="3474720"/>
            <a:ext cx="7699248" cy="274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1A1A1A"/>
                </a:solidFill>
                <a:latin typeface="Helvetica Neue"/>
              </a:rPr>
              <a:t>Mimari değişiyor mu?</a:t>
            </a:r>
          </a:p>
          <a:p>
            <a:pPr algn="l">
              <a:lnSpc>
                <a:spcPct val="130000"/>
              </a:lnSpc>
            </a:pPr>
            <a:r>
              <a:rPr sz="2700" b="1">
                <a:solidFill>
                  <a:srgbClr val="1A1A1A"/>
                </a:solidFill>
                <a:latin typeface="Helvetica Neue"/>
              </a:rPr>
              <a:t>Katman ya da head sayısı artıyor mu?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481560" y="2926080"/>
            <a:ext cx="10625328" cy="38404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258800" y="4320540"/>
            <a:ext cx="1051560" cy="1051560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0" y="4530852"/>
            <a:ext cx="1051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21840" y="3474720"/>
            <a:ext cx="7699248" cy="274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1A1A1A"/>
                </a:solidFill>
                <a:latin typeface="Helvetica Neue"/>
              </a:rPr>
              <a:t>Tokenizer yeniden eğitiliyor mu?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7223760"/>
            <a:ext cx="10625328" cy="38404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57400" y="8618220"/>
            <a:ext cx="1051560" cy="1051560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8828532"/>
            <a:ext cx="1051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7772400"/>
            <a:ext cx="7699248" cy="274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1A1A1A"/>
                </a:solidFill>
                <a:latin typeface="Helvetica Neue"/>
              </a:rPr>
              <a:t>Full fine-tuning'de hangi ağırlıklar güncelleniyor?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481560" y="7223760"/>
            <a:ext cx="10625328" cy="38404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258800" y="8618220"/>
            <a:ext cx="1051560" cy="1051560"/>
          </a:xfrm>
          <a:prstGeom prst="ellipse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0" y="8828532"/>
            <a:ext cx="1051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721840" y="7772400"/>
            <a:ext cx="7699248" cy="274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1A1A1A"/>
                </a:solidFill>
                <a:latin typeface="Helvetica Neue"/>
              </a:rPr>
              <a:t>LoRA'da ne oluyor?</a:t>
            </a:r>
          </a:p>
          <a:p>
            <a:pPr algn="l">
              <a:lnSpc>
                <a:spcPct val="130000"/>
              </a:lnSpc>
            </a:pPr>
            <a:r>
              <a:rPr sz="2700" b="1">
                <a:solidFill>
                  <a:srgbClr val="1A1A1A"/>
                </a:solidFill>
                <a:latin typeface="Helvetica Neue"/>
              </a:rPr>
              <a:t>Hangi ağırlıklara hiç dokunulmuyor?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" y="11521440"/>
            <a:ext cx="21826728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0" y="11521440"/>
            <a:ext cx="20363688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15263F"/>
                </a:solidFill>
                <a:latin typeface="Helvetica Neue"/>
              </a:rPr>
              <a:t>İnce ayar bilgi öğretmez — </a:t>
            </a:r>
            <a:r>
              <a:rPr sz="2400" b="1">
                <a:solidFill>
                  <a:srgbClr val="15263F"/>
                </a:solidFill>
                <a:latin typeface="Helvetica Neue"/>
              </a:rPr>
              <a:t>davranış öğretir.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Yer Tutucusu 1">
            <a:extLst>
              <a:ext uri="{FF2B5EF4-FFF2-40B4-BE49-F238E27FC236}">
                <a16:creationId xmlns:a16="http://schemas.microsoft.com/office/drawing/2014/main" id="{017A0868-D031-F8E5-7CAB-27ACF49E7EC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tr-TR" dirty="0" err="1"/>
              <a:t>Taming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Monster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EDB3E636-49EE-8974-BCA5-2AE11ACC3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411" y="1882456"/>
            <a:ext cx="21974712" cy="1175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12057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Eğitim Adı">
  <a:themeElements>
    <a:clrScheme name="Miuul Renk Paleti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2" id="{888531EB-B80A-DC4E-87AD-AD8478769648}" vid="{6D0E7461-0100-8046-8FFF-5C1D91E67DD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1A34E06-6EF4-0747-BE1A-750CADD77380}">
  <we:reference id="wa200007130" version="1.0.0.1" store="en-GB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Eğitim Adı</Template>
  <TotalTime>36958</TotalTime>
  <Words>8517</Words>
  <Application>Microsoft Office PowerPoint</Application>
  <PresentationFormat>Özel</PresentationFormat>
  <Paragraphs>1956</Paragraphs>
  <Slides>87</Slides>
  <Notes>78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87</vt:i4>
      </vt:variant>
    </vt:vector>
  </HeadingPairs>
  <TitlesOfParts>
    <vt:vector size="92" baseType="lpstr">
      <vt:lpstr>Chromatica</vt:lpstr>
      <vt:lpstr>Chromatica Medium</vt:lpstr>
      <vt:lpstr>Helvetica Neue</vt:lpstr>
      <vt:lpstr>Helvetica Neue Medium</vt:lpstr>
      <vt:lpstr>Eğitim Adı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 Bilimciler için Python Programlama</dc:title>
  <dc:creator>oytun@miuul.com</dc:creator>
  <cp:lastModifiedBy>Veysel GORKEN</cp:lastModifiedBy>
  <cp:revision>912</cp:revision>
  <cp:lastPrinted>2026-07-16T05:32:25Z</cp:lastPrinted>
  <dcterms:created xsi:type="dcterms:W3CDTF">2021-05-22T14:24:12Z</dcterms:created>
  <dcterms:modified xsi:type="dcterms:W3CDTF">2026-08-23T22:46:07Z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aa6781e-fd15-4a75-92c1-1621a66939fe_Enabled">
    <vt:lpwstr>true</vt:lpwstr>
  </property>
  <property fmtid="{D5CDD505-2E9C-101B-9397-08002B2CF9AE}" pid="3" name="MSIP_Label_caa6781e-fd15-4a75-92c1-1621a66939fe_SetDate">
    <vt:lpwstr>2026-08-03T13:20:08Z</vt:lpwstr>
  </property>
  <property fmtid="{D5CDD505-2E9C-101B-9397-08002B2CF9AE}" pid="4" name="MSIP_Label_caa6781e-fd15-4a75-92c1-1621a66939fe_Method">
    <vt:lpwstr>Standard</vt:lpwstr>
  </property>
  <property fmtid="{D5CDD505-2E9C-101B-9397-08002B2CF9AE}" pid="5" name="MSIP_Label_caa6781e-fd15-4a75-92c1-1621a66939fe_Name">
    <vt:lpwstr>Internal</vt:lpwstr>
  </property>
  <property fmtid="{D5CDD505-2E9C-101B-9397-08002B2CF9AE}" pid="6" name="MSIP_Label_caa6781e-fd15-4a75-92c1-1621a66939fe_SiteId">
    <vt:lpwstr>9125c4fe-bdb3-4367-a98f-040efd278531</vt:lpwstr>
  </property>
  <property fmtid="{D5CDD505-2E9C-101B-9397-08002B2CF9AE}" pid="7" name="MSIP_Label_caa6781e-fd15-4a75-92c1-1621a66939fe_ActionId">
    <vt:lpwstr>44a5bbbe-bb31-4696-b358-107658b30da5</vt:lpwstr>
  </property>
  <property fmtid="{D5CDD505-2E9C-101B-9397-08002B2CF9AE}" pid="8" name="MSIP_Label_caa6781e-fd15-4a75-92c1-1621a66939fe_ContentBits">
    <vt:lpwstr>0</vt:lpwstr>
  </property>
  <property fmtid="{D5CDD505-2E9C-101B-9397-08002B2CF9AE}" pid="9" name="MSIP_Label_caa6781e-fd15-4a75-92c1-1621a66939fe_Tag">
    <vt:lpwstr>10, 3, 0, 1</vt:lpwstr>
  </property>
</Properties>
</file>