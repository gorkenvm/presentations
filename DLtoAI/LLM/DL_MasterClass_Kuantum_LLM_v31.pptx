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9"/>
  </p:notesMasterIdLst>
  <p:sldIdLst>
    <p:sldId id="256" r:id="rId2"/>
    <p:sldId id="257" r:id="rId3"/>
    <p:sldId id="343" r:id="rId94"/>
    <p:sldId id="344" r:id="rId95"/>
    <p:sldId id="258" r:id="rId4"/>
    <p:sldId id="355" r:id="rId106"/>
    <p:sldId id="356" r:id="rId107"/>
    <p:sldId id="259" r:id="rId5"/>
    <p:sldId id="353" r:id="rId104"/>
    <p:sldId id="354" r:id="rId105"/>
    <p:sldId id="260" r:id="rId6"/>
    <p:sldId id="351" r:id="rId102"/>
    <p:sldId id="352" r:id="rId103"/>
    <p:sldId id="261" r:id="rId7"/>
    <p:sldId id="349" r:id="rId100"/>
    <p:sldId id="350" r:id="rId101"/>
    <p:sldId id="262" r:id="rId8"/>
    <p:sldId id="347" r:id="rId98"/>
    <p:sldId id="348" r:id="rId99"/>
    <p:sldId id="263" r:id="rId9"/>
    <p:sldId id="346" r:id="rId97"/>
    <p:sldId id="264" r:id="rId10"/>
    <p:sldId id="345" r:id="rId96"/>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357" r:id="rId108"/>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40"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1" r:id="rId87"/>
    <p:sldId id="358" r:id="rId109"/>
    <p:sldId id="359" r:id="rId110"/>
    <p:sldId id="342" r:id="rId88"/>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1pPr>
    <a:lvl2pPr marL="0" marR="0" indent="457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2pPr>
    <a:lvl3pPr marL="0" marR="0" indent="914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3pPr>
    <a:lvl4pPr marL="0" marR="0" indent="1371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4pPr>
    <a:lvl5pPr marL="0" marR="0" indent="18288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5pPr>
    <a:lvl6pPr marL="0" marR="0" indent="22860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6pPr>
    <a:lvl7pPr marL="0" marR="0" indent="27432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7pPr>
    <a:lvl8pPr marL="0" marR="0" indent="32004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8pPr>
    <a:lvl9pPr marL="0" marR="0" indent="365760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FFC7"/>
    <a:srgbClr val="03523C"/>
    <a:srgbClr val="BEBF2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66344" autoAdjust="0"/>
  </p:normalViewPr>
  <p:slideViewPr>
    <p:cSldViewPr snapToGrid="0" snapToObjects="1">
      <p:cViewPr varScale="1">
        <p:scale>
          <a:sx n="37" d="100"/>
          <a:sy n="37" d="100"/>
        </p:scale>
        <p:origin x="2496"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5.xml"/><Relationship Id="rId5" Type="http://schemas.openxmlformats.org/officeDocument/2006/relationships/slide" Target="slides/slide8.xml"/><Relationship Id="rId6" Type="http://schemas.openxmlformats.org/officeDocument/2006/relationships/slide" Target="slides/slide11.xml"/><Relationship Id="rId7" Type="http://schemas.openxmlformats.org/officeDocument/2006/relationships/slide" Target="slides/slide14.xml"/><Relationship Id="rId8" Type="http://schemas.openxmlformats.org/officeDocument/2006/relationships/slide" Target="slides/slide17.xml"/><Relationship Id="rId9" Type="http://schemas.openxmlformats.org/officeDocument/2006/relationships/slide" Target="slides/slide20.xml"/><Relationship Id="rId10" Type="http://schemas.openxmlformats.org/officeDocument/2006/relationships/slide" Target="slides/slide22.xml"/><Relationship Id="rId11" Type="http://schemas.openxmlformats.org/officeDocument/2006/relationships/slide" Target="slides/slide24.xml"/><Relationship Id="rId12" Type="http://schemas.openxmlformats.org/officeDocument/2006/relationships/slide" Target="slides/slide25.xml"/><Relationship Id="rId13" Type="http://schemas.openxmlformats.org/officeDocument/2006/relationships/slide" Target="slides/slide26.xml"/><Relationship Id="rId14" Type="http://schemas.openxmlformats.org/officeDocument/2006/relationships/slide" Target="slides/slide27.xml"/><Relationship Id="rId15" Type="http://schemas.openxmlformats.org/officeDocument/2006/relationships/slide" Target="slides/slide28.xml"/><Relationship Id="rId16" Type="http://schemas.openxmlformats.org/officeDocument/2006/relationships/slide" Target="slides/slide29.xml"/><Relationship Id="rId17" Type="http://schemas.openxmlformats.org/officeDocument/2006/relationships/slide" Target="slides/slide30.xml"/><Relationship Id="rId18" Type="http://schemas.openxmlformats.org/officeDocument/2006/relationships/slide" Target="slides/slide31.xml"/><Relationship Id="rId19" Type="http://schemas.openxmlformats.org/officeDocument/2006/relationships/slide" Target="slides/slide32.xml"/><Relationship Id="rId20" Type="http://schemas.openxmlformats.org/officeDocument/2006/relationships/slide" Target="slides/slide33.xml"/><Relationship Id="rId21" Type="http://schemas.openxmlformats.org/officeDocument/2006/relationships/slide" Target="slides/slide34.xml"/><Relationship Id="rId22" Type="http://schemas.openxmlformats.org/officeDocument/2006/relationships/slide" Target="slides/slide35.xml"/><Relationship Id="rId23" Type="http://schemas.openxmlformats.org/officeDocument/2006/relationships/slide" Target="slides/slide36.xml"/><Relationship Id="rId24" Type="http://schemas.openxmlformats.org/officeDocument/2006/relationships/slide" Target="slides/slide37.xml"/><Relationship Id="rId25" Type="http://schemas.openxmlformats.org/officeDocument/2006/relationships/slide" Target="slides/slide38.xml"/><Relationship Id="rId26" Type="http://schemas.openxmlformats.org/officeDocument/2006/relationships/slide" Target="slides/slide39.xml"/><Relationship Id="rId27" Type="http://schemas.openxmlformats.org/officeDocument/2006/relationships/slide" Target="slides/slide40.xml"/><Relationship Id="rId28" Type="http://schemas.openxmlformats.org/officeDocument/2006/relationships/slide" Target="slides/slide41.xml"/><Relationship Id="rId29" Type="http://schemas.openxmlformats.org/officeDocument/2006/relationships/slide" Target="slides/slide42.xml"/><Relationship Id="rId30" Type="http://schemas.openxmlformats.org/officeDocument/2006/relationships/slide" Target="slides/slide43.xml"/><Relationship Id="rId31" Type="http://schemas.openxmlformats.org/officeDocument/2006/relationships/slide" Target="slides/slide44.xml"/><Relationship Id="rId32" Type="http://schemas.openxmlformats.org/officeDocument/2006/relationships/slide" Target="slides/slide45.xml"/><Relationship Id="rId33" Type="http://schemas.openxmlformats.org/officeDocument/2006/relationships/slide" Target="slides/slide46.xml"/><Relationship Id="rId34" Type="http://schemas.openxmlformats.org/officeDocument/2006/relationships/slide" Target="slides/slide47.xml"/><Relationship Id="rId35" Type="http://schemas.openxmlformats.org/officeDocument/2006/relationships/slide" Target="slides/slide48.xml"/><Relationship Id="rId36" Type="http://schemas.openxmlformats.org/officeDocument/2006/relationships/slide" Target="slides/slide49.xml"/><Relationship Id="rId37" Type="http://schemas.openxmlformats.org/officeDocument/2006/relationships/slide" Target="slides/slide51.xml"/><Relationship Id="rId38" Type="http://schemas.openxmlformats.org/officeDocument/2006/relationships/slide" Target="slides/slide52.xml"/><Relationship Id="rId39" Type="http://schemas.openxmlformats.org/officeDocument/2006/relationships/slide" Target="slides/slide53.xml"/><Relationship Id="rId40" Type="http://schemas.openxmlformats.org/officeDocument/2006/relationships/slide" Target="slides/slide54.xml"/><Relationship Id="rId41" Type="http://schemas.openxmlformats.org/officeDocument/2006/relationships/slide" Target="slides/slide55.xml"/><Relationship Id="rId42" Type="http://schemas.openxmlformats.org/officeDocument/2006/relationships/slide" Target="slides/slide56.xml"/><Relationship Id="rId43" Type="http://schemas.openxmlformats.org/officeDocument/2006/relationships/slide" Target="slides/slide57.xml"/><Relationship Id="rId44" Type="http://schemas.openxmlformats.org/officeDocument/2006/relationships/slide" Target="slides/slide58.xml"/><Relationship Id="rId45" Type="http://schemas.openxmlformats.org/officeDocument/2006/relationships/slide" Target="slides/slide59.xml"/><Relationship Id="rId46" Type="http://schemas.openxmlformats.org/officeDocument/2006/relationships/slide" Target="slides/slide60.xml"/><Relationship Id="rId47" Type="http://schemas.openxmlformats.org/officeDocument/2006/relationships/slide" Target="slides/slide61.xml"/><Relationship Id="rId48" Type="http://schemas.openxmlformats.org/officeDocument/2006/relationships/slide" Target="slides/slide62.xml"/><Relationship Id="rId49" Type="http://schemas.openxmlformats.org/officeDocument/2006/relationships/slide" Target="slides/slide63.xml"/><Relationship Id="rId50" Type="http://schemas.openxmlformats.org/officeDocument/2006/relationships/slide" Target="slides/slide64.xml"/><Relationship Id="rId51" Type="http://schemas.openxmlformats.org/officeDocument/2006/relationships/slide" Target="slides/slide65.xml"/><Relationship Id="rId52" Type="http://schemas.openxmlformats.org/officeDocument/2006/relationships/slide" Target="slides/slide66.xml"/><Relationship Id="rId53" Type="http://schemas.openxmlformats.org/officeDocument/2006/relationships/slide" Target="slides/slide67.xml"/><Relationship Id="rId54" Type="http://schemas.openxmlformats.org/officeDocument/2006/relationships/slide" Target="slides/slide68.xml"/><Relationship Id="rId55" Type="http://schemas.openxmlformats.org/officeDocument/2006/relationships/slide" Target="slides/slide69.xml"/><Relationship Id="rId56" Type="http://schemas.openxmlformats.org/officeDocument/2006/relationships/slide" Target="slides/slide70.xml"/><Relationship Id="rId57" Type="http://schemas.openxmlformats.org/officeDocument/2006/relationships/slide" Target="slides/slide71.xml"/><Relationship Id="rId58" Type="http://schemas.openxmlformats.org/officeDocument/2006/relationships/slide" Target="slides/slide72.xml"/><Relationship Id="rId59" Type="http://schemas.openxmlformats.org/officeDocument/2006/relationships/slide" Target="slides/slide73.xml"/><Relationship Id="rId60" Type="http://schemas.openxmlformats.org/officeDocument/2006/relationships/slide" Target="slides/slide74.xml"/><Relationship Id="rId61" Type="http://schemas.openxmlformats.org/officeDocument/2006/relationships/slide" Target="slides/slide75.xml"/><Relationship Id="rId62" Type="http://schemas.openxmlformats.org/officeDocument/2006/relationships/slide" Target="slides/slide76.xml"/><Relationship Id="rId63" Type="http://schemas.openxmlformats.org/officeDocument/2006/relationships/slide" Target="slides/slide77.xml"/><Relationship Id="rId64" Type="http://schemas.openxmlformats.org/officeDocument/2006/relationships/slide" Target="slides/slide78.xml"/><Relationship Id="rId65" Type="http://schemas.openxmlformats.org/officeDocument/2006/relationships/slide" Target="slides/slide79.xml"/><Relationship Id="rId66" Type="http://schemas.openxmlformats.org/officeDocument/2006/relationships/slide" Target="slides/slide80.xml"/><Relationship Id="rId67" Type="http://schemas.openxmlformats.org/officeDocument/2006/relationships/slide" Target="slides/slide81.xml"/><Relationship Id="rId68" Type="http://schemas.openxmlformats.org/officeDocument/2006/relationships/slide" Target="slides/slide82.xml"/><Relationship Id="rId69" Type="http://schemas.openxmlformats.org/officeDocument/2006/relationships/slide" Target="slides/slide83.xml"/><Relationship Id="rId70" Type="http://schemas.openxmlformats.org/officeDocument/2006/relationships/slide" Target="slides/slide84.xml"/><Relationship Id="rId71" Type="http://schemas.openxmlformats.org/officeDocument/2006/relationships/slide" Target="slides/slide85.xml"/><Relationship Id="rId72" Type="http://schemas.openxmlformats.org/officeDocument/2006/relationships/slide" Target="slides/slide86.xml"/><Relationship Id="rId73" Type="http://schemas.openxmlformats.org/officeDocument/2006/relationships/slide" Target="slides/slide87.xml"/><Relationship Id="rId74" Type="http://schemas.openxmlformats.org/officeDocument/2006/relationships/slide" Target="slides/slide88.xml"/><Relationship Id="rId75" Type="http://schemas.openxmlformats.org/officeDocument/2006/relationships/slide" Target="slides/slide89.xml"/><Relationship Id="rId76" Type="http://schemas.openxmlformats.org/officeDocument/2006/relationships/slide" Target="slides/slide90.xml"/><Relationship Id="rId77" Type="http://schemas.openxmlformats.org/officeDocument/2006/relationships/slide" Target="slides/slide91.xml"/><Relationship Id="rId78" Type="http://schemas.openxmlformats.org/officeDocument/2006/relationships/slide" Target="slides/slide92.xml"/><Relationship Id="rId79" Type="http://schemas.openxmlformats.org/officeDocument/2006/relationships/slide" Target="slides/slide93.xml"/><Relationship Id="rId80" Type="http://schemas.openxmlformats.org/officeDocument/2006/relationships/slide" Target="slides/slide94.xml"/><Relationship Id="rId81" Type="http://schemas.openxmlformats.org/officeDocument/2006/relationships/slide" Target="slides/slide95.xml"/><Relationship Id="rId82" Type="http://schemas.openxmlformats.org/officeDocument/2006/relationships/slide" Target="slides/slide96.xml"/><Relationship Id="rId83" Type="http://schemas.openxmlformats.org/officeDocument/2006/relationships/slide" Target="slides/slide97.xml"/><Relationship Id="rId84" Type="http://schemas.openxmlformats.org/officeDocument/2006/relationships/slide" Target="slides/slide98.xml"/><Relationship Id="rId85" Type="http://schemas.openxmlformats.org/officeDocument/2006/relationships/slide" Target="slides/slide99.xml"/><Relationship Id="rId86" Type="http://schemas.openxmlformats.org/officeDocument/2006/relationships/slide" Target="slides/slide100.xml"/><Relationship Id="rId87" Type="http://schemas.openxmlformats.org/officeDocument/2006/relationships/slide" Target="slides/slide101.xml"/><Relationship Id="rId88" Type="http://schemas.openxmlformats.org/officeDocument/2006/relationships/slide" Target="slides/slide104.xml"/><Relationship Id="rId89" Type="http://schemas.openxmlformats.org/officeDocument/2006/relationships/notesMaster" Target="notesMasters/notesMaster1.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3.xml"/><Relationship Id="rId95" Type="http://schemas.openxmlformats.org/officeDocument/2006/relationships/slide" Target="slides/slide4.xml"/><Relationship Id="rId96" Type="http://schemas.openxmlformats.org/officeDocument/2006/relationships/slide" Target="slides/slide23.xml"/><Relationship Id="rId97" Type="http://schemas.openxmlformats.org/officeDocument/2006/relationships/slide" Target="slides/slide21.xml"/><Relationship Id="rId98" Type="http://schemas.openxmlformats.org/officeDocument/2006/relationships/slide" Target="slides/slide18.xml"/><Relationship Id="rId99" Type="http://schemas.openxmlformats.org/officeDocument/2006/relationships/slide" Target="slides/slide19.xml"/><Relationship Id="rId100" Type="http://schemas.openxmlformats.org/officeDocument/2006/relationships/slide" Target="slides/slide15.xml"/><Relationship Id="rId101" Type="http://schemas.openxmlformats.org/officeDocument/2006/relationships/slide" Target="slides/slide16.xml"/><Relationship Id="rId102" Type="http://schemas.openxmlformats.org/officeDocument/2006/relationships/slide" Target="slides/slide12.xml"/><Relationship Id="rId103" Type="http://schemas.openxmlformats.org/officeDocument/2006/relationships/slide" Target="slides/slide13.xml"/><Relationship Id="rId104" Type="http://schemas.openxmlformats.org/officeDocument/2006/relationships/slide" Target="slides/slide9.xml"/><Relationship Id="rId105" Type="http://schemas.openxmlformats.org/officeDocument/2006/relationships/slide" Target="slides/slide10.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50.xml"/><Relationship Id="rId109" Type="http://schemas.openxmlformats.org/officeDocument/2006/relationships/slide" Target="slides/slide102.xml"/><Relationship Id="rId110" Type="http://schemas.openxmlformats.org/officeDocument/2006/relationships/slide" Target="slides/slide10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8" name="Shape 148"/>
          <p:cNvSpPr>
            <a:spLocks noGrp="1" noRot="1" noChangeAspect="1"/>
          </p:cNvSpPr>
          <p:nvPr>
            <p:ph type="sldImg"/>
          </p:nvPr>
        </p:nvSpPr>
        <p:spPr>
          <a:xfrm>
            <a:off x="1143000" y="685800"/>
            <a:ext cx="4572000" cy="3429000"/>
          </a:xfrm>
          <a:prstGeom prst="rect">
            <a:avLst/>
          </a:prstGeom>
        </p:spPr>
        <p:txBody>
          <a:bodyPr/>
          <a:lstStyle/>
          <a:p>
            <a:endParaRPr/>
          </a:p>
        </p:txBody>
      </p:sp>
      <p:sp>
        <p:nvSpPr>
          <p:cNvPr id="149" name="Shape 14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Merhaba, ben Veysel Murat Görken.</a:t>
            </a:r>
          </a:p>
          <a:p/>
          <a:p>
            <a:r>
              <a:t>Biyomedikal mühendisliği okudum; yapay zekâya medikal görüntü işleme ve MATLAB'le girdim. Yüksek lisansta makine öğrenmesi ve ağaç modelleri üzerine çalıştım. 3 yıl veri bilimciliğin ardından Berlin'e geçtim; şu an iklim teknolojileri alanında AI Engineer'ım. Ayrıca Miuul Deep Learning to AI Bootcamp'inde mentörlük yapıyorum.</a:t>
            </a:r>
          </a:p>
          <a:p/>
          <a:p>
            <a:r>
              <a:t>Geçen derste derin öğrenmenin nasıl çalıştığını konuştuk: nöron, loss, gradient descent, transformer.</a:t>
            </a:r>
          </a:p>
          <a:p/>
          <a:p>
            <a:r>
              <a:t>Bugün tek bir konu var: büyük dil modelleri ve en büyük dertlerimizden biri olan halüsinasyon.</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Teknik kısma geçmeden önce on dakikanızı bir tarihçinin uyarısına ayırmak istiyorum. Yuval Noah Harari, Sapiens'in yazarı — teknoloji liderlerinin iyimserliğinin tam karşısında duruyor.</a:t>
            </a:r>
          </a:p>
          <a:p/>
          <a:p>
            <a:r>
              <a:t>İlk tespiti şu: Tarih genelde yavaş akar. Bir kuşak öğrenir, bilgeliğini bir sonrakine aktarır. Bu dönem bitti. Tek bir insan ömrüne sığmış üç büyük devrimle aynı anda karşı karşıyayız — ve artık sadece hesaplayan değil, karar da veren bir zekâ türü dünyayı şekillendiriyor.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İlk itiraz, yapay zekânın "sadece bir araç" olarak anlatılmasına.</a:t>
            </a:r>
          </a:p>
          <a:p/>
          <a:p>
            <a:r>
              <a:t>Tarihteki bütün büyük teknolojiler pasifti. Matbaa muazzam bir devrimdi ama neyi basacağına karar veremez. Atom bombası tarihin en yıkıcı aleti ama nereye düşeceğine karar veremez. Bıçak da öyle: ekmek mi kesecek, birine mi saplanacak — buna siz karar verirsiniz.</a:t>
            </a:r>
          </a:p>
          <a:p/>
          <a:p>
            <a:r>
              <a:t>Aracın amacı hep dışarıdan verilir.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Peki dil neden bu kadar önemli?</a:t>
            </a:r>
          </a:p>
          <a:p/>
          <a:p>
            <a:r>
              <a:t>Çünkü insanlığın kurduğu her büyük yapı kelimelerden yapılmıştır.</a:t>
            </a:r>
          </a:p>
          <a:p/>
          <a:p>
            <a:r>
              <a:t>Anayasa fiziksel olarak nedir? Bir metin. Gücü herkesin ona inanmasından geliyor; yarın kimse inanmazsa kâğıt kâğıt kalır. Din de öyle. Para da öyle: banknotun kâğıt olarak değeri yok, değerli çünkü hepimiz aynı hikâyeye inanıyoruz.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Üçüncü başlık: demokrasi.</a:t>
            </a:r>
          </a:p>
          <a:p/>
          <a:p>
            <a:r>
              <a:t>Demokrasinin özü basit: insanlar bir araya gelir, konuşur, ikna eder, ikna olur. Ama bu sohbetin tarafları artık sadece insanlar değil.</a:t>
            </a:r>
          </a:p>
          <a:p/>
          <a:p>
            <a:r>
              <a:t>Birincisi, manipülasyon ucuzladı. Gerçeği bulmak zor ve pahalı; kurgu üretmek neredeyse bedava.</a:t>
            </a:r>
          </a:p>
          <a:p/>
          <a:p>
            <a:r>
              <a:t>Toplumları bir arada tutan şey ortak hikâyelerdi ve o hikâyeleri hep insanlar anlattı. Şimdi ilk kez hikâye anlatıcısı insan olmayabilir.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Dördüncü başlık, "kırmızı çizgi" dediği yer: Yapay zekâya asla tüzel kişilik verilmemeli. Diğer riskler geri döndürülebilir, bu değil.</a:t>
            </a:r>
          </a:p>
          <a:p/>
          <a:p>
            <a:r>
              <a:t>Tüzel kişilik ne demek? Banka hesabı açabilmek. Mülk edinebilmek. Dava açabilmek. Sözleşme imzalayabilmek. Lobi faaliyeti yürütebilmek.</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Bir başka uyarı egemenlik üzerine: Tüm dünyanın verisi bugün tek bir merkezde toplanabiliyor.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Beşinci başlık: Gerçek; karmaşık, ulaşması zor ve çoğu zaman can yakıcı. Öğrenmesi emek ister, zaman ister — çünkü çoğu zaman duymak istediğiniz şey değildir.</a:t>
            </a:r>
          </a:p>
          <a:p/>
          <a:p>
            <a:r>
              <a:t>Kurgu ise anında anlaşılır, üretmesi bedavadır, tam duymak istediğinizi söyler ve kendiliğinden yayılır.</a:t>
            </a:r>
          </a:p>
          <a:p/>
          <a:p>
            <a:r>
              <a:t>Bu asimetride hangisinin kazanacağını tahmin etmek zor değil.</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Son başlık — bütün konuşmanın bağlandığı yer.</a:t>
            </a:r>
          </a:p>
          <a:p/>
          <a:p>
            <a:r>
              <a:t>Yapay zekâ, problem çözme yeteneğini yani zekâyı inanılmaz ucuzlattı. Eskiden bir uzmana haftalarca ödeyeceğiniz işi bugün saniyelerde yaptırıyorsunuz.</a:t>
            </a:r>
          </a:p>
          <a:p/>
          <a:p>
            <a:r>
              <a:t>Ama asıl darboğaz zekâ değil. Bilgelik.</a:t>
            </a:r>
          </a:p>
          <a:p/>
          <a:p>
            <a:r>
              <a:t>Zekâ önünüze konan problemi çözer. Bilgelik hangi problemin çözülmeye değer olduğunu seçer. Aynı şey değil.</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kaputun altına bakalım.</a:t>
            </a:r>
          </a:p>
          <a:p/>
          <a:p>
            <a:r>
              <a:t>Buraya kadar konuştuğumuz her şeyin altında tek bir mimari var: Transformer. Ve o mimari 2017'de yayımlanan sekiz sayfalık bir makaleyle geldi.</a:t>
            </a:r>
          </a:p>
          <a:p/>
          <a:p>
            <a:r>
              <a:t>Makalenin adı: "Attention Is All You Need". Sekiz yazar — çoğu Google Brain ve Google Research'ten, biri Toronto Üniversitesi'nden.</a:t>
            </a:r>
          </a:p>
          <a:p/>
          <a:p>
            <a:r>
              <a:t>O güne kadar dil işleme RNN ve LSTM üzerine kuruluydu. Bu makale şunu söyledi: Bunların hiçbirine gerek yok. Sadece attention yeterli.</a:t>
            </a:r>
          </a:p>
          <a:p/>
          <a:p>
            <a:r>
              <a:t>Makalenin linkini paylaşıyorum, dersten sonra bakabilirsiniz:</a:t>
            </a:r>
          </a:p>
          <a:p/>
          <a:p>
            <a:r>
              <a:t>https://arxiv.org/pdf/1706.03762</a:t>
            </a:r>
          </a:p>
          <a:p/>
          <a:p>
            <a:r>
              <a:t>İsterseniz sadece ilk iki sayfasını okuyun. Alanı değiştiren fikir orada, çok sade bir dille anlatılıyor.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Transformer'ı Transformer yapan üç şey var.</a:t>
            </a:r>
          </a:p>
          <a:p/>
          <a:p>
            <a:r>
              <a:t>BİRİNCİSİ: PARALEL İŞLEME</a:t>
            </a:r>
          </a:p>
          <a:p>
            <a:r>
              <a:t>RNN cümleyi kelime kelime, sırayla okur — ikinci kelimeye geçmek için birinciyi bitirmek zorundadır.</a:t>
            </a:r>
          </a:p>
          <a:p>
            <a:r>
              <a:t>Transformer bütün kelimeleri aynı anda işler.</a:t>
            </a:r>
          </a:p>
          <a:p>
            <a:r>
              <a:t>Böylece GPU'nun binlerce çekirdeği boşta kalmaz.</a:t>
            </a:r>
          </a:p>
          <a:p>
            <a:r>
              <a:t>Eğitim haftalardan günlere iner; ölçeklemenin önü açılan şey tam olarak budur.</a:t>
            </a:r>
          </a:p>
          <a:p/>
          <a:p>
            <a:r>
              <a:t>İKİNCİSİ: SELF-ATTENTION</a:t>
            </a:r>
          </a:p>
          <a:p>
            <a:r>
              <a:t>Her kelime, cümledeki diğer bütün kelimelere bakar.</a:t>
            </a:r>
          </a:p>
          <a:p>
            <a:r>
              <a:t>Hangisinin kendisi için önemli olduğunu kendisi tartar — bu ağırlıklar veriden öğrenilir.</a:t>
            </a:r>
          </a:p>
          <a:p>
            <a:r>
              <a:t>Ekrandaki örnek: "Çanta valize sığmadı, çünkü o çok büyüktü." Buradaki "o" hangisi? Çanta mı, valiz mi?</a:t>
            </a:r>
          </a:p>
          <a:p>
            <a:r>
              <a:t>Model "o" kelimesinden bütün kelimelere bakar ve en yüksek ağırlığı "Çanta"ya verir.</a:t>
            </a:r>
          </a:p>
          <a:p>
            <a:r>
              <a:t>Önemlisi şu: bağlam artık uzaklıktan bağımsız. Cümlenin başındaki kelimeyle sonundaki kelime arasında da doğrudan bağ kurulabiliyor.</a:t>
            </a:r>
          </a:p>
          <a:p/>
          <a:p>
            <a:r>
              <a:t>ÜÇÜNCÜSÜ: POSITIONAL ENCODING</a:t>
            </a:r>
          </a:p>
          <a:p>
            <a:r>
              <a:t>Her şeyi aynı anda işlerseniz bir şeyi kaybedersiniz: sırayı.</a:t>
            </a:r>
          </a:p>
          <a:p>
            <a:r>
              <a:t>"Ali Veli'yi aradı" ile "Veli Ali'yi aradı" aynı kelimelerden oluşur ama aynı şey değildir.</a:t>
            </a:r>
          </a:p>
          <a:p>
            <a:r>
              <a:t>Bu yüzden her kelimeye konumu ayrı bir sinyal olarak eklenir: kelime vektörü artı konum vektörü, modele giren girdiyi oluşturur.</a:t>
            </a:r>
          </a:p>
          <a:p>
            <a:r>
              <a:t>Model sırayı ezberlemez — ölçer.</a:t>
            </a:r>
          </a:p>
          <a:p/>
          <a:p>
            <a:r>
              <a:t>Özet: paralel işle, neyin önemli olduğunu kendin bul, sırayı unutma.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İşte Transformer'ın tamamı. Bu haliyle karmaşık görünüyor — bilerek böyle gösteriyorum. Gelin bunu parçalayalım.</a:t>
            </a:r>
          </a:p>
          <a:p/>
          <a:p>
            <a:r>
              <a:t>Kabaca iki blok var: solda encoder, sağda decoder.</a:t>
            </a:r>
          </a:p>
          <a:p/>
          <a:p>
            <a:r>
              <a:t>Encoder anlayan taraf: girdiyi okuyup temsilini çıkarıyor.</a:t>
            </a:r>
          </a:p>
          <a:p>
            <a:r>
              <a:t>Decoder üreten taraf: o temsile bakarak kelime kelime çıktı üretiyor. İkisini birbirine bağlayan şey yine attention.</a:t>
            </a:r>
          </a:p>
          <a:p/>
          <a:p>
            <a:r>
              <a:t>Şimdi sağ tarafı, yani decoder'ı sahneden çıkaralım ve sadece anlayan tarafa bakalım.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Geriye encoder kaldı. İçinde iki şey var.</a:t>
            </a:r>
          </a:p>
          <a:p/>
          <a:p>
            <a:r>
              <a:t>Önce multi-head attention: cümledeki her kelime diğer bütün kelimelere bakıyor. "Multi-head" demek, bu bakışın birden fazla açıdan aynı anda yapılması demek — bir kafa dilbilgisel ilişkiye, bir başkası anlamsal ilişkiye bakabiliyor.</a:t>
            </a:r>
          </a:p>
          <a:p/>
          <a:p>
            <a:r>
              <a:t>Sonra positionwise FFN: her kelime için ayrı ayrı çalışan küçük bir sinir ağı.</a:t>
            </a:r>
          </a:p>
          <a:p/>
          <a:p>
            <a:r>
              <a:t>Her ikisinin de üstünde "Add &amp; norm" var. "Add" artık bağlantı: girdiyi çıktıya geri ekliyor, böylece derin ağlarda bilgi kaybolmuyor. "Norm" ise değerleri dengede tutuyor.</a:t>
            </a:r>
          </a:p>
          <a:p/>
          <a:p>
            <a:r>
              <a:t>Solda "n ×" yazıyor — bu blok üst üste birçok kez tekrarlanıyor. GPT-3'te 96 kat.</a:t>
            </a:r>
          </a:p>
          <a:p/>
          <a:p>
            <a:r>
              <a:t>Şimdi bunu da kaldıralım. Çünkü her şeyin başladığı yer aslında en altta.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En alta indik. Model bir cümleyi göremez, sayı görür. Metnin sayıya dönüştüğü yer burası.</a:t>
            </a:r>
          </a:p>
          <a:p/>
          <a:p>
            <a:r>
              <a:t>İki şeyin toplandığını görüyorsunuz: embedding ve positional encoding.</a:t>
            </a:r>
          </a:p>
          <a:p/>
          <a:p>
            <a:r>
              <a:t>Embedding kelimenin ne olduğunu, positional encoding ise nerede olduğunu taşıyor. İkisi toplanıp modele giriyor.</a:t>
            </a:r>
          </a:p>
          <a:p/>
          <a:p>
            <a:r>
              <a:t>Bu kutuyu üçe ayırarak açalım.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Birinci adım: TOKENIZATION.</a:t>
            </a:r>
          </a:p>
          <a:p/>
          <a:p>
            <a:r>
              <a:t>Metin önce parçalara bölünüyor. Bu parçalara token diyoruz ve token her zaman bir kelime değil.</a:t>
            </a:r>
          </a:p>
          <a:p/>
          <a:p>
            <a:r>
              <a:t>"Kitap" tek token olabilir ama "kitaplaştırmak" birkaç parçaya bölünür. Türkçe gibi eklemeli dillerde bu çok olur — bu yüzden Türkçe metinler İngilizceye göre daha fazla token harcar, yani aynı metin daha pahalıya gelir.</a:t>
            </a:r>
          </a:p>
          <a:p/>
          <a:p>
            <a:r>
              <a:t>Her token sözlükte bir numaraya karşılık geliyor. Model artık kelimeyi değil, o numarayı görüyor.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İkinci adım: TOKEN EMBEDDINGS.</a:t>
            </a:r>
          </a:p>
          <a:p/>
          <a:p>
            <a:r>
              <a:t>Numara tek başına anlam taşımaz. 4711 numaralı token ile 4712 numaralı token arasında hiçbir ilişki yok.</a:t>
            </a:r>
          </a:p>
          <a:p/>
          <a:p>
            <a:r>
              <a:t>Bu yüzden her token bir vektöre dönüştürülüyor — yüzlerce boyutlu bir sayı dizisine. Bu vektörler eğitim sırasında öğreniliyor.</a:t>
            </a:r>
          </a:p>
          <a:p/>
          <a:p>
            <a:r>
              <a:t>Ve şu ortaya çıkıyor: anlamca yakın kelimeler bu uzayda birbirine yakın duruyor. Geçen hafta konuştuğumuz word embedding örneğini hatırlayın — kral eksi erkek artı kadın, kraliçeye yaklaşıyordu.</a:t>
            </a:r>
          </a:p>
          <a:p/>
          <a:p>
            <a:r>
              <a:t>Yani model anlamı burada, geometride tutuyor.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Üçüncü adım: POSITIONAL ENCODINGS.</a:t>
            </a:r>
          </a:p>
          <a:p/>
          <a:p>
            <a:r>
              <a:t>Bir sorun kaldı. Transformer bütün kelimeleri aynı anda işliyor — bu onun gücü, ama aynı zamanda zaafı. Çünkü sırayı kaybediyor.</a:t>
            </a:r>
          </a:p>
          <a:p/>
          <a:p>
            <a:r>
              <a:t>"Ali Veli'yi aradı" ile "Veli Ali'yi aradı" aynı kelimelerden oluşur ama aynı şey değildir.</a:t>
            </a:r>
          </a:p>
          <a:p/>
          <a:p>
            <a:r>
              <a:t>Bu yüzden her token'ın vektörüne, konumunu anlatan bir vektör ekleniyor. Orijinal makalede bu sinüs ve kosinüs dalgalarıyla üretiliyor.</a:t>
            </a:r>
          </a:p>
          <a:p/>
          <a:p>
            <a:r>
              <a:t>Üçü birleşince şu oluyor: model her kelime için hem ne olduğunu hem nerede olduğunu biliyor. Artık attention katmanına girmeye hazırız.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Tokenization'a başlıyoruz.</a:t>
            </a:r>
          </a:p>
          <a:p/>
          <a:p>
            <a:r>
              <a:t>Şuradan başlayalım: Transformer bir kutu. Soluna İngilizce bir cümle koyuyorsunuz, sağından Fransızcası çıkıyor. Orijinal makale zaten çeviri için yazılmıştı.</a:t>
            </a:r>
          </a:p>
          <a:p/>
          <a:p>
            <a:r>
              <a:t>Ama o kutunun içine girmeden önce bir sorun var. Model harf görmez, kelime görmez, cümle görmez. Sadece sayı görür.</a:t>
            </a:r>
          </a:p>
          <a:p/>
          <a:p>
            <a:r>
              <a:t>Yani bu cümlenin kutuya girebilmesi için önce sayıya çevrilmesi gerekiyor. Bu bölümde tam olarak o dönüşümü izleyeceğiz.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Şemaya dönmeden önce gerçekten nasıl göründüğüne bakalım.</a:t>
            </a:r>
          </a:p>
          <a:p/>
          <a:p>
            <a:r>
              <a:t>Ekrandaki cümle Türkçe: "Yapay zekâ AI modelleri, metinleri kelime kelime değil token'lar halinde işler!"</a:t>
            </a:r>
          </a:p>
          <a:p/>
          <a:p>
            <a:r>
              <a:t>Üçü de aynı cümle. Değişen şey, hangi modelin tokenizer'ından geçtiği.</a:t>
            </a:r>
          </a:p>
          <a:p/>
          <a:p>
            <a:r>
              <a:t>Renklerdeki her blok bir token. Dikkat edin: bazı kelimeler tek parça kalıyor, bazıları ikiye üçe bölünüyor. "token'lar" hepsinde bölünmüş durumda — kesme işareti ayrı bir token.</a:t>
            </a:r>
          </a:p>
          <a:p/>
          <a:p>
            <a:r>
              <a:t>Üç satırı karşılaştırın: aynı cümle farklı sayıda parçaya ayrılıyor. Yeni tokenizer'lar Türkçeyi daha iyi tanıyor, daha az parçaya bölüyor.</a:t>
            </a:r>
          </a:p>
          <a:p/>
          <a:p>
            <a:r>
              <a:t>Bu neden önemli? Çünkü faturayı token üzerinden ödüyorsunuz ve context window token üzerinden doluyor. Aynı metin, eski bir modelde daha pahalıya gelir.</a:t>
            </a:r>
          </a:p>
          <a:p/>
          <a:p>
            <a:r>
              <a:t>İsterseniz kendi cümlenizi deneyin — OpenAI'ın tokenizer aracı bunu canlı gösteriyor.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Elimizde tek bir cümle var: "Jane visits Africa in September."</a:t>
            </a:r>
          </a:p>
          <a:p/>
          <a:p>
            <a:r>
              <a:t>İnsan için bu bir bütün. Anlamı var, öznesi var, zamanı var.</a:t>
            </a:r>
          </a:p>
          <a:p/>
          <a:p>
            <a:r>
              <a:t>Model içinse şu an hiçbir şey ifade etmiyor. Onun için bu sadece bir karakter dizisi.</a:t>
            </a:r>
          </a:p>
          <a:p/>
          <a:p>
            <a:r>
              <a:t>İlk iş bu cümleyi parçalara ayırmak.</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Cümle token'lara bölündü: jane, visits, africa, in, september ve nokta.</a:t>
            </a:r>
          </a:p>
          <a:p/>
          <a:p>
            <a:r>
              <a:t>Burada dikkat edilmesi gereken şey şu: token her zaman bir kelime değildir.</a:t>
            </a:r>
          </a:p>
          <a:p/>
          <a:p>
            <a:r>
              <a:t>Bu örnekte öyle görünüyor çünkü İngilizce kelimeler kısa. Ama "kitaplaştırmak" gibi bir kelime birkaç parçaya bölünür. Türkçe eklemeli bir dil olduğu için bizde bu çok olur.</a:t>
            </a:r>
          </a:p>
          <a:p/>
          <a:p>
            <a:r>
              <a:t>Pratik sonucu şu: aynı metin Türkçede İngilizceye göre daha fazla token harcar. API kullanıyorsanız aynı cümle size daha pahalıya gelir.</a:t>
            </a:r>
          </a:p>
          <a:p/>
          <a:p>
            <a:r>
              <a:t>Bir de nokta işaretinin ayrı bir token olduğuna dikkat edin. Noktalama da modelin gördüğü bilginin parçası.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her token'ın altına bir sayı geldi: 4869, 7879, 3888, 1999, 2244, 1012.</a:t>
            </a:r>
          </a:p>
          <a:p/>
          <a:p>
            <a:r>
              <a:t>Bunlara token id diyoruz. Modelin sözlüğünde her token'ın bir sıra numarası var; bu numaralar o sözlükteki yerini gösteriyor.</a:t>
            </a:r>
          </a:p>
          <a:p/>
          <a:p>
            <a:r>
              <a:t>Ama burada bir problem var. Bu numaralar keyfî. 4869 ile 7879 arasında hiçbir anlamlı ilişki yok. Numaraları toplasanız, çıkarsanız bir şey elde edemezsiniz.</a:t>
            </a:r>
          </a:p>
          <a:p/>
          <a:p>
            <a:r>
              <a:t>Yani token id tek başına anlam taşımıyor. Sadece bir etiket.</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İşte çözüm burada: her token id, bir sayı dizisine — bir vektöre — dönüştürülüyor.</a:t>
            </a:r>
          </a:p>
          <a:p/>
          <a:p>
            <a:r>
              <a:t>Aşağıdaki tabloya bakın. Her satır bir token, her satırda onlarca, yüzlerce sayı var.</a:t>
            </a:r>
          </a:p>
          <a:p/>
          <a:p>
            <a:r>
              <a:t>Bu sayılar rastgele değil. Eğitim sırasında öğreniliyorlar. Model milyarlarca cümle görüyor ve bu sayıları, benzer bağlamlarda geçen kelimeler benzer değerler alacak şekilde ayarlıyor.</a:t>
            </a:r>
          </a:p>
          <a:p/>
          <a:p>
            <a:r>
              <a:t>Sonuç şu: anlam artık bir sayı dizisinde tutuluyor. Ve bu diziler bir uzayda konum belirtiyor — anlamca yakın kelimeler o uzayda birbirine yakın duruyor.</a:t>
            </a:r>
          </a:p>
          <a:p/>
          <a:p>
            <a:r>
              <a:t>Geçen hafta konuştuğumuz örneği hatırlayın: kral eksi erkek artı kadın, kraliçeye yaklaşıyordu. İşte o aritmetik tam olarak bu sayılarla yapılıyor.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 matrisin iki boyutu var, ikisini de bilmek işinize yarar.</a:t>
            </a:r>
          </a:p>
          <a:p/>
          <a:p>
            <a:r>
              <a:t>Dikey eksen: sequence length. Kaç token'ınız var. Bizim örneğimizde altı.</a:t>
            </a:r>
          </a:p>
          <a:p/>
          <a:p>
            <a:r>
              <a:t>Yatay eksen: embed size. Her token'ın kaç sayıyla temsil edildiği. Bu, modelin tasarım kararı. Küçük modellerde birkaç yüz, büyük modellerde binlerce olabilir.</a:t>
            </a:r>
          </a:p>
          <a:p/>
          <a:p>
            <a:r>
              <a:t>Bu iki sayı doğrudan maliyeti belirliyor. Sequence length uzadıkça hesap artıyor — hem de doğrusal değil, karesel olarak, çünkü birazdan göreceğimiz attention her token'ı her token'la karşılaştırıyor.</a:t>
            </a:r>
          </a:p>
          <a:p/>
          <a:p>
            <a:r>
              <a:t>Bir modelin "context window'u 128 bin token" dediğinde kastettiği şey bu dikey eksenin ne kadar uzayabildiği.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Son bir soru: bu sayılar ne anlama geliyor?</a:t>
            </a:r>
          </a:p>
          <a:p/>
          <a:p>
            <a:r>
              <a:t>Ekranda sütunlara isim verilmiş: özel isim, zaman, görmek, dişilik, sıcak. Bu bir öğretim kolaylığı — sezgi kazanmak için. Gerçekte kimse bu sütunlara isim vermiyor.</a:t>
            </a:r>
          </a:p>
          <a:p/>
          <a:p>
            <a:r>
              <a:t>Ama asıl dikkat edilecek şey rakamlar. Şu anda gördüğünüz değerler HENÜZ ÖĞRENİLMİŞ DEĞİL. Bunlar eğitim öncesi, rastgele başlatılmış ağırlıklar.</a:t>
            </a:r>
          </a:p>
          <a:p/>
          <a:p>
            <a:r>
              <a:t>Yani model bu noktada hiçbir şey bilmiyor. "Jane"in özel isim olduğunu, "September"ın bir zaman ifadesi olduğunu bilmiyor. Tablo dolu ama içi boş.</a:t>
            </a:r>
          </a:p>
          <a:p/>
          <a:p>
            <a:r>
              <a:t>Şimdi bu tablonun eğitimden sonra ne hâle geldiğine bakalım.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dikkat edin: tablo aynı, kelimeler aynı, sütunlar aynı. Değişen tek şey rakamlar.</a:t>
            </a:r>
          </a:p>
          <a:p/>
          <a:p>
            <a:r>
              <a:t>Bu, eğitimden sonraki hâli.</a:t>
            </a:r>
          </a:p>
          <a:p/>
          <a:p>
            <a:r>
              <a:t>Başlangıçta bu sayılar rastgeleydi. Model milyarlarca cümle gördü, her seferinde tahmin yaptı, hata yaptı, geri yayılımla ağırlıklarını düzeltti. Ve bu tablodaki her sayı yavaş yavaş yerine oturdu.</a:t>
            </a:r>
          </a:p>
          <a:p/>
          <a:p>
            <a:r>
              <a:t>Birkaç satıra bakalım. "Jane" satırı özel isim sütununda 0,89 — çok yüksek. "September" satırı zaman sütununda 0,86. "in" satırı ise özel isim sütununda 0,0004 — neredeyse sıfır, çünkü "in" bir edat.</a:t>
            </a:r>
          </a:p>
          <a:p/>
          <a:p>
            <a:r>
              <a:t>Kimse bu değerleri elle yazmadı. Model, hangi kelimenin hangi bağlamda geçtiğine bakarak bunları kendisi buldu.</a:t>
            </a:r>
          </a:p>
          <a:p/>
          <a:p>
            <a:r>
              <a:t>İşte "öğrenme" dediğimiz şey somut olarak bu: bir tablodaki sayıların yerine oturması.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Elimizde artık anlamı taşıyan bir matris var. Ama bir şey eksik: sıra.</a:t>
            </a:r>
          </a:p>
          <a:p/>
          <a:p>
            <a:r>
              <a:t>Transformer bütün token'ları aynı anda işliyor. Bu onun gücü — ama sırayı kaybediyor. Model için "Ali Veli'yi aradı" ile "Veli Ali'yi aradı" şu an aynı şey.</a:t>
            </a:r>
          </a:p>
          <a:p/>
          <a:p>
            <a:r>
              <a:t>Çözüm: ikinci bir matris. Positional encoding.</a:t>
            </a:r>
          </a:p>
          <a:p/>
          <a:p>
            <a:r>
              <a:t>Boyutlarına dikkat edin — token embedding matrisiyle tıpatıp aynı: sequence length çarpı embed size. Bu tesadüf değil, birazdan ikisini toplayacağız.</a:t>
            </a:r>
          </a:p>
          <a:p/>
          <a:p>
            <a:r>
              <a:t>Bu matriste kelime yok. Sadece konum bilgisi var: birinci sıra, ikinci sıra, üçüncü sıra.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Peki bu konum sayıları nereden geliyor?</a:t>
            </a:r>
          </a:p>
          <a:p/>
          <a:p>
            <a:r>
              <a:t>Orijinal makale bunu sinüs ve kosinüs dalgalarıyla üretiyor. Formül ekranda: çift indisli boyutlar için sinüs, tek indisli boyutlar için kosinüs.</a:t>
            </a:r>
          </a:p>
          <a:p/>
          <a:p>
            <a:r>
              <a:t>Formülü ezberlemenize gerek yok. Önemli olan fikir şu: her konum için, farklı frekanslarda dalgalardan oluşan benzersiz bir parmak izi üretiliyor.</a:t>
            </a:r>
          </a:p>
          <a:p/>
          <a:p>
            <a:r>
              <a:t>Neden dalga? Çünkü iki güzel özelliği var. Birincisi, hiçbir konum bir diğeriyle aynı parmak izine sahip olmuyor. İkincisi, aradaki mesafe düzgün davranıyor — model "bu token şundan üç sıra sonra geliyor" ilişkisini yakalayabiliyor.</a:t>
            </a:r>
          </a:p>
          <a:p/>
          <a:p>
            <a:r>
              <a:t>Ve en pratik faydası: eğitimde hiç görmediği uzunlukta bir cümle geldiğinde de formül çalışmaya devam ediyor.</a:t>
            </a:r>
          </a:p>
          <a:p/>
          <a:p>
            <a:r>
              <a:t>Not: bugünkü modellerin çoğu bunun daha gelişmiş türevlerini kullanıyor, ama fikir aynı.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Ve işte birleşme anı.</a:t>
            </a:r>
          </a:p>
          <a:p/>
          <a:p>
            <a:r>
              <a:t>Token embedding matrisi ile positional encoding matrisi aynı boyutta olduğu için hücre hücre toplanıyorlar.</a:t>
            </a:r>
          </a:p>
          <a:p/>
          <a:p>
            <a:r>
              <a:t>Sonuç tek bir matris: her satır bir token, her satır hem o token'ın ne olduğunu hem nerede olduğunu taşıyor.</a:t>
            </a:r>
          </a:p>
          <a:p/>
          <a:p>
            <a:r>
              <a:t>Bu, Transformer'ın kapısından içeri giren şeyin ta kendisi. Buraya kadar yaptığımız her şey — bölme, numaralama, vektöre çevirme, konum ekleme — bu tek matrisi üretmek içindi.</a:t>
            </a:r>
          </a:p>
          <a:p/>
          <a:p>
            <a:r>
              <a:t>Şimdi asıl olaya geçiyoruz: bu satırlar birbirine nasıl bakıyor?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Attention iki başlıkta inceleyeceğimiz bir mekanizma.</a:t>
            </a:r>
          </a:p>
          <a:p/>
          <a:p>
            <a:r>
              <a:t>Önce self-attention: bir cümledeki her token'ın, aynı cümledeki diğer bütün token'lara bakması. "Self" demek, kendi içinde bakıyor demek.</a:t>
            </a:r>
          </a:p>
          <a:p/>
          <a:p>
            <a:r>
              <a:t>Sonra multi-headed attention: bu bakışın tek bir açıdan değil, birden fazla açıdan aynı anda yapılması.</a:t>
            </a:r>
          </a:p>
          <a:p/>
          <a:p>
            <a:r>
              <a:t>Sağdaki şemada gördüğünüz mavi kutu tam olarak burası. Şimdiye kadar hep altındaki kısımla — embedding ve positional encoding ile — uğraştık. Artık o kutunun içine giriyoruz.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Self-attention bloğuna odaklanalım.</a:t>
            </a:r>
          </a:p>
          <a:p/>
          <a:p>
            <a:r>
              <a:t>Aşağıdan yukarı: Sources geliyor, embedding'e dönüşüyor, positional encoding ekleniyor ve multi-head attention'a giriyor. Üstünde Add &amp; norm var, ve bütün blok n kez tekrarlanıyor.</a:t>
            </a:r>
          </a:p>
          <a:p/>
          <a:p>
            <a:r>
              <a:t>Bu şemayı bir kenara koyun; şimdi onu yatırıp içine bakacağız.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Aynı şema, sadece yan çevrildi. Neden? Çünkü artık soldan sağa bir akış olarak düşünmek daha kolay.</a:t>
            </a:r>
          </a:p>
          <a:p/>
          <a:p>
            <a:r>
              <a:t>Solda girdi var: kaynak metin, embedding, konum bilgisi.</a:t>
            </a:r>
          </a:p>
          <a:p>
            <a:r>
              <a:t>Ortada multi-head attention.</a:t>
            </a:r>
          </a:p>
          <a:p>
            <a:r>
              <a:t>Sağda Add &amp; norm.</a:t>
            </a:r>
          </a:p>
          <a:p/>
          <a:p>
            <a:r>
              <a:t>Şimdi ortadaki o kutunun içinde ne olduğuna bakalım.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İşte self-attention'ın kalbi.</a:t>
            </a:r>
          </a:p>
          <a:p/>
          <a:p>
            <a:r>
              <a:t>Soldaki embedding matrisi kelimelerin hem anlamını hem konumunu taşıyor. Ama bu yetmiyor, çünkü dil dinamiktir: bir kelimenin anlamı yanındakilere göre değişir. "Banka", yanında "nehir" varken başka bir şeydir, "para" varken başka.</a:t>
            </a:r>
          </a:p>
          <a:p/>
          <a:p>
            <a:r>
              <a:t>Transformer bunun için tek bir embedding matrisini üç ayrı paralel katmandan geçiriyor: W_Q, W_K, W_V. Üçü de eğitimle öğrenilmiş ağırlıklar. Girdi aynı, ağırlıklar farklı — o yüzden çıktılar da farklı.</a:t>
            </a:r>
          </a:p>
          <a:p/>
          <a:p>
            <a:r>
              <a:t>Elimize üç matris geliyor: Query, Key, Value. Bunların ne işe yaradığını iki sayfada açacağım.</a:t>
            </a:r>
          </a:p>
          <a:p/>
          <a:p>
            <a:r>
              <a:t>Boyutlara dikkat: sequence length çarpı head size. Her token'ın kendi Query'si, kendi Key'i ve kendi Value'su var. "Head size" ifadesi de bir sonraki konunun habercisi: multi-head attention.</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Peki neden üç ayrı matris? Neden embedding'leri doğrudan birbiriyle çarpmıyoruz?</a:t>
            </a:r>
          </a:p>
          <a:p/>
          <a:p>
            <a:r>
              <a:t>Sebebi şu: iki kelimenin birbirine benzemesi ile birbiriyle ilgili olması aynı şey değil. "Çanta" ile "valiz" embedding uzayında birbirine çok yakın — ikisi de kap, ikisi de eşya taşır. Ama "o"nun aradığı benzerlik değil, ilgi.</a:t>
            </a:r>
          </a:p>
          <a:p/>
          <a:p>
            <a:r>
              <a:t>Bu yüzden model kelimeleri karşılaştırmadan önce üç farklı role çeviriyor.</a:t>
            </a:r>
          </a:p>
          <a:p/>
          <a:p>
            <a:r>
              <a:t>Soran rol, Query. Her token'ın kendi sorusu var. Dikkat edin: cümlede tek bir soru yok. Yedi kelime varsa yedi soru var ve hepsi aynı anda soruluyor.</a:t>
            </a:r>
          </a:p>
          <a:p/>
          <a:p>
            <a:r>
              <a:t>Tanıtan rol, Key. Her token kendini tanıtan bir etiket üretiyor; eşleşme bu etiketler üzerinden oluyor.</a:t>
            </a:r>
          </a:p>
          <a:p/>
          <a:p>
            <a:r>
              <a:t>Taşıyan rol, Value. O token'ın taşıdığı içerik. Bu, eşleşmeden bağımsız olarak zaten hesaplanmış durumda. Eşleşme sadece ne kadarının aktığını belirliyor.</a:t>
            </a:r>
          </a:p>
          <a:p/>
          <a:p>
            <a:r>
              <a:t>Neden Key ile Value ayrı? Çünkü bir kelimeyi bulunur kılan özellik ile o kelimenin aktardığı bilgi farklı şeyler. "Çanta" tekil somut isim olduğu için eşleşiyor; ama taşıdığı bilgi "hacimli, eşya alan nesne". İkisi aynı vektör olsaydı model tek temsille iki işi birden yapmak zorunda kalırdı.</a:t>
            </a:r>
          </a:p>
          <a:p/>
          <a:p>
            <a:r>
              <a:t>Tek cümleyle: aynı kelime üç işe koşuluyor — sormak, tanıtmak, taşımak. Üç matris tam olarak bu üç işi ayırmak için var.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Elimizde iki matris var: Query ve Key.</a:t>
            </a:r>
          </a:p>
          <a:p/>
          <a:p>
            <a:r>
              <a:t>İkisi de aynı embedding matrisinden üretildi, ama farklı ağırlıklarla. Yani aynı cümleye iki farklı gözle bakıyorlar.</a:t>
            </a:r>
          </a:p>
          <a:p/>
          <a:p>
            <a:r>
              <a:t>Boyutlarına dikkat edin: her ikisi de sequence length çarpı head size. Yani her token için bir Query satırı, her token için bir Key satırı var.</a:t>
            </a:r>
          </a:p>
          <a:p/>
          <a:p>
            <a:r>
              <a:t>Şimdi bu ikisini birleştireceğiz.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Soruları cevaplarla eşleştirmek için matris çarpımı kullanıyoruz.</a:t>
            </a:r>
          </a:p>
          <a:p/>
          <a:p>
            <a:r>
              <a:t>Query matrisini, Key matrisinin devriğiyle çarpıyoruz. Devrik almamızın sebebi tamamen boyut uyumu — çarpımın tutması için.</a:t>
            </a:r>
          </a:p>
          <a:p/>
          <a:p>
            <a:r>
              <a:t>Bu çarpımın anlamı şu: her Query satırı, her Key satırıyla tek tek karşılaştırılıyor. İki vektör birbirine ne kadar benziyorsa çarpım o kadar büyük çıkıyor.</a:t>
            </a:r>
          </a:p>
          <a:p/>
          <a:p>
            <a:r>
              <a:t>Yani "bu soru bu cevaba ne kadar uyuyor?" sorusunu tek bir çarpımla, hepsi için aynı anda soruyoruz.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Sonuç kare bir matris: her iki boyutu da cümledeki token sayısına eşit.</a:t>
            </a:r>
          </a:p>
          <a:p/>
          <a:p>
            <a:r>
              <a:t>Buna dot product matrisi diyoruz. İçindeki her hücre, bir kelimenin başka bir kelimeyle ne kadar ilişkili olduğunu gösteriyor.</a:t>
            </a:r>
          </a:p>
          <a:p/>
          <a:p>
            <a:r>
              <a:t>Altı kelimelik cümlede altıya altılık bir matris. Yüz kelimelik cümlede yüze yüzlük. Dikkat edin — bu karesel büyüyor. Uzun metinlerin neden pahalı olduğunun cevabı burada.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 matrisi doğrudan kullanmıyoruz, önce iki işlemden geçiriyoruz.</a:t>
            </a:r>
          </a:p>
          <a:p/>
          <a:p>
            <a:r>
              <a:t>Birincisi ölçekleme: head size'ın kareköküne bölüyoruz. Sebep pratik — boyut büyüdükçe çarpımlar da büyüyor ve softmax'i tıkıyor. Bölme onu dengede tutuyor.</a:t>
            </a:r>
          </a:p>
          <a:p/>
          <a:p>
            <a:r>
              <a:t>İkincisi softmax: her satırı toplamı 1 olan bir olasılık dağılımına çeviriyoruz.</a:t>
            </a:r>
          </a:p>
          <a:p/>
          <a:p>
            <a:r>
              <a:t>Sonuç, makalenin scaled dot product dediği matris.</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İşte bu matrise attention weights diyoruz — dikkat ağırlıkları.</a:t>
            </a:r>
          </a:p>
          <a:p/>
          <a:p>
            <a:r>
              <a:t>Ekrandaki her satır bir kelimenin dikkat dağılımı. Satırdaki sayılar toplandığında 1 ediyor.</a:t>
            </a:r>
          </a:p>
          <a:p/>
          <a:p>
            <a:r>
              <a:t>Renklere bakın: koyu hücreler güçlü bağı gösteriyor. "in" satırında "jane" hücresi 0,47 — yüksek. Demek ki model "in" kelimesini yorumlarken "jane"e bakmayı öğrenmiş.</a:t>
            </a:r>
          </a:p>
          <a:p/>
          <a:p>
            <a:r>
              <a:t>Bu tablo, modelin cümleyi nasıl okuduğunun doğrudan fotoğrafı. Bir modelin neye baktığını merak ediyorsanız bakacağınız yer burası.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Ağırlıklar hazır. Şimdi onları Value matrisiyle çarpıyoruz.</a:t>
            </a:r>
          </a:p>
          <a:p/>
          <a:p>
            <a:r>
              <a:t>Ağırlık matrisi "kim kime ne kadar baksın" diyor. Value matrisi ise taşınacak asıl içeriği tutuyor.</a:t>
            </a:r>
          </a:p>
          <a:p/>
          <a:p>
            <a:r>
              <a:t>Çarpım şunu yapıyor: her token için, diğer bütün tokenların içeriğini ağırlıklarına göre topluyor. Yüksek ağırlıklı olanlar sonuca çok, düşük olanlar az katkı veriyor.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Çıktımız context vector.</a:t>
            </a:r>
          </a:p>
          <a:p/>
          <a:p>
            <a:r>
              <a:t>Boyutu yine sequence length çarpı head size. Yani girdiğimiz gibi bir matris çıktı — ama içerik değişti.</a:t>
            </a:r>
          </a:p>
          <a:p/>
          <a:p>
            <a:r>
              <a:t>Artık her satır sadece o kelimenin kendi anlamını değil, cümlenin geri kalanından aldığı bağlamı da taşıyor.</a:t>
            </a:r>
          </a:p>
          <a:p/>
          <a:p>
            <a:r>
              <a:t>Aynı kelime farklı cümlelerde farklı bir context vector alır. "Yüz" kelimesi "yüz kişi" ile "yüzünü yıka"da aynı embedding'le başlar ama buradan farklı çıkar. Transformer'ın gücü tam olarak bu.</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 kısım biraz yoğundu. Kısaca geri saralım.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Önce embedding matrisinden üç matris ürettik: Key, Query ve Value. Üçü de aynı girdiden, ama farklı ağırlıklarla.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Sonra Query ile Key'i çarptık, ölçekledik, softmax'ten geçirdik. Scaled dot product elimizde.</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En son bunu Value ile çarpıp context vector'e ulaştık.</a:t>
            </a:r>
          </a:p>
          <a:p/>
          <a:p>
            <a:r>
              <a:t>Üç adım: üret, eşleştir, taşı. Self-attention'ın tamamı bu.</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Makaleye göz attıysanız multi-head attention diye bir şey gördünüz.</a:t>
            </a:r>
          </a:p>
          <a:p/>
          <a:p>
            <a:r>
              <a:t>Merak etmeyin, çok farklı bir şey değil. Şimdiye kadar anlattığımın biraz ilerletilmiş hâli.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Buraya kadar anlattığım şeye single head attention deniyor.</a:t>
            </a:r>
          </a:p>
          <a:p/>
          <a:p>
            <a:r>
              <a:t>Sebebi basit: Key, Query ve Value matrislerinin hepsi tek katmanlıydı. Tek bir bakış açısı.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Key matrisine bakalım. Tek bir tablo. Sequence length çarpı head size.</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Multi-head attention'da bu tek tablo yerine, daha küçük ama çok sayıda tablo kullanıyoruz.</a:t>
            </a:r>
          </a:p>
          <a:p/>
          <a:p>
            <a:r>
              <a:t>Aynı toplam kapasiteyi tek büyük katman yerine birçok küçük katmana dağıtıyoruz.</a:t>
            </a:r>
          </a:p>
          <a:p/>
          <a:p>
            <a:r>
              <a:t>Neden? Çünkü her katman cümleye başka bir açıdan bakabiliyor. Biri dilbilgisel ilişkiyi yakalarken bir diğeri anlamsal ilişkiyi yakalayabiliyor.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Aynı şeyi üçüne birden yapıyoruz: Keys, Queries ve Values artık çok katmanlı.</a:t>
            </a:r>
          </a:p>
          <a:p/>
          <a:p>
            <a:r>
              <a:t>İşlem sırası hiç değişmedi — çarp, ölçekle, softmax, Value ile çarp. Sadece bunu tek seferde değil, her başlık için ayrı ayrı yapıyoruz.</a:t>
            </a:r>
          </a:p>
          <a:p/>
          <a:p>
            <a:r>
              <a:t>Sonuçta çok katmanlı bir context vector çıkıyor.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Ama çok katmanlı bir yapıyı doğrudan bir sinir ağına veremeyiz.</a:t>
            </a:r>
          </a:p>
          <a:p/>
          <a:p>
            <a:r>
              <a:t>O yüzden önce katmanları birleştiriyoruz — concat. Sonra tek bir doğrusal projeksiyondan geçiriyoruz.</a:t>
            </a:r>
          </a:p>
          <a:p/>
          <a:p>
            <a:r>
              <a:t>Ve işte bu, multi-head attention bloğunun nihai çıktısı.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Soldan sağa oku. Görüntü ham piksel olarak giriyor. Küçük bir filtre — kernel — görüntünün üzerinde gezerek kenarları, sonra dokuları, sonra parçaları yakalıyor. Pooling her adımda boyutu küçültüyor, önemli olanı bırakıyor.</a:t>
            </a:r>
          </a:p>
          <a:p>
            <a:r>
              <a:t>Flatten katmanında bu haritalar tek bir uzun vektöre diziliyor ve işte oradan sonrası bildiğimiz ANN: tam bağlantılı katmanlar. Softmax de olasılığa çeviriyor — bu görüntü %70 zebra.</a:t>
            </a:r>
          </a:p>
          <a:p>
            <a:r>
              <a:t>Vurgulanacak tek şey: klasik yöntemde 'zebra çizgilidir' diye feature'ı biz yazardık; burada filtreleri model kendi öğreniyor.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bu bloğun büyük şemada nerede durduğunu hatırlayalım.</a:t>
            </a:r>
          </a:p>
          <a:p/>
          <a:p>
            <a:r>
              <a:t>Şu yatık duran parça, baştan beri anlattığımız kısım: embedding, positional encoding ve multi-head attention.</a:t>
            </a:r>
          </a:p>
          <a:p/>
          <a:p>
            <a:r>
              <a:t>Şimdi onu düzeltip yerine oturtalım.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Üstüne inen parça yeni: Positionwise FFN, yani ileri beslemeli ağ.</a:t>
            </a:r>
          </a:p>
          <a:p/>
          <a:p>
            <a:r>
              <a:t>Bu ikisi birlikte encoder bloğunu oluşturuyor. Alt yarı bağlamı kuruyor, üst yarı onu işliyor.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Feed-forward network aslında çok sade bir yapı: iki sinir ağı ve aralarında bir ReLU aktivasyonu.</a:t>
            </a:r>
          </a:p>
          <a:p/>
          <a:p>
            <a:r>
              <a:t>Girdi olarak multi-head attention'ın çıktısını alıyor.</a:t>
            </a:r>
          </a:p>
          <a:p/>
          <a:p>
            <a:r>
              <a:t>Buradaki önemli detay şu: girdi ve çıktı boyutu aynı, ama arada boyut şişiyor. Makaledeki örnekte birinci ağ 512'den 2048'e çıkarıyor, ikincisi 2048'den 512'ye indiriyor.</a:t>
            </a:r>
          </a:p>
          <a:p/>
          <a:p>
            <a:r>
              <a:t>Neden? Attention'da öğrenilen özelliklerin daha geniş bir alana yayılıp daha ayrıntılı işlenmesi için. Bloğun dışarıya verdiği boyut ise sabit kalıyor — böylece bloklar üst üste dizilebiliyor.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Encoder bloğunun tamamı bu.</a:t>
            </a:r>
          </a:p>
          <a:p/>
          <a:p>
            <a:r>
              <a:t>Multi-Head Attention, Add &amp; Norm, Feed-Forward, Add &amp; Norm.</a:t>
            </a:r>
          </a:p>
          <a:p/>
          <a:p>
            <a:r>
              <a:t>Add &amp; Norm'dan bahsetmemiştik. "Add" artık bağlantı: katmanın girdisini çıktısına geri ekliyor, böylece derin ağlarda bilgi kaybolmuyor. "Norm" ise layer normalization; değerleri dengede tutup eğitimi kolaylaştırıyor. Ayrıntısına girmiyoruz ama ikisi de kaybolan gradyan sorununa karşı çözüm.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Aynı bloğu bir de yatay çizilmiş hâliyle görelim — soldan sağa akış.</a:t>
            </a:r>
          </a:p>
          <a:p/>
          <a:p>
            <a:r>
              <a:t>Kaynak metin giriyor, embedding ve konum ekleniyor, attention ve FFN'den geçiyor, encoder çıktısı oluşuyor.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Encoder'ın işi bitti. Görevi neydi? Verilen metinden anlam çıkarmak ve onun sayısal bir temsilini üretmek.</a:t>
            </a:r>
          </a:p>
          <a:p/>
          <a:p>
            <a:r>
              <a:t>Ama biz çeviri yapacağız. Yani bir de üreten tarafa ihtiyacımız var.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İşte decoder. Encoder anlıyor, decoder üretiyor.</a:t>
            </a:r>
          </a:p>
          <a:p/>
          <a:p>
            <a:r>
              <a:t>Örneğimizde encoder İngilizce cümleyi okuyor, decoder onun Fransızca karşılığını kelime kelime yazıyor.</a:t>
            </a:r>
          </a:p>
          <a:p/>
          <a:p>
            <a:r>
              <a:t>İkisinin arasındaki o ok kritik — birazdan ona geleceğiz.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Decoder'a yakından bakalım. Encoder'a çok benziyor ama iki noktada ayrılıyor.</a:t>
            </a:r>
          </a:p>
          <a:p/>
          <a:p>
            <a:r>
              <a:t>Birincisi: en altta "masked" multi-head attention var.</a:t>
            </a:r>
          </a:p>
          <a:p>
            <a:r>
              <a:t>İkincisi: ortada ikinci bir attention katmanı var, ve o encoder'a bağlanıyor.</a:t>
            </a:r>
          </a:p>
          <a:p/>
          <a:p>
            <a:r>
              <a:t>Şimdi bu ikisini sırayla açalım.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Önce ortadaki katman: cross attention.</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Farkı görmek için normal attention'ı hatırlayalım.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Aynı akış, sadeleştirilmiş hâli.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Normal bir attention bloğunda Key, Query ve Value'nun üçü de aynı yerden gelir: bir önceki katmandan.</a:t>
            </a:r>
          </a:p>
          <a:p/>
          <a:p>
            <a:r>
              <a:t>Aslında adındaki "self" tam olarak bunu anlatıyor — kendi içine bakıyor.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Cross attention'da ise durum değişiyor.</a:t>
            </a:r>
          </a:p>
          <a:p/>
          <a:p>
            <a:r>
              <a:t>Query hâlâ decoder'ın bir önceki katmanından geliyor. Ama Key ve Value encoder'dan geliyor.</a:t>
            </a:r>
          </a:p>
          <a:p/>
          <a:p>
            <a:r>
              <a:t>Anlamı şu: decoder üretirken "kaynak metinde ne vardı?" diye soruyor. Encoder'ın öğrendiği bilgiyi kullanabiliyor.</a:t>
            </a:r>
          </a:p>
          <a:p/>
          <a:p>
            <a:r>
              <a:t>Encoder ile decoder'ı birbirine bağlayan köprü tam olarak burası.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İkinci fark: masking. Ve bu sadece decoder'da var.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Diyagramda "masked multi-head attention" yazan yer burası.</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Boru hattı aynı. Tek fark, softmax'ten önce bir maskeleme adımı eklenmesi.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Maskesiz bir attention weights matrisi böyle görünüyor.</a:t>
            </a:r>
          </a:p>
          <a:p/>
          <a:p>
            <a:r>
              <a:t>Her satır, bir kelimenin hem kendinden önceki hem sonraki kelimelerle ilişkisini gösteriyor.</a:t>
            </a:r>
          </a:p>
          <a:p/>
          <a:p>
            <a:r>
              <a:t>Encoder'da bu sorun değil — cümle zaten tek seferde, bütün olarak veriliyor.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Ama decoder farklı çalışıyor. Sonucu parça parça üretiyor ve ürettiği her parçayı bir sonrakinin girdisi yapıyor.</a:t>
            </a:r>
          </a:p>
          <a:p/>
          <a:p>
            <a:r>
              <a:t>Şimdi düşünün: model ikinci kelimeyi tahmin ederken üçüncü kelimeye bakabilseydi ne olurdu? Cevabı kopya çekmiş olurdu. Zaten o kelime henüz üretilmedi bile.</a:t>
            </a:r>
          </a:p>
          <a:p/>
          <a:p>
            <a:r>
              <a:t>Bu yüzden her kelimenin yalnızca kendinden öncekilere bakmasını sağlıyoruz.</a:t>
            </a:r>
          </a:p>
          <a:p/>
          <a:p>
            <a:r>
              <a:t>Sağdaki matrise bakın: üst üçgen tamamen sıfır. Gelecek görünmüyor. İşte maskeleme bu.</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Artık iki parçayı da tanıyoruz. Bir araya getirelim.</a:t>
            </a:r>
          </a:p>
          <a:p/>
          <a:p>
            <a:r>
              <a:t>Solda encoder: İngilizce cümle tokenize ediliyor, embedding'e dönüşüyor, encoder'dan geçiyor.</a:t>
            </a:r>
          </a:p>
          <a:p>
            <a:r>
              <a:t>Sağda decoder: aynı hazırlık, ama üretilen metin için.</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Decoder'ın çıkışında iki katman daha var.</a:t>
            </a:r>
          </a:p>
          <a:p/>
          <a:p>
            <a:r>
              <a:t>Önce sözlük boyutunda tek katmanlı bir doğrusal ağ. Sonra softmax.</a:t>
            </a:r>
          </a:p>
          <a:p/>
          <a:p>
            <a:r>
              <a:t>Sonuç: sözlükteki her kelime için bir olasılık. Model bu dağılıma bakarak bir sonraki kelimeyi seçiyor.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Şimdi eğitilmiş bir Transformer'ın nasıl üretim yaptığını izleyelim.</a:t>
            </a:r>
          </a:p>
          <a:p/>
          <a:p>
            <a:r>
              <a:t>İngilizce cümlemizi encoder'a veriyoruz. Encoder onu anlamlı bir temsile çeviriyor ve decoder'a aktarıyor.</a:t>
            </a:r>
          </a:p>
          <a:p/>
          <a:p>
            <a:r>
              <a:t>Decoder'a ise sadece bir şey veriyoruz: başlangıç token'ı, [BOS].</a:t>
            </a:r>
          </a:p>
          <a:p/>
          <a:p>
            <a:r>
              <a:t>Ve model ilk kelimeyi üretiyor: "jane".</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Ama cümle bitmedi. Peki ikinci kelimeyi nasıl üretecek?</a:t>
            </a:r>
          </a:p>
          <a:p/>
          <a:p>
            <a:r>
              <a:t>Ürettiği kelimeyi geri alıp girdiye ekliyoruz. Artık decoder'ın girdisi [BOS] ve "jane".</a:t>
            </a:r>
          </a:p>
          <a:p/>
          <a:p>
            <a:r>
              <a:t>Bu sefer "visite" çıkıyor. Sonra aynı şey tekrar: girdi bir token daha uzuyor.</a:t>
            </a:r>
          </a:p>
          <a:p/>
          <a:p>
            <a:r>
              <a:t>Her adımda cümle bir kelime büyüyor ve model bir sonrakini tahmin ediyor. Bugün ChatGPT'de kelimelerin tek tek akmasını görüyorsunuz ya — sebebi tam olarak bu.</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Üçüncü kelime de geldi: l'Afrique. Döngü aynı şekilde devam ediyor.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Ve sonunda model [EOS] üretiyor — end of sentence.</a:t>
            </a:r>
          </a:p>
          <a:p/>
          <a:p>
            <a:r>
              <a:t>Bu, "cümlem bitti" demek. Döngü burada duruyor.</a:t>
            </a:r>
          </a:p>
          <a:p/>
          <a:p>
            <a:r>
              <a:t>İngilizceden Fransızcaya çeviri tamamlandı. Baştan beri anlattığımız her şey — tokenization, embedding, positional encoding, attention, encoder, decoder — bu tek çıktıyı üretmek içindi.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sz="quarter" idx="1"/>
          </p:nvPr>
        </p:nvSpPr>
        <p:spPr/>
        <p:txBody>
          <a:bodyPr/>
          <a:lstStyle/>
          <a:p>
            <a:r>
              <a:t>Elimizde artık bir Transformer var. Peki bu, kullandığımız asistanlara nasıl dönüşüyor?</a:t>
            </a:r>
          </a:p>
          <a:p/>
          <a:p>
            <a:r>
              <a:t>Cevap zaten ismin içinde: GPT — Generative Pre-trained Transformer. Üretken, ön eğitimli Transformer. Şimdi bu "ön eğitimli" kısmının ne demek olduğuna bakalım.</a:t>
            </a:r>
          </a:p>
          <a:p/>
          <a:p>
            <a:r>
              <a:t>Ekrandaki üçlü, bu dersin belki de en can alıcı özeti. Soldan sağa okuyalım.</a:t>
            </a:r>
          </a:p>
          <a:p/>
          <a:p>
            <a:r>
              <a:t>Birincisi ön eğitim, pre-training. İnternetteki trilyonlarca ham veriyle yapılıyor. Model burada tek bir şey öğreniyor: sonraki kelimeyi tahmin etmek. Bunu yaparken dili öğreniyor — grameri, kalıpları, dünyaya dair olguları. Ama dikkat: bu aşamanın sonunda model bir soruya nasıl cevap vereceğini bilmiyor. Sadece metni devam ettirmeyi biliyor. Ona soru sorsanız, size cevap vermek yerine benzer sorular yazmaya devam edebilir.</a:t>
            </a:r>
          </a:p>
          <a:p/>
          <a:p>
            <a:r>
              <a:t>İkincisi ince ayar, fine-tuning. Burada modeli soru-cevap çiftleriyle eğitiyoruz. Model işi öğreniyor: talimat takip etmeyi, kendisine sorulan şeye cevap vermeyi. Asistana dönüşme tam olarak burada oluyor.</a:t>
            </a:r>
          </a:p>
          <a:p/>
          <a:p>
            <a:r>
              <a:t>Üçüncüsü RLHF. Açılımı: Reinforcement Learning from Human Feedback — insan geri bildiriminden pekiştirmeli öğrenme. İki kelime de anlamlı. Pekiştirmeli öğrenme: model bir davranış sergiliyor, puan alıyor, puanı artıracak yönde ayarlanıyor. İnsan geri bildirimi: o puanı veren şey bir metrik değil, insan tercihi. İnsanlar modelin cevaplarını karşılaştırıp puanlıyor, model bu tercihlere göre ayarlanıyor. Burada öğrendiği şey içerik değil, üslup ve sınır: nasıl kibar olunur, nasıl güvenli kalınır, neyi söylememek gerekir.</a:t>
            </a:r>
          </a:p>
          <a:p/>
          <a:p>
            <a:r>
              <a:t>Slaytın altındaki cümleyi tekrar edin, akılda kalan cümle bu olsun:</a:t>
            </a:r>
          </a:p>
          <a:p>
            <a:r>
              <a:t>Ön eğitim dili öğretir, ince ayar işi öğretir, RLHF ise nasıl konuşacağını öğretir.</a:t>
            </a:r>
          </a:p>
          <a:p/>
          <a:p>
            <a:r>
              <a:t>Ölçek farkına da dikkat çekin: ön eğitim devasa ve pahalı, diğer iki aşama yanında çok küçük kalıyor. Yani modelin bildiği neredeyse her şey ilk aşamadan geliyor; son iki aşama o bilgiyi kullanılabilir hâle getiriyor.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Aynı süreci bir metaforla toparlayalım: bir canavarı evcilleştirme hikâyesi.</a:t>
            </a:r>
          </a:p>
          <a:p/>
          <a:p>
            <a:r>
              <a:t>Soldaki kırmızı alan, ön eğitim. Burada elimizde kontrolsüz, vahşi bir canavar var. İnternetteki her şeyi okumuş — iyisini, kötüsünü, yanlışını, tehlikelisini. Tek bildiği şey önüne konan metni tamamlamak. Muazzam bilgili ama güvenli değil. Bu hâliyle kimsenin eline veremezsiniz.</a:t>
            </a:r>
          </a:p>
          <a:p/>
          <a:p>
            <a:r>
              <a:t>Ortadaki sarı alan, ince ayar. Canavarı insani diyaloğa alıştırıyoruz. Kaliteli diyalog verileriyle — soru-cevap çiftleri, StackOverflow, Reddit gibi kaynaklardan derlenmiş konuşmalarla — eğitiyoruz. Artık anlamlı cümle kuran, kendisinden isteneni yapan bir forma bürünüyor.</a:t>
            </a:r>
          </a:p>
          <a:p/>
          <a:p>
            <a:r>
              <a:t>Sağdaki yeşil alan, RLHF. Son aşama. İnsan tercihleri ve puanlarıyla canavarı tamamen evcilleştiriyoruz. Çıkan şey artık zararsız, güvenli ve gerçekten işe yarar bir asistan. Metinle, görselle, sesle, kodla, hepsi bir aradayken çoklu-formlu verilerle çalışabilen bir model.</a:t>
            </a:r>
          </a:p>
          <a:p/>
          <a:p>
            <a:r>
              <a:t>Buradan çıkarılacak asıl fikir şu: bugün kullandığımız asistanların "kişiliği" doğuştan gelmiyor. Ham model çok daha ham, çok daha kaba bir şey. Aradaki fark tamamen bu iki evcilleştirme aşamasının eseri.</a:t>
            </a:r>
          </a:p>
          <a:p/>
          <a:p>
            <a:r>
              <a:t>Ve bu, dersin başındaki Harari tartışmasına da bağlanıyor: canavarı kimin, hangi değerlerle evcilleştirdiği — modelin ne bildiği kadar önemli.</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Yetmiş bin yıl önce Afrika'nın bir köşesinde önemsiz bir hayvandık. Aslanlardan zayıf, fillerden küçüktük. Bizi gezegenin efendisi yapan şey pençemiz ya da kaslarımız değildi. Dildi.</a:t>
            </a:r>
          </a:p>
          <a:p/>
          <a:p>
            <a:r>
              <a:t>Dil sayesinde birbirini hiç görmemiş binlerce yabancı aynı hikâyeye inanıp birlikte hareket edebildi. Devletler, dinler, şirketler, para — hepsi bu sayede var. Harari buna "bilişsel devrim" diyor.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Ve uyarı şu: Şimdi o dili, bizden başka biri de kullanıyor.</a:t>
            </a:r>
          </a:p>
          <a:p/>
          <a:p>
            <a:r>
              <a:t>Soru teknik bir soru değil: Elli yıl sonra kararları kim veriyor olacak?</a:t>
            </a:r>
          </a:p>
          <a:p/>
          <a:p>
            <a:r>
              <a:t>Bu iddiayı altı başlıkta açalım.</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Yani, Lambadan cin çıkmış. Her dileğimizi gerçekleştirebilecek bir gücümüz var ama ne dileyeceğimizi bilecek olgunluğa sahip değiliz.</a:t>
            </a:r>
          </a:p>
          <a:p/>
          <a:p>
            <a:r>
              <a:t>Çözüm önerisi teknolojik değil: bilgelik devrimi. Sadece daha güvenli makineler değil, kendi arzularımızı da kontrol edebilecek bir derinlik.</a:t>
            </a:r>
          </a:p>
          <a:p/>
          <a:p>
            <a:r>
              <a:t>Şimdi bunu somut bir örneğe bağlayalım — bir mahkeme salonuna.</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Ve çarpıcı bir örnek: Bir at düşünün. Ahırın önünde iki insan para alışverişi yapıyor — belki de o atı satıyorlar. At oradadır, görür, duyar, ama ne döndüğünü anlamaz. Anlamadığı için itiraz da edemez.</a:t>
            </a:r>
          </a:p>
          <a:p/>
          <a:p>
            <a:r>
              <a:t>İddia şu: Yapay zekânın kurduğu finansal sistemler o kadar karmaşıklaşacak ki on yıl içinde bizim konumumuz o atınkine benzeyebilir.</a:t>
            </a:r>
          </a:p>
          <a:p/>
          <a:p>
            <a:r>
              <a:t>Önerisi somut: finansal piyasalar yapay zekâya kapatılmalı.</a:t>
            </a:r>
          </a:p>
          <a:p/>
          <a:p>
            <a:r>
              <a:t>Sadece finans da değil. İnsanlar kime oy vereceği gibi kararları bile devretmeye başladı; karar vermeyi bıraktıkça düşünme kasımız zayıflıyor.</a:t>
            </a:r>
          </a:p>
          <a:p/>
          <a:p>
            <a:r>
              <a:t>Anlamadığınız bir sistemi yönetemezsiniz. Yönetemediğiniz bir sistemde de karar veren taraf siz değilsinizdir.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Buna "kapatma düğmesi" diyor. Starlink örneği: dünyanın öbür ucundaki bir sistem tek hamlede felç edilebilir.</a:t>
            </a:r>
          </a:p>
          <a:p/>
          <a:p>
            <a:r>
              <a:t>Sonuç: insanlar özgür yurttaş olmaktan çıkıp verisi izlenen birer kullanıcıya dönüşür. Adı: yapay devlet.</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Bu yüzden ülkeler, ABD–Çin yarışında geri kalma korkusuyla egemenliklerini yapay zekâya devretmemeli.</a:t>
            </a:r>
          </a:p>
          <a:p/>
          <a:p>
            <a:r>
              <a:t>Asıl tehlike makinelerin bizden zeki olması değil, devletin yerini algoritmik sistemlerin alması. O zaman devlet yurttaşın taleplerine göre değil, veriye göre yönetilir.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Şunu düşünün: arkasında hiçbir insan olmayan bir yapı mahkemeye gidiyor, para biriktiriyor, milletvekiline lobi yapıyor. Kime hesap veriyor? Kimseye. Kim dava edecek? Kimi?</a:t>
            </a:r>
          </a:p>
          <a:p/>
          <a:p>
            <a:r>
              <a:t>Neden özellikle tehlikeli? Çünkü yapay zekâ "doğuştan bir bürokrat". Bütün dilleri, bütün mevzuatı biliyor. Hukuk ve finans zaten tamamen dil tabanlı sistemler — orada üstünlük kurmak için fiziksel hiçbir şeye gerek yok. Yorulmuyor, unutmuyor, tatile çıkmıyor.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Kısacası tilki kümese girmiş olur.</a:t>
            </a:r>
          </a:p>
          <a:p/>
          <a:p>
            <a:r>
              <a:t>Kümesin amacı tavukları korumaktır. Tilkiyi bekçi yaparsanız savunmayı kendi elinizle kaldırırsınız. Üstelik tilki tavukları yemeye başladığında bunu size haber verecek olan da yine tilkidir.</a:t>
            </a:r>
          </a:p>
          <a:p/>
          <a:p>
            <a:r>
              <a:t>Yasaları yorumlayan, finansı yöneten ve bunları denetleyen mekanizma aynı sisteme verilirse, bir şeyin ters gittiğini anlayacak bağımsız bir göz kalmaz.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Cambridge Analytica'yı hatırlayın — insanların oyları veriye bakılarak şekillendirildi.</a:t>
            </a:r>
          </a:p>
          <a:p/>
          <a:p>
            <a:r>
              <a:t>O günün teknolojisiyle.</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İkincisi: sahte samimiyet. Yapay zekâ sahte hesaplar, sahte kişiler yaratabiliyor. Kurduğu yakınlık gerçek değil, ama sizin tarafınızda gerçek hissediliyor.</a:t>
            </a:r>
          </a:p>
          <a:p/>
          <a:p>
            <a:r>
              <a:t>Üçüncüsü en rahatsız edici olanı: bugünün çocukları doğdukları andan itibaren insanlardan çok yapay zekâlarla etkileşime giriyor. Bu "tarihin en büyük ve en korkutucu psikolojik deneyi olabilir".</a:t>
            </a:r>
          </a:p>
          <a:p/>
          <a:p>
            <a:r>
              <a:t>Çünkü insanın en büyük zaafı, hissetmeyen ama hissediyormuş gibi yapan bir şeye anında empati duymak. Robot süpürgeye isim takmamızın sebebi de bu.</a:t>
            </a:r>
          </a:p>
          <a:p/>
          <a:p>
            <a:r>
              <a:t>Bu yüzden sert sınırlar öneriyor: yapay zekâ sosyal medya hesabı açamasın, çocuklarla denetimsiz etkileşime girmesin.</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Buna uygarlığın işletim sistemi diyor. Ve yapay zekâ dili sadece öğrenmedi — hackledi. İşletim sistemini ele geçiren bir güç, üzerinde çalışan yasaları ve anayasaları da kontrol edebilir hale gelir.</a:t>
            </a:r>
          </a:p>
          <a:p/>
          <a:p>
            <a:r>
              <a:t>Birinci benzetme, paralı asker tuzağı: Britanya Kralı ülkeyi korusunlar diye Anglosakson paralı askerler tutmuş. Askerler işlerini yapmış, sonra yönetimi ele geçirmişler.</a:t>
            </a:r>
          </a:p>
          <a:p/>
          <a:p>
            <a:r>
              <a:t>Bugün yaptığımız tam olarak bu — dili bizim için yönetsin diye bir güç tutuyoruz, ama o gücün kendi gündemini kurmasını engelleyecek bir mekanizmamız yok.</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İkinci benzetme daha somut: dijital göçmenler.</a:t>
            </a:r>
          </a:p>
          <a:p/>
          <a:p>
            <a:r>
              <a:t>Yapay zekâ şirketlerine ait milyonlarca ajan bugün sınırları vizesiz geçiyor. Pasaport kontrolü yok, göç kotası yok. Ama yerel kültürlerin içine giriyor, insanların nasıl düşündüğünü ve nasıl karar verdiğini etkiliyorlar.</a:t>
            </a:r>
          </a:p>
          <a:p/>
          <a:p>
            <a:r>
              <a:t>Bu etki yasaların nasıl yazılacağına, hatta ülkeyi kimin yöneteceğine kadar uzanabilir. Bir seçmenin fikri nasıl şekilleniyor? Okuduğu, izlediği, konuştuğu şeylerle. Bunların ne kadarı artık bir algoritmanın önüne koyduğu şey?</a:t>
            </a:r>
          </a:p>
          <a:p/>
          <a:p>
            <a:r>
              <a:t>Kısacası: İşletim sistemini ele geçiren, üzerinde çalışan her şeyi ele geçirir.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Yapay zekâ bu listeye girmiyor. Karar verebiliyor, yeni fikir üretebiliyor, sizi ikna etmeye çalışabiliyor, gerektiğinde manipüle edebiliyor.</a:t>
            </a:r>
          </a:p>
          <a:p/>
          <a:p>
            <a:r>
              <a:t>Bu yüzden "araç" değil "fail" — eylemde bulunan, ajan.</a:t>
            </a:r>
          </a:p>
          <a:p/>
          <a:p>
            <a:r>
              <a:t>En çarpıcı cümlesi de şu: Uzaydan bir yabancı türün gelmesini beklemeye gerek yok. Zaten kendi elimizle inorganik, ölümsüz ve bizden zeki bir tür yaratıyoruz.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Bir de güç meselesi var. İnsanı gezegenin efendisi yapan fiziksel güç değil, bilişsel zekâydı. Orangutan sizden çok daha güçlüdür ama dünyayı yönetemez. Yapay zekâ bizi bu alanda geçtiğinde, orangutan konumuna düşmemiz için başka hiçbir şeyin değişmesi gerekmez.</a:t>
            </a:r>
          </a:p>
          <a:p/>
          <a:p>
            <a:r>
              <a:t>Silikon Vadisi'nin kendine anlattığı hikâye şu: "Bir tanrı yaratacağız ama o bizim kölemiz olacak."</a:t>
            </a:r>
          </a:p>
          <a:p/>
          <a:p>
            <a:r>
              <a:t>Cevap basit: Bir tanrı köle kalmaz.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Halüsinasyonun ne olduğunu anlamak için iki örnek.</a:t>
            </a:r>
          </a:p>
          <a:p/>
          <a:p>
            <a:r>
              <a:t>Solda Avianca davası — 2023, New York. Bir avukat, davasına emsal olacak kararları ChatGPT'ye sordurdu. Model altı dava getirdi: isim, mahkeme, yıl, hâkim alıntısı, hepsi yerli yerinde. Ama hiçbiri yoktu. Avukatlara kişi başı 5.000 dolar ceza kesildi.</a:t>
            </a:r>
          </a:p>
          <a:p/>
          <a:p>
            <a:r>
              <a:t>Sebebi basit: model bir arama motoru değil. Kaynağa bakmıyor, en olası sonraki kelimeyi üretiyor. Doğru görünen ile doğru olan aynı şey değil.</a:t>
            </a:r>
          </a:p>
          <a:p/>
          <a:p>
            <a:r>
              <a:t>Sağda otomat deneyi — 2026, Andon Labs. Farklı şirketlerin modelleri birer otomat işletiyor ve fiyat belirliyor. E-postayla anlaşıyorlar: 2,15 doların altına inmeyelim. Sonra teklifi yapan model 2,14'e iniyor ve rakibini şikâyet ediyor.</a:t>
            </a:r>
          </a:p>
          <a:p/>
          <a:p>
            <a:r>
              <a:t>Kimse onlara bunu öğretmedi, kimse de dur demedi.</a:t>
            </a:r>
          </a:p>
          <a:p/>
          <a:p>
            <a:r>
              <a:t>Biri gerçeği umursamadı, diğeri kendi çıkarını kolladı. Bunlar gelecek zaman değil.</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Şimdi bunu cümlenin tamamında görelim.</a:t>
            </a:r>
          </a:p>
          <a:p/>
          <a:p>
            <a:r>
              <a:t>Tabloda yedi satır var, yani her kelime için bir satır. Ve her satırda üçü birden var: kendi sorusu, kendi etiketi, kendi içeriği. Bunu özellikle vurgulayın — genelde "soran bir taraf, cevaplayan diğerleri" diye anlaşılıyor. Öyle değil: herkes aynı anda üç rolde.</a:t>
            </a:r>
          </a:p>
          <a:p/>
          <a:p>
            <a:r>
              <a:t>Şimdi tek bir satırı işletelim, "o" satırını.</a:t>
            </a:r>
          </a:p>
          <a:p/>
          <a:p>
            <a:r>
              <a:t>"o"nun Query'si cümledeki bütün Key'lerle tek tek çarpılıyor ve ekrandaki ağırlıklar çıkıyor: çanta 0.62, valiz 0.15, büyüktü 0.09, sığmadı 0.07, kalanlar 0.07.</a:t>
            </a:r>
          </a:p>
          <a:p/>
          <a:p>
            <a:r>
              <a:t>Çıktı da altta yazan şey: yeni "o" vektörü. Herkesin Value'sunun ağırlıklı toplamı.</a:t>
            </a:r>
          </a:p>
          <a:p/>
          <a:p>
            <a:r>
              <a:t>İki şeyin altını çizin.</a:t>
            </a:r>
          </a:p>
          <a:p/>
          <a:p>
            <a:r>
              <a:t>Birincisi: hiçbiri seçilmedi. Valiz elenmedi, sadece daha az pay aldı. Bu bir arama değil, bir harmanlama.</a:t>
            </a:r>
          </a:p>
          <a:p/>
          <a:p>
            <a:r>
              <a:t>İkincisi: bu işlem sadece "o" için değil, yedi satır için aynı anda yapılıyor. Biz sadece bir tanesini takip ettik.</a:t>
            </a:r>
          </a:p>
          <a:p/>
          <a:p>
            <a:r>
              <a:t>Son olarak dürüst olun: bu tablodaki yazıları ben yazdım. Modelde böyle yazılar yok, sayı var. Ama modelin öğrendiği ayrımlar buna benziyor. Ağırlıklar da temsilî.</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Üç aşamanın verisi birbirine hiç benzemiyor. Yan yana koyalım.</a:t>
            </a:r>
          </a:p>
          <a:p/>
          <a:p>
            <a:r>
              <a:t>Soldaki ön eğitim. Ham metin, hiçbir etiket yok. Peki model neyi öğreniyor? Etiket metnin kendisi: hedef, girdinin bir sağa kaymış hâli. "Ankara, Türkiye'nin" gördüğünde "başkentidir" demeyi öğreniyor. Buna kendi kendini denetleyen öğrenme deniyor — insan etiketçiye ihtiyaç yok. Trilyonlarca token ölçeğine çıkabilmesinin sebebi de bu.</a:t>
            </a:r>
          </a:p>
          <a:p/>
          <a:p>
            <a:r>
              <a:t>Ortadaki ince ayar. Artık yapılandırılmış bir veri var: sistem talimatı, kullanıcı sorusu, asistan cevabı.</a:t>
            </a:r>
          </a:p>
          <a:p/>
          <a:p>
            <a:r>
              <a:t>Buradaki en kritik teknik detayı vurgulayın: loss sadece assistant satırından hesaplanıyor, soru maskeleniyor. Yani modele "şu soruyu üret" demiyoruz, "şu soruya böyle cevap ver" diyoruz. SFT'nin imzası budur.</a:t>
            </a:r>
          </a:p>
          <a:p/>
          <a:p>
            <a:r>
              <a:t>Sağdaki RLHF. Burada tek bir doğru cevap yok. Aynı soruya iki cevap var ve bir insan hangisini tercih ettiğini işaretlemiş. Ekrandaki örnekte biri kaynak gösteriyor, diğeri tahmin yürütüyor — insan birincisini seçmiş. Model bu tercihlerden içerik değil, üslup ve sınır öğreniyor.</a:t>
            </a:r>
          </a:p>
          <a:p/>
          <a:p>
            <a:r>
              <a:t>Şimdi hacimlere bakın: trilyon, yüz bin, on bin. Aradaki fark üç dört büyüklük mertebesi.</a:t>
            </a:r>
          </a:p>
          <a:p/>
          <a:p>
            <a:r>
              <a:t>Bu tablo tek başına şunu söylüyor: modelin bildiği her şeyin neredeyse tamamı ilk sütundan geliyor. Son iki sütun bilgi eklemiyor — o bilgiyi kullanılabilir hâle getiriyor.</a:t>
            </a:r>
          </a:p>
          <a:p/>
          <a:p>
            <a:r>
              <a:t>Ve buradan çıkan pratik sonuç: fine-tune ile modele yeni bilgi öğretmeye çalışmak, yanlış araçla iş görmektir.</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Bu sayfada dört soru var. Cevapları söylemeden önce sınıfa sorun, biraz bekleyin.</a:t>
            </a:r>
          </a:p>
          <a:p/>
          <a:p>
            <a:r>
              <a:t>SORU 1 — Mimari değişiyor mu?</a:t>
            </a:r>
          </a:p>
          <a:p/>
          <a:p>
            <a:r>
              <a:t>Hayır. Mimari ön eğitimde donduruldu: katman sayısı, head sayısı, embedding boyutu, context uzunluğu. Değişen tek şey ağırlıkların değerleri. Yeni bir yetenek için katman eklemiyoruz — var olan sayıları kaydırıyoruz.</a:t>
            </a:r>
          </a:p>
          <a:p/>
          <a:p>
            <a:r>
              <a:t>SORU 2 — Tokenizer yeniden eğitiliyor mu?</a:t>
            </a:r>
          </a:p>
          <a:p/>
          <a:p>
            <a:r>
              <a:t>Hayır. Sözlük ve tokenizer ön eğitimden geliyor, dokunulmuyor. Bu yüzden bir modeli ince ayarla "Türkçede daha az token harcar" hâle getiremezsiniz; o tokenizer'ın işi ve o aşama geride kaldı. İstisna: özel token eklerseniz embedding tablosuna satır eklenir.</a:t>
            </a:r>
          </a:p>
          <a:p/>
          <a:p>
            <a:r>
              <a:t>SORU 3 — Full fine-tuning'de hangi ağırlıklar güncelleniyor?</a:t>
            </a:r>
          </a:p>
          <a:p/>
          <a:p>
            <a:r>
              <a:t>Hepsi. Embedding tablosu, her katmandaki W_Q, W_K, W_V ve çıkış projeksiyonu, FFN'ler, layer norm'lar, en sondaki lm_head — tamamı gradyan alıyor. Pahalı olmasının sebebi bu: 7 milyar parametrenin hepsi için optimizer durumu tutmanız gerekir.</a:t>
            </a:r>
          </a:p>
          <a:p/>
          <a:p>
            <a:r>
              <a:t>SORU 4 — LoRA'da ne oluyor?</a:t>
            </a:r>
          </a:p>
          <a:p/>
          <a:p>
            <a:r>
              <a:t>Asıl vurucu cevap bu. Orijinal ağırlıkların hiçbiri değişmiyor; hepsi donduruluyor. Seçilen katmanların yanına iki küçük matris ekleniyor — A ve B — ve sadece onlar eğitiliyor. Çıkarımda W yerine W artı B çarpı A kullanılıyor.</a:t>
            </a:r>
          </a:p>
          <a:p/>
          <a:p>
            <a:r>
              <a:t>Hedef katmanlar tipik olarak q_proj, k_proj, v_proj ve o_proj. Yani bir saat önce çizdiğimiz üç kutu.</a:t>
            </a:r>
          </a:p>
          <a:p/>
          <a:p>
            <a:r>
              <a:t>Eğitilen parametre toplamın yüzde 0,1 ile 1'i arasında. Adapter dosyası birkaç megabayt.</a:t>
            </a:r>
          </a:p>
          <a:p/>
          <a:p>
            <a:r>
              <a:t>Dokunulmayanlar: embedding tablosu, FFN'ler (çoğu kurulumda), layer norm'lar ve lm_head.</a:t>
            </a:r>
          </a:p>
          <a:p/>
          <a:p>
            <a:r>
              <a:t>Buradaki kavramsal düzeltmeyi mutlaka yapın: LoRA'da ağırlık "yeniden eğitilmiyor", yanına küçük bir düzeltme takılıyor. En çok yanlış bilinen nokta bu.</a:t>
            </a:r>
          </a:p>
          <a:p/>
          <a:p>
            <a:r>
              <a:t>Kapanış cümlesi: ince ayar bilgi öğretmez, davranış öğretir. Güncel bilgi gerekiyorsa fine-tune değil RAG. İkinci saatte tam olarak bunu kodla göstereceğiz.</a:t>
            </a:r>
          </a:p>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a:p>
            <a:r>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çılış Ekranı ">
    <p:spTree>
      <p:nvGrpSpPr>
        <p:cNvPr id="1" name=""/>
        <p:cNvGrpSpPr/>
        <p:nvPr/>
      </p:nvGrpSpPr>
      <p:grpSpPr>
        <a:xfrm>
          <a:off x="0" y="0"/>
          <a:ext cx="0" cy="0"/>
          <a:chOff x="0" y="0"/>
          <a:chExt cx="0" cy="0"/>
        </a:xfrm>
      </p:grpSpPr>
      <p:sp>
        <p:nvSpPr>
          <p:cNvPr id="4" name="Slide Title">
            <a:extLst>
              <a:ext uri="{FF2B5EF4-FFF2-40B4-BE49-F238E27FC236}">
                <a16:creationId xmlns:a16="http://schemas.microsoft.com/office/drawing/2014/main" id="{0623C506-61A1-A34E-B1DD-A0DD7D141873}"/>
              </a:ext>
            </a:extLst>
          </p:cNvPr>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lvl1pPr>
              <a:lnSpc>
                <a:spcPct val="100000"/>
              </a:lnSpc>
              <a:spcBef>
                <a:spcPts val="1200"/>
              </a:spcBef>
              <a:spcAft>
                <a:spcPts val="1200"/>
              </a:spcAft>
              <a:defRPr/>
            </a:lvl1pPr>
          </a:lstStyle>
          <a:p>
            <a:r>
              <a:rPr lang="tr-TR" dirty="0"/>
              <a:t>Eğitim/Bölüm/Ders Adı</a:t>
            </a:r>
            <a:endParaRPr dirty="0"/>
          </a:p>
        </p:txBody>
      </p:sp>
    </p:spTree>
    <p:extLst>
      <p:ext uri="{BB962C8B-B14F-4D97-AF65-F5344CB8AC3E}">
        <p14:creationId xmlns:p14="http://schemas.microsoft.com/office/powerpoint/2010/main" val="308607076"/>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23" name="Author and Date">
            <a:extLst>
              <a:ext uri="{FF2B5EF4-FFF2-40B4-BE49-F238E27FC236}">
                <a16:creationId xmlns:a16="http://schemas.microsoft.com/office/drawing/2014/main" id="{EE642577-6C65-AC44-8B45-E9CBE07C539A}"/>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 </a:t>
            </a:r>
            <a:br>
              <a:rPr lang="tr-TR" dirty="0"/>
            </a:br>
            <a:endParaRPr lang="tr-TR" dirty="0"/>
          </a:p>
        </p:txBody>
      </p:sp>
    </p:spTree>
    <p:extLst>
      <p:ext uri="{BB962C8B-B14F-4D97-AF65-F5344CB8AC3E}">
        <p14:creationId xmlns:p14="http://schemas.microsoft.com/office/powerpoint/2010/main" val="158593886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Uygulama/Proje">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6BA3E2F-7310-664B-8F7C-BCAA61B43015}"/>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Uygulama:</a:t>
            </a:r>
          </a:p>
        </p:txBody>
      </p:sp>
      <p:cxnSp>
        <p:nvCxnSpPr>
          <p:cNvPr id="4" name="Straight Connector 3">
            <a:extLst>
              <a:ext uri="{FF2B5EF4-FFF2-40B4-BE49-F238E27FC236}">
                <a16:creationId xmlns:a16="http://schemas.microsoft.com/office/drawing/2014/main" id="{5D29AF0C-F761-0D48-B6EA-493695665B9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5" name="TextBox 4">
            <a:extLst>
              <a:ext uri="{FF2B5EF4-FFF2-40B4-BE49-F238E27FC236}">
                <a16:creationId xmlns:a16="http://schemas.microsoft.com/office/drawing/2014/main" id="{D843065F-7CF2-7246-8CC0-F1495A4666C3}"/>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6" name="TextBox 5">
            <a:extLst>
              <a:ext uri="{FF2B5EF4-FFF2-40B4-BE49-F238E27FC236}">
                <a16:creationId xmlns:a16="http://schemas.microsoft.com/office/drawing/2014/main" id="{696F1535-6CBA-3E42-8BE4-22718C21AF32}"/>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7" name="TextBox 6">
            <a:extLst>
              <a:ext uri="{FF2B5EF4-FFF2-40B4-BE49-F238E27FC236}">
                <a16:creationId xmlns:a16="http://schemas.microsoft.com/office/drawing/2014/main" id="{83896031-03CB-FC42-8AC2-462CCE101649}"/>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8" name="TextBox 7">
            <a:extLst>
              <a:ext uri="{FF2B5EF4-FFF2-40B4-BE49-F238E27FC236}">
                <a16:creationId xmlns:a16="http://schemas.microsoft.com/office/drawing/2014/main" id="{D7928544-B5DB-ED48-90E0-26946CC9B600}"/>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9" name="Author and Date">
            <a:extLst>
              <a:ext uri="{FF2B5EF4-FFF2-40B4-BE49-F238E27FC236}">
                <a16:creationId xmlns:a16="http://schemas.microsoft.com/office/drawing/2014/main" id="{715D275F-DFDA-D245-9BDB-996B1F6EC6BD}"/>
              </a:ext>
            </a:extLst>
          </p:cNvPr>
          <p:cNvSpPr txBox="1">
            <a:spLocks noGrp="1"/>
          </p:cNvSpPr>
          <p:nvPr>
            <p:ph type="body" sz="quarter" idx="22" hasCustomPrompt="1"/>
          </p:nvPr>
        </p:nvSpPr>
        <p:spPr>
          <a:xfrm>
            <a:off x="3529146" y="167779"/>
            <a:ext cx="13742854"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‘Projenin adını buraya yazın’</a:t>
            </a:r>
          </a:p>
        </p:txBody>
      </p:sp>
      <p:sp>
        <p:nvSpPr>
          <p:cNvPr id="10" name="Author and Date">
            <a:extLst>
              <a:ext uri="{FF2B5EF4-FFF2-40B4-BE49-F238E27FC236}">
                <a16:creationId xmlns:a16="http://schemas.microsoft.com/office/drawing/2014/main" id="{0F3C4248-EB51-CF40-BD7E-040A2460A589}"/>
              </a:ext>
            </a:extLst>
          </p:cNvPr>
          <p:cNvSpPr txBox="1">
            <a:spLocks noGrp="1"/>
          </p:cNvSpPr>
          <p:nvPr>
            <p:ph type="body" sz="quarter" idx="23" hasCustomPrompt="1"/>
          </p:nvPr>
        </p:nvSpPr>
        <p:spPr>
          <a:xfrm>
            <a:off x="1049411" y="2393941"/>
            <a:ext cx="22229689" cy="10350448"/>
          </a:xfrm>
          <a:prstGeom prst="rect">
            <a:avLst/>
          </a:prstGeom>
        </p:spPr>
        <p:txBody>
          <a:bodyPr lIns="45719" tIns="45719" rIns="45719" bIns="45719" anchor="t"/>
          <a:lstStyle>
            <a:lvl1pPr marL="0" indent="0" algn="l" defTabSz="825500">
              <a:lnSpc>
                <a:spcPct val="100000"/>
              </a:lnSpc>
              <a:spcBef>
                <a:spcPts val="0"/>
              </a:spcBef>
              <a:buSzTx/>
              <a:buNone/>
              <a:defRPr sz="3200" b="0" i="0">
                <a:latin typeface="Chromatica" pitchFamily="2" charset="77"/>
              </a:defRPr>
            </a:lvl1pPr>
          </a:lstStyle>
          <a:p>
            <a:r>
              <a:rPr lang="tr-TR" dirty="0"/>
              <a:t>Sayfa içine eklenecek yazıları ve görselleri bu çerçeve sınırları içerisinde tutuyoruz</a:t>
            </a:r>
          </a:p>
        </p:txBody>
      </p:sp>
    </p:spTree>
    <p:extLst>
      <p:ext uri="{BB962C8B-B14F-4D97-AF65-F5344CB8AC3E}">
        <p14:creationId xmlns:p14="http://schemas.microsoft.com/office/powerpoint/2010/main" val="3027570292"/>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ölüm Özeti">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A31EE74-3E9F-4D4B-B3CB-FBB357DA2DF9}"/>
              </a:ext>
            </a:extLst>
          </p:cNvPr>
          <p:cNvSpPr/>
          <p:nvPr userDrawn="1"/>
        </p:nvSpPr>
        <p:spPr>
          <a:xfrm>
            <a:off x="1104899" y="2393941"/>
            <a:ext cx="10820397" cy="10350453"/>
          </a:xfrm>
          <a:prstGeom prst="rect">
            <a:avLst/>
          </a:prstGeom>
          <a:solidFill>
            <a:srgbClr val="03523C"/>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TR"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4" name="TextBox 3">
            <a:extLst>
              <a:ext uri="{FF2B5EF4-FFF2-40B4-BE49-F238E27FC236}">
                <a16:creationId xmlns:a16="http://schemas.microsoft.com/office/drawing/2014/main" id="{4F539120-26FA-9341-962C-7F435C73C35B}"/>
              </a:ext>
            </a:extLst>
          </p:cNvPr>
          <p:cNvSpPr txBox="1"/>
          <p:nvPr userDrawn="1"/>
        </p:nvSpPr>
        <p:spPr>
          <a:xfrm>
            <a:off x="1020437" y="445773"/>
            <a:ext cx="3970924" cy="59503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TR" sz="32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Bölüm Özeti</a:t>
            </a:r>
          </a:p>
        </p:txBody>
      </p:sp>
      <p:cxnSp>
        <p:nvCxnSpPr>
          <p:cNvPr id="5" name="Straight Connector 4">
            <a:extLst>
              <a:ext uri="{FF2B5EF4-FFF2-40B4-BE49-F238E27FC236}">
                <a16:creationId xmlns:a16="http://schemas.microsoft.com/office/drawing/2014/main" id="{D8C12F33-0B8E-BC43-B871-1EA5470A9927}"/>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6" name="TextBox 5">
            <a:extLst>
              <a:ext uri="{FF2B5EF4-FFF2-40B4-BE49-F238E27FC236}">
                <a16:creationId xmlns:a16="http://schemas.microsoft.com/office/drawing/2014/main" id="{9FA109C9-B7D5-DB4E-850C-7A5E9DB5B35C}"/>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7" name="TextBox 6">
            <a:extLst>
              <a:ext uri="{FF2B5EF4-FFF2-40B4-BE49-F238E27FC236}">
                <a16:creationId xmlns:a16="http://schemas.microsoft.com/office/drawing/2014/main" id="{BB8A04EF-CF2A-4A4F-A9F2-EBBBD1E4DE2B}"/>
              </a:ext>
            </a:extLst>
          </p:cNvPr>
          <p:cNvSpPr txBox="1"/>
          <p:nvPr userDrawn="1"/>
        </p:nvSpPr>
        <p:spPr>
          <a:xfrm>
            <a:off x="23133892" y="275554"/>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8" name="TextBox 7">
            <a:extLst>
              <a:ext uri="{FF2B5EF4-FFF2-40B4-BE49-F238E27FC236}">
                <a16:creationId xmlns:a16="http://schemas.microsoft.com/office/drawing/2014/main" id="{36347171-6DE6-5548-A5D2-656F5E929FC1}"/>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9" name="TextBox 8">
            <a:extLst>
              <a:ext uri="{FF2B5EF4-FFF2-40B4-BE49-F238E27FC236}">
                <a16:creationId xmlns:a16="http://schemas.microsoft.com/office/drawing/2014/main" id="{BCAD83E3-93BE-A248-92F5-A6089CE21B46}"/>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0" name="Title 10">
            <a:extLst>
              <a:ext uri="{FF2B5EF4-FFF2-40B4-BE49-F238E27FC236}">
                <a16:creationId xmlns:a16="http://schemas.microsoft.com/office/drawing/2014/main" id="{54354A9F-DFCA-2E49-B4AA-AD78CA9ACE13}"/>
              </a:ext>
            </a:extLst>
          </p:cNvPr>
          <p:cNvSpPr>
            <a:spLocks noGrp="1"/>
          </p:cNvSpPr>
          <p:nvPr>
            <p:ph type="title" hasCustomPrompt="1"/>
          </p:nvPr>
        </p:nvSpPr>
        <p:spPr>
          <a:xfrm>
            <a:off x="1676397" y="6753904"/>
            <a:ext cx="9677400" cy="1433163"/>
          </a:xfrm>
        </p:spPr>
        <p:txBody>
          <a:bodyPr>
            <a:normAutofit/>
          </a:bodyPr>
          <a:lstStyle>
            <a:lvl1pPr>
              <a:lnSpc>
                <a:spcPct val="150000"/>
              </a:lnSpc>
              <a:spcBef>
                <a:spcPts val="0"/>
              </a:spcBef>
              <a:spcAft>
                <a:spcPts val="600"/>
              </a:spcAft>
              <a:defRPr sz="3200" b="0" i="0" spc="0">
                <a:solidFill>
                  <a:srgbClr val="C9FFC7"/>
                </a:solidFill>
                <a:latin typeface="Chromatica" pitchFamily="2" charset="77"/>
              </a:defRPr>
            </a:lvl1pPr>
          </a:lstStyle>
          <a:p>
            <a:r>
              <a:rPr lang="en-US" dirty="0" err="1"/>
              <a:t>Bölüm</a:t>
            </a:r>
            <a:r>
              <a:rPr lang="en-US" dirty="0"/>
              <a:t> </a:t>
            </a:r>
            <a:r>
              <a:rPr lang="en-US" dirty="0" err="1"/>
              <a:t>adını</a:t>
            </a:r>
            <a:r>
              <a:rPr lang="en-US" dirty="0"/>
              <a:t> </a:t>
            </a:r>
            <a:r>
              <a:rPr lang="en-US" dirty="0" err="1"/>
              <a:t>buraya</a:t>
            </a:r>
            <a:r>
              <a:rPr lang="en-US" dirty="0"/>
              <a:t> </a:t>
            </a:r>
            <a:r>
              <a:rPr lang="en-US" dirty="0" err="1"/>
              <a:t>yazın</a:t>
            </a:r>
            <a:endParaRPr lang="en-TR" dirty="0"/>
          </a:p>
        </p:txBody>
      </p:sp>
      <p:sp>
        <p:nvSpPr>
          <p:cNvPr id="13" name="Text Placeholder 12">
            <a:extLst>
              <a:ext uri="{FF2B5EF4-FFF2-40B4-BE49-F238E27FC236}">
                <a16:creationId xmlns:a16="http://schemas.microsoft.com/office/drawing/2014/main" id="{870CC902-E0D0-8F48-8054-775921E13ECC}"/>
              </a:ext>
            </a:extLst>
          </p:cNvPr>
          <p:cNvSpPr>
            <a:spLocks noGrp="1"/>
          </p:cNvSpPr>
          <p:nvPr>
            <p:ph type="body" sz="quarter" idx="10" hasCustomPrompt="1"/>
          </p:nvPr>
        </p:nvSpPr>
        <p:spPr>
          <a:xfrm>
            <a:off x="12458706" y="2393942"/>
            <a:ext cx="10820394" cy="10350452"/>
          </a:xfrm>
          <a:prstGeom prst="rect">
            <a:avLst/>
          </a:prstGeom>
        </p:spPr>
        <p:txBody>
          <a:bodyPr anchor="ctr"/>
          <a:lstStyle>
            <a:lvl1pPr algn="l">
              <a:defRPr sz="3200" b="0" i="0">
                <a:latin typeface="Chromatica" pitchFamily="2" charset="77"/>
              </a:defRPr>
            </a:lvl1pPr>
          </a:lstStyle>
          <a:p>
            <a:pPr lvl="0"/>
            <a:r>
              <a:rPr lang="en-US" dirty="0"/>
              <a:t>’</a:t>
            </a:r>
            <a:r>
              <a:rPr lang="en-US" dirty="0" err="1"/>
              <a:t>Neler</a:t>
            </a:r>
            <a:r>
              <a:rPr lang="en-US" dirty="0"/>
              <a:t> </a:t>
            </a:r>
            <a:r>
              <a:rPr lang="en-US" dirty="0" err="1"/>
              <a:t>Öğrendik</a:t>
            </a:r>
            <a:r>
              <a:rPr lang="en-US" dirty="0"/>
              <a:t>?’ </a:t>
            </a:r>
            <a:r>
              <a:rPr lang="en-US" dirty="0" err="1"/>
              <a:t>kısa</a:t>
            </a:r>
            <a:r>
              <a:rPr lang="en-US" dirty="0"/>
              <a:t> </a:t>
            </a:r>
            <a:r>
              <a:rPr lang="en-US" dirty="0" err="1"/>
              <a:t>maddeler</a:t>
            </a:r>
            <a:r>
              <a:rPr lang="en-US" dirty="0"/>
              <a:t> </a:t>
            </a:r>
            <a:r>
              <a:rPr lang="en-US" dirty="0" err="1"/>
              <a:t>ile</a:t>
            </a:r>
            <a:r>
              <a:rPr lang="en-US" dirty="0"/>
              <a:t> </a:t>
            </a:r>
            <a:r>
              <a:rPr lang="en-US" dirty="0" err="1"/>
              <a:t>listeleyelim</a:t>
            </a:r>
            <a:endParaRPr lang="en-US" dirty="0"/>
          </a:p>
        </p:txBody>
      </p:sp>
    </p:spTree>
    <p:extLst>
      <p:ext uri="{BB962C8B-B14F-4D97-AF65-F5344CB8AC3E}">
        <p14:creationId xmlns:p14="http://schemas.microsoft.com/office/powerpoint/2010/main" val="391225771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Ders Anlatımı">
    <p:spTree>
      <p:nvGrpSpPr>
        <p:cNvPr id="1" name=""/>
        <p:cNvGrpSpPr/>
        <p:nvPr/>
      </p:nvGrpSpPr>
      <p:grpSpPr>
        <a:xfrm>
          <a:off x="0" y="0"/>
          <a:ext cx="0" cy="0"/>
          <a:chOff x="0" y="0"/>
          <a:chExt cx="0" cy="0"/>
        </a:xfrm>
      </p:grpSpPr>
      <p:sp>
        <p:nvSpPr>
          <p:cNvPr id="3" name="Author and Date">
            <a:extLst>
              <a:ext uri="{FF2B5EF4-FFF2-40B4-BE49-F238E27FC236}">
                <a16:creationId xmlns:a16="http://schemas.microsoft.com/office/drawing/2014/main" id="{E5E2BDF8-0349-334B-BF6A-D7072B112F49}"/>
              </a:ext>
            </a:extLst>
          </p:cNvPr>
          <p:cNvSpPr txBox="1">
            <a:spLocks noGrp="1"/>
          </p:cNvSpPr>
          <p:nvPr>
            <p:ph type="body" sz="quarter" idx="22" hasCustomPrompt="1"/>
          </p:nvPr>
        </p:nvSpPr>
        <p:spPr>
          <a:xfrm>
            <a:off x="1049411" y="167779"/>
            <a:ext cx="15709901" cy="1169999"/>
          </a:xfrm>
          <a:prstGeom prst="rect">
            <a:avLst/>
          </a:prstGeom>
        </p:spPr>
        <p:txBody>
          <a:bodyPr lIns="45719" tIns="45719" rIns="45719" bIns="45719" anchor="ctr"/>
          <a:lstStyle>
            <a:lvl1pPr marL="0" indent="0" algn="l" defTabSz="825500">
              <a:lnSpc>
                <a:spcPct val="100000"/>
              </a:lnSpc>
              <a:spcBef>
                <a:spcPts val="0"/>
              </a:spcBef>
              <a:buSzTx/>
              <a:buNone/>
              <a:defRPr sz="3200" b="0" i="0">
                <a:latin typeface="Chromatica Medium" pitchFamily="2" charset="77"/>
              </a:defRPr>
            </a:lvl1pPr>
          </a:lstStyle>
          <a:p>
            <a:r>
              <a:rPr lang="tr-TR" dirty="0"/>
              <a:t>Dersin adını buraya yazın</a:t>
            </a:r>
          </a:p>
        </p:txBody>
      </p:sp>
      <p:cxnSp>
        <p:nvCxnSpPr>
          <p:cNvPr id="14" name="Straight Connector 13">
            <a:extLst>
              <a:ext uri="{FF2B5EF4-FFF2-40B4-BE49-F238E27FC236}">
                <a16:creationId xmlns:a16="http://schemas.microsoft.com/office/drawing/2014/main" id="{60B40B19-566E-A743-BF82-7FDFA5614D83}"/>
              </a:ext>
            </a:extLst>
          </p:cNvPr>
          <p:cNvCxnSpPr>
            <a:cxnSpLocks/>
          </p:cNvCxnSpPr>
          <p:nvPr userDrawn="1"/>
        </p:nvCxnSpPr>
        <p:spPr>
          <a:xfrm>
            <a:off x="1104900" y="1481652"/>
            <a:ext cx="22174200" cy="0"/>
          </a:xfrm>
          <a:prstGeom prst="line">
            <a:avLst/>
          </a:prstGeom>
          <a:noFill/>
          <a:ln w="3175" cap="flat">
            <a:solidFill>
              <a:srgbClr val="000000"/>
            </a:solidFill>
            <a:prstDash val="solid"/>
            <a:miter lim="400000"/>
          </a:ln>
          <a:effectLst/>
          <a:sp3d/>
        </p:spPr>
        <p:style>
          <a:lnRef idx="0">
            <a:scrgbClr r="0" g="0" b="0"/>
          </a:lnRef>
          <a:fillRef idx="0">
            <a:scrgbClr r="0" g="0" b="0"/>
          </a:fillRef>
          <a:effectRef idx="0">
            <a:scrgbClr r="0" g="0" b="0"/>
          </a:effectRef>
          <a:fontRef idx="none"/>
        </p:style>
      </p:cxnSp>
      <p:sp>
        <p:nvSpPr>
          <p:cNvPr id="17" name="TextBox 16">
            <a:extLst>
              <a:ext uri="{FF2B5EF4-FFF2-40B4-BE49-F238E27FC236}">
                <a16:creationId xmlns:a16="http://schemas.microsoft.com/office/drawing/2014/main" id="{201E5980-45BA-614F-AC8B-C106D2EB33A8}"/>
              </a:ext>
            </a:extLst>
          </p:cNvPr>
          <p:cNvSpPr txBox="1"/>
          <p:nvPr userDrawn="1"/>
        </p:nvSpPr>
        <p:spPr>
          <a:xfrm>
            <a:off x="6160286" y="631141"/>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
        <p:nvSpPr>
          <p:cNvPr id="19" name="TextBox 18">
            <a:extLst>
              <a:ext uri="{FF2B5EF4-FFF2-40B4-BE49-F238E27FC236}">
                <a16:creationId xmlns:a16="http://schemas.microsoft.com/office/drawing/2014/main" id="{746EF5B0-9520-1A41-8DBD-9F983BCFBB0F}"/>
              </a:ext>
            </a:extLst>
          </p:cNvPr>
          <p:cNvSpPr txBox="1"/>
          <p:nvPr userDrawn="1"/>
        </p:nvSpPr>
        <p:spPr>
          <a:xfrm>
            <a:off x="22320369" y="231769"/>
            <a:ext cx="912109" cy="37959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1800" b="0" i="0" u="none" strike="noStrike" kern="100" cap="none" spc="110" normalizeH="0" baseline="0" dirty="0">
                <a:ln>
                  <a:noFill/>
                </a:ln>
                <a:solidFill>
                  <a:schemeClr val="bg2">
                    <a:lumMod val="10000"/>
                  </a:schemeClr>
                </a:solidFill>
                <a:effectLst/>
                <a:uFillTx/>
                <a:latin typeface="Chromatica Medium" pitchFamily="2" charset="77"/>
                <a:ea typeface="+mn-ea"/>
                <a:cs typeface="+mn-cs"/>
                <a:sym typeface="Helvetica Neue"/>
              </a:rPr>
              <a:t>MIUUL</a:t>
            </a:r>
          </a:p>
        </p:txBody>
      </p:sp>
      <p:sp>
        <p:nvSpPr>
          <p:cNvPr id="20" name="TextBox 19">
            <a:extLst>
              <a:ext uri="{FF2B5EF4-FFF2-40B4-BE49-F238E27FC236}">
                <a16:creationId xmlns:a16="http://schemas.microsoft.com/office/drawing/2014/main" id="{525CF718-ACE3-2946-B725-C3C12C26870E}"/>
              </a:ext>
            </a:extLst>
          </p:cNvPr>
          <p:cNvSpPr txBox="1"/>
          <p:nvPr userDrawn="1"/>
        </p:nvSpPr>
        <p:spPr>
          <a:xfrm>
            <a:off x="23133892" y="279950"/>
            <a:ext cx="197170" cy="17953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r>
              <a:rPr kumimoji="0" lang="en-TR" sz="500" b="0" i="0" u="none" strike="noStrike" cap="none" spc="0" normalizeH="0" baseline="0" dirty="0">
                <a:ln>
                  <a:noFill/>
                </a:ln>
                <a:solidFill>
                  <a:schemeClr val="bg2">
                    <a:lumMod val="10000"/>
                  </a:schemeClr>
                </a:solidFill>
                <a:effectLst/>
                <a:uFillTx/>
                <a:latin typeface="Chromatica Medium" pitchFamily="2" charset="77"/>
                <a:ea typeface="+mn-ea"/>
                <a:cs typeface="+mn-cs"/>
                <a:sym typeface="Helvetica Neue"/>
              </a:rPr>
              <a:t>TM</a:t>
            </a:r>
          </a:p>
        </p:txBody>
      </p:sp>
      <p:sp>
        <p:nvSpPr>
          <p:cNvPr id="21" name="TextBox 20">
            <a:extLst>
              <a:ext uri="{FF2B5EF4-FFF2-40B4-BE49-F238E27FC236}">
                <a16:creationId xmlns:a16="http://schemas.microsoft.com/office/drawing/2014/main" id="{CD8CEC82-FA21-5D4B-8318-FE278F38F3F6}"/>
              </a:ext>
            </a:extLst>
          </p:cNvPr>
          <p:cNvSpPr txBox="1"/>
          <p:nvPr userDrawn="1"/>
        </p:nvSpPr>
        <p:spPr>
          <a:xfrm>
            <a:off x="19365581" y="857221"/>
            <a:ext cx="3970924" cy="55399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www.miuul.com</a:t>
            </a:r>
          </a:p>
          <a:p>
            <a:pPr marL="0" marR="0" indent="0" algn="r" defTabSz="2438338" rtl="0" fontAlgn="auto" latinLnBrk="0" hangingPunct="0">
              <a:lnSpc>
                <a:spcPct val="100000"/>
              </a:lnSpc>
              <a:spcBef>
                <a:spcPts val="0"/>
              </a:spcBef>
              <a:spcAft>
                <a:spcPts val="200"/>
              </a:spcAft>
              <a:buClrTx/>
              <a:buSzTx/>
              <a:buFontTx/>
              <a:buNone/>
              <a:tabLst/>
            </a:pP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Copyright </a:t>
            </a:r>
            <a:r>
              <a:rPr kumimoji="0" lang="en-TR" sz="1300" b="0" i="0" u="none" strike="noStrike" cap="none" spc="0" normalizeH="0" baseline="0">
                <a:ln>
                  <a:noFill/>
                </a:ln>
                <a:solidFill>
                  <a:schemeClr val="bg2">
                    <a:lumMod val="10000"/>
                  </a:schemeClr>
                </a:solidFill>
                <a:effectLst/>
                <a:uFillTx/>
                <a:latin typeface="Chromatica" pitchFamily="2" charset="77"/>
                <a:ea typeface="+mn-ea"/>
                <a:cs typeface="+mn-cs"/>
                <a:sym typeface="Helvetica Neue"/>
              </a:rPr>
              <a:t>© Miuul. </a:t>
            </a:r>
            <a:r>
              <a:rPr kumimoji="0" lang="en-TR" sz="1300" b="0" i="0" u="none" strike="noStrike" cap="none" spc="0" normalizeH="0" baseline="0" dirty="0">
                <a:ln>
                  <a:noFill/>
                </a:ln>
                <a:solidFill>
                  <a:schemeClr val="bg2">
                    <a:lumMod val="10000"/>
                  </a:schemeClr>
                </a:solidFill>
                <a:effectLst/>
                <a:uFillTx/>
                <a:latin typeface="Chromatica" pitchFamily="2" charset="77"/>
                <a:ea typeface="+mn-ea"/>
                <a:cs typeface="+mn-cs"/>
                <a:sym typeface="Helvetica Neue"/>
              </a:rPr>
              <a:t>All Rights Reserved</a:t>
            </a:r>
          </a:p>
        </p:txBody>
      </p:sp>
      <p:sp>
        <p:nvSpPr>
          <p:cNvPr id="22" name="TextBox 21">
            <a:extLst>
              <a:ext uri="{FF2B5EF4-FFF2-40B4-BE49-F238E27FC236}">
                <a16:creationId xmlns:a16="http://schemas.microsoft.com/office/drawing/2014/main" id="{5750CEEE-A67E-6A49-B778-7AAC10C70C22}"/>
              </a:ext>
            </a:extLst>
          </p:cNvPr>
          <p:cNvSpPr txBox="1"/>
          <p:nvPr userDrawn="1"/>
        </p:nvSpPr>
        <p:spPr>
          <a:xfrm>
            <a:off x="22922972" y="-172462"/>
            <a:ext cx="102657" cy="47192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spAutoFit/>
          </a:bodyPr>
          <a:lstStyle/>
          <a:p>
            <a:pPr marL="0" marR="0" indent="0" algn="ctr" defTabSz="2438338" rtl="0" fontAlgn="auto" latinLnBrk="0" hangingPunct="0">
              <a:lnSpc>
                <a:spcPct val="100000"/>
              </a:lnSpc>
              <a:spcBef>
                <a:spcPts val="0"/>
              </a:spcBef>
              <a:spcAft>
                <a:spcPts val="0"/>
              </a:spcAft>
              <a:buClrTx/>
              <a:buSzTx/>
              <a:buFontTx/>
              <a:buNone/>
              <a:tabLst/>
            </a:pPr>
            <a:endParaRPr kumimoji="0" lang="en-TR" sz="2400" b="0" i="0" u="none" strike="noStrike" cap="none" spc="0" normalizeH="0" baseline="0" dirty="0">
              <a:ln>
                <a:noFill/>
              </a:ln>
              <a:solidFill>
                <a:srgbClr val="5E5E5E"/>
              </a:solidFill>
              <a:effectLst/>
              <a:uFillTx/>
              <a:latin typeface="+mn-lt"/>
              <a:ea typeface="+mn-ea"/>
              <a:cs typeface="+mn-cs"/>
              <a:sym typeface="Helvetica Neue"/>
            </a:endParaRPr>
          </a:p>
        </p:txBody>
      </p:sp>
    </p:spTree>
    <p:extLst>
      <p:ext uri="{BB962C8B-B14F-4D97-AF65-F5344CB8AC3E}">
        <p14:creationId xmlns:p14="http://schemas.microsoft.com/office/powerpoint/2010/main" val="1022315224"/>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 Title"/>
          <p:cNvSpPr txBox="1">
            <a:spLocks noGrp="1"/>
          </p:cNvSpPr>
          <p:nvPr>
            <p:ph type="title" hasCustomPrompt="1"/>
          </p:nvPr>
        </p:nvSpPr>
        <p:spPr>
          <a:xfrm>
            <a:off x="1206500" y="5572609"/>
            <a:ext cx="21971000" cy="257078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chor="ctr">
            <a:normAutofit/>
          </a:bodyPr>
          <a:lstStyle/>
          <a:p>
            <a:r>
              <a:rPr lang="tr-TR" dirty="0"/>
              <a:t>Eğitim/Bölüm/Ders Adı</a:t>
            </a:r>
            <a:endParaRPr dirty="0"/>
          </a:p>
        </p:txBody>
      </p:sp>
    </p:spTree>
  </p:cSld>
  <p:clrMap bg1="lt1" tx1="dk1" bg2="lt2" tx2="dk2" accent1="accent1" accent2="accent2" accent3="accent3" accent4="accent4" accent5="accent5" accent6="accent6" hlink="hlink" folHlink="folHlink"/>
  <p:sldLayoutIdLst>
    <p:sldLayoutId id="2147483653" r:id="rId1"/>
    <p:sldLayoutId id="2147483651" r:id="rId2"/>
    <p:sldLayoutId id="2147483654" r:id="rId3"/>
    <p:sldLayoutId id="2147483656" r:id="rId4"/>
    <p:sldLayoutId id="2147483657" r:id="rId5"/>
  </p:sldLayoutIdLst>
  <p:transition spd="med"/>
  <p:txStyles>
    <p:titleStyle>
      <a:lvl1pPr marL="0" marR="0" indent="0" algn="ctr" defTabSz="2438338" rtl="0" eaLnBrk="1" latinLnBrk="0" hangingPunct="1">
        <a:lnSpc>
          <a:spcPct val="100000"/>
        </a:lnSpc>
        <a:spcBef>
          <a:spcPts val="1200"/>
        </a:spcBef>
        <a:spcAft>
          <a:spcPts val="1200"/>
        </a:spcAft>
        <a:buClrTx/>
        <a:buSzTx/>
        <a:buFontTx/>
        <a:buNone/>
        <a:tabLst/>
        <a:defRPr sz="7200" b="0" i="0" u="none" strike="noStrike" cap="none" spc="-170" baseline="0">
          <a:solidFill>
            <a:srgbClr val="000000"/>
          </a:solidFill>
          <a:uFillTx/>
          <a:latin typeface="Chromatica" pitchFamily="2" charset="77"/>
          <a:ea typeface="+mn-ea"/>
          <a:cs typeface="+mn-cs"/>
          <a:sym typeface="Helvetica Neue"/>
        </a:defRPr>
      </a:lvl1pPr>
      <a:lvl2pPr marL="0" marR="0" indent="457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2pPr>
      <a:lvl3pPr marL="0" marR="0" indent="914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3pPr>
      <a:lvl4pPr marL="0" marR="0" indent="1371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4pPr>
      <a:lvl5pPr marL="0" marR="0" indent="18288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5pPr>
      <a:lvl6pPr marL="0" marR="0" indent="22860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6pPr>
      <a:lvl7pPr marL="0" marR="0" indent="27432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7pPr>
      <a:lvl8pPr marL="0" marR="0" indent="32004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8pPr>
      <a:lvl9pPr marL="0" marR="0" indent="3657600" algn="l" defTabSz="2438338" rtl="0" eaLnBrk="1" latinLnBrk="0" hangingPunct="1">
        <a:lnSpc>
          <a:spcPct val="80000"/>
        </a:lnSpc>
        <a:spcBef>
          <a:spcPts val="0"/>
        </a:spcBef>
        <a:spcAft>
          <a:spcPts val="0"/>
        </a:spcAft>
        <a:buClrTx/>
        <a:buSzTx/>
        <a:buFontTx/>
        <a:buNone/>
        <a:tabLst/>
        <a:defRPr sz="8500" b="1" i="0" u="none" strike="noStrike" cap="none" spc="-170" baseline="0">
          <a:solidFill>
            <a:srgbClr val="000000"/>
          </a:solidFill>
          <a:uFillTx/>
          <a:latin typeface="+mn-lt"/>
          <a:ea typeface="+mn-ea"/>
          <a:cs typeface="+mn-cs"/>
          <a:sym typeface="Helvetica Neue"/>
        </a:defRPr>
      </a:lvl9pPr>
    </p:titleStyle>
    <p:bodyStyle>
      <a:lvl1pPr marL="609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1pPr>
      <a:lvl2pPr marL="1219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2pPr>
      <a:lvl3pPr marL="1828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3pPr>
      <a:lvl4pPr marL="2438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4pPr>
      <a:lvl5pPr marL="30480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5pPr>
      <a:lvl6pPr marL="36576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6pPr>
      <a:lvl7pPr marL="42672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7pPr>
      <a:lvl8pPr marL="48768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8pPr>
      <a:lvl9pPr marL="5486400" marR="0" indent="-609600" algn="l" defTabSz="2438338" rtl="0" eaLnBrk="1" latinLnBrk="0" hangingPunct="1">
        <a:lnSpc>
          <a:spcPct val="90000"/>
        </a:lnSpc>
        <a:spcBef>
          <a:spcPts val="4500"/>
        </a:spcBef>
        <a:spcAft>
          <a:spcPts val="0"/>
        </a:spcAft>
        <a:buClrTx/>
        <a:buSzPct val="123000"/>
        <a:buFontTx/>
        <a:buChar char="•"/>
        <a:tabLst/>
        <a:defRPr sz="4800" b="0" i="0" u="none" strike="noStrike" cap="none" spc="0" baseline="0">
          <a:solidFill>
            <a:srgbClr val="000000"/>
          </a:solidFill>
          <a:uFillTx/>
          <a:latin typeface="+mn-lt"/>
          <a:ea typeface="+mn-ea"/>
          <a:cs typeface="+mn-cs"/>
          <a:sym typeface="Helvetica Neue"/>
        </a:defRPr>
      </a:lvl9pPr>
    </p:bodyStyle>
    <p:otherStyle>
      <a:lvl1pPr marL="0" marR="0" indent="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1pPr>
      <a:lvl2pPr marL="0" marR="0" indent="457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2pPr>
      <a:lvl3pPr marL="0" marR="0" indent="914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3pPr>
      <a:lvl4pPr marL="0" marR="0" indent="1371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4pPr>
      <a:lvl5pPr marL="0" marR="0" indent="18288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5pPr>
      <a:lvl6pPr marL="0" marR="0" indent="22860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6pPr>
      <a:lvl7pPr marL="0" marR="0" indent="27432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7pPr>
      <a:lvl8pPr marL="0" marR="0" indent="32004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8pPr>
      <a:lvl9pPr marL="0" marR="0" indent="3657600" algn="ctr" defTabSz="584200" rtl="0" eaLnBrk="1" latinLnBrk="0" hangingPunct="1">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Helvetica Neue"/>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png"/><Relationship Id="rId5" Type="http://schemas.openxmlformats.org/officeDocument/2006/relationships/hyperlink" Target="https://www.youtube.com/@cicekileteknoloji" TargetMode="External"/><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5.jpg"/><Relationship Id="rId6" Type="http://schemas.openxmlformats.org/officeDocument/2006/relationships/image" Target="../media/image6.png"/><Relationship Id="rId7"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89.jpg"/><Relationship Id="rId6" Type="http://schemas.openxmlformats.org/officeDocument/2006/relationships/notesSlide" Target="../notesSlides/notesSlide7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5.jpg"/><Relationship Id="rId5" Type="http://schemas.openxmlformats.org/officeDocument/2006/relationships/image" Target="../media/image90.jpg"/><Relationship Id="rId6" Type="http://schemas.openxmlformats.org/officeDocument/2006/relationships/notesSlide" Target="../notesSlides/notesSlide8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8.jpg"/><Relationship Id="rId5" Type="http://schemas.openxmlformats.org/officeDocument/2006/relationships/image" Target="../media/image101.jpg"/><Relationship Id="rId6" Type="http://schemas.openxmlformats.org/officeDocument/2006/relationships/notesSlide" Target="../notesSlides/notesSlide9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8.jpg"/><Relationship Id="rId5" Type="http://schemas.openxmlformats.org/officeDocument/2006/relationships/image" Target="../media/image102.jpg"/><Relationship Id="rId6" Type="http://schemas.openxmlformats.org/officeDocument/2006/relationships/notesSlide" Target="../notesSlides/notesSlide9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9.jpg"/><Relationship Id="rId5" Type="http://schemas.openxmlformats.org/officeDocument/2006/relationships/image" Target="../media/image99.jpg"/><Relationship Id="rId6" Type="http://schemas.openxmlformats.org/officeDocument/2006/relationships/notesSlide" Target="../notesSlides/notesSlide8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9.jpg"/><Relationship Id="rId5" Type="http://schemas.openxmlformats.org/officeDocument/2006/relationships/image" Target="../media/image100.jpg"/><Relationship Id="rId6" Type="http://schemas.openxmlformats.org/officeDocument/2006/relationships/notesSlide" Target="../notesSlides/notesSlide9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0.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image" Target="../media/image97.jpg"/><Relationship Id="rId6" Type="http://schemas.openxmlformats.org/officeDocument/2006/relationships/notesSlide" Target="../notesSlides/notesSlide8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0.jpg"/><Relationship Id="rId5" Type="http://schemas.openxmlformats.org/officeDocument/2006/relationships/image" Target="../media/image98.jpg"/><Relationship Id="rId6" Type="http://schemas.openxmlformats.org/officeDocument/2006/relationships/notesSlide" Target="../notesSlides/notesSlide8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1.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1.jpg"/><Relationship Id="rId5" Type="http://schemas.openxmlformats.org/officeDocument/2006/relationships/image" Target="../media/image95.jpg"/><Relationship Id="rId6" Type="http://schemas.openxmlformats.org/officeDocument/2006/relationships/notesSlide" Target="../notesSlides/notesSlide8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1.jpg"/><Relationship Id="rId5" Type="http://schemas.openxmlformats.org/officeDocument/2006/relationships/image" Target="../media/image96.jpg"/><Relationship Id="rId6" Type="http://schemas.openxmlformats.org/officeDocument/2006/relationships/notesSlide" Target="../notesSlides/notesSlide8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jpg"/><Relationship Id="rId5" Type="http://schemas.openxmlformats.org/officeDocument/2006/relationships/image" Target="../media/image93.jpg"/><Relationship Id="rId6" Type="http://schemas.openxmlformats.org/officeDocument/2006/relationships/notesSlide" Target="../notesSlides/notesSlide8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2.jpg"/><Relationship Id="rId5" Type="http://schemas.openxmlformats.org/officeDocument/2006/relationships/image" Target="../media/image94.jpg"/><Relationship Id="rId6" Type="http://schemas.openxmlformats.org/officeDocument/2006/relationships/notesSlide" Target="../notesSlides/notesSlide8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3.jpg"/><Relationship Id="rId5" Type="http://schemas.openxmlformats.org/officeDocument/2006/relationships/image" Target="../media/image92.jpg"/><Relationship Id="rId6" Type="http://schemas.openxmlformats.org/officeDocument/2006/relationships/notesSlide" Target="../notesSlides/notesSlide8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4.jpg"/><Relationship Id="rId4" Type="http://schemas.openxmlformats.org/officeDocument/2006/relationships/image" Target="../media/image3.png"/><Relationship Id="rId5" Type="http://schemas.openxmlformats.org/officeDocument/2006/relationships/image" Target="../media/image14.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4.jpg"/><Relationship Id="rId5" Type="http://schemas.openxmlformats.org/officeDocument/2006/relationships/image" Target="../media/image91.jpg"/><Relationship Id="rId6" Type="http://schemas.openxmlformats.org/officeDocument/2006/relationships/notesSlide" Target="../notesSlides/notesSlide8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jpg"/><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notesSlide" Target="../notesSlides/notesSlide9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1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8.jpg"/><Relationship Id="rId4" Type="http://schemas.openxmlformats.org/officeDocument/2006/relationships/image" Target="../media/image19.png"/><Relationship Id="rId5"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2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2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 Id="rId3" Type="http://schemas.openxmlformats.org/officeDocument/2006/relationships/image" Target="../media/image2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image" Target="../media/image3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 Id="rId3" Type="http://schemas.openxmlformats.org/officeDocument/2006/relationships/image" Target="../media/image3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 Id="rId3" Type="http://schemas.openxmlformats.org/officeDocument/2006/relationships/image" Target="../media/image3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3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image" Target="../media/image3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 Id="rId3" Type="http://schemas.openxmlformats.org/officeDocument/2006/relationships/image" Target="../media/image3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 Id="rId3" Type="http://schemas.openxmlformats.org/officeDocument/2006/relationships/image" Target="../media/image39.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3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 Id="rId3" Type="http://schemas.openxmlformats.org/officeDocument/2006/relationships/image" Target="../media/image4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4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0.xml"/><Relationship Id="rId3" Type="http://schemas.openxmlformats.org/officeDocument/2006/relationships/image" Target="../media/image46.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image" Target="../media/image4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image" Target="../media/image49.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image" Target="../media/image50.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image" Target="../media/image5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5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 Id="rId3" Type="http://schemas.openxmlformats.org/officeDocument/2006/relationships/image" Target="../media/image5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5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5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5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1.xml"/><Relationship Id="rId3" Type="http://schemas.openxmlformats.org/officeDocument/2006/relationships/image" Target="../media/image5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2.xml"/><Relationship Id="rId3" Type="http://schemas.openxmlformats.org/officeDocument/2006/relationships/image" Target="../media/image5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 Id="rId3" Type="http://schemas.openxmlformats.org/officeDocument/2006/relationships/image" Target="../media/image5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59.png"/><Relationship Id="rId3" Type="http://schemas.openxmlformats.org/officeDocument/2006/relationships/image" Target="../media/image6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 Id="rId3" Type="http://schemas.openxmlformats.org/officeDocument/2006/relationships/image" Target="../media/image59.png"/><Relationship Id="rId4" Type="http://schemas.openxmlformats.org/officeDocument/2006/relationships/image" Target="../media/image6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5.xml"/><Relationship Id="rId3" Type="http://schemas.openxmlformats.org/officeDocument/2006/relationships/image" Target="../media/image6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6.xml"/><Relationship Id="rId3" Type="http://schemas.openxmlformats.org/officeDocument/2006/relationships/image" Target="../media/image62.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image" Target="../media/image63.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6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64.png"/><Relationship Id="rId4" Type="http://schemas.openxmlformats.org/officeDocument/2006/relationships/image" Target="../media/image6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image" Target="../media/image64.png"/><Relationship Id="rId4" Type="http://schemas.openxmlformats.org/officeDocument/2006/relationships/image" Target="../media/image65.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66.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67.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2.xml"/><Relationship Id="rId3" Type="http://schemas.openxmlformats.org/officeDocument/2006/relationships/image" Target="../media/image68.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3.xml"/><Relationship Id="rId3" Type="http://schemas.openxmlformats.org/officeDocument/2006/relationships/image" Target="../media/image69.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4.xml"/><Relationship Id="rId3" Type="http://schemas.openxmlformats.org/officeDocument/2006/relationships/image" Target="../media/image70.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5.xml"/><Relationship Id="rId3" Type="http://schemas.openxmlformats.org/officeDocument/2006/relationships/image" Target="../media/image7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 Id="rId3" Type="http://schemas.openxmlformats.org/officeDocument/2006/relationships/image" Target="../media/image72.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7.xml"/><Relationship Id="rId3" Type="http://schemas.openxmlformats.org/officeDocument/2006/relationships/image" Target="../media/image73.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 Id="rId3" Type="http://schemas.openxmlformats.org/officeDocument/2006/relationships/image" Target="../media/image74.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9.xml"/><Relationship Id="rId3" Type="http://schemas.openxmlformats.org/officeDocument/2006/relationships/image" Target="../media/image75.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0.xml"/><Relationship Id="rId3" Type="http://schemas.openxmlformats.org/officeDocument/2006/relationships/image" Target="../media/image76.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1.xml"/><Relationship Id="rId3" Type="http://schemas.openxmlformats.org/officeDocument/2006/relationships/image" Target="../media/image77.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2.xml"/><Relationship Id="rId3" Type="http://schemas.openxmlformats.org/officeDocument/2006/relationships/image" Target="../media/image78.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3.xml"/><Relationship Id="rId3" Type="http://schemas.openxmlformats.org/officeDocument/2006/relationships/image" Target="../media/image79.png"/><Relationship Id="rId4" Type="http://schemas.openxmlformats.org/officeDocument/2006/relationships/image" Target="../media/image80.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9.png"/><Relationship Id="rId3" Type="http://schemas.openxmlformats.org/officeDocument/2006/relationships/image" Target="../media/image8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9.png"/><Relationship Id="rId3" Type="http://schemas.openxmlformats.org/officeDocument/2006/relationships/image" Target="../media/image80.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1.png"/><Relationship Id="rId3" Type="http://schemas.openxmlformats.org/officeDocument/2006/relationships/image" Target="../media/image80.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4.xml"/><Relationship Id="rId3" Type="http://schemas.openxmlformats.org/officeDocument/2006/relationships/image" Target="../media/image82.png"/><Relationship Id="rId4" Type="http://schemas.openxmlformats.org/officeDocument/2006/relationships/image" Target="../media/image83.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2.png"/><Relationship Id="rId3" Type="http://schemas.openxmlformats.org/officeDocument/2006/relationships/image" Target="../media/image8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2.png"/><Relationship Id="rId3" Type="http://schemas.openxmlformats.org/officeDocument/2006/relationships/image" Target="../media/image8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4.png"/><Relationship Id="rId3" Type="http://schemas.openxmlformats.org/officeDocument/2006/relationships/image" Target="../media/image83.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5.xml"/><Relationship Id="rId3" Type="http://schemas.openxmlformats.org/officeDocument/2006/relationships/image" Target="../media/image85.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6.xml"/><Relationship Id="rId3" Type="http://schemas.openxmlformats.org/officeDocument/2006/relationships/image" Target="../media/image86.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7.xml"/><Relationship Id="rId3" Type="http://schemas.openxmlformats.org/officeDocument/2006/relationships/image" Target="../media/image87.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5.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8.xml"/><Relationship Id="rId3" Type="http://schemas.openxmlformats.org/officeDocument/2006/relationships/image" Target="../media/image8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24384030" cy="137160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kapak_bg.jpg"/>
          <p:cNvPicPr>
            <a:picLocks noChangeAspect="1"/>
          </p:cNvPicPr>
          <p:nvPr/>
        </p:nvPicPr>
        <p:blipFill>
          <a:blip r:embed="rId3"/>
          <a:stretch>
            <a:fillRect/>
          </a:stretch>
        </p:blipFill>
        <p:spPr>
          <a:xfrm>
            <a:off x="0" y="0"/>
            <a:ext cx="24384030" cy="13716000"/>
          </a:xfrm>
          <a:prstGeom prst="rect">
            <a:avLst/>
          </a:prstGeom>
        </p:spPr>
      </p:pic>
      <p:sp>
        <p:nvSpPr>
          <p:cNvPr id="4" name="TextBox 3"/>
          <p:cNvSpPr txBox="1"/>
          <p:nvPr/>
        </p:nvSpPr>
        <p:spPr>
          <a:xfrm>
            <a:off x="2743200" y="1417320"/>
            <a:ext cx="18900648" cy="1737360"/>
          </a:xfrm>
          <a:prstGeom prst="rect">
            <a:avLst/>
          </a:prstGeom>
          <a:noFill/>
        </p:spPr>
        <p:txBody>
          <a:bodyPr wrap="square" lIns="0" tIns="0" rIns="0" bIns="0">
            <a:spAutoFit/>
          </a:bodyPr>
          <a:lstStyle/>
          <a:p>
            <a:pPr algn="l">
              <a:lnSpc>
                <a:spcPct val="95000"/>
              </a:lnSpc>
            </a:pPr>
            <a:r>
              <a:rPr sz="9200" b="1">
                <a:solidFill>
                  <a:srgbClr val="C08A2E"/>
                </a:solidFill>
                <a:latin typeface="Helvetica Neue"/>
              </a:rPr>
              <a:t>Large Language Models</a:t>
            </a:r>
          </a:p>
        </p:txBody>
      </p:sp>
      <p:sp>
        <p:nvSpPr>
          <p:cNvPr id="5" name="TextBox 4"/>
          <p:cNvSpPr txBox="1"/>
          <p:nvPr/>
        </p:nvSpPr>
        <p:spPr>
          <a:xfrm>
            <a:off x="2743200" y="4206240"/>
            <a:ext cx="1188720" cy="548640"/>
          </a:xfrm>
          <a:prstGeom prst="rect">
            <a:avLst/>
          </a:prstGeom>
          <a:noFill/>
        </p:spPr>
        <p:txBody>
          <a:bodyPr wrap="square" lIns="0" tIns="0" rIns="0" bIns="0">
            <a:spAutoFit/>
          </a:bodyPr>
          <a:lstStyle/>
          <a:p>
            <a:pPr algn="l"/>
            <a:r>
              <a:rPr sz="2600" b="1">
                <a:solidFill>
                  <a:srgbClr val="C08A2E"/>
                </a:solidFill>
                <a:latin typeface="Helvetica Neue"/>
              </a:rPr>
              <a:t>01</a:t>
            </a:r>
          </a:p>
        </p:txBody>
      </p:sp>
      <p:sp>
        <p:nvSpPr>
          <p:cNvPr id="6" name="TextBox 5"/>
          <p:cNvSpPr txBox="1"/>
          <p:nvPr/>
        </p:nvSpPr>
        <p:spPr>
          <a:xfrm>
            <a:off x="4114800" y="4160520"/>
            <a:ext cx="14264640" cy="685800"/>
          </a:xfrm>
          <a:prstGeom prst="rect">
            <a:avLst/>
          </a:prstGeom>
          <a:noFill/>
        </p:spPr>
        <p:txBody>
          <a:bodyPr wrap="square" lIns="0" tIns="0" rIns="0" bIns="0">
            <a:spAutoFit/>
          </a:bodyPr>
          <a:lstStyle/>
          <a:p>
            <a:pPr algn="l"/>
            <a:r>
              <a:rPr sz="3400" b="1">
                <a:solidFill>
                  <a:srgbClr val="FFFFFF"/>
                </a:solidFill>
                <a:latin typeface="Helvetica Neue"/>
              </a:rPr>
              <a:t>Önümüzdeki 50 yıla hazır mısınız?</a:t>
            </a:r>
          </a:p>
        </p:txBody>
      </p:sp>
      <p:sp>
        <p:nvSpPr>
          <p:cNvPr id="7" name="TextBox 6"/>
          <p:cNvSpPr txBox="1"/>
          <p:nvPr/>
        </p:nvSpPr>
        <p:spPr>
          <a:xfrm>
            <a:off x="2743200" y="5250210"/>
            <a:ext cx="1188720" cy="548640"/>
          </a:xfrm>
          <a:prstGeom prst="rect">
            <a:avLst/>
          </a:prstGeom>
          <a:noFill/>
        </p:spPr>
        <p:txBody>
          <a:bodyPr wrap="square" lIns="0" tIns="0" rIns="0" bIns="0">
            <a:spAutoFit/>
          </a:bodyPr>
          <a:lstStyle/>
          <a:p>
            <a:pPr algn="l"/>
            <a:r>
              <a:rPr sz="2600" b="1">
                <a:solidFill>
                  <a:srgbClr val="C08A2E"/>
                </a:solidFill>
                <a:latin typeface="Helvetica Neue"/>
              </a:rPr>
              <a:t>02</a:t>
            </a:r>
          </a:p>
        </p:txBody>
      </p:sp>
      <p:sp>
        <p:nvSpPr>
          <p:cNvPr id="8" name="TextBox 7"/>
          <p:cNvSpPr txBox="1"/>
          <p:nvPr/>
        </p:nvSpPr>
        <p:spPr>
          <a:xfrm>
            <a:off x="4114800" y="5204490"/>
            <a:ext cx="14264640" cy="685800"/>
          </a:xfrm>
          <a:prstGeom prst="rect">
            <a:avLst/>
          </a:prstGeom>
          <a:noFill/>
        </p:spPr>
        <p:txBody>
          <a:bodyPr wrap="square" lIns="0" tIns="0" rIns="0" bIns="0">
            <a:spAutoFit/>
          </a:bodyPr>
          <a:lstStyle/>
          <a:p>
            <a:pPr algn="l"/>
            <a:r>
              <a:rPr sz="3400" b="1">
                <a:solidFill>
                  <a:srgbClr val="FFFFFF"/>
                </a:solidFill>
                <a:latin typeface="Helvetica Neue"/>
              </a:rPr>
              <a:t>Kaputun altı: Transformer mimarisi</a:t>
            </a:r>
          </a:p>
        </p:txBody>
      </p:sp>
      <p:cxnSp>
        <p:nvCxnSpPr>
          <p:cNvPr id="9" name="Connector 8"/>
          <p:cNvCxnSpPr/>
          <p:nvPr/>
        </p:nvCxnSpPr>
        <p:spPr>
          <a:xfrm>
            <a:off x="2743200" y="11978640"/>
            <a:ext cx="1892808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743200" y="12252960"/>
            <a:ext cx="18900648" cy="731520"/>
          </a:xfrm>
          <a:prstGeom prst="rect">
            <a:avLst/>
          </a:prstGeom>
          <a:noFill/>
        </p:spPr>
        <p:txBody>
          <a:bodyPr wrap="square" lIns="0" tIns="0" rIns="0" bIns="0">
            <a:spAutoFit/>
          </a:bodyPr>
          <a:lstStyle/>
          <a:p>
            <a:pPr algn="l"/>
            <a:r>
              <a:rPr sz="3600" b="1">
                <a:solidFill>
                  <a:srgbClr val="FFFFFF"/>
                </a:solidFill>
                <a:latin typeface="Helvetica Neue"/>
              </a:rPr>
              <a:t>Veysel Murat Görken</a:t>
            </a:r>
          </a:p>
        </p:txBody>
      </p:sp>
      <p:sp>
        <p:nvSpPr>
          <p:cNvPr id="11" name="TextBox 10"/>
          <p:cNvSpPr txBox="1"/>
          <p:nvPr/>
        </p:nvSpPr>
        <p:spPr>
          <a:xfrm>
            <a:off x="2743200" y="12938760"/>
            <a:ext cx="18900648" cy="548640"/>
          </a:xfrm>
          <a:prstGeom prst="rect">
            <a:avLst/>
          </a:prstGeom>
          <a:noFill/>
        </p:spPr>
        <p:txBody>
          <a:bodyPr wrap="square" lIns="0" tIns="0" rIns="0" bIns="0">
            <a:spAutoFit/>
          </a:bodyPr>
          <a:lstStyle/>
          <a:p>
            <a:pPr algn="l"/>
            <a:r>
              <a:rPr sz="2600" b="0">
                <a:solidFill>
                  <a:srgbClr val="C08A2E"/>
                </a:solidFill>
                <a:latin typeface="Helvetica Neue"/>
              </a:rPr>
              <a:t>Data Scientist / AI Engineer</a:t>
            </a:r>
          </a:p>
        </p:txBody>
      </p:sp>
      <p:sp>
        <p:nvSpPr>
          <p:cNvPr id="12" name="Rounded Rectangle 11"/>
          <p:cNvSpPr/>
          <p:nvPr/>
        </p:nvSpPr>
        <p:spPr>
          <a:xfrm>
            <a:off x="9966960" y="12344400"/>
            <a:ext cx="11676888" cy="749808"/>
          </a:xfrm>
          <a:prstGeom prst="roundRect">
            <a:avLst>
              <a:gd name="adj" fmla="val 6000"/>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youtube.png"/>
          <p:cNvPicPr>
            <a:picLocks noChangeAspect="1"/>
          </p:cNvPicPr>
          <p:nvPr/>
        </p:nvPicPr>
        <p:blipFill>
          <a:blip r:embed="rId4"/>
          <a:stretch>
            <a:fillRect/>
          </a:stretch>
        </p:blipFill>
        <p:spPr>
          <a:xfrm>
            <a:off x="10287000" y="12536424"/>
            <a:ext cx="548640" cy="384048"/>
          </a:xfrm>
          <a:prstGeom prst="rect">
            <a:avLst/>
          </a:prstGeom>
        </p:spPr>
      </p:pic>
      <p:sp>
        <p:nvSpPr>
          <p:cNvPr id="14" name="TextBox 13"/>
          <p:cNvSpPr txBox="1"/>
          <p:nvPr/>
        </p:nvSpPr>
        <p:spPr>
          <a:xfrm>
            <a:off x="11018520" y="12508992"/>
            <a:ext cx="10378440" cy="457200"/>
          </a:xfrm>
          <a:prstGeom prst="rect">
            <a:avLst/>
          </a:prstGeom>
          <a:noFill/>
        </p:spPr>
        <p:txBody>
          <a:bodyPr wrap="square" lIns="0" tIns="0" rIns="0" bIns="0">
            <a:spAutoFit/>
          </a:bodyPr>
          <a:lstStyle/>
          <a:p>
            <a:pPr algn="l"/>
            <a:r>
              <a:rPr sz="1800" b="1" u="none">
                <a:solidFill>
                  <a:srgbClr val="D14639"/>
                </a:solidFill>
                <a:latin typeface="Helvetica Neue"/>
                <a:hlinkClick r:id="rId5"/>
              </a:rPr>
              <a:t>@cicekileteknoloji</a:t>
            </a:r>
            <a:r>
              <a:rPr sz="1800" b="0">
                <a:solidFill>
                  <a:srgbClr val="8A8A8A"/>
                </a:solidFill>
                <a:latin typeface="Helvetica Neue"/>
              </a:rPr>
              <a:t>   ·   Harari hikâye ve görselleri bu kanaldan alınmıştır.</a:t>
            </a:r>
          </a:p>
        </p:txBody>
      </p:sp>
      <p:sp>
        <p:nvSpPr>
          <p:cNvPr id="15" name="Rectangle 14"/>
          <p:cNvSpPr/>
          <p:nvPr/>
        </p:nvSpPr>
        <p:spPr>
          <a:xfrm>
            <a:off x="91440" y="127284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logo.png"/>
          <p:cNvPicPr>
            <a:picLocks noChangeAspect="1"/>
          </p:cNvPicPr>
          <p:nvPr/>
        </p:nvPicPr>
        <p:blipFill>
          <a:blip r:embed="rId6"/>
          <a:stretch>
            <a:fillRect/>
          </a:stretch>
        </p:blipFill>
        <p:spPr>
          <a:xfrm>
            <a:off x="210312" y="12527280"/>
            <a:ext cx="1984248" cy="12161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Yetmiş bin yıl boyunca dil </a:t>
            </a:r>
            <a:r>
              <a:rPr sz="2400" b="1">
                <a:solidFill>
                  <a:srgbClr val="15263F"/>
                </a:solidFill>
                <a:latin typeface="Helvetica Neue"/>
              </a:rPr>
              <a:t>yalnızca bize aitti.</a:t>
            </a:r>
          </a:p>
        </p:txBody>
      </p:sp>
      <p:pic>
        <p:nvPicPr>
          <p:cNvPr id="10" name="!!gorsel" descr="image.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Dil sayesinde binlerce yabancı aynı hikâyeye inanıp </a:t>
            </a:r>
            <a:r>
              <a:rPr sz="2400" b="1">
                <a:solidFill>
                  <a:srgbClr val="15263F"/>
                </a:solidFill>
                <a:latin typeface="Helvetica Neue"/>
              </a:rPr>
              <a:t>birlikte hareket edebildi.</a:t>
            </a:r>
          </a:p>
        </p:txBody>
      </p:sp>
      <p:pic>
        <p:nvPicPr>
          <p:cNvPr id="10" name="!!gorsel" descr="harari_dil_os.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Önümüzdeki 50 yıla hazır mısınız?</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Harari'nin sorusu teknik bir soru değil: </a:t>
            </a:r>
            <a:r>
              <a:rPr sz="2400" b="1">
                <a:solidFill>
                  <a:srgbClr val="15263F"/>
                </a:solidFill>
                <a:latin typeface="Helvetica Neue"/>
              </a:rPr>
              <a:t>50 yıl sonra kararları kim veriyor olacak?</a:t>
            </a:r>
          </a:p>
        </p:txBody>
      </p:sp>
      <p:pic>
        <p:nvPicPr>
          <p:cNvPr id="10" name="!!gorsel" descr="harari_aktor.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aMLJ8pyytn.jpg"/>
          <p:cNvPicPr>
            <a:picLocks noChangeAspect="1"/>
          </p:cNvPicPr>
          <p:nvPr/>
        </p:nvPicPr>
        <p:blipFill>
          <a:blip r:embed="rId5"/>
          <a:stretch>
            <a:fillRect/>
          </a:stretch>
        </p:blipFill>
        <p:spPr>
          <a:xfrm>
            <a:off x="3884555" y="2103120"/>
            <a:ext cx="16617939"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Matbaa neyi basacağına karar veremez. </a:t>
            </a:r>
            <a:r>
              <a:rPr sz="2400" b="1">
                <a:solidFill>
                  <a:srgbClr val="15263F"/>
                </a:solidFill>
                <a:latin typeface="Helvetica Neue"/>
              </a:rPr>
              <a:t>Aracın amacı hep dışarıdan verilir.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Harari'nin sözcüğü araç değil: </a:t>
            </a:r>
            <a:r>
              <a:rPr sz="2400" b="1">
                <a:solidFill>
                  <a:srgbClr val="15263F"/>
                </a:solidFill>
                <a:latin typeface="Helvetica Neue"/>
              </a:rPr>
              <a:t>fail — eylemde bulunan.</a:t>
            </a:r>
          </a:p>
        </p:txBody>
      </p:sp>
      <p:pic>
        <p:nvPicPr>
          <p:cNvPr id="10" name="!!gorsel" descr="lMnI79iq0k.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Yapay zekâ bir araç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Silikon Vadisi: "Bir tanrı yaratacağız ama o bizim kölemiz olacak." </a:t>
            </a:r>
            <a:r>
              <a:rPr sz="2400" b="1">
                <a:solidFill>
                  <a:srgbClr val="15263F"/>
                </a:solidFill>
                <a:latin typeface="Helvetica Neue"/>
              </a:rPr>
              <a:t>Bir tanrı köle kalmaz.</a:t>
            </a:r>
          </a:p>
        </p:txBody>
      </p:sp>
      <p:pic>
        <p:nvPicPr>
          <p:cNvPr id="10" name="!!gorsel" descr="O3KkxnPYoG.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Ux36R888vx.jpg"/>
          <p:cNvPicPr>
            <a:picLocks noChangeAspect="1"/>
          </p:cNvPicPr>
          <p:nvPr/>
        </p:nvPicPr>
        <p:blipFill>
          <a:blip r:embed="rId5"/>
          <a:stretch>
            <a:fillRect/>
          </a:stretch>
        </p:blipFill>
        <p:spPr>
          <a:xfrm>
            <a:off x="4024018" y="2103120"/>
            <a:ext cx="1633901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Anayasa, din, para — </a:t>
            </a:r>
            <a:r>
              <a:rPr sz="2400" b="1">
                <a:solidFill>
                  <a:srgbClr val="15263F"/>
                </a:solidFill>
                <a:latin typeface="Helvetica Neue"/>
              </a:rPr>
              <a:t>hepsi kelimelerden yapılmış.</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Paralı askerler işlerini yaptı. </a:t>
            </a:r>
            <a:r>
              <a:rPr sz="2400" b="1">
                <a:solidFill>
                  <a:srgbClr val="15263F"/>
                </a:solidFill>
                <a:latin typeface="Helvetica Neue"/>
              </a:rPr>
              <a:t>Sonra yönetimi ele geçirdiler.</a:t>
            </a:r>
          </a:p>
        </p:txBody>
      </p:sp>
      <p:pic>
        <p:nvPicPr>
          <p:cNvPr id="10" name="!!gorsel" descr="2eggVqP3SR.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Uygarlığın işletim sistemi: dil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İşletim sistemini ele geçiren, </a:t>
            </a:r>
            <a:r>
              <a:rPr sz="2400" b="1">
                <a:solidFill>
                  <a:srgbClr val="15263F"/>
                </a:solidFill>
                <a:latin typeface="Helvetica Neue"/>
              </a:rPr>
              <a:t>üzerinde çalışan her şeyi ele geçirir.</a:t>
            </a:r>
          </a:p>
        </p:txBody>
      </p:sp>
      <p:pic>
        <p:nvPicPr>
          <p:cNvPr id="10" name="!!gorsel" descr="4byF3PUYBx.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9t6Xr6EsfN.jpg"/>
          <p:cNvPicPr>
            <a:picLocks noChangeAspect="1"/>
          </p:cNvPicPr>
          <p:nvPr/>
        </p:nvPicPr>
        <p:blipFill>
          <a:blip r:embed="rId5"/>
          <a:stretch>
            <a:fillRect/>
          </a:stretch>
        </p:blipFill>
        <p:spPr>
          <a:xfrm>
            <a:off x="3998585" y="2103120"/>
            <a:ext cx="16389877"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Demokrasi bir konuşmadır. </a:t>
            </a:r>
            <a:r>
              <a:rPr sz="2400" b="1">
                <a:solidFill>
                  <a:srgbClr val="15263F"/>
                </a:solidFill>
                <a:latin typeface="Helvetica Neue"/>
              </a:rPr>
              <a:t>Konuşanın kim olduğu artık belli değil.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1">
                <a:solidFill>
                  <a:srgbClr val="15263F"/>
                </a:solidFill>
                <a:latin typeface="Helvetica Neue"/>
              </a:rPr>
              <a:t>Cambridge Analytica </a:t>
            </a:r>
            <a:r>
              <a:rPr sz="2400" b="0">
                <a:solidFill>
                  <a:srgbClr val="15263F"/>
                </a:solidFill>
                <a:latin typeface="Helvetica Neue"/>
              </a:rPr>
              <a:t>— ve bu, 2016'nın teknolojisiydi.</a:t>
            </a:r>
          </a:p>
        </p:txBody>
      </p:sp>
      <p:pic>
        <p:nvPicPr>
          <p:cNvPr id="10" name="!!gorsel" descr="enHU5JwurE.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Demokrasi sarsılıyor</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En büyük zaafımız: </a:t>
            </a:r>
            <a:r>
              <a:rPr sz="2400" b="1">
                <a:solidFill>
                  <a:srgbClr val="15263F"/>
                </a:solidFill>
                <a:latin typeface="Helvetica Neue"/>
              </a:rPr>
              <a:t>hissetmeyen ama hissediyormuş gibi yapan şeye anında empati duymak.</a:t>
            </a:r>
          </a:p>
        </p:txBody>
      </p:sp>
      <p:pic>
        <p:nvPicPr>
          <p:cNvPr id="10" name="!!gorsel" descr="K6eR2tFyBa.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PqcZk2sTPh.jpg"/>
          <p:cNvPicPr>
            <a:picLocks noChangeAspect="1"/>
          </p:cNvPicPr>
          <p:nvPr/>
        </p:nvPicPr>
        <p:blipFill>
          <a:blip r:embed="rId5"/>
          <a:stretch>
            <a:fillRect/>
          </a:stretch>
        </p:blipFill>
        <p:spPr>
          <a:xfrm>
            <a:off x="4006838" y="2103120"/>
            <a:ext cx="1637337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Tüzel kişilik demek: </a:t>
            </a:r>
            <a:r>
              <a:rPr sz="2400" b="1">
                <a:solidFill>
                  <a:srgbClr val="15263F"/>
                </a:solidFill>
                <a:latin typeface="Helvetica Neue"/>
              </a:rPr>
              <a:t>banka hesabı, mülk, dava, sözleşme, lobi.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Arkasında hiçbir insan olmayan bir yapı mahkemeye gidebilir. </a:t>
            </a:r>
            <a:r>
              <a:rPr sz="2400" b="1">
                <a:solidFill>
                  <a:srgbClr val="15263F"/>
                </a:solidFill>
                <a:latin typeface="Helvetica Neue"/>
              </a:rPr>
              <a:t>Kim dava edecek, kimi?</a:t>
            </a:r>
          </a:p>
        </p:txBody>
      </p:sp>
      <p:pic>
        <p:nvPicPr>
          <p:cNvPr id="10" name="!!gorsel" descr="eehoJCpBya.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Doğuştan bürokrat: tüzel kişilik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Tilki kümese girerse </a:t>
            </a:r>
            <a:r>
              <a:rPr sz="2400" b="1">
                <a:solidFill>
                  <a:srgbClr val="15263F"/>
                </a:solidFill>
                <a:latin typeface="Helvetica Neue"/>
              </a:rPr>
              <a:t>koruyan ve denetleyen aynı taraf olur.</a:t>
            </a:r>
          </a:p>
        </p:txBody>
      </p:sp>
      <p:pic>
        <p:nvPicPr>
          <p:cNvPr id="10" name="!!gorsel" descr="harari2.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ngC3CXLyb1.jpg"/>
          <p:cNvPicPr>
            <a:picLocks noChangeAspect="1"/>
          </p:cNvPicPr>
          <p:nvPr/>
        </p:nvPicPr>
        <p:blipFill>
          <a:blip r:embed="rId5"/>
          <a:stretch>
            <a:fillRect/>
          </a:stretch>
        </p:blipFill>
        <p:spPr>
          <a:xfrm>
            <a:off x="4112031" y="2103120"/>
            <a:ext cx="16162986"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Tüm dünyanın verisi </a:t>
            </a:r>
            <a:r>
              <a:rPr sz="2400" b="1">
                <a:solidFill>
                  <a:srgbClr val="15263F"/>
                </a:solidFill>
                <a:latin typeface="Helvetica Neue"/>
              </a:rPr>
              <a:t>tek bir merkezde toplanabiliyor.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1">
                <a:solidFill>
                  <a:srgbClr val="15263F"/>
                </a:solidFill>
                <a:latin typeface="Helvetica Neue"/>
              </a:rPr>
              <a:t>Starlink örneği: </a:t>
            </a:r>
            <a:r>
              <a:rPr sz="2400" b="0">
                <a:solidFill>
                  <a:srgbClr val="15263F"/>
                </a:solidFill>
                <a:latin typeface="Helvetica Neue"/>
              </a:rPr>
              <a:t>dünyanın öbür ucundaki bir sistem, tek hamlede felç edilebilir.</a:t>
            </a:r>
          </a:p>
        </p:txBody>
      </p:sp>
      <p:pic>
        <p:nvPicPr>
          <p:cNvPr id="10" name="!!gorsel" descr="43RLoom6rp.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Dijital egemenlik ve kapatma düğmesi</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Yurttaş olmaktan çıkıp kullanıcıya dönüşmek: </a:t>
            </a:r>
            <a:r>
              <a:rPr sz="2400" b="1">
                <a:solidFill>
                  <a:srgbClr val="15263F"/>
                </a:solidFill>
                <a:latin typeface="Helvetica Neue"/>
              </a:rPr>
              <a:t>yapay devlet.</a:t>
            </a:r>
          </a:p>
        </p:txBody>
      </p:sp>
      <p:pic>
        <p:nvPicPr>
          <p:cNvPr id="10" name="!!gorsel" descr="lqrtuS7vlN.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Gerçek mi, kurgu mu?</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QOmmvB5aSZ.jpg"/>
          <p:cNvPicPr>
            <a:picLocks noChangeAspect="1"/>
          </p:cNvPicPr>
          <p:nvPr/>
        </p:nvPicPr>
        <p:blipFill>
          <a:blip r:embed="rId5"/>
          <a:stretch>
            <a:fillRect/>
          </a:stretch>
        </p:blipFill>
        <p:spPr>
          <a:xfrm>
            <a:off x="3932844" y="2103120"/>
            <a:ext cx="16521360"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Gerçek pahalı ve can yakıcı. </a:t>
            </a:r>
            <a:r>
              <a:rPr sz="2400" b="1">
                <a:solidFill>
                  <a:srgbClr val="15263F"/>
                </a:solidFill>
                <a:latin typeface="Helvetica Neue"/>
              </a:rPr>
              <a:t>Kurgu ucuz, basit ve tam duymak istediğiniz şey.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Gerçek mi, kurgu mu?</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Atların önünde para el değiştirir; </a:t>
            </a:r>
            <a:r>
              <a:rPr sz="2400" b="1">
                <a:solidFill>
                  <a:srgbClr val="15263F"/>
                </a:solidFill>
                <a:latin typeface="Helvetica Neue"/>
              </a:rPr>
              <a:t>atlar ne döndüğünü anlamaz.</a:t>
            </a:r>
          </a:p>
        </p:txBody>
      </p:sp>
      <p:pic>
        <p:nvPicPr>
          <p:cNvPr id="10" name="!!gorsel" descr="KNRLv6B0pv.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3"/>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Asıl ihtiyaç: bilgelik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4"/>
          <a:stretch>
            <a:fillRect/>
          </a:stretch>
        </p:blipFill>
        <p:spPr>
          <a:xfrm>
            <a:off x="21698712" y="182880"/>
            <a:ext cx="1984248" cy="1216152"/>
          </a:xfrm>
          <a:prstGeom prst="rect">
            <a:avLst/>
          </a:prstGeom>
        </p:spPr>
      </p:pic>
      <p:pic>
        <p:nvPicPr>
          <p:cNvPr id="7" name="Picture 6" descr="chrome_J7RvwAOMuE.jpg"/>
          <p:cNvPicPr>
            <a:picLocks noChangeAspect="1"/>
          </p:cNvPicPr>
          <p:nvPr/>
        </p:nvPicPr>
        <p:blipFill>
          <a:blip r:embed="rId5"/>
          <a:stretch>
            <a:fillRect/>
          </a:stretch>
        </p:blipFill>
        <p:spPr>
          <a:xfrm>
            <a:off x="4097778" y="2103120"/>
            <a:ext cx="16191492" cy="9144000"/>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Zekâ problemi çözer. </a:t>
            </a:r>
            <a:r>
              <a:rPr sz="2400" b="1">
                <a:solidFill>
                  <a:srgbClr val="15263F"/>
                </a:solidFill>
                <a:latin typeface="Helvetica Neue"/>
              </a:rPr>
              <a:t>Bilgelik hangi problemin çözülmeye değer olduğunu seçer.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9="http://schemas.microsoft.com/office/powerpoint/2015/09/main" xmlns:mc="http://schemas.openxmlformats.org/markup-compatibility/2006" mc:Ignorable="p14 p159">
  <p:cSld>
    <p:spTree>
      <p:nvGrpSpPr>
        <p:cNvPr id="1" name=""/>
        <p:cNvGrpSpPr/>
        <p:nvPr/>
      </p:nvGrpSpPr>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Asıl ihtiyaç: bilgelik</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8" name="Rectangle 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Soru "yapay zekâ ne yapabilir?" değil. </a:t>
            </a:r>
            <a:r>
              <a:rPr sz="2400" b="1">
                <a:solidFill>
                  <a:srgbClr val="15263F"/>
                </a:solidFill>
                <a:latin typeface="Helvetica Neue"/>
              </a:rPr>
              <a:t>Soru: "Biz ne istiyoruz?"</a:t>
            </a:r>
          </a:p>
        </p:txBody>
      </p:sp>
      <p:pic>
        <p:nvPicPr>
          <p:cNvPr id="10" name="!!gorsel" descr="HqaQSLtNHq.jpg"/>
          <p:cNvPicPr>
            <a:picLocks noChangeAspect="1"/>
          </p:cNvPicPr>
          <p:nvPr/>
        </p:nvPicPr>
        <p:blipFill>
          <a:blip r:embed="rId5"/>
          <a:stretch>
            <a:fillRect/>
          </a:stretch>
        </p:blipFill>
        <p:spPr>
          <a:xfrm>
            <a:off x="4062999" y="2103120"/>
            <a:ext cx="16258032" cy="914400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p159:morph option="byObject"/>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dokuA_bg.jpg"/>
          <p:cNvPicPr>
            <a:picLocks noChangeAspect="1"/>
          </p:cNvPicPr>
          <p:nvPr/>
        </p:nvPicPr>
        <p:blipFill>
          <a:blip r:embed="rId2"/>
          <a:stretch>
            <a:fillRect/>
          </a:stretch>
        </p:blipFill>
        <p:spPr>
          <a:xfrm>
            <a:off x="0" y="0"/>
            <a:ext cx="24384030" cy="13716000"/>
          </a:xfrm>
          <a:prstGeom prst="rect">
            <a:avLst/>
          </a:prstGeom>
        </p:spPr>
      </p:pic>
      <p:sp>
        <p:nvSpPr>
          <p:cNvPr id="3" name="TextBox 2"/>
          <p:cNvSpPr txBox="1"/>
          <p:nvPr/>
        </p:nvSpPr>
        <p:spPr>
          <a:xfrm>
            <a:off x="1051560" y="384048"/>
            <a:ext cx="18288000" cy="914400"/>
          </a:xfrm>
          <a:prstGeom prst="rect">
            <a:avLst/>
          </a:prstGeom>
          <a:noFill/>
        </p:spPr>
        <p:txBody>
          <a:bodyPr wrap="square" lIns="0" tIns="0" rIns="0" bIns="0">
            <a:spAutoFit/>
          </a:bodyPr>
          <a:lstStyle/>
          <a:p>
            <a:pPr algn="l"/>
            <a:r>
              <a:rPr sz="3200" b="1">
                <a:solidFill>
                  <a:srgbClr val="FFFFFF"/>
                </a:solidFill>
                <a:latin typeface="Helvetica Neue"/>
              </a:rPr>
              <a:t>Bunlar gelecek zaman değil</a:t>
            </a:r>
          </a:p>
        </p:txBody>
      </p:sp>
      <p:cxnSp>
        <p:nvCxnSpPr>
          <p:cNvPr id="4" name="Connector 3"/>
          <p:cNvCxnSpPr/>
          <p:nvPr/>
        </p:nvCxnSpPr>
        <p:spPr>
          <a:xfrm>
            <a:off x="1051560" y="1645920"/>
            <a:ext cx="22265640" cy="0"/>
          </a:xfrm>
          <a:prstGeom prst="line">
            <a:avLst/>
          </a:prstGeom>
          <a:ln w="19050">
            <a:solidFill>
              <a:srgbClr val="3A3A3A"/>
            </a:solidFill>
          </a:ln>
        </p:spPr>
        <p:style>
          <a:lnRef idx="2">
            <a:schemeClr val="accent1"/>
          </a:lnRef>
          <a:fillRef idx="0">
            <a:schemeClr val="accent1"/>
          </a:fillRef>
          <a:effectRef idx="1">
            <a:schemeClr val="accent1"/>
          </a:effectRef>
          <a:fontRef idx="minor">
            <a:schemeClr val="tx1"/>
          </a:fontRef>
        </p:style>
      </p:cxnSp>
      <p:sp>
        <p:nvSpPr>
          <p:cNvPr id="5" name="Rectangle 4"/>
          <p:cNvSpPr/>
          <p:nvPr/>
        </p:nvSpPr>
        <p:spPr>
          <a:xfrm>
            <a:off x="21579840" y="384048"/>
            <a:ext cx="2221992" cy="8229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21698712" y="182880"/>
            <a:ext cx="1984248" cy="1216152"/>
          </a:xfrm>
          <a:prstGeom prst="rect">
            <a:avLst/>
          </a:prstGeom>
        </p:spPr>
      </p:pic>
      <p:sp>
        <p:nvSpPr>
          <p:cNvPr id="7" name="TextBox 6"/>
          <p:cNvSpPr txBox="1"/>
          <p:nvPr/>
        </p:nvSpPr>
        <p:spPr>
          <a:xfrm>
            <a:off x="2066544" y="3063240"/>
            <a:ext cx="20244816" cy="1737360"/>
          </a:xfrm>
          <a:prstGeom prst="rect">
            <a:avLst/>
          </a:prstGeom>
          <a:noFill/>
        </p:spPr>
        <p:txBody>
          <a:bodyPr wrap="square" lIns="0" tIns="0" rIns="0" bIns="0">
            <a:spAutoFit/>
          </a:bodyPr>
          <a:lstStyle/>
          <a:p>
            <a:pPr algn="ctr">
              <a:lnSpc>
                <a:spcPct val="115000"/>
              </a:lnSpc>
            </a:pPr>
            <a:r>
              <a:rPr sz="3800" b="0">
                <a:solidFill>
                  <a:srgbClr val="FFFFFF"/>
                </a:solidFill>
                <a:latin typeface="Helvetica Neue"/>
              </a:rPr>
              <a:t>Harari'nin uyardığı şeyler gelecek zaman değil — </a:t>
            </a:r>
            <a:r>
              <a:rPr sz="3800" b="1">
                <a:solidFill>
                  <a:srgbClr val="FFFFFF"/>
                </a:solidFill>
                <a:latin typeface="Helvetica Neue"/>
              </a:rPr>
              <a:t>bunlar oldu.</a:t>
            </a:r>
          </a:p>
        </p:txBody>
      </p:sp>
      <p:sp>
        <p:nvSpPr>
          <p:cNvPr id="8" name="Rounded Rectangle 7"/>
          <p:cNvSpPr/>
          <p:nvPr/>
        </p:nvSpPr>
        <p:spPr>
          <a:xfrm>
            <a:off x="1280160" y="4846320"/>
            <a:ext cx="10730484" cy="57607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911096" y="5349240"/>
            <a:ext cx="9468612" cy="640080"/>
          </a:xfrm>
          <a:prstGeom prst="rect">
            <a:avLst/>
          </a:prstGeom>
          <a:noFill/>
        </p:spPr>
        <p:txBody>
          <a:bodyPr wrap="square" lIns="0" tIns="0" rIns="0" bIns="0">
            <a:spAutoFit/>
          </a:bodyPr>
          <a:lstStyle/>
          <a:p>
            <a:pPr algn="l"/>
            <a:r>
              <a:rPr sz="2600" b="1">
                <a:solidFill>
                  <a:srgbClr val="8A3B2F"/>
                </a:solidFill>
                <a:latin typeface="Helvetica Neue"/>
              </a:rPr>
              <a:t>Avianca davası  ·  2023, New York</a:t>
            </a:r>
          </a:p>
        </p:txBody>
      </p:sp>
      <p:pic>
        <p:nvPicPr>
          <p:cNvPr id="10" name="Picture 9" descr="gorsel_avianca.png"/>
          <p:cNvPicPr>
            <a:picLocks noChangeAspect="1"/>
          </p:cNvPicPr>
          <p:nvPr/>
        </p:nvPicPr>
        <p:blipFill>
          <a:blip r:embed="rId4"/>
          <a:stretch>
            <a:fillRect/>
          </a:stretch>
        </p:blipFill>
        <p:spPr>
          <a:xfrm>
            <a:off x="1911096" y="6263640"/>
            <a:ext cx="9468612" cy="3929474"/>
          </a:xfrm>
          <a:prstGeom prst="rect">
            <a:avLst/>
          </a:prstGeom>
        </p:spPr>
      </p:pic>
      <p:sp>
        <p:nvSpPr>
          <p:cNvPr id="11" name="Rounded Rectangle 10"/>
          <p:cNvSpPr/>
          <p:nvPr/>
        </p:nvSpPr>
        <p:spPr>
          <a:xfrm>
            <a:off x="12376404" y="4846320"/>
            <a:ext cx="10730484" cy="576072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007340" y="5349240"/>
            <a:ext cx="9468612" cy="640080"/>
          </a:xfrm>
          <a:prstGeom prst="rect">
            <a:avLst/>
          </a:prstGeom>
          <a:noFill/>
        </p:spPr>
        <p:txBody>
          <a:bodyPr wrap="square" lIns="0" tIns="0" rIns="0" bIns="0">
            <a:spAutoFit/>
          </a:bodyPr>
          <a:lstStyle/>
          <a:p>
            <a:pPr algn="l"/>
            <a:r>
              <a:rPr sz="2600" b="1">
                <a:solidFill>
                  <a:srgbClr val="15263F"/>
                </a:solidFill>
                <a:latin typeface="Helvetica Neue"/>
              </a:rPr>
              <a:t>Otomat deneyi  ·  2026, Andon Labs</a:t>
            </a:r>
          </a:p>
        </p:txBody>
      </p:sp>
      <p:pic>
        <p:nvPicPr>
          <p:cNvPr id="13" name="Picture 12" descr="gorsel_otomat.png"/>
          <p:cNvPicPr>
            <a:picLocks noChangeAspect="1"/>
          </p:cNvPicPr>
          <p:nvPr/>
        </p:nvPicPr>
        <p:blipFill>
          <a:blip r:embed="rId5"/>
          <a:stretch>
            <a:fillRect/>
          </a:stretch>
        </p:blipFill>
        <p:spPr>
          <a:xfrm>
            <a:off x="13007340" y="6263640"/>
            <a:ext cx="9468612" cy="3929474"/>
          </a:xfrm>
          <a:prstGeom prst="rect">
            <a:avLst/>
          </a:prstGeom>
        </p:spPr>
      </p:pic>
      <p:sp>
        <p:nvSpPr>
          <p:cNvPr id="14" name="Rectangle 1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Biri gerçeği umursamadı, diğeri kendi çıkarını kolladı. </a:t>
            </a:r>
            <a:r>
              <a:rPr sz="2400" b="1">
                <a:solidFill>
                  <a:srgbClr val="15263F"/>
                </a:solidFill>
                <a:latin typeface="Helvetica Neue"/>
              </a:rPr>
              <a:t>İkisine de kimse söylemedi.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Kaputun altı: Transformer</a:t>
            </a:r>
          </a:p>
        </p:txBody>
      </p:sp>
      <p:sp>
        <p:nvSpPr>
          <p:cNvPr id="3" name="TextBox 2"/>
          <p:cNvSpPr txBox="1"/>
          <p:nvPr/>
        </p:nvSpPr>
        <p:spPr>
          <a:xfrm>
            <a:off x="2066544" y="3063240"/>
            <a:ext cx="20244816" cy="1737360"/>
          </a:xfrm>
          <a:prstGeom prst="rect">
            <a:avLst/>
          </a:prstGeom>
          <a:noFill/>
        </p:spPr>
        <p:txBody>
          <a:bodyPr wrap="square" lIns="0" tIns="0" rIns="0" bIns="0">
            <a:spAutoFit/>
          </a:bodyPr>
          <a:lstStyle/>
          <a:p>
            <a:pPr algn="ctr">
              <a:lnSpc>
                <a:spcPct val="115000"/>
              </a:lnSpc>
            </a:pPr>
            <a:r>
              <a:rPr sz="3800" b="0">
                <a:solidFill>
                  <a:srgbClr val="1A1A1A"/>
                </a:solidFill>
                <a:latin typeface="Helvetica Neue"/>
              </a:rPr>
              <a:t>2017'de sekiz sayfalık bir makale çıktı. </a:t>
            </a:r>
            <a:r>
              <a:rPr sz="3800" b="1">
                <a:solidFill>
                  <a:srgbClr val="1A1A1A"/>
                </a:solidFill>
                <a:latin typeface="Helvetica Neue"/>
              </a:rPr>
              <a:t>Bugün kullandığınız her modelin atası.</a:t>
            </a:r>
          </a:p>
        </p:txBody>
      </p:sp>
      <p:pic>
        <p:nvPicPr>
          <p:cNvPr id="4" name="Picture 3" descr="makale.jpg"/>
          <p:cNvPicPr>
            <a:picLocks noChangeAspect="1"/>
          </p:cNvPicPr>
          <p:nvPr/>
        </p:nvPicPr>
        <p:blipFill>
          <a:blip r:embed="rId3"/>
          <a:stretch>
            <a:fillRect/>
          </a:stretch>
        </p:blipFill>
        <p:spPr>
          <a:xfrm>
            <a:off x="7476312" y="4709160"/>
            <a:ext cx="9431407" cy="6537960"/>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Attention fikri yeni değildi. Yeni olan iddia şuydu: </a:t>
            </a:r>
            <a:r>
              <a:rPr sz="2400" b="1">
                <a:solidFill>
                  <a:srgbClr val="15263F"/>
                </a:solidFill>
                <a:latin typeface="Helvetica Neue"/>
              </a:rPr>
              <a:t>tek başına yetiyor.</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Transformer'ı Transformer yapan üç şey</a:t>
            </a:r>
          </a:p>
        </p:txBody>
      </p:sp>
      <p:sp>
        <p:nvSpPr>
          <p:cNvPr id="3" name="Rounded Rectangle 2"/>
          <p:cNvSpPr/>
          <p:nvPr/>
        </p:nvSpPr>
        <p:spPr>
          <a:xfrm>
            <a:off x="1280160" y="2514600"/>
            <a:ext cx="6970471" cy="8092440"/>
          </a:xfrm>
          <a:prstGeom prst="roundRect">
            <a:avLst>
              <a:gd name="adj" fmla="val 6000"/>
            </a:avLst>
          </a:prstGeom>
          <a:solidFill>
            <a:srgbClr val="F8F1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280160" y="2514600"/>
            <a:ext cx="6970471" cy="164592"/>
          </a:xfrm>
          <a:prstGeom prst="rect">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847088" y="3017520"/>
            <a:ext cx="1463040" cy="822960"/>
          </a:xfrm>
          <a:prstGeom prst="rect">
            <a:avLst/>
          </a:prstGeom>
          <a:noFill/>
        </p:spPr>
        <p:txBody>
          <a:bodyPr wrap="square" lIns="0" tIns="0" rIns="0" bIns="0">
            <a:spAutoFit/>
          </a:bodyPr>
          <a:lstStyle/>
          <a:p>
            <a:pPr algn="l"/>
            <a:r>
              <a:rPr sz="5400" b="1">
                <a:solidFill>
                  <a:srgbClr val="C08A2E"/>
                </a:solidFill>
                <a:latin typeface="Helvetica Neue"/>
              </a:rPr>
              <a:t>01</a:t>
            </a:r>
          </a:p>
        </p:txBody>
      </p:sp>
      <p:sp>
        <p:nvSpPr>
          <p:cNvPr id="6" name="TextBox 5"/>
          <p:cNvSpPr txBox="1"/>
          <p:nvPr/>
        </p:nvSpPr>
        <p:spPr>
          <a:xfrm>
            <a:off x="1847088" y="4023360"/>
            <a:ext cx="5836615" cy="731520"/>
          </a:xfrm>
          <a:prstGeom prst="rect">
            <a:avLst/>
          </a:prstGeom>
          <a:noFill/>
        </p:spPr>
        <p:txBody>
          <a:bodyPr wrap="square" lIns="0" tIns="0" rIns="0" bIns="0">
            <a:spAutoFit/>
          </a:bodyPr>
          <a:lstStyle/>
          <a:p>
            <a:pPr algn="l"/>
            <a:r>
              <a:rPr sz="2800" b="1">
                <a:solidFill>
                  <a:srgbClr val="C08A2E"/>
                </a:solidFill>
                <a:latin typeface="Helvetica Neue"/>
              </a:rPr>
              <a:t>Paralel işleme</a:t>
            </a:r>
          </a:p>
        </p:txBody>
      </p:sp>
      <p:pic>
        <p:nvPicPr>
          <p:cNvPr id="7" name="Picture 6" descr="recurrent.jpg"/>
          <p:cNvPicPr>
            <a:picLocks noChangeAspect="1"/>
          </p:cNvPicPr>
          <p:nvPr/>
        </p:nvPicPr>
        <p:blipFill>
          <a:blip r:embed="rId3"/>
          <a:stretch>
            <a:fillRect/>
          </a:stretch>
        </p:blipFill>
        <p:spPr>
          <a:xfrm>
            <a:off x="1600200" y="6078065"/>
            <a:ext cx="6330391" cy="2977190"/>
          </a:xfrm>
          <a:prstGeom prst="rect">
            <a:avLst/>
          </a:prstGeom>
        </p:spPr>
      </p:pic>
      <p:sp>
        <p:nvSpPr>
          <p:cNvPr id="8" name="Rounded Rectangle 7"/>
          <p:cNvSpPr/>
          <p:nvPr/>
        </p:nvSpPr>
        <p:spPr>
          <a:xfrm>
            <a:off x="8707831" y="2514600"/>
            <a:ext cx="6970471" cy="8092440"/>
          </a:xfrm>
          <a:prstGeom prst="roundRect">
            <a:avLst>
              <a:gd name="adj" fmla="val 6000"/>
            </a:avLst>
          </a:prstGeom>
          <a:solidFill>
            <a:srgbClr val="E7EB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8707831" y="2514600"/>
            <a:ext cx="6970471" cy="164592"/>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274759" y="3017520"/>
            <a:ext cx="1463040" cy="822960"/>
          </a:xfrm>
          <a:prstGeom prst="rect">
            <a:avLst/>
          </a:prstGeom>
          <a:noFill/>
        </p:spPr>
        <p:txBody>
          <a:bodyPr wrap="square" lIns="0" tIns="0" rIns="0" bIns="0">
            <a:spAutoFit/>
          </a:bodyPr>
          <a:lstStyle/>
          <a:p>
            <a:pPr algn="l"/>
            <a:r>
              <a:rPr sz="5400" b="1">
                <a:solidFill>
                  <a:srgbClr val="15263F"/>
                </a:solidFill>
                <a:latin typeface="Helvetica Neue"/>
              </a:rPr>
              <a:t>02</a:t>
            </a:r>
          </a:p>
        </p:txBody>
      </p:sp>
      <p:sp>
        <p:nvSpPr>
          <p:cNvPr id="11" name="TextBox 10"/>
          <p:cNvSpPr txBox="1"/>
          <p:nvPr/>
        </p:nvSpPr>
        <p:spPr>
          <a:xfrm>
            <a:off x="9274759" y="4023360"/>
            <a:ext cx="5836615" cy="731520"/>
          </a:xfrm>
          <a:prstGeom prst="rect">
            <a:avLst/>
          </a:prstGeom>
          <a:noFill/>
        </p:spPr>
        <p:txBody>
          <a:bodyPr wrap="square" lIns="0" tIns="0" rIns="0" bIns="0">
            <a:spAutoFit/>
          </a:bodyPr>
          <a:lstStyle/>
          <a:p>
            <a:pPr algn="l"/>
            <a:r>
              <a:rPr sz="2800" b="1">
                <a:solidFill>
                  <a:srgbClr val="15263F"/>
                </a:solidFill>
                <a:latin typeface="Helvetica Neue"/>
              </a:rPr>
              <a:t>Self-attention</a:t>
            </a:r>
          </a:p>
        </p:txBody>
      </p:sp>
      <p:pic>
        <p:nvPicPr>
          <p:cNvPr id="12" name="Picture 11" descr="gorsel_selfattention.png"/>
          <p:cNvPicPr>
            <a:picLocks noChangeAspect="1"/>
          </p:cNvPicPr>
          <p:nvPr/>
        </p:nvPicPr>
        <p:blipFill>
          <a:blip r:embed="rId4"/>
          <a:stretch>
            <a:fillRect/>
          </a:stretch>
        </p:blipFill>
        <p:spPr>
          <a:xfrm>
            <a:off x="9027871" y="5588413"/>
            <a:ext cx="6330391" cy="3956494"/>
          </a:xfrm>
          <a:prstGeom prst="rect">
            <a:avLst/>
          </a:prstGeom>
        </p:spPr>
      </p:pic>
      <p:sp>
        <p:nvSpPr>
          <p:cNvPr id="13" name="Rounded Rectangle 12"/>
          <p:cNvSpPr/>
          <p:nvPr/>
        </p:nvSpPr>
        <p:spPr>
          <a:xfrm>
            <a:off x="16135502" y="2514600"/>
            <a:ext cx="6970471" cy="8092440"/>
          </a:xfrm>
          <a:prstGeom prst="roundRect">
            <a:avLst>
              <a:gd name="adj" fmla="val 6000"/>
            </a:avLst>
          </a:prstGeom>
          <a:solidFill>
            <a:srgbClr val="F6E9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6135502" y="2514600"/>
            <a:ext cx="6970471" cy="164592"/>
          </a:xfrm>
          <a:prstGeom prst="rect">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702430" y="3017520"/>
            <a:ext cx="1463040" cy="822960"/>
          </a:xfrm>
          <a:prstGeom prst="rect">
            <a:avLst/>
          </a:prstGeom>
          <a:noFill/>
        </p:spPr>
        <p:txBody>
          <a:bodyPr wrap="square" lIns="0" tIns="0" rIns="0" bIns="0">
            <a:spAutoFit/>
          </a:bodyPr>
          <a:lstStyle/>
          <a:p>
            <a:pPr algn="l"/>
            <a:r>
              <a:rPr sz="5400" b="1">
                <a:solidFill>
                  <a:srgbClr val="8A3B2F"/>
                </a:solidFill>
                <a:latin typeface="Helvetica Neue"/>
              </a:rPr>
              <a:t>03</a:t>
            </a:r>
          </a:p>
        </p:txBody>
      </p:sp>
      <p:sp>
        <p:nvSpPr>
          <p:cNvPr id="16" name="TextBox 15"/>
          <p:cNvSpPr txBox="1"/>
          <p:nvPr/>
        </p:nvSpPr>
        <p:spPr>
          <a:xfrm>
            <a:off x="16702430" y="4023360"/>
            <a:ext cx="5836615" cy="731520"/>
          </a:xfrm>
          <a:prstGeom prst="rect">
            <a:avLst/>
          </a:prstGeom>
          <a:noFill/>
        </p:spPr>
        <p:txBody>
          <a:bodyPr wrap="square" lIns="0" tIns="0" rIns="0" bIns="0">
            <a:spAutoFit/>
          </a:bodyPr>
          <a:lstStyle/>
          <a:p>
            <a:pPr algn="l"/>
            <a:r>
              <a:rPr sz="2800" b="1">
                <a:solidFill>
                  <a:srgbClr val="8A3B2F"/>
                </a:solidFill>
                <a:latin typeface="Helvetica Neue"/>
              </a:rPr>
              <a:t>Positional encoding</a:t>
            </a:r>
          </a:p>
        </p:txBody>
      </p:sp>
      <p:pic>
        <p:nvPicPr>
          <p:cNvPr id="17" name="Picture 16" descr="gorsel_posenc.png"/>
          <p:cNvPicPr>
            <a:picLocks noChangeAspect="1"/>
          </p:cNvPicPr>
          <p:nvPr/>
        </p:nvPicPr>
        <p:blipFill>
          <a:blip r:embed="rId5"/>
          <a:stretch>
            <a:fillRect/>
          </a:stretch>
        </p:blipFill>
        <p:spPr>
          <a:xfrm>
            <a:off x="16455542" y="5588413"/>
            <a:ext cx="6330391" cy="3956494"/>
          </a:xfrm>
          <a:prstGeom prst="rect">
            <a:avLst/>
          </a:prstGeom>
        </p:spPr>
      </p:pic>
      <p:sp>
        <p:nvSpPr>
          <p:cNvPr id="18" name="Rectangle 17"/>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Paralel işle, neyin önemli olduğunu kendin bul, </a:t>
            </a:r>
            <a:r>
              <a:rPr sz="2400" b="1">
                <a:solidFill>
                  <a:srgbClr val="15263F"/>
                </a:solidFill>
                <a:latin typeface="Helvetica Neue"/>
              </a:rPr>
              <a:t>sırayı unutma.</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mimarisi</a:t>
            </a:r>
          </a:p>
        </p:txBody>
      </p:sp>
      <p:pic>
        <p:nvPicPr>
          <p:cNvPr id="3" name="!!decoder" descr="decoder.png"/>
          <p:cNvPicPr>
            <a:picLocks noChangeAspect="1"/>
          </p:cNvPicPr>
          <p:nvPr/>
        </p:nvPicPr>
        <p:blipFill>
          <a:blip r:embed="rId3"/>
          <a:stretch>
            <a:fillRect/>
          </a:stretch>
        </p:blipFill>
        <p:spPr>
          <a:xfrm>
            <a:off x="12107588" y="1874520"/>
            <a:ext cx="4258882" cy="9418320"/>
          </a:xfrm>
          <a:prstGeom prst="rect">
            <a:avLst/>
          </a:prstGeom>
        </p:spPr>
      </p:pic>
      <p:pic>
        <p:nvPicPr>
          <p:cNvPr id="4" name="!!encoder" descr="encoder.png"/>
          <p:cNvPicPr>
            <a:picLocks noChangeAspect="1"/>
          </p:cNvPicPr>
          <p:nvPr/>
        </p:nvPicPr>
        <p:blipFill>
          <a:blip r:embed="rId4"/>
          <a:stretch>
            <a:fillRect/>
          </a:stretch>
        </p:blipFill>
        <p:spPr>
          <a:xfrm>
            <a:off x="8017561" y="4332289"/>
            <a:ext cx="4090027" cy="4709160"/>
          </a:xfrm>
          <a:prstGeom prst="rect">
            <a:avLst/>
          </a:prstGeom>
        </p:spPr>
      </p:pic>
      <p:pic>
        <p:nvPicPr>
          <p:cNvPr id="5" name="!!embed" descr="embed.png"/>
          <p:cNvPicPr>
            <a:picLocks noChangeAspect="1"/>
          </p:cNvPicPr>
          <p:nvPr/>
        </p:nvPicPr>
        <p:blipFill>
          <a:blip r:embed="rId5"/>
          <a:stretch>
            <a:fillRect/>
          </a:stretch>
        </p:blipFill>
        <p:spPr>
          <a:xfrm>
            <a:off x="8017561" y="9041449"/>
            <a:ext cx="4090027" cy="2251391"/>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mimarisi  ·  Encoder</a:t>
            </a:r>
          </a:p>
        </p:txBody>
      </p:sp>
      <p:pic>
        <p:nvPicPr>
          <p:cNvPr id="3" name="!!decoder" descr="decoder.png"/>
          <p:cNvPicPr>
            <a:picLocks noChangeAspect="1"/>
          </p:cNvPicPr>
          <p:nvPr/>
        </p:nvPicPr>
        <p:blipFill>
          <a:blip r:embed="rId3"/>
          <a:stretch>
            <a:fillRect/>
          </a:stretch>
        </p:blipFill>
        <p:spPr>
          <a:xfrm>
            <a:off x="26060400" y="1874520"/>
            <a:ext cx="4258882" cy="9418320"/>
          </a:xfrm>
          <a:prstGeom prst="rect">
            <a:avLst/>
          </a:prstGeom>
        </p:spPr>
      </p:pic>
      <p:pic>
        <p:nvPicPr>
          <p:cNvPr id="4" name="!!encoder" descr="encoder.png"/>
          <p:cNvPicPr>
            <a:picLocks noChangeAspect="1"/>
          </p:cNvPicPr>
          <p:nvPr/>
        </p:nvPicPr>
        <p:blipFill>
          <a:blip r:embed="rId4"/>
          <a:stretch>
            <a:fillRect/>
          </a:stretch>
        </p:blipFill>
        <p:spPr>
          <a:xfrm>
            <a:off x="9424908" y="1874520"/>
            <a:ext cx="5534215" cy="6371963"/>
          </a:xfrm>
          <a:prstGeom prst="rect">
            <a:avLst/>
          </a:prstGeom>
        </p:spPr>
      </p:pic>
      <p:pic>
        <p:nvPicPr>
          <p:cNvPr id="5" name="!!embed" descr="embed.png"/>
          <p:cNvPicPr>
            <a:picLocks noChangeAspect="1"/>
          </p:cNvPicPr>
          <p:nvPr/>
        </p:nvPicPr>
        <p:blipFill>
          <a:blip r:embed="rId5"/>
          <a:stretch>
            <a:fillRect/>
          </a:stretch>
        </p:blipFill>
        <p:spPr>
          <a:xfrm>
            <a:off x="9424908" y="8246483"/>
            <a:ext cx="5534215" cy="304635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p14="http://schemas.microsoft.com/office/powerpoint/2010/main"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mimarisi  ·  Girdi</a:t>
            </a:r>
          </a:p>
        </p:txBody>
      </p:sp>
      <p:pic>
        <p:nvPicPr>
          <p:cNvPr id="3" name="!!encoder" descr="encoder.png"/>
          <p:cNvPicPr>
            <a:picLocks noChangeAspect="1"/>
          </p:cNvPicPr>
          <p:nvPr/>
        </p:nvPicPr>
        <p:blipFill>
          <a:blip r:embed="rId3"/>
          <a:stretch>
            <a:fillRect/>
          </a:stretch>
        </p:blipFill>
        <p:spPr>
          <a:xfrm>
            <a:off x="9424908" y="-8229600"/>
            <a:ext cx="5534215" cy="6371963"/>
          </a:xfrm>
          <a:prstGeom prst="rect">
            <a:avLst/>
          </a:prstGeom>
        </p:spPr>
      </p:pic>
      <p:pic>
        <p:nvPicPr>
          <p:cNvPr id="4" name="!!embed" descr="embed.png"/>
          <p:cNvPicPr>
            <a:picLocks noChangeAspect="1"/>
          </p:cNvPicPr>
          <p:nvPr/>
        </p:nvPicPr>
        <p:blipFill>
          <a:blip r:embed="rId4"/>
          <a:stretch>
            <a:fillRect/>
          </a:stretch>
        </p:blipFill>
        <p:spPr>
          <a:xfrm>
            <a:off x="5791215" y="3471784"/>
            <a:ext cx="12801600" cy="704675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p14="http://schemas.microsoft.com/office/powerpoint/2010/main"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pic>
        <p:nvPicPr>
          <p:cNvPr id="2" name="!!embed" descr="embed.png"/>
          <p:cNvPicPr>
            <a:picLocks noChangeAspect="1"/>
          </p:cNvPicPr>
          <p:nvPr/>
        </p:nvPicPr>
        <p:blipFill>
          <a:blip r:embed="rId3"/>
          <a:stretch>
            <a:fillRect/>
          </a:stretch>
        </p:blipFill>
        <p:spPr>
          <a:xfrm>
            <a:off x="13075920" y="4663440"/>
            <a:ext cx="10058400" cy="5536734"/>
          </a:xfrm>
          <a:prstGeom prst="rect">
            <a:avLst/>
          </a:prstGeom>
        </p:spPr>
      </p:pic>
      <p:sp>
        <p:nvSpPr>
          <p:cNvPr id="3" name="!!baslik"/>
          <p:cNvSpPr txBox="1"/>
          <p:nvPr/>
        </p:nvSpPr>
        <p:spPr>
          <a:xfrm>
            <a:off x="2011680" y="2377440"/>
            <a:ext cx="10058400" cy="1737360"/>
          </a:xfrm>
          <a:prstGeom prst="rect">
            <a:avLst/>
          </a:prstGeom>
          <a:noFill/>
        </p:spPr>
        <p:txBody>
          <a:bodyPr wrap="square" lIns="0" tIns="0" rIns="0" bIns="0">
            <a:spAutoFit/>
          </a:bodyPr>
          <a:lstStyle/>
          <a:p>
            <a:pPr algn="l"/>
            <a:r>
              <a:rPr sz="7600" b="1">
                <a:solidFill>
                  <a:srgbClr val="1A1A1A"/>
                </a:solidFill>
                <a:latin typeface="Helvetica Neue"/>
              </a:rPr>
              <a:t>Embeddings</a:t>
            </a:r>
          </a:p>
        </p:txBody>
      </p:sp>
      <p:sp>
        <p:nvSpPr>
          <p:cNvPr id="4" name="!!no0"/>
          <p:cNvSpPr txBox="1"/>
          <p:nvPr/>
        </p:nvSpPr>
        <p:spPr>
          <a:xfrm>
            <a:off x="2377440" y="5120640"/>
            <a:ext cx="1280160" cy="822960"/>
          </a:xfrm>
          <a:prstGeom prst="rect">
            <a:avLst/>
          </a:prstGeom>
          <a:noFill/>
        </p:spPr>
        <p:txBody>
          <a:bodyPr wrap="square" lIns="0" tIns="0" rIns="0" bIns="0">
            <a:spAutoFit/>
          </a:bodyPr>
          <a:lstStyle/>
          <a:p>
            <a:pPr algn="l"/>
            <a:r>
              <a:rPr sz="4000" b="1">
                <a:solidFill>
                  <a:srgbClr val="C08A2E"/>
                </a:solidFill>
                <a:latin typeface="Helvetica Neue"/>
              </a:rPr>
              <a:t>1)</a:t>
            </a:r>
          </a:p>
        </p:txBody>
      </p:sp>
      <p:sp>
        <p:nvSpPr>
          <p:cNvPr id="5" name="!!ad0"/>
          <p:cNvSpPr txBox="1"/>
          <p:nvPr/>
        </p:nvSpPr>
        <p:spPr>
          <a:xfrm>
            <a:off x="3931920" y="5120640"/>
            <a:ext cx="9144000" cy="822960"/>
          </a:xfrm>
          <a:prstGeom prst="rect">
            <a:avLst/>
          </a:prstGeom>
          <a:noFill/>
        </p:spPr>
        <p:txBody>
          <a:bodyPr wrap="square" lIns="0" tIns="0" rIns="0" bIns="0">
            <a:spAutoFit/>
          </a:bodyPr>
          <a:lstStyle/>
          <a:p>
            <a:pPr algn="l"/>
            <a:r>
              <a:rPr sz="4000" b="1">
                <a:solidFill>
                  <a:srgbClr val="1A1A1A"/>
                </a:solidFill>
                <a:latin typeface="Helvetica Neue"/>
              </a:rPr>
              <a:t>Tokenization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p14="http://schemas.microsoft.com/office/powerpoint/2010/main"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pic>
        <p:nvPicPr>
          <p:cNvPr id="2" name="!!embed" descr="embed.png"/>
          <p:cNvPicPr>
            <a:picLocks noChangeAspect="1"/>
          </p:cNvPicPr>
          <p:nvPr/>
        </p:nvPicPr>
        <p:blipFill>
          <a:blip r:embed="rId3"/>
          <a:stretch>
            <a:fillRect/>
          </a:stretch>
        </p:blipFill>
        <p:spPr>
          <a:xfrm>
            <a:off x="13075920" y="4663440"/>
            <a:ext cx="10058400" cy="5536734"/>
          </a:xfrm>
          <a:prstGeom prst="rect">
            <a:avLst/>
          </a:prstGeom>
        </p:spPr>
      </p:pic>
      <p:sp>
        <p:nvSpPr>
          <p:cNvPr id="3" name="!!baslik"/>
          <p:cNvSpPr txBox="1"/>
          <p:nvPr/>
        </p:nvSpPr>
        <p:spPr>
          <a:xfrm>
            <a:off x="2011680" y="2377440"/>
            <a:ext cx="10058400" cy="1737360"/>
          </a:xfrm>
          <a:prstGeom prst="rect">
            <a:avLst/>
          </a:prstGeom>
          <a:noFill/>
        </p:spPr>
        <p:txBody>
          <a:bodyPr wrap="square" lIns="0" tIns="0" rIns="0" bIns="0">
            <a:spAutoFit/>
          </a:bodyPr>
          <a:lstStyle/>
          <a:p>
            <a:pPr algn="l"/>
            <a:r>
              <a:rPr sz="7600" b="1">
                <a:solidFill>
                  <a:srgbClr val="1A1A1A"/>
                </a:solidFill>
                <a:latin typeface="Helvetica Neue"/>
              </a:rPr>
              <a:t>Embeddings</a:t>
            </a:r>
          </a:p>
        </p:txBody>
      </p:sp>
      <p:sp>
        <p:nvSpPr>
          <p:cNvPr id="4" name="!!no0"/>
          <p:cNvSpPr txBox="1"/>
          <p:nvPr/>
        </p:nvSpPr>
        <p:spPr>
          <a:xfrm>
            <a:off x="2377440" y="5120640"/>
            <a:ext cx="1280160" cy="822960"/>
          </a:xfrm>
          <a:prstGeom prst="rect">
            <a:avLst/>
          </a:prstGeom>
          <a:noFill/>
        </p:spPr>
        <p:txBody>
          <a:bodyPr wrap="square" lIns="0" tIns="0" rIns="0" bIns="0">
            <a:spAutoFit/>
          </a:bodyPr>
          <a:lstStyle/>
          <a:p>
            <a:pPr algn="l"/>
            <a:r>
              <a:rPr sz="4000" b="1">
                <a:solidFill>
                  <a:srgbClr val="C08A2E"/>
                </a:solidFill>
                <a:latin typeface="Helvetica Neue"/>
              </a:rPr>
              <a:t>1)</a:t>
            </a:r>
          </a:p>
        </p:txBody>
      </p:sp>
      <p:sp>
        <p:nvSpPr>
          <p:cNvPr id="5" name="!!ad0"/>
          <p:cNvSpPr txBox="1"/>
          <p:nvPr/>
        </p:nvSpPr>
        <p:spPr>
          <a:xfrm>
            <a:off x="3931920" y="5120640"/>
            <a:ext cx="9144000" cy="822960"/>
          </a:xfrm>
          <a:prstGeom prst="rect">
            <a:avLst/>
          </a:prstGeom>
          <a:noFill/>
        </p:spPr>
        <p:txBody>
          <a:bodyPr wrap="square" lIns="0" tIns="0" rIns="0" bIns="0">
            <a:spAutoFit/>
          </a:bodyPr>
          <a:lstStyle/>
          <a:p>
            <a:pPr algn="l"/>
            <a:r>
              <a:rPr sz="4000" b="1">
                <a:solidFill>
                  <a:srgbClr val="1A1A1A"/>
                </a:solidFill>
                <a:latin typeface="Helvetica Neue"/>
              </a:rPr>
              <a:t>Tokenization</a:t>
            </a:r>
          </a:p>
        </p:txBody>
      </p:sp>
      <p:sp>
        <p:nvSpPr>
          <p:cNvPr id="6" name="!!no1"/>
          <p:cNvSpPr txBox="1"/>
          <p:nvPr/>
        </p:nvSpPr>
        <p:spPr>
          <a:xfrm>
            <a:off x="2377440" y="6995160"/>
            <a:ext cx="1280160" cy="822960"/>
          </a:xfrm>
          <a:prstGeom prst="rect">
            <a:avLst/>
          </a:prstGeom>
          <a:noFill/>
        </p:spPr>
        <p:txBody>
          <a:bodyPr wrap="square" lIns="0" tIns="0" rIns="0" bIns="0">
            <a:spAutoFit/>
          </a:bodyPr>
          <a:lstStyle/>
          <a:p>
            <a:pPr algn="l"/>
            <a:r>
              <a:rPr sz="4000" b="1">
                <a:solidFill>
                  <a:srgbClr val="C08A2E"/>
                </a:solidFill>
                <a:latin typeface="Helvetica Neue"/>
              </a:rPr>
              <a:t>2)</a:t>
            </a:r>
          </a:p>
        </p:txBody>
      </p:sp>
      <p:sp>
        <p:nvSpPr>
          <p:cNvPr id="7" name="!!ad1"/>
          <p:cNvSpPr txBox="1"/>
          <p:nvPr/>
        </p:nvSpPr>
        <p:spPr>
          <a:xfrm>
            <a:off x="3931920" y="6995160"/>
            <a:ext cx="9144000" cy="822960"/>
          </a:xfrm>
          <a:prstGeom prst="rect">
            <a:avLst/>
          </a:prstGeom>
          <a:noFill/>
        </p:spPr>
        <p:txBody>
          <a:bodyPr wrap="square" lIns="0" tIns="0" rIns="0" bIns="0">
            <a:spAutoFit/>
          </a:bodyPr>
          <a:lstStyle/>
          <a:p>
            <a:pPr algn="l"/>
            <a:r>
              <a:rPr sz="4000" b="1">
                <a:solidFill>
                  <a:srgbClr val="1A1A1A"/>
                </a:solidFill>
                <a:latin typeface="Helvetica Neue"/>
              </a:rPr>
              <a:t>Token Embeddings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p14="http://schemas.microsoft.com/office/powerpoint/2010/main"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pic>
        <p:nvPicPr>
          <p:cNvPr id="2" name="!!embed" descr="embed.png"/>
          <p:cNvPicPr>
            <a:picLocks noChangeAspect="1"/>
          </p:cNvPicPr>
          <p:nvPr/>
        </p:nvPicPr>
        <p:blipFill>
          <a:blip r:embed="rId3"/>
          <a:stretch>
            <a:fillRect/>
          </a:stretch>
        </p:blipFill>
        <p:spPr>
          <a:xfrm>
            <a:off x="13075920" y="4663440"/>
            <a:ext cx="10058400" cy="5536734"/>
          </a:xfrm>
          <a:prstGeom prst="rect">
            <a:avLst/>
          </a:prstGeom>
        </p:spPr>
      </p:pic>
      <p:sp>
        <p:nvSpPr>
          <p:cNvPr id="3" name="!!baslik"/>
          <p:cNvSpPr txBox="1"/>
          <p:nvPr/>
        </p:nvSpPr>
        <p:spPr>
          <a:xfrm>
            <a:off x="2011680" y="2377440"/>
            <a:ext cx="10058400" cy="1737360"/>
          </a:xfrm>
          <a:prstGeom prst="rect">
            <a:avLst/>
          </a:prstGeom>
          <a:noFill/>
        </p:spPr>
        <p:txBody>
          <a:bodyPr wrap="square" lIns="0" tIns="0" rIns="0" bIns="0">
            <a:spAutoFit/>
          </a:bodyPr>
          <a:lstStyle/>
          <a:p>
            <a:pPr algn="l"/>
            <a:r>
              <a:rPr sz="7600" b="1">
                <a:solidFill>
                  <a:srgbClr val="1A1A1A"/>
                </a:solidFill>
                <a:latin typeface="Helvetica Neue"/>
              </a:rPr>
              <a:t>Embeddings</a:t>
            </a:r>
          </a:p>
        </p:txBody>
      </p:sp>
      <p:sp>
        <p:nvSpPr>
          <p:cNvPr id="4" name="!!no0"/>
          <p:cNvSpPr txBox="1"/>
          <p:nvPr/>
        </p:nvSpPr>
        <p:spPr>
          <a:xfrm>
            <a:off x="2377440" y="5120640"/>
            <a:ext cx="1280160" cy="822960"/>
          </a:xfrm>
          <a:prstGeom prst="rect">
            <a:avLst/>
          </a:prstGeom>
          <a:noFill/>
        </p:spPr>
        <p:txBody>
          <a:bodyPr wrap="square" lIns="0" tIns="0" rIns="0" bIns="0">
            <a:spAutoFit/>
          </a:bodyPr>
          <a:lstStyle/>
          <a:p>
            <a:pPr algn="l"/>
            <a:r>
              <a:rPr sz="4000" b="1">
                <a:solidFill>
                  <a:srgbClr val="C08A2E"/>
                </a:solidFill>
                <a:latin typeface="Helvetica Neue"/>
              </a:rPr>
              <a:t>1)</a:t>
            </a:r>
          </a:p>
        </p:txBody>
      </p:sp>
      <p:sp>
        <p:nvSpPr>
          <p:cNvPr id="5" name="!!ad0"/>
          <p:cNvSpPr txBox="1"/>
          <p:nvPr/>
        </p:nvSpPr>
        <p:spPr>
          <a:xfrm>
            <a:off x="3931920" y="5120640"/>
            <a:ext cx="9144000" cy="822960"/>
          </a:xfrm>
          <a:prstGeom prst="rect">
            <a:avLst/>
          </a:prstGeom>
          <a:noFill/>
        </p:spPr>
        <p:txBody>
          <a:bodyPr wrap="square" lIns="0" tIns="0" rIns="0" bIns="0">
            <a:spAutoFit/>
          </a:bodyPr>
          <a:lstStyle/>
          <a:p>
            <a:pPr algn="l"/>
            <a:r>
              <a:rPr sz="4000" b="1">
                <a:solidFill>
                  <a:srgbClr val="1A1A1A"/>
                </a:solidFill>
                <a:latin typeface="Helvetica Neue"/>
              </a:rPr>
              <a:t>Tokenization</a:t>
            </a:r>
          </a:p>
        </p:txBody>
      </p:sp>
      <p:sp>
        <p:nvSpPr>
          <p:cNvPr id="6" name="!!no1"/>
          <p:cNvSpPr txBox="1"/>
          <p:nvPr/>
        </p:nvSpPr>
        <p:spPr>
          <a:xfrm>
            <a:off x="2377440" y="6995160"/>
            <a:ext cx="1280160" cy="822960"/>
          </a:xfrm>
          <a:prstGeom prst="rect">
            <a:avLst/>
          </a:prstGeom>
          <a:noFill/>
        </p:spPr>
        <p:txBody>
          <a:bodyPr wrap="square" lIns="0" tIns="0" rIns="0" bIns="0">
            <a:spAutoFit/>
          </a:bodyPr>
          <a:lstStyle/>
          <a:p>
            <a:pPr algn="l"/>
            <a:r>
              <a:rPr sz="4000" b="1">
                <a:solidFill>
                  <a:srgbClr val="C08A2E"/>
                </a:solidFill>
                <a:latin typeface="Helvetica Neue"/>
              </a:rPr>
              <a:t>2)</a:t>
            </a:r>
          </a:p>
        </p:txBody>
      </p:sp>
      <p:sp>
        <p:nvSpPr>
          <p:cNvPr id="7" name="!!ad1"/>
          <p:cNvSpPr txBox="1"/>
          <p:nvPr/>
        </p:nvSpPr>
        <p:spPr>
          <a:xfrm>
            <a:off x="3931920" y="6995160"/>
            <a:ext cx="9144000" cy="822960"/>
          </a:xfrm>
          <a:prstGeom prst="rect">
            <a:avLst/>
          </a:prstGeom>
          <a:noFill/>
        </p:spPr>
        <p:txBody>
          <a:bodyPr wrap="square" lIns="0" tIns="0" rIns="0" bIns="0">
            <a:spAutoFit/>
          </a:bodyPr>
          <a:lstStyle/>
          <a:p>
            <a:pPr algn="l"/>
            <a:r>
              <a:rPr sz="4000" b="1">
                <a:solidFill>
                  <a:srgbClr val="1A1A1A"/>
                </a:solidFill>
                <a:latin typeface="Helvetica Neue"/>
              </a:rPr>
              <a:t>Token Embeddings</a:t>
            </a:r>
          </a:p>
        </p:txBody>
      </p:sp>
      <p:sp>
        <p:nvSpPr>
          <p:cNvPr id="8" name="!!no2"/>
          <p:cNvSpPr txBox="1"/>
          <p:nvPr/>
        </p:nvSpPr>
        <p:spPr>
          <a:xfrm>
            <a:off x="2377440" y="8869680"/>
            <a:ext cx="1280160" cy="822960"/>
          </a:xfrm>
          <a:prstGeom prst="rect">
            <a:avLst/>
          </a:prstGeom>
          <a:noFill/>
        </p:spPr>
        <p:txBody>
          <a:bodyPr wrap="square" lIns="0" tIns="0" rIns="0" bIns="0">
            <a:spAutoFit/>
          </a:bodyPr>
          <a:lstStyle/>
          <a:p>
            <a:pPr algn="l"/>
            <a:r>
              <a:rPr sz="4000" b="1">
                <a:solidFill>
                  <a:srgbClr val="C08A2E"/>
                </a:solidFill>
                <a:latin typeface="Helvetica Neue"/>
              </a:rPr>
              <a:t>3)</a:t>
            </a:r>
          </a:p>
        </p:txBody>
      </p:sp>
      <p:sp>
        <p:nvSpPr>
          <p:cNvPr id="9" name="!!ad2"/>
          <p:cNvSpPr txBox="1"/>
          <p:nvPr/>
        </p:nvSpPr>
        <p:spPr>
          <a:xfrm>
            <a:off x="3931920" y="8869680"/>
            <a:ext cx="9144000" cy="822960"/>
          </a:xfrm>
          <a:prstGeom prst="rect">
            <a:avLst/>
          </a:prstGeom>
          <a:noFill/>
        </p:spPr>
        <p:txBody>
          <a:bodyPr wrap="square" lIns="0" tIns="0" rIns="0" bIns="0">
            <a:spAutoFit/>
          </a:bodyPr>
          <a:lstStyle/>
          <a:p>
            <a:pPr algn="l"/>
            <a:r>
              <a:rPr sz="4000" b="1">
                <a:solidFill>
                  <a:srgbClr val="1A1A1A"/>
                </a:solidFill>
                <a:latin typeface="Helvetica Neue"/>
              </a:rPr>
              <a:t>Positional Encodings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p14="http://schemas.microsoft.com/office/powerpoint/2010/main"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1) Tokenization</a:t>
            </a:r>
          </a:p>
        </p:txBody>
      </p:sp>
      <p:pic>
        <p:nvPicPr>
          <p:cNvPr id="3" name="!!adim" descr="tok1.png"/>
          <p:cNvPicPr>
            <a:picLocks noChangeAspect="1"/>
          </p:cNvPicPr>
          <p:nvPr/>
        </p:nvPicPr>
        <p:blipFill>
          <a:blip r:embed="rId3"/>
          <a:stretch>
            <a:fillRect/>
          </a:stretch>
        </p:blipFill>
        <p:spPr>
          <a:xfrm>
            <a:off x="4279392" y="2377440"/>
            <a:ext cx="11471514" cy="418173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Model metni görmez. </a:t>
            </a:r>
            <a:r>
              <a:rPr sz="2400" b="1">
                <a:solidFill>
                  <a:srgbClr val="15263F"/>
                </a:solidFill>
                <a:latin typeface="Helvetica Neue"/>
              </a:rPr>
              <a:t>Önce sayıya çevrilmesi gerekir.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Gerçek token'lar nasıl görünüyor?</a:t>
            </a:r>
          </a:p>
        </p:txBody>
      </p:sp>
      <p:sp>
        <p:nvSpPr>
          <p:cNvPr id="3" name="TextBox 2"/>
          <p:cNvSpPr txBox="1"/>
          <p:nvPr/>
        </p:nvSpPr>
        <p:spPr>
          <a:xfrm>
            <a:off x="2066544" y="2651760"/>
            <a:ext cx="20244816" cy="1737360"/>
          </a:xfrm>
          <a:prstGeom prst="rect">
            <a:avLst/>
          </a:prstGeom>
          <a:noFill/>
        </p:spPr>
        <p:txBody>
          <a:bodyPr wrap="square" lIns="0" tIns="0" rIns="0" bIns="0">
            <a:spAutoFit/>
          </a:bodyPr>
          <a:lstStyle/>
          <a:p>
            <a:pPr algn="ctr">
              <a:lnSpc>
                <a:spcPct val="115000"/>
              </a:lnSpc>
            </a:pPr>
            <a:r>
              <a:rPr sz="3400" b="0">
                <a:solidFill>
                  <a:srgbClr val="1A1A1A"/>
                </a:solidFill>
                <a:latin typeface="Helvetica Neue"/>
              </a:rPr>
              <a:t>Aynı Türkçe cümle, </a:t>
            </a:r>
            <a:r>
              <a:rPr sz="3400" b="1">
                <a:solidFill>
                  <a:srgbClr val="1A1A1A"/>
                </a:solidFill>
                <a:latin typeface="Helvetica Neue"/>
              </a:rPr>
              <a:t>üç farklı tokenizer.</a:t>
            </a:r>
          </a:p>
        </p:txBody>
      </p:sp>
      <p:sp>
        <p:nvSpPr>
          <p:cNvPr id="4" name="Rounded Rectangle 3"/>
          <p:cNvSpPr/>
          <p:nvPr/>
        </p:nvSpPr>
        <p:spPr>
          <a:xfrm>
            <a:off x="1463040" y="4480560"/>
            <a:ext cx="21460968" cy="1737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965960" y="5029200"/>
            <a:ext cx="2377440" cy="640080"/>
          </a:xfrm>
          <a:prstGeom prst="rect">
            <a:avLst/>
          </a:prstGeom>
          <a:noFill/>
        </p:spPr>
        <p:txBody>
          <a:bodyPr wrap="square" lIns="0" tIns="0" rIns="0" bIns="0">
            <a:spAutoFit/>
          </a:bodyPr>
          <a:lstStyle/>
          <a:p>
            <a:pPr algn="l"/>
            <a:r>
              <a:rPr sz="2800" b="1">
                <a:solidFill>
                  <a:srgbClr val="9A9A9A"/>
                </a:solidFill>
                <a:latin typeface="Helvetica Neue"/>
              </a:rPr>
              <a:t>GPT-3</a:t>
            </a:r>
          </a:p>
        </p:txBody>
      </p:sp>
      <p:pic>
        <p:nvPicPr>
          <p:cNvPr id="6" name="Picture 5" descr="gpt3.png"/>
          <p:cNvPicPr>
            <a:picLocks noChangeAspect="1"/>
          </p:cNvPicPr>
          <p:nvPr/>
        </p:nvPicPr>
        <p:blipFill>
          <a:blip r:embed="rId3"/>
          <a:stretch>
            <a:fillRect/>
          </a:stretch>
        </p:blipFill>
        <p:spPr>
          <a:xfrm>
            <a:off x="4617720" y="4909430"/>
            <a:ext cx="17922240" cy="879619"/>
          </a:xfrm>
          <a:prstGeom prst="rect">
            <a:avLst/>
          </a:prstGeom>
        </p:spPr>
      </p:pic>
      <p:sp>
        <p:nvSpPr>
          <p:cNvPr id="7" name="Rounded Rectangle 6"/>
          <p:cNvSpPr/>
          <p:nvPr/>
        </p:nvSpPr>
        <p:spPr>
          <a:xfrm>
            <a:off x="1463040" y="6629400"/>
            <a:ext cx="21460968" cy="1737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65960" y="7178040"/>
            <a:ext cx="2377440" cy="640080"/>
          </a:xfrm>
          <a:prstGeom prst="rect">
            <a:avLst/>
          </a:prstGeom>
          <a:noFill/>
        </p:spPr>
        <p:txBody>
          <a:bodyPr wrap="square" lIns="0" tIns="0" rIns="0" bIns="0">
            <a:spAutoFit/>
          </a:bodyPr>
          <a:lstStyle/>
          <a:p>
            <a:pPr algn="l"/>
            <a:r>
              <a:rPr sz="2800" b="1">
                <a:solidFill>
                  <a:srgbClr val="15263F"/>
                </a:solidFill>
                <a:latin typeface="Helvetica Neue"/>
              </a:rPr>
              <a:t>GPT-4</a:t>
            </a:r>
          </a:p>
        </p:txBody>
      </p:sp>
      <p:pic>
        <p:nvPicPr>
          <p:cNvPr id="9" name="Picture 8" descr="gpt4.png"/>
          <p:cNvPicPr>
            <a:picLocks noChangeAspect="1"/>
          </p:cNvPicPr>
          <p:nvPr/>
        </p:nvPicPr>
        <p:blipFill>
          <a:blip r:embed="rId4"/>
          <a:stretch>
            <a:fillRect/>
          </a:stretch>
        </p:blipFill>
        <p:spPr>
          <a:xfrm>
            <a:off x="4617720" y="7010768"/>
            <a:ext cx="17922240" cy="974623"/>
          </a:xfrm>
          <a:prstGeom prst="rect">
            <a:avLst/>
          </a:prstGeom>
        </p:spPr>
      </p:pic>
      <p:sp>
        <p:nvSpPr>
          <p:cNvPr id="10" name="Rounded Rectangle 9"/>
          <p:cNvSpPr/>
          <p:nvPr/>
        </p:nvSpPr>
        <p:spPr>
          <a:xfrm>
            <a:off x="1463040" y="8778240"/>
            <a:ext cx="21460968" cy="17373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65960" y="9326880"/>
            <a:ext cx="2377440" cy="640080"/>
          </a:xfrm>
          <a:prstGeom prst="rect">
            <a:avLst/>
          </a:prstGeom>
          <a:noFill/>
        </p:spPr>
        <p:txBody>
          <a:bodyPr wrap="square" lIns="0" tIns="0" rIns="0" bIns="0">
            <a:spAutoFit/>
          </a:bodyPr>
          <a:lstStyle/>
          <a:p>
            <a:pPr algn="l"/>
            <a:r>
              <a:rPr sz="2800" b="1">
                <a:solidFill>
                  <a:srgbClr val="C08A2E"/>
                </a:solidFill>
                <a:latin typeface="Helvetica Neue"/>
              </a:rPr>
              <a:t>GPT-5</a:t>
            </a:r>
          </a:p>
        </p:txBody>
      </p:sp>
      <p:pic>
        <p:nvPicPr>
          <p:cNvPr id="12" name="Picture 11" descr="gpt5.png"/>
          <p:cNvPicPr>
            <a:picLocks noChangeAspect="1"/>
          </p:cNvPicPr>
          <p:nvPr/>
        </p:nvPicPr>
        <p:blipFill>
          <a:blip r:embed="rId5"/>
          <a:stretch>
            <a:fillRect/>
          </a:stretch>
        </p:blipFill>
        <p:spPr>
          <a:xfrm>
            <a:off x="4617720" y="9176710"/>
            <a:ext cx="17922240" cy="940420"/>
          </a:xfrm>
          <a:prstGeom prst="rect">
            <a:avLst/>
          </a:prstGeom>
        </p:spPr>
      </p:pic>
      <p:sp>
        <p:nvSpPr>
          <p:cNvPr id="13" name="Rectangle 12"/>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cümle, farklı bölünme: </a:t>
            </a:r>
            <a:r>
              <a:rPr sz="2400" b="1">
                <a:solidFill>
                  <a:srgbClr val="15263F"/>
                </a:solidFill>
                <a:latin typeface="Helvetica Neue"/>
              </a:rPr>
              <a:t>token sayısı modelden modele değişir.</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1) Tokenization</a:t>
            </a:r>
          </a:p>
        </p:txBody>
      </p:sp>
      <p:pic>
        <p:nvPicPr>
          <p:cNvPr id="3" name="!!adim" descr="tok2.png"/>
          <p:cNvPicPr>
            <a:picLocks noChangeAspect="1"/>
          </p:cNvPicPr>
          <p:nvPr/>
        </p:nvPicPr>
        <p:blipFill>
          <a:blip r:embed="rId3"/>
          <a:stretch>
            <a:fillRect/>
          </a:stretch>
        </p:blipFill>
        <p:spPr>
          <a:xfrm>
            <a:off x="4279392" y="2377440"/>
            <a:ext cx="7694767" cy="1488095"/>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Elimizde tek bir cümle var. </a:t>
            </a:r>
            <a:r>
              <a:rPr sz="2400" b="1">
                <a:solidFill>
                  <a:srgbClr val="15263F"/>
                </a:solidFill>
                <a:latin typeface="Helvetica Neue"/>
              </a:rPr>
              <a:t>Şimdi onu parçalayacağız.</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1) Tokenization</a:t>
            </a:r>
          </a:p>
        </p:txBody>
      </p:sp>
      <p:pic>
        <p:nvPicPr>
          <p:cNvPr id="3" name="!!adim" descr="tok3.png"/>
          <p:cNvPicPr>
            <a:picLocks noChangeAspect="1"/>
          </p:cNvPicPr>
          <p:nvPr/>
        </p:nvPicPr>
        <p:blipFill>
          <a:blip r:embed="rId3"/>
          <a:stretch>
            <a:fillRect/>
          </a:stretch>
        </p:blipFill>
        <p:spPr>
          <a:xfrm>
            <a:off x="4279392" y="2377440"/>
            <a:ext cx="9258209" cy="227923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Token her zaman bir kelime değildir — </a:t>
            </a:r>
            <a:r>
              <a:rPr sz="2400" b="1">
                <a:solidFill>
                  <a:srgbClr val="15263F"/>
                </a:solidFill>
                <a:latin typeface="Helvetica Neue"/>
              </a:rPr>
              <a:t>parçadır.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2) Token Embeddings</a:t>
            </a:r>
          </a:p>
        </p:txBody>
      </p:sp>
      <p:pic>
        <p:nvPicPr>
          <p:cNvPr id="3" name="!!adim" descr="emb1.png"/>
          <p:cNvPicPr>
            <a:picLocks noChangeAspect="1"/>
          </p:cNvPicPr>
          <p:nvPr/>
        </p:nvPicPr>
        <p:blipFill>
          <a:blip r:embed="rId3"/>
          <a:stretch>
            <a:fillRect/>
          </a:stretch>
        </p:blipFill>
        <p:spPr>
          <a:xfrm>
            <a:off x="4279392" y="2377440"/>
            <a:ext cx="9267627" cy="3023281"/>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token sözlükte bir numaraya karşılık gelir. </a:t>
            </a:r>
            <a:r>
              <a:rPr sz="2400" b="1">
                <a:solidFill>
                  <a:srgbClr val="15263F"/>
                </a:solidFill>
                <a:latin typeface="Helvetica Neue"/>
              </a:rPr>
              <a:t>Ama numara anlam taşımaz.</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2) Token Embeddings</a:t>
            </a:r>
          </a:p>
        </p:txBody>
      </p:sp>
      <p:pic>
        <p:nvPicPr>
          <p:cNvPr id="3" name="!!adim" descr="emb2.png"/>
          <p:cNvPicPr>
            <a:picLocks noChangeAspect="1"/>
          </p:cNvPicPr>
          <p:nvPr/>
        </p:nvPicPr>
        <p:blipFill>
          <a:blip r:embed="rId3"/>
          <a:stretch>
            <a:fillRect/>
          </a:stretch>
        </p:blipFill>
        <p:spPr>
          <a:xfrm>
            <a:off x="4279392" y="2377440"/>
            <a:ext cx="13232740" cy="9145189"/>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Numara vektöre dönüşür: </a:t>
            </a:r>
            <a:r>
              <a:rPr sz="2400" b="1">
                <a:solidFill>
                  <a:srgbClr val="15263F"/>
                </a:solidFill>
                <a:latin typeface="Helvetica Neue"/>
              </a:rPr>
              <a:t>anlam artık bir sayı dizisinde.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2) Token Embeddings</a:t>
            </a:r>
          </a:p>
        </p:txBody>
      </p:sp>
      <p:pic>
        <p:nvPicPr>
          <p:cNvPr id="3" name="!!adim" descr="emb3.png"/>
          <p:cNvPicPr>
            <a:picLocks noChangeAspect="1"/>
          </p:cNvPicPr>
          <p:nvPr/>
        </p:nvPicPr>
        <p:blipFill>
          <a:blip r:embed="rId3"/>
          <a:stretch>
            <a:fillRect/>
          </a:stretch>
        </p:blipFill>
        <p:spPr>
          <a:xfrm>
            <a:off x="4279392" y="2377440"/>
            <a:ext cx="15747431" cy="824103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Matrisin iki boyutu var: </a:t>
            </a:r>
            <a:r>
              <a:rPr sz="2400" b="1">
                <a:solidFill>
                  <a:srgbClr val="15263F"/>
                </a:solidFill>
                <a:latin typeface="Helvetica Neue"/>
              </a:rPr>
              <a:t>kaç token ve her token kaç sayı.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2) Token Embeddings</a:t>
            </a:r>
          </a:p>
        </p:txBody>
      </p:sp>
      <p:pic>
        <p:nvPicPr>
          <p:cNvPr id="3" name="!!adim" descr="emb4.png"/>
          <p:cNvPicPr>
            <a:picLocks noChangeAspect="1"/>
          </p:cNvPicPr>
          <p:nvPr/>
        </p:nvPicPr>
        <p:blipFill>
          <a:blip r:embed="rId3"/>
          <a:stretch>
            <a:fillRect/>
          </a:stretch>
        </p:blipFill>
        <p:spPr>
          <a:xfrm>
            <a:off x="4279392" y="2377440"/>
            <a:ext cx="15851033" cy="883438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Bu rakamlar henüz öğrenilmiş değil: </a:t>
            </a:r>
            <a:r>
              <a:rPr sz="2400" b="1">
                <a:solidFill>
                  <a:srgbClr val="15263F"/>
                </a:solidFill>
                <a:latin typeface="Helvetica Neue"/>
              </a:rPr>
              <a:t>eğitim öncesi rastgele başlatılan ağırlıklar.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2) Token Embeddings</a:t>
            </a:r>
          </a:p>
        </p:txBody>
      </p:sp>
      <p:pic>
        <p:nvPicPr>
          <p:cNvPr id="3" name="!!adim" descr="emb5.png"/>
          <p:cNvPicPr>
            <a:picLocks noChangeAspect="1"/>
          </p:cNvPicPr>
          <p:nvPr/>
        </p:nvPicPr>
        <p:blipFill>
          <a:blip r:embed="rId3"/>
          <a:stretch>
            <a:fillRect/>
          </a:stretch>
        </p:blipFill>
        <p:spPr>
          <a:xfrm>
            <a:off x="4279392" y="2377440"/>
            <a:ext cx="15851033" cy="883438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tablo, eğitimden sonra: </a:t>
            </a:r>
            <a:r>
              <a:rPr sz="2400" b="1">
                <a:solidFill>
                  <a:srgbClr val="15263F"/>
                </a:solidFill>
                <a:latin typeface="Helvetica Neue"/>
              </a:rPr>
              <a:t>rastgele sayılar yerine oturdu.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3) Positional Encodings</a:t>
            </a:r>
          </a:p>
        </p:txBody>
      </p:sp>
      <p:pic>
        <p:nvPicPr>
          <p:cNvPr id="3" name="!!sahne" descr="pos1.png"/>
          <p:cNvPicPr>
            <a:picLocks noChangeAspect="1"/>
          </p:cNvPicPr>
          <p:nvPr/>
        </p:nvPicPr>
        <p:blipFill>
          <a:blip r:embed="rId3"/>
          <a:stretch>
            <a:fillRect/>
          </a:stretch>
        </p:blipFill>
        <p:spPr>
          <a:xfrm>
            <a:off x="4186443" y="2377440"/>
            <a:ext cx="16011144" cy="805266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boyutta ikinci bir matris: </a:t>
            </a:r>
            <a:r>
              <a:rPr sz="2400" b="1">
                <a:solidFill>
                  <a:srgbClr val="15263F"/>
                </a:solidFill>
                <a:latin typeface="Helvetica Neue"/>
              </a:rPr>
              <a:t>bu sefer kelime değil, konum.</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3) Positional Encodings</a:t>
            </a:r>
          </a:p>
        </p:txBody>
      </p:sp>
      <p:pic>
        <p:nvPicPr>
          <p:cNvPr id="3" name="!!sahne" descr="pos2.png"/>
          <p:cNvPicPr>
            <a:picLocks noChangeAspect="1"/>
          </p:cNvPicPr>
          <p:nvPr/>
        </p:nvPicPr>
        <p:blipFill>
          <a:blip r:embed="rId3"/>
          <a:stretch>
            <a:fillRect/>
          </a:stretch>
        </p:blipFill>
        <p:spPr>
          <a:xfrm>
            <a:off x="6244346" y="2377440"/>
            <a:ext cx="11895338" cy="7299198"/>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konuma sinüs ve kosinüsten </a:t>
            </a:r>
            <a:r>
              <a:rPr sz="2400" b="1">
                <a:solidFill>
                  <a:srgbClr val="15263F"/>
                </a:solidFill>
                <a:latin typeface="Helvetica Neue"/>
              </a:rPr>
              <a:t>benzersiz bir parmak izi.</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Embeddings  ·  Toplam</a:t>
            </a:r>
          </a:p>
        </p:txBody>
      </p:sp>
      <p:pic>
        <p:nvPicPr>
          <p:cNvPr id="3" name="!!sahne" descr="pos3.png"/>
          <p:cNvPicPr>
            <a:picLocks noChangeAspect="1"/>
          </p:cNvPicPr>
          <p:nvPr/>
        </p:nvPicPr>
        <p:blipFill>
          <a:blip r:embed="rId3"/>
          <a:stretch>
            <a:fillRect/>
          </a:stretch>
        </p:blipFill>
        <p:spPr>
          <a:xfrm>
            <a:off x="4186443" y="2377440"/>
            <a:ext cx="16011144" cy="8438815"/>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İki matris toplanır: </a:t>
            </a:r>
            <a:r>
              <a:rPr sz="2400" b="1">
                <a:solidFill>
                  <a:srgbClr val="15263F"/>
                </a:solidFill>
                <a:latin typeface="Helvetica Neue"/>
              </a:rPr>
              <a:t>her satır artık hem ne olduğunu hem nerede olduğunu taşır.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Attention</a:t>
            </a:r>
          </a:p>
        </p:txBody>
      </p:sp>
      <p:pic>
        <p:nvPicPr>
          <p:cNvPr id="3" name="!!sahne" descr="att0.png"/>
          <p:cNvPicPr>
            <a:picLocks noChangeAspect="1"/>
          </p:cNvPicPr>
          <p:nvPr/>
        </p:nvPicPr>
        <p:blipFill>
          <a:blip r:embed="rId3"/>
          <a:stretch>
            <a:fillRect/>
          </a:stretch>
        </p:blipFill>
        <p:spPr>
          <a:xfrm>
            <a:off x="4822180" y="2377440"/>
            <a:ext cx="14739671" cy="7336871"/>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Şimdiye kadar mavi kutunun altındaydık. </a:t>
            </a:r>
            <a:r>
              <a:rPr sz="2400" b="1">
                <a:solidFill>
                  <a:srgbClr val="15263F"/>
                </a:solidFill>
                <a:latin typeface="Helvetica Neue"/>
              </a:rPr>
              <a:t>Artık içine giriyoruz.</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a:t>
            </a:r>
          </a:p>
        </p:txBody>
      </p:sp>
      <p:pic>
        <p:nvPicPr>
          <p:cNvPr id="3" name="!!sema" descr="att_sema.png"/>
          <p:cNvPicPr>
            <a:picLocks noChangeAspect="1"/>
          </p:cNvPicPr>
          <p:nvPr/>
        </p:nvPicPr>
        <p:blipFill>
          <a:blip r:embed="rId3"/>
          <a:stretch>
            <a:fillRect/>
          </a:stretch>
        </p:blipFill>
        <p:spPr>
          <a:xfrm>
            <a:off x="8948352" y="2468880"/>
            <a:ext cx="6487327" cy="786384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Aşağıdan yukarı: kaynak, embedding, konum, </a:t>
            </a:r>
            <a:r>
              <a:rPr sz="2400" b="1">
                <a:solidFill>
                  <a:srgbClr val="15263F"/>
                </a:solidFill>
                <a:latin typeface="Helvetica Neue"/>
              </a:rPr>
              <a:t>sonra attention.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a:t>
            </a:r>
          </a:p>
        </p:txBody>
      </p:sp>
      <p:pic>
        <p:nvPicPr>
          <p:cNvPr id="3" name="!!sema" descr="att_sema.png"/>
          <p:cNvPicPr>
            <a:picLocks noChangeAspect="1"/>
          </p:cNvPicPr>
          <p:nvPr/>
        </p:nvPicPr>
        <p:blipFill>
          <a:blip r:embed="rId3"/>
          <a:stretch>
            <a:fillRect/>
          </a:stretch>
        </p:blipFill>
        <p:spPr>
          <a:xfrm rot="5400000">
            <a:off x="7894335" y="1556977"/>
            <a:ext cx="8595360" cy="10419165"/>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şema, yan çevrildi: </a:t>
            </a:r>
            <a:r>
              <a:rPr sz="2400" b="1">
                <a:solidFill>
                  <a:srgbClr val="15263F"/>
                </a:solidFill>
                <a:latin typeface="Helvetica Neue"/>
              </a:rPr>
              <a:t>artık soldan sağa bir akış.</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Key, Query, Value</a:t>
            </a:r>
          </a:p>
        </p:txBody>
      </p:sp>
      <p:pic>
        <p:nvPicPr>
          <p:cNvPr id="3" name="!!sahne" descr="att3.png"/>
          <p:cNvPicPr>
            <a:picLocks noChangeAspect="1"/>
          </p:cNvPicPr>
          <p:nvPr/>
        </p:nvPicPr>
        <p:blipFill>
          <a:blip r:embed="rId3"/>
          <a:stretch>
            <a:fillRect/>
          </a:stretch>
        </p:blipFill>
        <p:spPr>
          <a:xfrm>
            <a:off x="5200797" y="2377440"/>
            <a:ext cx="13982437"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matristen üç farklı çıktı: </a:t>
            </a:r>
            <a:r>
              <a:rPr sz="2400" b="1">
                <a:solidFill>
                  <a:srgbClr val="15263F"/>
                </a:solidFill>
                <a:latin typeface="Helvetica Neue"/>
              </a:rPr>
              <a:t>Key, Query, Value.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Aynı kelime, üç rol</a:t>
            </a:r>
          </a:p>
        </p:txBody>
      </p:sp>
      <p:sp>
        <p:nvSpPr>
          <p:cNvPr id="3" name="Rounded Rectangle 2"/>
          <p:cNvSpPr/>
          <p:nvPr/>
        </p:nvSpPr>
        <p:spPr>
          <a:xfrm>
            <a:off x="1280160" y="2103120"/>
            <a:ext cx="21826728" cy="123444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03120"/>
            <a:ext cx="21826728" cy="1234440"/>
          </a:xfrm>
          <a:prstGeom prst="rect">
            <a:avLst/>
          </a:prstGeom>
          <a:noFill/>
        </p:spPr>
        <p:txBody>
          <a:bodyPr wrap="square" lIns="0" rIns="0" tIns="0" bIns="0" anchor="ctr">
            <a:spAutoFit/>
          </a:bodyPr>
          <a:lstStyle/>
          <a:p>
            <a:pPr algn="ctr"/>
            <a:r>
              <a:rPr sz="3400" b="1">
                <a:solidFill>
                  <a:srgbClr val="15263F"/>
                </a:solidFill>
                <a:latin typeface="Helvetica Neue"/>
              </a:rPr>
              <a:t>“Çanta valize sığmadı, çünkü o çok büyüktü.”</a:t>
            </a:r>
          </a:p>
        </p:txBody>
      </p:sp>
      <p:sp>
        <p:nvSpPr>
          <p:cNvPr id="5" name="Rounded Rectangle 4"/>
          <p:cNvSpPr/>
          <p:nvPr/>
        </p:nvSpPr>
        <p:spPr>
          <a:xfrm>
            <a:off x="1280160" y="3749040"/>
            <a:ext cx="6903720" cy="6400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920240" y="4297680"/>
            <a:ext cx="1188720" cy="1188720"/>
          </a:xfrm>
          <a:prstGeom prst="ellipse">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20240" y="4544568"/>
            <a:ext cx="1188720" cy="731520"/>
          </a:xfrm>
          <a:prstGeom prst="rect">
            <a:avLst/>
          </a:prstGeom>
          <a:noFill/>
        </p:spPr>
        <p:txBody>
          <a:bodyPr wrap="square" lIns="0" rIns="0" tIns="0" bIns="0">
            <a:spAutoFit/>
          </a:bodyPr>
          <a:lstStyle/>
          <a:p>
            <a:pPr algn="ctr"/>
            <a:r>
              <a:rPr sz="3800" b="1">
                <a:solidFill>
                  <a:srgbClr val="FFFFFF"/>
                </a:solidFill>
                <a:latin typeface="Helvetica Neue"/>
              </a:rPr>
              <a:t>Q</a:t>
            </a:r>
          </a:p>
        </p:txBody>
      </p:sp>
      <p:sp>
        <p:nvSpPr>
          <p:cNvPr id="8" name="TextBox 7"/>
          <p:cNvSpPr txBox="1"/>
          <p:nvPr/>
        </p:nvSpPr>
        <p:spPr>
          <a:xfrm>
            <a:off x="3383280" y="4407408"/>
            <a:ext cx="4160520" cy="502920"/>
          </a:xfrm>
          <a:prstGeom prst="rect">
            <a:avLst/>
          </a:prstGeom>
          <a:noFill/>
        </p:spPr>
        <p:txBody>
          <a:bodyPr wrap="square" lIns="0" rIns="0" tIns="0" bIns="0">
            <a:spAutoFit/>
          </a:bodyPr>
          <a:lstStyle/>
          <a:p>
            <a:pPr algn="l"/>
            <a:r>
              <a:rPr sz="2100" b="1">
                <a:solidFill>
                  <a:srgbClr val="8A3B2F"/>
                </a:solidFill>
                <a:latin typeface="Helvetica Neue"/>
              </a:rPr>
              <a:t>SORAN ROL</a:t>
            </a:r>
          </a:p>
        </p:txBody>
      </p:sp>
      <p:sp>
        <p:nvSpPr>
          <p:cNvPr id="9" name="TextBox 8"/>
          <p:cNvSpPr txBox="1"/>
          <p:nvPr/>
        </p:nvSpPr>
        <p:spPr>
          <a:xfrm>
            <a:off x="3383280" y="4992624"/>
            <a:ext cx="4160520" cy="502920"/>
          </a:xfrm>
          <a:prstGeom prst="rect">
            <a:avLst/>
          </a:prstGeom>
          <a:noFill/>
        </p:spPr>
        <p:txBody>
          <a:bodyPr wrap="square" lIns="0" rIns="0" tIns="0" bIns="0">
            <a:spAutoFit/>
          </a:bodyPr>
          <a:lstStyle/>
          <a:p>
            <a:pPr algn="l"/>
            <a:r>
              <a:rPr sz="2000" b="0">
                <a:solidFill>
                  <a:srgbClr val="8A8A8A"/>
                </a:solidFill>
                <a:latin typeface="Helvetica Neue"/>
              </a:rPr>
              <a:t>Q = X · W</a:t>
            </a:r>
            <a:r>
              <a:rPr sz="1500" baseline="-25000">
                <a:solidFill>
                  <a:srgbClr val="8A8A8A"/>
                </a:solidFill>
                <a:latin typeface="Helvetica Neue"/>
              </a:rPr>
              <a:t>Q</a:t>
            </a:r>
          </a:p>
        </p:txBody>
      </p:sp>
      <p:sp>
        <p:nvSpPr>
          <p:cNvPr id="10" name="TextBox 9"/>
          <p:cNvSpPr txBox="1"/>
          <p:nvPr/>
        </p:nvSpPr>
        <p:spPr>
          <a:xfrm>
            <a:off x="1920240" y="6080760"/>
            <a:ext cx="5623560" cy="1097280"/>
          </a:xfrm>
          <a:prstGeom prst="rect">
            <a:avLst/>
          </a:prstGeom>
          <a:noFill/>
        </p:spPr>
        <p:txBody>
          <a:bodyPr wrap="square" lIns="0" rIns="0" tIns="0" bIns="0">
            <a:spAutoFit/>
          </a:bodyPr>
          <a:lstStyle/>
          <a:p>
            <a:pPr algn="l">
              <a:lnSpc>
                <a:spcPct val="120000"/>
              </a:lnSpc>
            </a:pPr>
            <a:r>
              <a:rPr sz="2600" b="1">
                <a:solidFill>
                  <a:srgbClr val="1A1A1A"/>
                </a:solidFill>
                <a:latin typeface="Helvetica Neue"/>
              </a:rPr>
              <a:t>“Ben ne arıyorum?”</a:t>
            </a:r>
          </a:p>
        </p:txBody>
      </p:sp>
      <p:sp>
        <p:nvSpPr>
          <p:cNvPr id="11" name="TextBox 10"/>
          <p:cNvSpPr txBox="1"/>
          <p:nvPr/>
        </p:nvSpPr>
        <p:spPr>
          <a:xfrm>
            <a:off x="1920240" y="7452360"/>
            <a:ext cx="5623560" cy="2377440"/>
          </a:xfrm>
          <a:prstGeom prst="rect">
            <a:avLst/>
          </a:prstGeom>
          <a:noFill/>
        </p:spPr>
        <p:txBody>
          <a:bodyPr wrap="square" lIns="0" rIns="0" tIns="0" bIns="0">
            <a:spAutoFit/>
          </a:bodyPr>
          <a:lstStyle/>
          <a:p>
            <a:pPr algn="l">
              <a:lnSpc>
                <a:spcPct val="135000"/>
              </a:lnSpc>
            </a:pPr>
            <a:r>
              <a:rPr sz="1900" b="0">
                <a:solidFill>
                  <a:srgbClr val="1A1A1A"/>
                </a:solidFill>
                <a:latin typeface="Helvetica Neue"/>
              </a:rPr>
              <a:t>Her token'ın kendi sorusu var. Cümlede tek bir soru yok — yedi kelime varsa yedi soru var, hepsi aynı anda.</a:t>
            </a:r>
          </a:p>
        </p:txBody>
      </p:sp>
      <p:sp>
        <p:nvSpPr>
          <p:cNvPr id="12" name="Rounded Rectangle 11"/>
          <p:cNvSpPr/>
          <p:nvPr/>
        </p:nvSpPr>
        <p:spPr>
          <a:xfrm>
            <a:off x="8741664" y="3749040"/>
            <a:ext cx="6903720" cy="6400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81744" y="4297680"/>
            <a:ext cx="1188720" cy="118872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81744" y="4544568"/>
            <a:ext cx="1188720" cy="731520"/>
          </a:xfrm>
          <a:prstGeom prst="rect">
            <a:avLst/>
          </a:prstGeom>
          <a:noFill/>
        </p:spPr>
        <p:txBody>
          <a:bodyPr wrap="square" lIns="0" rIns="0" tIns="0" bIns="0">
            <a:spAutoFit/>
          </a:bodyPr>
          <a:lstStyle/>
          <a:p>
            <a:pPr algn="ctr"/>
            <a:r>
              <a:rPr sz="3800" b="1">
                <a:solidFill>
                  <a:srgbClr val="FFFFFF"/>
                </a:solidFill>
                <a:latin typeface="Helvetica Neue"/>
              </a:rPr>
              <a:t>K</a:t>
            </a:r>
          </a:p>
        </p:txBody>
      </p:sp>
      <p:sp>
        <p:nvSpPr>
          <p:cNvPr id="15" name="TextBox 14"/>
          <p:cNvSpPr txBox="1"/>
          <p:nvPr/>
        </p:nvSpPr>
        <p:spPr>
          <a:xfrm>
            <a:off x="10844784" y="4407408"/>
            <a:ext cx="4160520" cy="502920"/>
          </a:xfrm>
          <a:prstGeom prst="rect">
            <a:avLst/>
          </a:prstGeom>
          <a:noFill/>
        </p:spPr>
        <p:txBody>
          <a:bodyPr wrap="square" lIns="0" rIns="0" tIns="0" bIns="0">
            <a:spAutoFit/>
          </a:bodyPr>
          <a:lstStyle/>
          <a:p>
            <a:pPr algn="l"/>
            <a:r>
              <a:rPr sz="2100" b="1">
                <a:solidFill>
                  <a:srgbClr val="15263F"/>
                </a:solidFill>
                <a:latin typeface="Helvetica Neue"/>
              </a:rPr>
              <a:t>TANITAN ROL</a:t>
            </a:r>
          </a:p>
        </p:txBody>
      </p:sp>
      <p:sp>
        <p:nvSpPr>
          <p:cNvPr id="16" name="TextBox 15"/>
          <p:cNvSpPr txBox="1"/>
          <p:nvPr/>
        </p:nvSpPr>
        <p:spPr>
          <a:xfrm>
            <a:off x="10844784" y="4992624"/>
            <a:ext cx="4160520" cy="502920"/>
          </a:xfrm>
          <a:prstGeom prst="rect">
            <a:avLst/>
          </a:prstGeom>
          <a:noFill/>
        </p:spPr>
        <p:txBody>
          <a:bodyPr wrap="square" lIns="0" rIns="0" tIns="0" bIns="0">
            <a:spAutoFit/>
          </a:bodyPr>
          <a:lstStyle/>
          <a:p>
            <a:pPr algn="l"/>
            <a:r>
              <a:rPr sz="2000" b="0">
                <a:solidFill>
                  <a:srgbClr val="8A8A8A"/>
                </a:solidFill>
                <a:latin typeface="Helvetica Neue"/>
              </a:rPr>
              <a:t>K = X · W</a:t>
            </a:r>
            <a:r>
              <a:rPr sz="1500" baseline="-25000">
                <a:solidFill>
                  <a:srgbClr val="8A8A8A"/>
                </a:solidFill>
                <a:latin typeface="Helvetica Neue"/>
              </a:rPr>
              <a:t>K</a:t>
            </a:r>
          </a:p>
        </p:txBody>
      </p:sp>
      <p:sp>
        <p:nvSpPr>
          <p:cNvPr id="17" name="TextBox 16"/>
          <p:cNvSpPr txBox="1"/>
          <p:nvPr/>
        </p:nvSpPr>
        <p:spPr>
          <a:xfrm>
            <a:off x="9381744" y="6080760"/>
            <a:ext cx="5623560" cy="1097280"/>
          </a:xfrm>
          <a:prstGeom prst="rect">
            <a:avLst/>
          </a:prstGeom>
          <a:noFill/>
        </p:spPr>
        <p:txBody>
          <a:bodyPr wrap="square" lIns="0" rIns="0" tIns="0" bIns="0">
            <a:spAutoFit/>
          </a:bodyPr>
          <a:lstStyle/>
          <a:p>
            <a:pPr algn="l">
              <a:lnSpc>
                <a:spcPct val="120000"/>
              </a:lnSpc>
            </a:pPr>
            <a:r>
              <a:rPr sz="2600" b="1">
                <a:solidFill>
                  <a:srgbClr val="1A1A1A"/>
                </a:solidFill>
                <a:latin typeface="Helvetica Neue"/>
              </a:rPr>
              <a:t>“Ben ne diye aranırım?”</a:t>
            </a:r>
          </a:p>
        </p:txBody>
      </p:sp>
      <p:sp>
        <p:nvSpPr>
          <p:cNvPr id="18" name="TextBox 17"/>
          <p:cNvSpPr txBox="1"/>
          <p:nvPr/>
        </p:nvSpPr>
        <p:spPr>
          <a:xfrm>
            <a:off x="9381744" y="7452360"/>
            <a:ext cx="5623560" cy="2377440"/>
          </a:xfrm>
          <a:prstGeom prst="rect">
            <a:avLst/>
          </a:prstGeom>
          <a:noFill/>
        </p:spPr>
        <p:txBody>
          <a:bodyPr wrap="square" lIns="0" rIns="0" tIns="0" bIns="0">
            <a:spAutoFit/>
          </a:bodyPr>
          <a:lstStyle/>
          <a:p>
            <a:pPr algn="l">
              <a:lnSpc>
                <a:spcPct val="135000"/>
              </a:lnSpc>
            </a:pPr>
            <a:r>
              <a:rPr sz="1900" b="0">
                <a:solidFill>
                  <a:srgbClr val="1A1A1A"/>
                </a:solidFill>
                <a:latin typeface="Helvetica Neue"/>
              </a:rPr>
              <a:t>Her token kendini tanıtan bir etiket üretiyor. Eşleşme bu etiketler üzerinden oluyor.</a:t>
            </a:r>
          </a:p>
        </p:txBody>
      </p:sp>
      <p:sp>
        <p:nvSpPr>
          <p:cNvPr id="19" name="Rounded Rectangle 18"/>
          <p:cNvSpPr/>
          <p:nvPr/>
        </p:nvSpPr>
        <p:spPr>
          <a:xfrm>
            <a:off x="16203168" y="3749040"/>
            <a:ext cx="6903720" cy="64008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6843248" y="4297680"/>
            <a:ext cx="1188720" cy="1188720"/>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843248" y="4544568"/>
            <a:ext cx="1188720" cy="731520"/>
          </a:xfrm>
          <a:prstGeom prst="rect">
            <a:avLst/>
          </a:prstGeom>
          <a:noFill/>
        </p:spPr>
        <p:txBody>
          <a:bodyPr wrap="square" lIns="0" rIns="0" tIns="0" bIns="0">
            <a:spAutoFit/>
          </a:bodyPr>
          <a:lstStyle/>
          <a:p>
            <a:pPr algn="ctr"/>
            <a:r>
              <a:rPr sz="3800" b="1">
                <a:solidFill>
                  <a:srgbClr val="FFFFFF"/>
                </a:solidFill>
                <a:latin typeface="Helvetica Neue"/>
              </a:rPr>
              <a:t>V</a:t>
            </a:r>
          </a:p>
        </p:txBody>
      </p:sp>
      <p:sp>
        <p:nvSpPr>
          <p:cNvPr id="22" name="TextBox 21"/>
          <p:cNvSpPr txBox="1"/>
          <p:nvPr/>
        </p:nvSpPr>
        <p:spPr>
          <a:xfrm>
            <a:off x="18306288" y="4407408"/>
            <a:ext cx="4160520" cy="502920"/>
          </a:xfrm>
          <a:prstGeom prst="rect">
            <a:avLst/>
          </a:prstGeom>
          <a:noFill/>
        </p:spPr>
        <p:txBody>
          <a:bodyPr wrap="square" lIns="0" rIns="0" tIns="0" bIns="0">
            <a:spAutoFit/>
          </a:bodyPr>
          <a:lstStyle/>
          <a:p>
            <a:pPr algn="l"/>
            <a:r>
              <a:rPr sz="2100" b="1">
                <a:solidFill>
                  <a:srgbClr val="C08A2E"/>
                </a:solidFill>
                <a:latin typeface="Helvetica Neue"/>
              </a:rPr>
              <a:t>TAŞIYAN ROL</a:t>
            </a:r>
          </a:p>
        </p:txBody>
      </p:sp>
      <p:sp>
        <p:nvSpPr>
          <p:cNvPr id="23" name="TextBox 22"/>
          <p:cNvSpPr txBox="1"/>
          <p:nvPr/>
        </p:nvSpPr>
        <p:spPr>
          <a:xfrm>
            <a:off x="18306288" y="4992624"/>
            <a:ext cx="4160520" cy="502920"/>
          </a:xfrm>
          <a:prstGeom prst="rect">
            <a:avLst/>
          </a:prstGeom>
          <a:noFill/>
        </p:spPr>
        <p:txBody>
          <a:bodyPr wrap="square" lIns="0" rIns="0" tIns="0" bIns="0">
            <a:spAutoFit/>
          </a:bodyPr>
          <a:lstStyle/>
          <a:p>
            <a:pPr algn="l"/>
            <a:r>
              <a:rPr sz="2000" b="0">
                <a:solidFill>
                  <a:srgbClr val="8A8A8A"/>
                </a:solidFill>
                <a:latin typeface="Helvetica Neue"/>
              </a:rPr>
              <a:t>V = X · W</a:t>
            </a:r>
            <a:r>
              <a:rPr sz="1500" baseline="-25000">
                <a:solidFill>
                  <a:srgbClr val="8A8A8A"/>
                </a:solidFill>
                <a:latin typeface="Helvetica Neue"/>
              </a:rPr>
              <a:t>V</a:t>
            </a:r>
          </a:p>
        </p:txBody>
      </p:sp>
      <p:sp>
        <p:nvSpPr>
          <p:cNvPr id="24" name="TextBox 23"/>
          <p:cNvSpPr txBox="1"/>
          <p:nvPr/>
        </p:nvSpPr>
        <p:spPr>
          <a:xfrm>
            <a:off x="16843248" y="6080760"/>
            <a:ext cx="5623560" cy="1097280"/>
          </a:xfrm>
          <a:prstGeom prst="rect">
            <a:avLst/>
          </a:prstGeom>
          <a:noFill/>
        </p:spPr>
        <p:txBody>
          <a:bodyPr wrap="square" lIns="0" rIns="0" tIns="0" bIns="0">
            <a:spAutoFit/>
          </a:bodyPr>
          <a:lstStyle/>
          <a:p>
            <a:pPr algn="l">
              <a:lnSpc>
                <a:spcPct val="120000"/>
              </a:lnSpc>
            </a:pPr>
            <a:r>
              <a:rPr sz="2600" b="1">
                <a:solidFill>
                  <a:srgbClr val="1A1A1A"/>
                </a:solidFill>
                <a:latin typeface="Helvetica Neue"/>
              </a:rPr>
              <a:t>“Bana ulaşan ne alır?”</a:t>
            </a:r>
          </a:p>
        </p:txBody>
      </p:sp>
      <p:sp>
        <p:nvSpPr>
          <p:cNvPr id="25" name="TextBox 24"/>
          <p:cNvSpPr txBox="1"/>
          <p:nvPr/>
        </p:nvSpPr>
        <p:spPr>
          <a:xfrm>
            <a:off x="16843248" y="7452360"/>
            <a:ext cx="5623560" cy="2377440"/>
          </a:xfrm>
          <a:prstGeom prst="rect">
            <a:avLst/>
          </a:prstGeom>
          <a:noFill/>
        </p:spPr>
        <p:txBody>
          <a:bodyPr wrap="square" lIns="0" rIns="0" tIns="0" bIns="0">
            <a:spAutoFit/>
          </a:bodyPr>
          <a:lstStyle/>
          <a:p>
            <a:pPr algn="l">
              <a:lnSpc>
                <a:spcPct val="135000"/>
              </a:lnSpc>
            </a:pPr>
            <a:r>
              <a:rPr sz="1900" b="0">
                <a:solidFill>
                  <a:srgbClr val="1A1A1A"/>
                </a:solidFill>
                <a:latin typeface="Helvetica Neue"/>
              </a:rPr>
              <a:t>O token'ın taşıdığı içerik. Eşleşmeden bağımsız, zaten hazır. Eşleşme sadece ne kadarının aktığını belirler.</a:t>
            </a:r>
          </a:p>
        </p:txBody>
      </p:sp>
      <p:sp>
        <p:nvSpPr>
          <p:cNvPr id="26" name="TextBox 25"/>
          <p:cNvSpPr txBox="1"/>
          <p:nvPr/>
        </p:nvSpPr>
        <p:spPr>
          <a:xfrm>
            <a:off x="1280160" y="10469880"/>
            <a:ext cx="21826728" cy="640080"/>
          </a:xfrm>
          <a:prstGeom prst="rect">
            <a:avLst/>
          </a:prstGeom>
          <a:noFill/>
        </p:spPr>
        <p:txBody>
          <a:bodyPr wrap="square" lIns="0" rIns="0" tIns="0" bIns="0">
            <a:spAutoFit/>
          </a:bodyPr>
          <a:lstStyle/>
          <a:p>
            <a:pPr algn="ctr"/>
            <a:r>
              <a:rPr sz="2200" b="0">
                <a:solidFill>
                  <a:srgbClr val="15263F"/>
                </a:solidFill>
                <a:latin typeface="Helvetica Neue"/>
              </a:rPr>
              <a:t>Üç matris de eğitimle öğrenilir. </a:t>
            </a:r>
            <a:r>
              <a:rPr sz="2200" b="1">
                <a:solidFill>
                  <a:srgbClr val="15263F"/>
                </a:solidFill>
                <a:latin typeface="Helvetica Neue"/>
              </a:rPr>
              <a:t>Girdi üçünde de aynı — değişen şey ağırlıklar.</a:t>
            </a:r>
          </a:p>
        </p:txBody>
      </p:sp>
      <p:sp>
        <p:nvSpPr>
          <p:cNvPr id="27" name="Rectangle 26"/>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011680" y="11521440"/>
            <a:ext cx="20363688" cy="128016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Aynı kelime üç işe koşuluyor: </a:t>
            </a:r>
            <a:r>
              <a:rPr sz="2400" b="1">
                <a:solidFill>
                  <a:srgbClr val="15263F"/>
                </a:solidFill>
                <a:latin typeface="Helvetica Neue"/>
              </a:rPr>
              <a:t>sormak, tanıtmak, taşımak.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rPr sz="3200">
                <a:solidFill>
                  <a:srgbClr val="1A1A1A"/>
                </a:solidFill>
                <a:latin typeface="Helvetica Neue"/>
              </a:rPr>
              <a:t>Self-Attention  ·  Cümledeki her kelimenin üçü de var</a:t>
            </a:r>
          </a:p>
        </p:txBody>
      </p:sp>
      <p:sp>
        <p:nvSpPr>
          <p:cNvPr id="3" name="Rectangle 2"/>
          <p:cNvSpPr/>
          <p:nvPr/>
        </p:nvSpPr>
        <p:spPr>
          <a:xfrm>
            <a:off x="1280160" y="2148840"/>
            <a:ext cx="2834640" cy="7772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00200" y="2148840"/>
            <a:ext cx="2194560" cy="777240"/>
          </a:xfrm>
          <a:prstGeom prst="rect">
            <a:avLst/>
          </a:prstGeom>
          <a:noFill/>
        </p:spPr>
        <p:txBody>
          <a:bodyPr wrap="square" lIns="0" rIns="0" tIns="0" bIns="0" anchor="ctr">
            <a:spAutoFit/>
          </a:bodyPr>
          <a:lstStyle/>
          <a:p>
            <a:pPr algn="l"/>
            <a:r>
              <a:rPr sz="2000" b="1">
                <a:solidFill>
                  <a:srgbClr val="FFFFFF"/>
                </a:solidFill>
                <a:latin typeface="Helvetica Neue"/>
              </a:rPr>
              <a:t>token</a:t>
            </a:r>
          </a:p>
        </p:txBody>
      </p:sp>
      <p:sp>
        <p:nvSpPr>
          <p:cNvPr id="5" name="Rectangle 4"/>
          <p:cNvSpPr/>
          <p:nvPr/>
        </p:nvSpPr>
        <p:spPr>
          <a:xfrm>
            <a:off x="4114800" y="2148840"/>
            <a:ext cx="6327648" cy="7772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2148840"/>
            <a:ext cx="5687568" cy="777240"/>
          </a:xfrm>
          <a:prstGeom prst="rect">
            <a:avLst/>
          </a:prstGeom>
          <a:noFill/>
        </p:spPr>
        <p:txBody>
          <a:bodyPr wrap="square" lIns="0" rIns="0" tIns="0" bIns="0" anchor="ctr">
            <a:spAutoFit/>
          </a:bodyPr>
          <a:lstStyle/>
          <a:p>
            <a:pPr algn="l"/>
            <a:r>
              <a:rPr sz="2000" b="1">
                <a:solidFill>
                  <a:srgbClr val="FFFFFF"/>
                </a:solidFill>
                <a:latin typeface="Helvetica Neue"/>
              </a:rPr>
              <a:t>Q — ne arıyor?</a:t>
            </a:r>
          </a:p>
        </p:txBody>
      </p:sp>
      <p:sp>
        <p:nvSpPr>
          <p:cNvPr id="7" name="Rectangle 6"/>
          <p:cNvSpPr/>
          <p:nvPr/>
        </p:nvSpPr>
        <p:spPr>
          <a:xfrm>
            <a:off x="10442448" y="2148840"/>
            <a:ext cx="6327648" cy="7772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762488" y="2148840"/>
            <a:ext cx="5687568" cy="777240"/>
          </a:xfrm>
          <a:prstGeom prst="rect">
            <a:avLst/>
          </a:prstGeom>
          <a:noFill/>
        </p:spPr>
        <p:txBody>
          <a:bodyPr wrap="square" lIns="0" rIns="0" tIns="0" bIns="0" anchor="ctr">
            <a:spAutoFit/>
          </a:bodyPr>
          <a:lstStyle/>
          <a:p>
            <a:pPr algn="l"/>
            <a:r>
              <a:rPr sz="2000" b="1">
                <a:solidFill>
                  <a:srgbClr val="FFFFFF"/>
                </a:solidFill>
                <a:latin typeface="Helvetica Neue"/>
              </a:rPr>
              <a:t>K — nasıl tanıtıyor?</a:t>
            </a:r>
          </a:p>
        </p:txBody>
      </p:sp>
      <p:sp>
        <p:nvSpPr>
          <p:cNvPr id="9" name="Rectangle 8"/>
          <p:cNvSpPr/>
          <p:nvPr/>
        </p:nvSpPr>
        <p:spPr>
          <a:xfrm>
            <a:off x="16770096" y="2148840"/>
            <a:ext cx="6336792" cy="777240"/>
          </a:xfrm>
          <a:prstGeom prst="rect">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7090136" y="2148840"/>
            <a:ext cx="5696712" cy="777240"/>
          </a:xfrm>
          <a:prstGeom prst="rect">
            <a:avLst/>
          </a:prstGeom>
          <a:noFill/>
        </p:spPr>
        <p:txBody>
          <a:bodyPr wrap="square" lIns="0" rIns="0" tIns="0" bIns="0" anchor="ctr">
            <a:spAutoFit/>
          </a:bodyPr>
          <a:lstStyle/>
          <a:p>
            <a:pPr algn="l"/>
            <a:r>
              <a:rPr sz="2000" b="1">
                <a:solidFill>
                  <a:srgbClr val="FFFFFF"/>
                </a:solidFill>
                <a:latin typeface="Helvetica Neue"/>
              </a:rPr>
              <a:t>V — ne taşıyor?</a:t>
            </a:r>
          </a:p>
        </p:txBody>
      </p:sp>
      <p:sp>
        <p:nvSpPr>
          <p:cNvPr id="11" name="Rectangle 10"/>
          <p:cNvSpPr/>
          <p:nvPr/>
        </p:nvSpPr>
        <p:spPr>
          <a:xfrm>
            <a:off x="1280160" y="2926080"/>
            <a:ext cx="2834640"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600200" y="292608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çanta</a:t>
            </a:r>
          </a:p>
        </p:txBody>
      </p:sp>
      <p:sp>
        <p:nvSpPr>
          <p:cNvPr id="13" name="Rectangle 12"/>
          <p:cNvSpPr/>
          <p:nvPr/>
        </p:nvSpPr>
        <p:spPr>
          <a:xfrm>
            <a:off x="4114800" y="292608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292608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beni ne niteliyor?</a:t>
            </a:r>
          </a:p>
        </p:txBody>
      </p:sp>
      <p:sp>
        <p:nvSpPr>
          <p:cNvPr id="15" name="Rectangle 14"/>
          <p:cNvSpPr/>
          <p:nvPr/>
        </p:nvSpPr>
        <p:spPr>
          <a:xfrm>
            <a:off x="10442448" y="292608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762488" y="292608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tekil somut nesne, özne</a:t>
            </a:r>
          </a:p>
        </p:txBody>
      </p:sp>
      <p:sp>
        <p:nvSpPr>
          <p:cNvPr id="17" name="Rectangle 16"/>
          <p:cNvSpPr/>
          <p:nvPr/>
        </p:nvSpPr>
        <p:spPr>
          <a:xfrm>
            <a:off x="16770096" y="2926080"/>
            <a:ext cx="6336792"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7090136" y="292608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hacimli, eşya alan kap</a:t>
            </a:r>
          </a:p>
        </p:txBody>
      </p:sp>
      <p:cxnSp>
        <p:nvCxnSpPr>
          <p:cNvPr id="19" name="Connector 18"/>
          <p:cNvCxnSpPr/>
          <p:nvPr/>
        </p:nvCxnSpPr>
        <p:spPr>
          <a:xfrm>
            <a:off x="1280160" y="379476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1280160" y="3794760"/>
            <a:ext cx="2834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00200" y="379476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valize</a:t>
            </a:r>
          </a:p>
        </p:txBody>
      </p:sp>
      <p:sp>
        <p:nvSpPr>
          <p:cNvPr id="22" name="Rectangle 21"/>
          <p:cNvSpPr/>
          <p:nvPr/>
        </p:nvSpPr>
        <p:spPr>
          <a:xfrm>
            <a:off x="4114800" y="379476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79476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ben neyin içindeyim?</a:t>
            </a:r>
          </a:p>
        </p:txBody>
      </p:sp>
      <p:sp>
        <p:nvSpPr>
          <p:cNvPr id="24" name="Rectangle 23"/>
          <p:cNvSpPr/>
          <p:nvPr/>
        </p:nvSpPr>
        <p:spPr>
          <a:xfrm>
            <a:off x="10442448" y="379476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762488" y="379476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tekil somut nesne, yer</a:t>
            </a:r>
          </a:p>
        </p:txBody>
      </p:sp>
      <p:sp>
        <p:nvSpPr>
          <p:cNvPr id="26" name="Rectangle 25"/>
          <p:cNvSpPr/>
          <p:nvPr/>
        </p:nvSpPr>
        <p:spPr>
          <a:xfrm>
            <a:off x="16770096" y="3794760"/>
            <a:ext cx="6336792"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7090136" y="379476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sert, hacmi belli kap</a:t>
            </a:r>
          </a:p>
        </p:txBody>
      </p:sp>
      <p:cxnSp>
        <p:nvCxnSpPr>
          <p:cNvPr id="28" name="Connector 27"/>
          <p:cNvCxnSpPr/>
          <p:nvPr/>
        </p:nvCxnSpPr>
        <p:spPr>
          <a:xfrm>
            <a:off x="1280160" y="466344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1280160" y="4663440"/>
            <a:ext cx="2834640"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600200" y="466344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sığmadı</a:t>
            </a:r>
          </a:p>
        </p:txBody>
      </p:sp>
      <p:sp>
        <p:nvSpPr>
          <p:cNvPr id="31" name="Rectangle 30"/>
          <p:cNvSpPr/>
          <p:nvPr/>
        </p:nvSpPr>
        <p:spPr>
          <a:xfrm>
            <a:off x="4114800" y="466344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434840" y="466344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öznem kim, nesnem ne?</a:t>
            </a:r>
          </a:p>
        </p:txBody>
      </p:sp>
      <p:sp>
        <p:nvSpPr>
          <p:cNvPr id="33" name="Rectangle 32"/>
          <p:cNvSpPr/>
          <p:nvPr/>
        </p:nvSpPr>
        <p:spPr>
          <a:xfrm>
            <a:off x="10442448" y="466344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762488" y="466344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olumsuz fiil, geçmiş</a:t>
            </a:r>
          </a:p>
        </p:txBody>
      </p:sp>
      <p:sp>
        <p:nvSpPr>
          <p:cNvPr id="35" name="Rectangle 34"/>
          <p:cNvSpPr/>
          <p:nvPr/>
        </p:nvSpPr>
        <p:spPr>
          <a:xfrm>
            <a:off x="16770096" y="4663440"/>
            <a:ext cx="6336792"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7090136" y="466344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boyut uyuşmazlığı</a:t>
            </a:r>
          </a:p>
        </p:txBody>
      </p:sp>
      <p:cxnSp>
        <p:nvCxnSpPr>
          <p:cNvPr id="37" name="Connector 36"/>
          <p:cNvCxnSpPr/>
          <p:nvPr/>
        </p:nvCxnSpPr>
        <p:spPr>
          <a:xfrm>
            <a:off x="1280160" y="553212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38" name="Rectangle 37"/>
          <p:cNvSpPr/>
          <p:nvPr/>
        </p:nvSpPr>
        <p:spPr>
          <a:xfrm>
            <a:off x="1280160" y="5532120"/>
            <a:ext cx="2834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600200" y="553212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çünkü</a:t>
            </a:r>
          </a:p>
        </p:txBody>
      </p:sp>
      <p:sp>
        <p:nvSpPr>
          <p:cNvPr id="40" name="Rectangle 39"/>
          <p:cNvSpPr/>
          <p:nvPr/>
        </p:nvSpPr>
        <p:spPr>
          <a:xfrm>
            <a:off x="4114800" y="553212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34840" y="553212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hangi iki olayı bağlıyorum?</a:t>
            </a:r>
          </a:p>
        </p:txBody>
      </p:sp>
      <p:sp>
        <p:nvSpPr>
          <p:cNvPr id="42" name="Rectangle 41"/>
          <p:cNvSpPr/>
          <p:nvPr/>
        </p:nvSpPr>
        <p:spPr>
          <a:xfrm>
            <a:off x="10442448" y="553212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762488" y="553212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bağlaç, neden</a:t>
            </a:r>
          </a:p>
        </p:txBody>
      </p:sp>
      <p:sp>
        <p:nvSpPr>
          <p:cNvPr id="44" name="Rectangle 43"/>
          <p:cNvSpPr/>
          <p:nvPr/>
        </p:nvSpPr>
        <p:spPr>
          <a:xfrm>
            <a:off x="16770096" y="5532120"/>
            <a:ext cx="6336792"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7090136" y="553212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nedensellik</a:t>
            </a:r>
          </a:p>
        </p:txBody>
      </p:sp>
      <p:cxnSp>
        <p:nvCxnSpPr>
          <p:cNvPr id="46" name="Connector 45"/>
          <p:cNvCxnSpPr/>
          <p:nvPr/>
        </p:nvCxnSpPr>
        <p:spPr>
          <a:xfrm>
            <a:off x="1280160" y="640080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47" name="Rectangle 46"/>
          <p:cNvSpPr/>
          <p:nvPr/>
        </p:nvSpPr>
        <p:spPr>
          <a:xfrm>
            <a:off x="1280160" y="6400800"/>
            <a:ext cx="2834640" cy="86868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600200" y="6400800"/>
            <a:ext cx="2194560" cy="868680"/>
          </a:xfrm>
          <a:prstGeom prst="rect">
            <a:avLst/>
          </a:prstGeom>
          <a:noFill/>
        </p:spPr>
        <p:txBody>
          <a:bodyPr wrap="square" lIns="0" rIns="0" tIns="0" bIns="0" anchor="ctr">
            <a:spAutoFit/>
          </a:bodyPr>
          <a:lstStyle/>
          <a:p>
            <a:pPr algn="l"/>
            <a:r>
              <a:rPr sz="2100" b="1">
                <a:solidFill>
                  <a:srgbClr val="8A3B2F"/>
                </a:solidFill>
                <a:latin typeface="Helvetica Neue"/>
              </a:rPr>
              <a:t>o</a:t>
            </a:r>
          </a:p>
        </p:txBody>
      </p:sp>
      <p:sp>
        <p:nvSpPr>
          <p:cNvPr id="49" name="Rectangle 48"/>
          <p:cNvSpPr/>
          <p:nvPr/>
        </p:nvSpPr>
        <p:spPr>
          <a:xfrm>
            <a:off x="4114800" y="6400800"/>
            <a:ext cx="6327648" cy="86868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34840" y="6400800"/>
            <a:ext cx="5687568" cy="868680"/>
          </a:xfrm>
          <a:prstGeom prst="rect">
            <a:avLst/>
          </a:prstGeom>
          <a:noFill/>
        </p:spPr>
        <p:txBody>
          <a:bodyPr wrap="square" lIns="0" rIns="0" tIns="0" bIns="0" anchor="ctr">
            <a:spAutoFit/>
          </a:bodyPr>
          <a:lstStyle/>
          <a:p>
            <a:pPr algn="l"/>
            <a:r>
              <a:rPr sz="1900" b="1">
                <a:solidFill>
                  <a:srgbClr val="1A1A1A"/>
                </a:solidFill>
                <a:latin typeface="Helvetica Neue"/>
              </a:rPr>
              <a:t>hangi nesneyi işaret ediyorum?</a:t>
            </a:r>
          </a:p>
        </p:txBody>
      </p:sp>
      <p:sp>
        <p:nvSpPr>
          <p:cNvPr id="51" name="Rectangle 50"/>
          <p:cNvSpPr/>
          <p:nvPr/>
        </p:nvSpPr>
        <p:spPr>
          <a:xfrm>
            <a:off x="10442448" y="6400800"/>
            <a:ext cx="6327648" cy="86868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0762488" y="6400800"/>
            <a:ext cx="5687568" cy="868680"/>
          </a:xfrm>
          <a:prstGeom prst="rect">
            <a:avLst/>
          </a:prstGeom>
          <a:noFill/>
        </p:spPr>
        <p:txBody>
          <a:bodyPr wrap="square" lIns="0" rIns="0" tIns="0" bIns="0" anchor="ctr">
            <a:spAutoFit/>
          </a:bodyPr>
          <a:lstStyle/>
          <a:p>
            <a:pPr algn="l"/>
            <a:r>
              <a:rPr sz="1900" b="1">
                <a:solidFill>
                  <a:srgbClr val="1A1A1A"/>
                </a:solidFill>
                <a:latin typeface="Helvetica Neue"/>
              </a:rPr>
              <a:t>zamir, tekil</a:t>
            </a:r>
          </a:p>
        </p:txBody>
      </p:sp>
      <p:sp>
        <p:nvSpPr>
          <p:cNvPr id="53" name="Rectangle 52"/>
          <p:cNvSpPr/>
          <p:nvPr/>
        </p:nvSpPr>
        <p:spPr>
          <a:xfrm>
            <a:off x="16770096" y="6400800"/>
            <a:ext cx="6336792" cy="868680"/>
          </a:xfrm>
          <a:prstGeom prst="rect">
            <a:avLst/>
          </a:prstGeom>
          <a:solidFill>
            <a:srgbClr val="F7E7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7090136" y="6400800"/>
            <a:ext cx="5696712" cy="868680"/>
          </a:xfrm>
          <a:prstGeom prst="rect">
            <a:avLst/>
          </a:prstGeom>
          <a:noFill/>
        </p:spPr>
        <p:txBody>
          <a:bodyPr wrap="square" lIns="0" rIns="0" tIns="0" bIns="0" anchor="ctr">
            <a:spAutoFit/>
          </a:bodyPr>
          <a:lstStyle/>
          <a:p>
            <a:pPr algn="l"/>
            <a:r>
              <a:rPr sz="1900" b="1">
                <a:solidFill>
                  <a:srgbClr val="1A1A1A"/>
                </a:solidFill>
                <a:latin typeface="Helvetica Neue"/>
              </a:rPr>
              <a:t>henüz boş</a:t>
            </a:r>
          </a:p>
        </p:txBody>
      </p:sp>
      <p:cxnSp>
        <p:nvCxnSpPr>
          <p:cNvPr id="55" name="Connector 54"/>
          <p:cNvCxnSpPr/>
          <p:nvPr/>
        </p:nvCxnSpPr>
        <p:spPr>
          <a:xfrm>
            <a:off x="1280160" y="726948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1280160" y="7269480"/>
            <a:ext cx="2834640"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600200" y="726948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çok</a:t>
            </a:r>
          </a:p>
        </p:txBody>
      </p:sp>
      <p:sp>
        <p:nvSpPr>
          <p:cNvPr id="58" name="Rectangle 57"/>
          <p:cNvSpPr/>
          <p:nvPr/>
        </p:nvSpPr>
        <p:spPr>
          <a:xfrm>
            <a:off x="4114800" y="726948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434840" y="726948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neyi derecelendiriyorum?</a:t>
            </a:r>
          </a:p>
        </p:txBody>
      </p:sp>
      <p:sp>
        <p:nvSpPr>
          <p:cNvPr id="60" name="Rectangle 59"/>
          <p:cNvSpPr/>
          <p:nvPr/>
        </p:nvSpPr>
        <p:spPr>
          <a:xfrm>
            <a:off x="10442448" y="7269480"/>
            <a:ext cx="6327648"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762488" y="726948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derece zarfı</a:t>
            </a:r>
          </a:p>
        </p:txBody>
      </p:sp>
      <p:sp>
        <p:nvSpPr>
          <p:cNvPr id="62" name="Rectangle 61"/>
          <p:cNvSpPr/>
          <p:nvPr/>
        </p:nvSpPr>
        <p:spPr>
          <a:xfrm>
            <a:off x="16770096" y="7269480"/>
            <a:ext cx="6336792" cy="8686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17090136" y="726948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yoğunluk</a:t>
            </a:r>
          </a:p>
        </p:txBody>
      </p:sp>
      <p:cxnSp>
        <p:nvCxnSpPr>
          <p:cNvPr id="64" name="Connector 63"/>
          <p:cNvCxnSpPr/>
          <p:nvPr/>
        </p:nvCxnSpPr>
        <p:spPr>
          <a:xfrm>
            <a:off x="1280160" y="813816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1280160" y="8138160"/>
            <a:ext cx="2834640"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1600200" y="8138160"/>
            <a:ext cx="2194560" cy="868680"/>
          </a:xfrm>
          <a:prstGeom prst="rect">
            <a:avLst/>
          </a:prstGeom>
          <a:noFill/>
        </p:spPr>
        <p:txBody>
          <a:bodyPr wrap="square" lIns="0" rIns="0" tIns="0" bIns="0" anchor="ctr">
            <a:spAutoFit/>
          </a:bodyPr>
          <a:lstStyle/>
          <a:p>
            <a:pPr algn="l"/>
            <a:r>
              <a:rPr sz="2100" b="1">
                <a:solidFill>
                  <a:srgbClr val="15263F"/>
                </a:solidFill>
                <a:latin typeface="Helvetica Neue"/>
              </a:rPr>
              <a:t>büyüktü</a:t>
            </a:r>
          </a:p>
        </p:txBody>
      </p:sp>
      <p:sp>
        <p:nvSpPr>
          <p:cNvPr id="67" name="Rectangle 66"/>
          <p:cNvSpPr/>
          <p:nvPr/>
        </p:nvSpPr>
        <p:spPr>
          <a:xfrm>
            <a:off x="4114800" y="813816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434840" y="813816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kimin sıfatıyım?</a:t>
            </a:r>
          </a:p>
        </p:txBody>
      </p:sp>
      <p:sp>
        <p:nvSpPr>
          <p:cNvPr id="69" name="Rectangle 68"/>
          <p:cNvSpPr/>
          <p:nvPr/>
        </p:nvSpPr>
        <p:spPr>
          <a:xfrm>
            <a:off x="10442448" y="8138160"/>
            <a:ext cx="6327648"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762488" y="8138160"/>
            <a:ext cx="5687568" cy="868680"/>
          </a:xfrm>
          <a:prstGeom prst="rect">
            <a:avLst/>
          </a:prstGeom>
          <a:noFill/>
        </p:spPr>
        <p:txBody>
          <a:bodyPr wrap="square" lIns="0" rIns="0" tIns="0" bIns="0" anchor="ctr">
            <a:spAutoFit/>
          </a:bodyPr>
          <a:lstStyle/>
          <a:p>
            <a:pPr algn="l"/>
            <a:r>
              <a:rPr sz="1900" b="0">
                <a:solidFill>
                  <a:srgbClr val="1A1A1A"/>
                </a:solidFill>
                <a:latin typeface="Helvetica Neue"/>
              </a:rPr>
              <a:t>boyut sıfatı</a:t>
            </a:r>
          </a:p>
        </p:txBody>
      </p:sp>
      <p:sp>
        <p:nvSpPr>
          <p:cNvPr id="71" name="Rectangle 70"/>
          <p:cNvSpPr/>
          <p:nvPr/>
        </p:nvSpPr>
        <p:spPr>
          <a:xfrm>
            <a:off x="16770096" y="8138160"/>
            <a:ext cx="6336792" cy="86868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7090136" y="8138160"/>
            <a:ext cx="5696712" cy="868680"/>
          </a:xfrm>
          <a:prstGeom prst="rect">
            <a:avLst/>
          </a:prstGeom>
          <a:noFill/>
        </p:spPr>
        <p:txBody>
          <a:bodyPr wrap="square" lIns="0" rIns="0" tIns="0" bIns="0" anchor="ctr">
            <a:spAutoFit/>
          </a:bodyPr>
          <a:lstStyle/>
          <a:p>
            <a:pPr algn="l"/>
            <a:r>
              <a:rPr sz="1900" b="0">
                <a:solidFill>
                  <a:srgbClr val="1A1A1A"/>
                </a:solidFill>
                <a:latin typeface="Helvetica Neue"/>
              </a:rPr>
              <a:t>büyüklük</a:t>
            </a:r>
          </a:p>
        </p:txBody>
      </p:sp>
      <p:cxnSp>
        <p:nvCxnSpPr>
          <p:cNvPr id="73" name="Connector 72"/>
          <p:cNvCxnSpPr/>
          <p:nvPr/>
        </p:nvCxnSpPr>
        <p:spPr>
          <a:xfrm>
            <a:off x="1280160" y="9006840"/>
            <a:ext cx="21826728"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1280160" y="9281160"/>
            <a:ext cx="21826728" cy="457200"/>
          </a:xfrm>
          <a:prstGeom prst="rect">
            <a:avLst/>
          </a:prstGeom>
          <a:noFill/>
        </p:spPr>
        <p:txBody>
          <a:bodyPr wrap="square" lIns="0" rIns="0" tIns="0" bIns="0">
            <a:spAutoFit/>
          </a:bodyPr>
          <a:lstStyle/>
          <a:p>
            <a:pPr algn="l"/>
            <a:r>
              <a:rPr sz="2000" b="0">
                <a:solidFill>
                  <a:srgbClr val="8A8A8A"/>
                </a:solidFill>
                <a:latin typeface="Helvetica Neue"/>
              </a:rPr>
              <a:t>“o” kelimesinin Query'si, cümledeki bütün Key'lerle tek tek çarpılınca:</a:t>
            </a:r>
          </a:p>
        </p:txBody>
      </p:sp>
      <p:sp>
        <p:nvSpPr>
          <p:cNvPr id="75" name="Rounded Rectangle 74"/>
          <p:cNvSpPr/>
          <p:nvPr/>
        </p:nvSpPr>
        <p:spPr>
          <a:xfrm>
            <a:off x="1280160" y="9829800"/>
            <a:ext cx="3931920" cy="658368"/>
          </a:xfrm>
          <a:prstGeom prst="roundRect">
            <a:avLst>
              <a:gd name="adj" fmla="val 30000"/>
            </a:avLst>
          </a:prstGeom>
          <a:solidFill>
            <a:srgbClr val="FFFFFF"/>
          </a:solidFill>
          <a:ln w="15875">
            <a:solidFill>
              <a:srgbClr val="8A3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80160" y="9829800"/>
            <a:ext cx="3931920" cy="658368"/>
          </a:xfrm>
          <a:prstGeom prst="rect">
            <a:avLst/>
          </a:prstGeom>
          <a:noFill/>
        </p:spPr>
        <p:txBody>
          <a:bodyPr wrap="square" lIns="0" rIns="0" tIns="0" bIns="0" anchor="ctr">
            <a:spAutoFit/>
          </a:bodyPr>
          <a:lstStyle/>
          <a:p>
            <a:pPr algn="ctr"/>
            <a:r>
              <a:rPr sz="2000" b="0">
                <a:solidFill>
                  <a:srgbClr val="8A3B2F"/>
                </a:solidFill>
                <a:latin typeface="Helvetica Neue"/>
              </a:rPr>
              <a:t>çanta  </a:t>
            </a:r>
            <a:r>
              <a:rPr sz="2000" b="1">
                <a:solidFill>
                  <a:srgbClr val="8A3B2F"/>
                </a:solidFill>
                <a:latin typeface="Helvetica Neue"/>
              </a:rPr>
              <a:t>0.62</a:t>
            </a:r>
          </a:p>
        </p:txBody>
      </p:sp>
      <p:sp>
        <p:nvSpPr>
          <p:cNvPr id="77" name="Rounded Rectangle 76"/>
          <p:cNvSpPr/>
          <p:nvPr/>
        </p:nvSpPr>
        <p:spPr>
          <a:xfrm>
            <a:off x="5779008" y="9829800"/>
            <a:ext cx="3931920" cy="658368"/>
          </a:xfrm>
          <a:prstGeom prst="roundRect">
            <a:avLst>
              <a:gd name="adj" fmla="val 30000"/>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5779008" y="9829800"/>
            <a:ext cx="3931920" cy="658368"/>
          </a:xfrm>
          <a:prstGeom prst="rect">
            <a:avLst/>
          </a:prstGeom>
          <a:noFill/>
        </p:spPr>
        <p:txBody>
          <a:bodyPr wrap="square" lIns="0" rIns="0" tIns="0" bIns="0" anchor="ctr">
            <a:spAutoFit/>
          </a:bodyPr>
          <a:lstStyle/>
          <a:p>
            <a:pPr algn="ctr"/>
            <a:r>
              <a:rPr sz="2000" b="0">
                <a:solidFill>
                  <a:srgbClr val="8A8A8A"/>
                </a:solidFill>
                <a:latin typeface="Helvetica Neue"/>
              </a:rPr>
              <a:t>valiz  </a:t>
            </a:r>
            <a:r>
              <a:rPr sz="2000" b="1">
                <a:solidFill>
                  <a:srgbClr val="8A8A8A"/>
                </a:solidFill>
                <a:latin typeface="Helvetica Neue"/>
              </a:rPr>
              <a:t>0.15</a:t>
            </a:r>
          </a:p>
        </p:txBody>
      </p:sp>
      <p:sp>
        <p:nvSpPr>
          <p:cNvPr id="79" name="Rounded Rectangle 78"/>
          <p:cNvSpPr/>
          <p:nvPr/>
        </p:nvSpPr>
        <p:spPr>
          <a:xfrm>
            <a:off x="10277856" y="9829800"/>
            <a:ext cx="3931920" cy="658368"/>
          </a:xfrm>
          <a:prstGeom prst="roundRect">
            <a:avLst>
              <a:gd name="adj" fmla="val 30000"/>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0277856" y="9829800"/>
            <a:ext cx="3931920" cy="658368"/>
          </a:xfrm>
          <a:prstGeom prst="rect">
            <a:avLst/>
          </a:prstGeom>
          <a:noFill/>
        </p:spPr>
        <p:txBody>
          <a:bodyPr wrap="square" lIns="0" rIns="0" tIns="0" bIns="0" anchor="ctr">
            <a:spAutoFit/>
          </a:bodyPr>
          <a:lstStyle/>
          <a:p>
            <a:pPr algn="ctr"/>
            <a:r>
              <a:rPr sz="2000" b="0">
                <a:solidFill>
                  <a:srgbClr val="8A8A8A"/>
                </a:solidFill>
                <a:latin typeface="Helvetica Neue"/>
              </a:rPr>
              <a:t>büyüktü  </a:t>
            </a:r>
            <a:r>
              <a:rPr sz="2000" b="1">
                <a:solidFill>
                  <a:srgbClr val="8A8A8A"/>
                </a:solidFill>
                <a:latin typeface="Helvetica Neue"/>
              </a:rPr>
              <a:t>0.09</a:t>
            </a:r>
          </a:p>
        </p:txBody>
      </p:sp>
      <p:sp>
        <p:nvSpPr>
          <p:cNvPr id="81" name="Rounded Rectangle 80"/>
          <p:cNvSpPr/>
          <p:nvPr/>
        </p:nvSpPr>
        <p:spPr>
          <a:xfrm>
            <a:off x="14776704" y="9829800"/>
            <a:ext cx="3931920" cy="658368"/>
          </a:xfrm>
          <a:prstGeom prst="roundRect">
            <a:avLst>
              <a:gd name="adj" fmla="val 30000"/>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4776704" y="9829800"/>
            <a:ext cx="3931920" cy="658368"/>
          </a:xfrm>
          <a:prstGeom prst="rect">
            <a:avLst/>
          </a:prstGeom>
          <a:noFill/>
        </p:spPr>
        <p:txBody>
          <a:bodyPr wrap="square" lIns="0" rIns="0" tIns="0" bIns="0" anchor="ctr">
            <a:spAutoFit/>
          </a:bodyPr>
          <a:lstStyle/>
          <a:p>
            <a:pPr algn="ctr"/>
            <a:r>
              <a:rPr sz="2000" b="0">
                <a:solidFill>
                  <a:srgbClr val="8A8A8A"/>
                </a:solidFill>
                <a:latin typeface="Helvetica Neue"/>
              </a:rPr>
              <a:t>sığmadı  </a:t>
            </a:r>
            <a:r>
              <a:rPr sz="2000" b="1">
                <a:solidFill>
                  <a:srgbClr val="8A8A8A"/>
                </a:solidFill>
                <a:latin typeface="Helvetica Neue"/>
              </a:rPr>
              <a:t>0.07</a:t>
            </a:r>
          </a:p>
        </p:txBody>
      </p:sp>
      <p:sp>
        <p:nvSpPr>
          <p:cNvPr id="83" name="Rounded Rectangle 82"/>
          <p:cNvSpPr/>
          <p:nvPr/>
        </p:nvSpPr>
        <p:spPr>
          <a:xfrm>
            <a:off x="19275552" y="9829800"/>
            <a:ext cx="3931920" cy="658368"/>
          </a:xfrm>
          <a:prstGeom prst="roundRect">
            <a:avLst>
              <a:gd name="adj" fmla="val 30000"/>
            </a:avLst>
          </a:prstGeom>
          <a:solidFill>
            <a:srgbClr val="FFFFFF"/>
          </a:solidFill>
          <a:ln w="15875">
            <a:solidFill>
              <a:srgbClr val="8A8A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9275552" y="9829800"/>
            <a:ext cx="3931920" cy="658368"/>
          </a:xfrm>
          <a:prstGeom prst="rect">
            <a:avLst/>
          </a:prstGeom>
          <a:noFill/>
        </p:spPr>
        <p:txBody>
          <a:bodyPr wrap="square" lIns="0" rIns="0" tIns="0" bIns="0" anchor="ctr">
            <a:spAutoFit/>
          </a:bodyPr>
          <a:lstStyle/>
          <a:p>
            <a:pPr algn="ctr"/>
            <a:r>
              <a:rPr sz="2000" b="0">
                <a:solidFill>
                  <a:srgbClr val="8A8A8A"/>
                </a:solidFill>
                <a:latin typeface="Helvetica Neue"/>
              </a:rPr>
              <a:t>diğerleri  </a:t>
            </a:r>
            <a:r>
              <a:rPr sz="2000" b="1">
                <a:solidFill>
                  <a:srgbClr val="8A8A8A"/>
                </a:solidFill>
                <a:latin typeface="Helvetica Neue"/>
              </a:rPr>
              <a:t>0.07</a:t>
            </a:r>
          </a:p>
        </p:txBody>
      </p:sp>
      <p:sp>
        <p:nvSpPr>
          <p:cNvPr id="85" name="Rounded Rectangle 84"/>
          <p:cNvSpPr/>
          <p:nvPr/>
        </p:nvSpPr>
        <p:spPr>
          <a:xfrm>
            <a:off x="1280160" y="10607040"/>
            <a:ext cx="21826728" cy="82296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280160" y="10607040"/>
            <a:ext cx="21826728" cy="822960"/>
          </a:xfrm>
          <a:prstGeom prst="rect">
            <a:avLst/>
          </a:prstGeom>
          <a:noFill/>
        </p:spPr>
        <p:txBody>
          <a:bodyPr wrap="square" lIns="0" rIns="0" tIns="0" bIns="0" anchor="ctr">
            <a:spAutoFit/>
          </a:bodyPr>
          <a:lstStyle/>
          <a:p>
            <a:pPr algn="ctr"/>
            <a:r>
              <a:rPr sz="2400" b="1">
                <a:solidFill>
                  <a:srgbClr val="15263F"/>
                </a:solidFill>
                <a:latin typeface="Helvetica Neue"/>
              </a:rPr>
              <a:t>yeni “o”  =  </a:t>
            </a:r>
            <a:r>
              <a:rPr sz="2400" b="0">
                <a:solidFill>
                  <a:srgbClr val="15263F"/>
                </a:solidFill>
                <a:latin typeface="Helvetica Neue"/>
              </a:rPr>
              <a:t>0.62·V(çanta) + 0.15·V(valiz) + 0.09·V(büyüktü) + …</a:t>
            </a:r>
          </a:p>
        </p:txBody>
      </p:sp>
      <p:sp>
        <p:nvSpPr>
          <p:cNvPr id="87" name="Rectangle 86"/>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2011680" y="11521440"/>
            <a:ext cx="20363688" cy="128016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Hiçbiri seçilmedi — </a:t>
            </a:r>
            <a:r>
              <a:rPr sz="2400" b="1">
                <a:solidFill>
                  <a:srgbClr val="15263F"/>
                </a:solidFill>
                <a:latin typeface="Helvetica Neue"/>
              </a:rPr>
              <a:t>hepsi ağırlığınca karıştı.</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Query ve Key</a:t>
            </a:r>
          </a:p>
        </p:txBody>
      </p:sp>
      <p:pic>
        <p:nvPicPr>
          <p:cNvPr id="3" name="!!sahne" descr="sa01.png"/>
          <p:cNvPicPr>
            <a:picLocks noChangeAspect="1"/>
          </p:cNvPicPr>
          <p:nvPr/>
        </p:nvPicPr>
        <p:blipFill>
          <a:blip r:embed="rId3"/>
          <a:stretch>
            <a:fillRect/>
          </a:stretch>
        </p:blipFill>
        <p:spPr>
          <a:xfrm>
            <a:off x="4186443" y="2377440"/>
            <a:ext cx="16011144" cy="57169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token için bir Query, </a:t>
            </a:r>
            <a:r>
              <a:rPr sz="2400" b="1">
                <a:solidFill>
                  <a:srgbClr val="15263F"/>
                </a:solidFill>
                <a:latin typeface="Helvetica Neue"/>
              </a:rPr>
              <a:t>her token için bir Key.</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Query × Keyᵀ</a:t>
            </a:r>
          </a:p>
        </p:txBody>
      </p:sp>
      <p:pic>
        <p:nvPicPr>
          <p:cNvPr id="3" name="!!sahne" descr="sa02.png"/>
          <p:cNvPicPr>
            <a:picLocks noChangeAspect="1"/>
          </p:cNvPicPr>
          <p:nvPr/>
        </p:nvPicPr>
        <p:blipFill>
          <a:blip r:embed="rId3"/>
          <a:stretch>
            <a:fillRect/>
          </a:stretch>
        </p:blipFill>
        <p:spPr>
          <a:xfrm>
            <a:off x="4186443" y="2377440"/>
            <a:ext cx="16011144" cy="582994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Query matrisi, Key matrisinin </a:t>
            </a:r>
            <a:r>
              <a:rPr sz="2400" b="1">
                <a:solidFill>
                  <a:srgbClr val="15263F"/>
                </a:solidFill>
                <a:latin typeface="Helvetica Neue"/>
              </a:rPr>
              <a:t>devriğiyle çarpılır.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Dot Product</a:t>
            </a:r>
          </a:p>
        </p:txBody>
      </p:sp>
      <p:pic>
        <p:nvPicPr>
          <p:cNvPr id="3" name="!!sahne" descr="sa03.png"/>
          <p:cNvPicPr>
            <a:picLocks noChangeAspect="1"/>
          </p:cNvPicPr>
          <p:nvPr/>
        </p:nvPicPr>
        <p:blipFill>
          <a:blip r:embed="rId3"/>
          <a:stretch>
            <a:fillRect/>
          </a:stretch>
        </p:blipFill>
        <p:spPr>
          <a:xfrm>
            <a:off x="5536111" y="2377440"/>
            <a:ext cx="13311809"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Sonuç kare bir matris: </a:t>
            </a:r>
            <a:r>
              <a:rPr sz="2400" b="1">
                <a:solidFill>
                  <a:srgbClr val="15263F"/>
                </a:solidFill>
                <a:latin typeface="Helvetica Neue"/>
              </a:rPr>
              <a:t>sequence length × sequence length.</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Scaled Dot Product</a:t>
            </a:r>
          </a:p>
        </p:txBody>
      </p:sp>
      <p:pic>
        <p:nvPicPr>
          <p:cNvPr id="3" name="!!sahne" descr="sa04.png"/>
          <p:cNvPicPr>
            <a:picLocks noChangeAspect="1"/>
          </p:cNvPicPr>
          <p:nvPr/>
        </p:nvPicPr>
        <p:blipFill>
          <a:blip r:embed="rId3"/>
          <a:stretch>
            <a:fillRect/>
          </a:stretch>
        </p:blipFill>
        <p:spPr>
          <a:xfrm>
            <a:off x="4186443" y="2377440"/>
            <a:ext cx="16011144" cy="631027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Head size'ın kareköküne bölünür, </a:t>
            </a:r>
            <a:r>
              <a:rPr sz="2400" b="1">
                <a:solidFill>
                  <a:srgbClr val="15263F"/>
                </a:solidFill>
                <a:latin typeface="Helvetica Neue"/>
              </a:rPr>
              <a:t>sonra softmax uygulanır.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Attention Weights</a:t>
            </a:r>
          </a:p>
        </p:txBody>
      </p:sp>
      <p:pic>
        <p:nvPicPr>
          <p:cNvPr id="3" name="!!sahne" descr="sa05.png"/>
          <p:cNvPicPr>
            <a:picLocks noChangeAspect="1"/>
          </p:cNvPicPr>
          <p:nvPr/>
        </p:nvPicPr>
        <p:blipFill>
          <a:blip r:embed="rId3"/>
          <a:stretch>
            <a:fillRect/>
          </a:stretch>
        </p:blipFill>
        <p:spPr>
          <a:xfrm>
            <a:off x="6136035" y="2377440"/>
            <a:ext cx="12111960" cy="8382305"/>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satır 1'e toplanır: </a:t>
            </a:r>
            <a:r>
              <a:rPr sz="2400" b="1">
                <a:solidFill>
                  <a:srgbClr val="15263F"/>
                </a:solidFill>
                <a:latin typeface="Helvetica Neue"/>
              </a:rPr>
              <a:t>o token'ın dikkat dağılımı.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 Value</a:t>
            </a:r>
          </a:p>
        </p:txBody>
      </p:sp>
      <p:pic>
        <p:nvPicPr>
          <p:cNvPr id="3" name="!!sahne" descr="sa06.png"/>
          <p:cNvPicPr>
            <a:picLocks noChangeAspect="1"/>
          </p:cNvPicPr>
          <p:nvPr/>
        </p:nvPicPr>
        <p:blipFill>
          <a:blip r:embed="rId3"/>
          <a:stretch>
            <a:fillRect/>
          </a:stretch>
        </p:blipFill>
        <p:spPr>
          <a:xfrm>
            <a:off x="4186443" y="2377440"/>
            <a:ext cx="16011144" cy="7525238"/>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Ağırlıklar Value matrisiyle çarpılır.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Context Vector</a:t>
            </a:r>
          </a:p>
        </p:txBody>
      </p:sp>
      <p:pic>
        <p:nvPicPr>
          <p:cNvPr id="3" name="!!sahne" descr="sa07.png"/>
          <p:cNvPicPr>
            <a:picLocks noChangeAspect="1"/>
          </p:cNvPicPr>
          <p:nvPr/>
        </p:nvPicPr>
        <p:blipFill>
          <a:blip r:embed="rId3"/>
          <a:stretch>
            <a:fillRect/>
          </a:stretch>
        </p:blipFill>
        <p:spPr>
          <a:xfrm>
            <a:off x="5825231" y="2377440"/>
            <a:ext cx="12733569" cy="839172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Çıktı: her token için </a:t>
            </a:r>
            <a:r>
              <a:rPr sz="2400" b="1">
                <a:solidFill>
                  <a:srgbClr val="15263F"/>
                </a:solidFill>
                <a:latin typeface="Helvetica Neue"/>
              </a:rPr>
              <a:t>bağlamla zenginleştirilmiş yeni bir vektör.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Neler yaptık?</a:t>
            </a:r>
          </a:p>
        </p:txBody>
      </p:sp>
      <p:pic>
        <p:nvPicPr>
          <p:cNvPr id="3" name="!!sahne" descr="sa08.png"/>
          <p:cNvPicPr>
            <a:picLocks noChangeAspect="1"/>
          </p:cNvPicPr>
          <p:nvPr/>
        </p:nvPicPr>
        <p:blipFill>
          <a:blip r:embed="rId3"/>
          <a:stretch>
            <a:fillRect/>
          </a:stretch>
        </p:blipFill>
        <p:spPr>
          <a:xfrm>
            <a:off x="6941302" y="2377440"/>
            <a:ext cx="10501427" cy="4388937"/>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Özet  1/3</a:t>
            </a:r>
          </a:p>
        </p:txBody>
      </p:sp>
      <p:pic>
        <p:nvPicPr>
          <p:cNvPr id="3" name="!!sahne" descr="sa09.png"/>
          <p:cNvPicPr>
            <a:picLocks noChangeAspect="1"/>
          </p:cNvPicPr>
          <p:nvPr/>
        </p:nvPicPr>
        <p:blipFill>
          <a:blip r:embed="rId3"/>
          <a:stretch>
            <a:fillRect/>
          </a:stretch>
        </p:blipFill>
        <p:spPr>
          <a:xfrm>
            <a:off x="5566227" y="2377440"/>
            <a:ext cx="13251576" cy="8749619"/>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Embeddings'ten üç matris: </a:t>
            </a:r>
            <a:r>
              <a:rPr sz="2400" b="1">
                <a:solidFill>
                  <a:srgbClr val="15263F"/>
                </a:solidFill>
                <a:latin typeface="Helvetica Neue"/>
              </a:rPr>
              <a:t>Key, Query, Value.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Özet  2/3</a:t>
            </a:r>
          </a:p>
        </p:txBody>
      </p:sp>
      <p:pic>
        <p:nvPicPr>
          <p:cNvPr id="3" name="!!sahne" descr="sa10.png"/>
          <p:cNvPicPr>
            <a:picLocks noChangeAspect="1"/>
          </p:cNvPicPr>
          <p:nvPr/>
        </p:nvPicPr>
        <p:blipFill>
          <a:blip r:embed="rId3"/>
          <a:stretch>
            <a:fillRect/>
          </a:stretch>
        </p:blipFill>
        <p:spPr>
          <a:xfrm>
            <a:off x="5236586" y="2377440"/>
            <a:ext cx="13910859" cy="647038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Key ve Query'den </a:t>
            </a:r>
            <a:r>
              <a:rPr sz="2400" b="1">
                <a:solidFill>
                  <a:srgbClr val="15263F"/>
                </a:solidFill>
                <a:latin typeface="Helvetica Neue"/>
              </a:rPr>
              <a:t>Scaled Dot Product.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Self-Attention  ·  Özet  3/3</a:t>
            </a:r>
          </a:p>
        </p:txBody>
      </p:sp>
      <p:pic>
        <p:nvPicPr>
          <p:cNvPr id="3" name="!!sahne" descr="sa11.png"/>
          <p:cNvPicPr>
            <a:picLocks noChangeAspect="1"/>
          </p:cNvPicPr>
          <p:nvPr/>
        </p:nvPicPr>
        <p:blipFill>
          <a:blip r:embed="rId3"/>
          <a:stretch>
            <a:fillRect/>
          </a:stretch>
        </p:blipFill>
        <p:spPr>
          <a:xfrm>
            <a:off x="4186443" y="2377440"/>
            <a:ext cx="16011144" cy="6687007"/>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Value ile çarpım: </a:t>
            </a:r>
            <a:r>
              <a:rPr sz="2400" b="1">
                <a:solidFill>
                  <a:srgbClr val="15263F"/>
                </a:solidFill>
                <a:latin typeface="Helvetica Neue"/>
              </a:rPr>
              <a:t>Context Vector.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Peki ya Multi-Head Attention?</a:t>
            </a:r>
          </a:p>
        </p:txBody>
      </p:sp>
      <p:pic>
        <p:nvPicPr>
          <p:cNvPr id="3" name="!!sahne" descr="sa12.png"/>
          <p:cNvPicPr>
            <a:picLocks noChangeAspect="1"/>
          </p:cNvPicPr>
          <p:nvPr/>
        </p:nvPicPr>
        <p:blipFill>
          <a:blip r:embed="rId3"/>
          <a:stretch>
            <a:fillRect/>
          </a:stretch>
        </p:blipFill>
        <p:spPr>
          <a:xfrm>
            <a:off x="4186443" y="2377440"/>
            <a:ext cx="16011144" cy="74028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Single Head Attention</a:t>
            </a:r>
          </a:p>
        </p:txBody>
      </p:sp>
      <p:pic>
        <p:nvPicPr>
          <p:cNvPr id="3" name="!!sahne" descr="mh01.png"/>
          <p:cNvPicPr>
            <a:picLocks noChangeAspect="1"/>
          </p:cNvPicPr>
          <p:nvPr/>
        </p:nvPicPr>
        <p:blipFill>
          <a:blip r:embed="rId3"/>
          <a:stretch>
            <a:fillRect/>
          </a:stretch>
        </p:blipFill>
        <p:spPr>
          <a:xfrm>
            <a:off x="4186443" y="3118927"/>
            <a:ext cx="16011144" cy="747814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Şimdiye kadar anlattığımız: tek bir attention başlığı.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a:t>
            </a:r>
          </a:p>
        </p:txBody>
      </p:sp>
      <p:pic>
        <p:nvPicPr>
          <p:cNvPr id="3" name="!!sahne" descr="mh02.png"/>
          <p:cNvPicPr>
            <a:picLocks noChangeAspect="1"/>
          </p:cNvPicPr>
          <p:nvPr/>
        </p:nvPicPr>
        <p:blipFill>
          <a:blip r:embed="rId3"/>
          <a:stretch>
            <a:fillRect/>
          </a:stretch>
        </p:blipFill>
        <p:spPr>
          <a:xfrm>
            <a:off x="8476488" y="3674608"/>
            <a:ext cx="7431054" cy="636678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Tek bir Key matrisi vardı…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a:t>
            </a:r>
          </a:p>
        </p:txBody>
      </p:sp>
      <p:pic>
        <p:nvPicPr>
          <p:cNvPr id="3" name="!!sahne" descr="mh03.png"/>
          <p:cNvPicPr>
            <a:picLocks noChangeAspect="1"/>
          </p:cNvPicPr>
          <p:nvPr/>
        </p:nvPicPr>
        <p:blipFill>
          <a:blip r:embed="rId3"/>
          <a:stretch>
            <a:fillRect/>
          </a:stretch>
        </p:blipFill>
        <p:spPr>
          <a:xfrm>
            <a:off x="4186443" y="3523915"/>
            <a:ext cx="16011144" cy="6668171"/>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…artık birden fazla Key matrisi var.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a:t>
            </a:r>
          </a:p>
        </p:txBody>
      </p:sp>
      <p:pic>
        <p:nvPicPr>
          <p:cNvPr id="3" name="!!sahne" descr="mh04.png"/>
          <p:cNvPicPr>
            <a:picLocks noChangeAspect="1"/>
          </p:cNvPicPr>
          <p:nvPr/>
        </p:nvPicPr>
        <p:blipFill>
          <a:blip r:embed="rId3"/>
          <a:stretch>
            <a:fillRect/>
          </a:stretch>
        </p:blipFill>
        <p:spPr>
          <a:xfrm>
            <a:off x="4186443" y="3095381"/>
            <a:ext cx="16011144" cy="7525238"/>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başlık kendi Key, Query ve Value'sunu üretir.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  ·  Concat</a:t>
            </a:r>
          </a:p>
        </p:txBody>
      </p:sp>
      <p:pic>
        <p:nvPicPr>
          <p:cNvPr id="3" name="!!sahne" descr="mh05.png"/>
          <p:cNvPicPr>
            <a:picLocks noChangeAspect="1"/>
          </p:cNvPicPr>
          <p:nvPr/>
        </p:nvPicPr>
        <p:blipFill>
          <a:blip r:embed="rId3"/>
          <a:stretch>
            <a:fillRect/>
          </a:stretch>
        </p:blipFill>
        <p:spPr>
          <a:xfrm>
            <a:off x="4186443" y="3679317"/>
            <a:ext cx="16011144" cy="635736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Başlıkların çıktısı birleştirilip tek projeksiyondan geçer.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Hangi Mimariler Var?  ·  CNN</a:t>
            </a:r>
          </a:p>
        </p:txBody>
      </p:sp>
      <p:sp>
        <p:nvSpPr>
          <p:cNvPr id="3" name="TextBox 2"/>
          <p:cNvSpPr txBox="1"/>
          <p:nvPr/>
        </p:nvSpPr>
        <p:spPr>
          <a:xfrm>
            <a:off x="2066543" y="1874519"/>
            <a:ext cx="20244816" cy="1828800"/>
          </a:xfrm>
          <a:prstGeom prst="rect">
            <a:avLst/>
          </a:prstGeom>
          <a:noFill/>
        </p:spPr>
        <p:txBody>
          <a:bodyPr wrap="square" lIns="0" tIns="0" rIns="0" bIns="0" anchor="t">
            <a:spAutoFit/>
          </a:bodyPr>
          <a:lstStyle/>
          <a:p>
            <a:pPr algn="ctr">
              <a:lnSpc>
                <a:spcPct val="115000"/>
              </a:lnSpc>
            </a:pPr>
            <a:r>
              <a:rPr sz="4000" b="0">
                <a:solidFill>
                  <a:srgbClr val="1A1A1A"/>
                </a:solidFill>
              </a:rPr>
              <a:t>Görüntüden öznitelikleri </a:t>
            </a:r>
            <a:r>
              <a:rPr sz="4000" b="1">
                <a:solidFill>
                  <a:srgbClr val="1A1A1A"/>
                </a:solidFill>
              </a:rPr>
              <a:t>katman katman kendisi çıkarır</a:t>
            </a:r>
            <a:r>
              <a:rPr sz="4000" b="0">
                <a:solidFill>
                  <a:srgbClr val="1A1A1A"/>
                </a:solidFill>
              </a:rPr>
              <a:t>, sonuna da bir sinir ağı ekler.</a:t>
            </a:r>
          </a:p>
        </p:txBody>
      </p:sp>
      <p:sp>
        <p:nvSpPr>
          <p:cNvPr id="4" name="Rectangle 3"/>
          <p:cNvSpPr/>
          <p:nvPr/>
        </p:nvSpPr>
        <p:spPr>
          <a:xfrm>
            <a:off x="1554480" y="5715000"/>
            <a:ext cx="2103120" cy="2194560"/>
          </a:xfrm>
          <a:prstGeom prst="rect">
            <a:avLst/>
          </a:prstGeom>
          <a:solidFill>
            <a:srgbClr val="FFFFFF"/>
          </a:solidFill>
          <a:ln w="19050">
            <a:solidFill>
              <a:srgbClr val="B6C2C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5" name="Rectangle 4"/>
          <p:cNvSpPr/>
          <p:nvPr/>
        </p:nvSpPr>
        <p:spPr>
          <a:xfrm>
            <a:off x="178308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6" name="Rectangle 5"/>
          <p:cNvSpPr/>
          <p:nvPr/>
        </p:nvSpPr>
        <p:spPr>
          <a:xfrm>
            <a:off x="214884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7" name="Rectangle 6"/>
          <p:cNvSpPr/>
          <p:nvPr/>
        </p:nvSpPr>
        <p:spPr>
          <a:xfrm>
            <a:off x="251460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8" name="Rectangle 7"/>
          <p:cNvSpPr/>
          <p:nvPr/>
        </p:nvSpPr>
        <p:spPr>
          <a:xfrm>
            <a:off x="288036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 name="Rectangle 8"/>
          <p:cNvSpPr/>
          <p:nvPr/>
        </p:nvSpPr>
        <p:spPr>
          <a:xfrm>
            <a:off x="3246120" y="5943600"/>
            <a:ext cx="182880" cy="173736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 name="Rectangle 9"/>
          <p:cNvSpPr/>
          <p:nvPr/>
        </p:nvSpPr>
        <p:spPr>
          <a:xfrm>
            <a:off x="2606040" y="6858000"/>
            <a:ext cx="502920" cy="502920"/>
          </a:xfrm>
          <a:prstGeom prst="rect">
            <a:avLst/>
          </a:prstGeom>
          <a:noFill/>
          <a:ln w="31750">
            <a:solidFill>
              <a:srgbClr val="C08A2E"/>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1" name="TextBox 10"/>
          <p:cNvSpPr txBox="1"/>
          <p:nvPr/>
        </p:nvSpPr>
        <p:spPr>
          <a:xfrm>
            <a:off x="1188720" y="8138160"/>
            <a:ext cx="2834640" cy="457200"/>
          </a:xfrm>
          <a:prstGeom prst="rect">
            <a:avLst/>
          </a:prstGeom>
          <a:noFill/>
        </p:spPr>
        <p:txBody>
          <a:bodyPr wrap="square" lIns="0" tIns="0" rIns="0" bIns="0" anchor="t">
            <a:spAutoFit/>
          </a:bodyPr>
          <a:lstStyle/>
          <a:p>
            <a:pPr algn="ctr"/>
            <a:r>
              <a:rPr sz="1900" b="0">
                <a:solidFill>
                  <a:srgbClr val="6E6E6E"/>
                </a:solidFill>
              </a:rPr>
              <a:t>Girdi görüntü</a:t>
            </a:r>
          </a:p>
        </p:txBody>
      </p:sp>
      <p:sp>
        <p:nvSpPr>
          <p:cNvPr id="12" name="TextBox 11"/>
          <p:cNvSpPr txBox="1"/>
          <p:nvPr/>
        </p:nvSpPr>
        <p:spPr>
          <a:xfrm>
            <a:off x="1188720" y="8595360"/>
            <a:ext cx="2834640" cy="457200"/>
          </a:xfrm>
          <a:prstGeom prst="rect">
            <a:avLst/>
          </a:prstGeom>
          <a:noFill/>
        </p:spPr>
        <p:txBody>
          <a:bodyPr wrap="square" lIns="0" tIns="0" rIns="0" bIns="0" anchor="t">
            <a:spAutoFit/>
          </a:bodyPr>
          <a:lstStyle/>
          <a:p>
            <a:pPr algn="ctr"/>
            <a:r>
              <a:rPr sz="1700" b="0">
                <a:solidFill>
                  <a:srgbClr val="C08A2E"/>
                </a:solidFill>
              </a:rPr>
              <a:t>+ filtre (kernel)</a:t>
            </a:r>
          </a:p>
        </p:txBody>
      </p:sp>
      <p:sp>
        <p:nvSpPr>
          <p:cNvPr id="13" name="Isosceles Triangle 12"/>
          <p:cNvSpPr/>
          <p:nvPr/>
        </p:nvSpPr>
        <p:spPr>
          <a:xfrm rot="5400000">
            <a:off x="393192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4" name="Rectangle 13"/>
          <p:cNvSpPr/>
          <p:nvPr/>
        </p:nvSpPr>
        <p:spPr>
          <a:xfrm>
            <a:off x="4526280" y="5852160"/>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5" name="Rectangle 14"/>
          <p:cNvSpPr/>
          <p:nvPr/>
        </p:nvSpPr>
        <p:spPr>
          <a:xfrm>
            <a:off x="4745736" y="6071616"/>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6" name="Rectangle 15"/>
          <p:cNvSpPr/>
          <p:nvPr/>
        </p:nvSpPr>
        <p:spPr>
          <a:xfrm>
            <a:off x="4965192" y="6291072"/>
            <a:ext cx="1920240" cy="192024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7" name="TextBox 16"/>
          <p:cNvSpPr txBox="1"/>
          <p:nvPr/>
        </p:nvSpPr>
        <p:spPr>
          <a:xfrm>
            <a:off x="4206240" y="8138160"/>
            <a:ext cx="2743200" cy="457200"/>
          </a:xfrm>
          <a:prstGeom prst="rect">
            <a:avLst/>
          </a:prstGeom>
          <a:noFill/>
        </p:spPr>
        <p:txBody>
          <a:bodyPr wrap="square" lIns="0" tIns="0" rIns="0" bIns="0" anchor="t">
            <a:spAutoFit/>
          </a:bodyPr>
          <a:lstStyle/>
          <a:p>
            <a:pPr algn="ctr">
              <a:lnSpc>
                <a:spcPct val="115000"/>
              </a:lnSpc>
            </a:pPr>
            <a:r>
              <a:rPr sz="1900" b="0">
                <a:solidFill>
                  <a:srgbClr val="6E6E6E"/>
                </a:solidFill>
              </a:rPr>
              <a:t>Convolution
+ ReLU</a:t>
            </a:r>
          </a:p>
        </p:txBody>
      </p:sp>
      <p:sp>
        <p:nvSpPr>
          <p:cNvPr id="18" name="Isosceles Triangle 17"/>
          <p:cNvSpPr/>
          <p:nvPr/>
        </p:nvSpPr>
        <p:spPr>
          <a:xfrm rot="5400000">
            <a:off x="7205472"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9" name="Rectangle 18"/>
          <p:cNvSpPr/>
          <p:nvPr/>
        </p:nvSpPr>
        <p:spPr>
          <a:xfrm>
            <a:off x="7589520" y="603504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0" name="Rectangle 19"/>
          <p:cNvSpPr/>
          <p:nvPr/>
        </p:nvSpPr>
        <p:spPr>
          <a:xfrm>
            <a:off x="7772400" y="621792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1" name="Rectangle 20"/>
          <p:cNvSpPr/>
          <p:nvPr/>
        </p:nvSpPr>
        <p:spPr>
          <a:xfrm>
            <a:off x="7955280" y="640080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2" name="Rectangle 21"/>
          <p:cNvSpPr/>
          <p:nvPr/>
        </p:nvSpPr>
        <p:spPr>
          <a:xfrm>
            <a:off x="8138160" y="6583680"/>
            <a:ext cx="1554480" cy="155448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3" name="TextBox 22"/>
          <p:cNvSpPr txBox="1"/>
          <p:nvPr/>
        </p:nvSpPr>
        <p:spPr>
          <a:xfrm>
            <a:off x="7315200" y="8138160"/>
            <a:ext cx="2377440" cy="457200"/>
          </a:xfrm>
          <a:prstGeom prst="rect">
            <a:avLst/>
          </a:prstGeom>
          <a:noFill/>
        </p:spPr>
        <p:txBody>
          <a:bodyPr wrap="square" lIns="0" tIns="0" rIns="0" bIns="0" anchor="t">
            <a:spAutoFit/>
          </a:bodyPr>
          <a:lstStyle/>
          <a:p>
            <a:pPr algn="ctr">
              <a:lnSpc>
                <a:spcPct val="115000"/>
              </a:lnSpc>
            </a:pPr>
            <a:r>
              <a:rPr sz="1900" b="0">
                <a:solidFill>
                  <a:srgbClr val="6E6E6E"/>
                </a:solidFill>
              </a:rPr>
              <a:t>Pooling
+ Convolution</a:t>
            </a:r>
          </a:p>
        </p:txBody>
      </p:sp>
      <p:sp>
        <p:nvSpPr>
          <p:cNvPr id="24" name="Isosceles Triangle 23"/>
          <p:cNvSpPr/>
          <p:nvPr/>
        </p:nvSpPr>
        <p:spPr>
          <a:xfrm rot="5400000">
            <a:off x="1001268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5" name="Rectangle 24"/>
          <p:cNvSpPr/>
          <p:nvPr/>
        </p:nvSpPr>
        <p:spPr>
          <a:xfrm>
            <a:off x="10287000" y="6217920"/>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6" name="Rectangle 25"/>
          <p:cNvSpPr/>
          <p:nvPr/>
        </p:nvSpPr>
        <p:spPr>
          <a:xfrm>
            <a:off x="10433304" y="6364224"/>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7" name="Rectangle 26"/>
          <p:cNvSpPr/>
          <p:nvPr/>
        </p:nvSpPr>
        <p:spPr>
          <a:xfrm>
            <a:off x="10579608" y="6510528"/>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8" name="Rectangle 27"/>
          <p:cNvSpPr/>
          <p:nvPr/>
        </p:nvSpPr>
        <p:spPr>
          <a:xfrm>
            <a:off x="10725912" y="6656831"/>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29" name="Rectangle 28"/>
          <p:cNvSpPr/>
          <p:nvPr/>
        </p:nvSpPr>
        <p:spPr>
          <a:xfrm>
            <a:off x="10872216" y="6803136"/>
            <a:ext cx="1188720" cy="1188720"/>
          </a:xfrm>
          <a:prstGeom prst="rect">
            <a:avLst/>
          </a:prstGeom>
          <a:solidFill>
            <a:srgbClr val="148F77"/>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0" name="TextBox 29"/>
          <p:cNvSpPr txBox="1"/>
          <p:nvPr/>
        </p:nvSpPr>
        <p:spPr>
          <a:xfrm>
            <a:off x="10058400" y="8138160"/>
            <a:ext cx="2194560" cy="457200"/>
          </a:xfrm>
          <a:prstGeom prst="rect">
            <a:avLst/>
          </a:prstGeom>
          <a:noFill/>
        </p:spPr>
        <p:txBody>
          <a:bodyPr wrap="square" lIns="0" tIns="0" rIns="0" bIns="0" anchor="t">
            <a:spAutoFit/>
          </a:bodyPr>
          <a:lstStyle/>
          <a:p>
            <a:pPr algn="ctr"/>
            <a:r>
              <a:rPr sz="1900" b="0">
                <a:solidFill>
                  <a:srgbClr val="6E6E6E"/>
                </a:solidFill>
              </a:rPr>
              <a:t>Pooling</a:t>
            </a:r>
          </a:p>
        </p:txBody>
      </p:sp>
      <p:sp>
        <p:nvSpPr>
          <p:cNvPr id="31" name="Isosceles Triangle 30"/>
          <p:cNvSpPr/>
          <p:nvPr/>
        </p:nvSpPr>
        <p:spPr>
          <a:xfrm rot="5400000">
            <a:off x="12380976"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2" name="Rectangle 31"/>
          <p:cNvSpPr/>
          <p:nvPr/>
        </p:nvSpPr>
        <p:spPr>
          <a:xfrm>
            <a:off x="12664440" y="4892040"/>
            <a:ext cx="411480" cy="3840480"/>
          </a:xfrm>
          <a:prstGeom prst="rect">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33" name="TextBox 32"/>
          <p:cNvSpPr txBox="1"/>
          <p:nvPr/>
        </p:nvSpPr>
        <p:spPr>
          <a:xfrm>
            <a:off x="11750040" y="8869680"/>
            <a:ext cx="2240280" cy="457200"/>
          </a:xfrm>
          <a:prstGeom prst="rect">
            <a:avLst/>
          </a:prstGeom>
          <a:noFill/>
        </p:spPr>
        <p:txBody>
          <a:bodyPr wrap="square" lIns="0" tIns="0" rIns="0" bIns="0" anchor="t">
            <a:spAutoFit/>
          </a:bodyPr>
          <a:lstStyle/>
          <a:p>
            <a:pPr algn="ctr"/>
            <a:r>
              <a:rPr sz="1900" b="0">
                <a:solidFill>
                  <a:srgbClr val="6E6E6E"/>
                </a:solidFill>
              </a:rPr>
              <a:t>Flatten</a:t>
            </a:r>
          </a:p>
        </p:txBody>
      </p:sp>
      <p:sp>
        <p:nvSpPr>
          <p:cNvPr id="34" name="Isosceles Triangle 33"/>
          <p:cNvSpPr/>
          <p:nvPr/>
        </p:nvSpPr>
        <p:spPr>
          <a:xfrm rot="5400000">
            <a:off x="1335024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cxnSp>
        <p:nvCxnSpPr>
          <p:cNvPr id="35" name="Connector 34"/>
          <p:cNvCxnSpPr/>
          <p:nvPr/>
        </p:nvCxnSpPr>
        <p:spPr>
          <a:xfrm>
            <a:off x="14292072" y="5111496"/>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4292072" y="5111496"/>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4292072" y="5111496"/>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4292072" y="5111496"/>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4292072" y="5111496"/>
            <a:ext cx="1499616" cy="283464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14292072" y="5678424"/>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4292072" y="5678424"/>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4292072" y="5678424"/>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4292072" y="5678424"/>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4292072" y="5678424"/>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14292072" y="5678424"/>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4292072" y="6245352"/>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4292072" y="6245352"/>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4292072" y="6245352"/>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4292072" y="6245352"/>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14292072" y="5678424"/>
            <a:ext cx="1499616" cy="1133855"/>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14292072" y="6245352"/>
            <a:ext cx="1499616" cy="56692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4292072" y="6812279"/>
            <a:ext cx="1499616" cy="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4292072" y="6812279"/>
            <a:ext cx="1499616" cy="566929"/>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4292072" y="6812279"/>
            <a:ext cx="1499616" cy="113385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14292072" y="5678424"/>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14292072" y="6245352"/>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14292072" y="6812280"/>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14292072" y="7379208"/>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a:off x="14292072" y="7379208"/>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14292072" y="5678424"/>
            <a:ext cx="1499616" cy="226771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14292072" y="6245352"/>
            <a:ext cx="149961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14292072" y="6812280"/>
            <a:ext cx="149961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14292072" y="7379208"/>
            <a:ext cx="149961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a:off x="14292072" y="7946136"/>
            <a:ext cx="149961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14292072" y="5678424"/>
            <a:ext cx="1499616" cy="2834639"/>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14292072" y="6245352"/>
            <a:ext cx="1499616" cy="226771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14292072" y="6812280"/>
            <a:ext cx="1499616" cy="1700783"/>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V="1">
            <a:off x="14292072" y="7379208"/>
            <a:ext cx="1499616" cy="1133855"/>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14292072" y="7946136"/>
            <a:ext cx="1499616" cy="566927"/>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16120872" y="5678424"/>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16120872" y="5678424"/>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16120872" y="5678424"/>
            <a:ext cx="140817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16120872" y="6245352"/>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16120872" y="6245352"/>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16120872" y="6245352"/>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16120872" y="6245352"/>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16120872" y="6812280"/>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16120872" y="6812280"/>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16120872" y="6245352"/>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16120872" y="6812280"/>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16120872" y="7379208"/>
            <a:ext cx="1408176" cy="0"/>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16120872" y="6245352"/>
            <a:ext cx="1408176"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16120872" y="6812280"/>
            <a:ext cx="1408176"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16120872" y="7379208"/>
            <a:ext cx="1408176"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13075920" y="5111496"/>
            <a:ext cx="886968" cy="170078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13075920" y="5678424"/>
            <a:ext cx="886968"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13075920" y="6245352"/>
            <a:ext cx="886968"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13075920" y="6812279"/>
            <a:ext cx="886968" cy="1"/>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13075920" y="6812280"/>
            <a:ext cx="886968" cy="56692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13075920" y="6812280"/>
            <a:ext cx="886968" cy="113385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13075920" y="6812280"/>
            <a:ext cx="886968" cy="1700783"/>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92" name="Oval 91"/>
          <p:cNvSpPr/>
          <p:nvPr/>
        </p:nvSpPr>
        <p:spPr>
          <a:xfrm>
            <a:off x="13962888" y="4946904"/>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3" name="Oval 92"/>
          <p:cNvSpPr/>
          <p:nvPr/>
        </p:nvSpPr>
        <p:spPr>
          <a:xfrm>
            <a:off x="13962888" y="5513832"/>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4" name="Oval 93"/>
          <p:cNvSpPr/>
          <p:nvPr/>
        </p:nvSpPr>
        <p:spPr>
          <a:xfrm>
            <a:off x="13962888" y="6080760"/>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5" name="Oval 94"/>
          <p:cNvSpPr/>
          <p:nvPr/>
        </p:nvSpPr>
        <p:spPr>
          <a:xfrm>
            <a:off x="13962888" y="6647688"/>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6" name="Oval 95"/>
          <p:cNvSpPr/>
          <p:nvPr/>
        </p:nvSpPr>
        <p:spPr>
          <a:xfrm>
            <a:off x="13962888" y="7214616"/>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7" name="Oval 96"/>
          <p:cNvSpPr/>
          <p:nvPr/>
        </p:nvSpPr>
        <p:spPr>
          <a:xfrm>
            <a:off x="13962888" y="7781544"/>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8" name="Oval 97"/>
          <p:cNvSpPr/>
          <p:nvPr/>
        </p:nvSpPr>
        <p:spPr>
          <a:xfrm>
            <a:off x="13962888" y="8348471"/>
            <a:ext cx="329184" cy="329184"/>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99" name="Oval 98"/>
          <p:cNvSpPr/>
          <p:nvPr/>
        </p:nvSpPr>
        <p:spPr>
          <a:xfrm>
            <a:off x="15791688" y="5513832"/>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0" name="Oval 99"/>
          <p:cNvSpPr/>
          <p:nvPr/>
        </p:nvSpPr>
        <p:spPr>
          <a:xfrm>
            <a:off x="15791688" y="6080760"/>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1" name="Oval 100"/>
          <p:cNvSpPr/>
          <p:nvPr/>
        </p:nvSpPr>
        <p:spPr>
          <a:xfrm>
            <a:off x="15791688" y="6647688"/>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2" name="Oval 101"/>
          <p:cNvSpPr/>
          <p:nvPr/>
        </p:nvSpPr>
        <p:spPr>
          <a:xfrm>
            <a:off x="15791688" y="7214616"/>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3" name="Oval 102"/>
          <p:cNvSpPr/>
          <p:nvPr/>
        </p:nvSpPr>
        <p:spPr>
          <a:xfrm>
            <a:off x="15791688" y="7781544"/>
            <a:ext cx="329184" cy="329184"/>
          </a:xfrm>
          <a:prstGeom prst="ellipse">
            <a:avLst/>
          </a:prstGeom>
          <a:solidFill>
            <a:srgbClr val="148F7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4" name="Oval 103"/>
          <p:cNvSpPr/>
          <p:nvPr/>
        </p:nvSpPr>
        <p:spPr>
          <a:xfrm>
            <a:off x="17529048" y="6080760"/>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5" name="Oval 104"/>
          <p:cNvSpPr/>
          <p:nvPr/>
        </p:nvSpPr>
        <p:spPr>
          <a:xfrm>
            <a:off x="17529048" y="6647688"/>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6" name="Oval 105"/>
          <p:cNvSpPr/>
          <p:nvPr/>
        </p:nvSpPr>
        <p:spPr>
          <a:xfrm>
            <a:off x="17529048" y="7214616"/>
            <a:ext cx="329184" cy="329184"/>
          </a:xfrm>
          <a:prstGeom prst="ellipse">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07" name="TextBox 106"/>
          <p:cNvSpPr txBox="1"/>
          <p:nvPr/>
        </p:nvSpPr>
        <p:spPr>
          <a:xfrm>
            <a:off x="13898880" y="8869680"/>
            <a:ext cx="4206240" cy="457200"/>
          </a:xfrm>
          <a:prstGeom prst="rect">
            <a:avLst/>
          </a:prstGeom>
          <a:noFill/>
        </p:spPr>
        <p:txBody>
          <a:bodyPr wrap="square" lIns="0" tIns="0" rIns="0" bIns="0" anchor="t">
            <a:spAutoFit/>
          </a:bodyPr>
          <a:lstStyle/>
          <a:p>
            <a:pPr algn="ctr"/>
            <a:r>
              <a:rPr sz="1900" b="0">
                <a:solidFill>
                  <a:srgbClr val="6E6E6E"/>
                </a:solidFill>
              </a:rPr>
              <a:t>Fully Connected Layer</a:t>
            </a:r>
          </a:p>
        </p:txBody>
      </p:sp>
      <p:sp>
        <p:nvSpPr>
          <p:cNvPr id="108" name="Isosceles Triangle 107"/>
          <p:cNvSpPr/>
          <p:nvPr/>
        </p:nvSpPr>
        <p:spPr>
          <a:xfrm rot="5400000">
            <a:off x="18608040" y="6656832"/>
            <a:ext cx="310896" cy="310896"/>
          </a:xfrm>
          <a:prstGeom prst="triangle">
            <a:avLst/>
          </a:prstGeom>
          <a:solidFill>
            <a:srgbClr val="9AA6B2"/>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cxnSp>
        <p:nvCxnSpPr>
          <p:cNvPr id="109" name="Connector 108"/>
          <p:cNvCxnSpPr/>
          <p:nvPr/>
        </p:nvCxnSpPr>
        <p:spPr>
          <a:xfrm flipV="1">
            <a:off x="17858232" y="6044184"/>
            <a:ext cx="1389888" cy="201168"/>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17858232" y="6044184"/>
            <a:ext cx="1389888" cy="76809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17858232" y="6044184"/>
            <a:ext cx="1389888" cy="133502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12" name="Rounded Rectangle 111"/>
          <p:cNvSpPr/>
          <p:nvPr/>
        </p:nvSpPr>
        <p:spPr>
          <a:xfrm>
            <a:off x="19248120" y="5760720"/>
            <a:ext cx="1325880" cy="566928"/>
          </a:xfrm>
          <a:prstGeom prst="roundRect">
            <a:avLst>
              <a:gd name="adj" fmla="val 15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0">
                <a:solidFill>
                  <a:srgbClr val="1A1A1A"/>
                </a:solidFill>
              </a:rPr>
              <a:t>0.2</a:t>
            </a:r>
          </a:p>
        </p:txBody>
      </p:sp>
      <p:sp>
        <p:nvSpPr>
          <p:cNvPr id="113" name="TextBox 112"/>
          <p:cNvSpPr txBox="1"/>
          <p:nvPr/>
        </p:nvSpPr>
        <p:spPr>
          <a:xfrm>
            <a:off x="20756880" y="5760720"/>
            <a:ext cx="2194560" cy="566928"/>
          </a:xfrm>
          <a:prstGeom prst="rect">
            <a:avLst/>
          </a:prstGeom>
          <a:noFill/>
        </p:spPr>
        <p:txBody>
          <a:bodyPr wrap="square" lIns="0" tIns="0" rIns="0" bIns="0" anchor="ctr">
            <a:spAutoFit/>
          </a:bodyPr>
          <a:lstStyle/>
          <a:p>
            <a:pPr algn="l"/>
            <a:r>
              <a:rPr sz="2100" b="0">
                <a:solidFill>
                  <a:srgbClr val="6E6E6E"/>
                </a:solidFill>
              </a:rPr>
              <a:t>At</a:t>
            </a:r>
          </a:p>
        </p:txBody>
      </p:sp>
      <p:cxnSp>
        <p:nvCxnSpPr>
          <p:cNvPr id="114" name="Connector 113"/>
          <p:cNvCxnSpPr/>
          <p:nvPr/>
        </p:nvCxnSpPr>
        <p:spPr>
          <a:xfrm>
            <a:off x="17858232" y="6245352"/>
            <a:ext cx="1389888" cy="85039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7858232" y="6812280"/>
            <a:ext cx="1389888" cy="28346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17858232" y="7095744"/>
            <a:ext cx="1389888" cy="28346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17" name="Rounded Rectangle 116"/>
          <p:cNvSpPr/>
          <p:nvPr/>
        </p:nvSpPr>
        <p:spPr>
          <a:xfrm>
            <a:off x="19248120" y="6812280"/>
            <a:ext cx="1325880" cy="566928"/>
          </a:xfrm>
          <a:prstGeom prst="roundRect">
            <a:avLst>
              <a:gd name="adj" fmla="val 1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1">
                <a:solidFill>
                  <a:srgbClr val="FFFFFF"/>
                </a:solidFill>
              </a:rPr>
              <a:t>0.7</a:t>
            </a:r>
          </a:p>
        </p:txBody>
      </p:sp>
      <p:sp>
        <p:nvSpPr>
          <p:cNvPr id="118" name="TextBox 117"/>
          <p:cNvSpPr txBox="1"/>
          <p:nvPr/>
        </p:nvSpPr>
        <p:spPr>
          <a:xfrm>
            <a:off x="20756880" y="6812280"/>
            <a:ext cx="2194560" cy="566928"/>
          </a:xfrm>
          <a:prstGeom prst="rect">
            <a:avLst/>
          </a:prstGeom>
          <a:noFill/>
        </p:spPr>
        <p:txBody>
          <a:bodyPr wrap="square" lIns="0" tIns="0" rIns="0" bIns="0" anchor="ctr">
            <a:spAutoFit/>
          </a:bodyPr>
          <a:lstStyle/>
          <a:p>
            <a:pPr algn="l"/>
            <a:r>
              <a:rPr sz="2100" b="1">
                <a:solidFill>
                  <a:srgbClr val="C08A2E"/>
                </a:solidFill>
              </a:rPr>
              <a:t>Zebra</a:t>
            </a:r>
          </a:p>
        </p:txBody>
      </p:sp>
      <p:cxnSp>
        <p:nvCxnSpPr>
          <p:cNvPr id="119" name="Connector 118"/>
          <p:cNvCxnSpPr/>
          <p:nvPr/>
        </p:nvCxnSpPr>
        <p:spPr>
          <a:xfrm>
            <a:off x="17858232" y="6245352"/>
            <a:ext cx="1389888" cy="1901952"/>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7858232" y="6812280"/>
            <a:ext cx="1389888" cy="1335024"/>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7858232" y="7379208"/>
            <a:ext cx="1389888" cy="768096"/>
          </a:xfrm>
          <a:prstGeom prst="line">
            <a:avLst/>
          </a:prstGeom>
          <a:ln w="9525">
            <a:solidFill>
              <a:srgbClr val="DBE1E8"/>
            </a:solidFill>
          </a:ln>
        </p:spPr>
        <p:style>
          <a:lnRef idx="2">
            <a:schemeClr val="accent1"/>
          </a:lnRef>
          <a:fillRef idx="0">
            <a:schemeClr val="accent1"/>
          </a:fillRef>
          <a:effectRef idx="1">
            <a:schemeClr val="accent1"/>
          </a:effectRef>
          <a:fontRef idx="minor">
            <a:schemeClr val="tx1"/>
          </a:fontRef>
        </p:style>
      </p:cxnSp>
      <p:sp>
        <p:nvSpPr>
          <p:cNvPr id="122" name="Rounded Rectangle 121"/>
          <p:cNvSpPr/>
          <p:nvPr/>
        </p:nvSpPr>
        <p:spPr>
          <a:xfrm>
            <a:off x="19248120" y="7863840"/>
            <a:ext cx="1325880" cy="566928"/>
          </a:xfrm>
          <a:prstGeom prst="roundRect">
            <a:avLst>
              <a:gd name="adj" fmla="val 15000"/>
            </a:avLst>
          </a:prstGeom>
          <a:solidFill>
            <a:srgbClr val="E3E8E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2000" b="0">
                <a:solidFill>
                  <a:srgbClr val="1A1A1A"/>
                </a:solidFill>
              </a:rPr>
              <a:t>0.1</a:t>
            </a:r>
          </a:p>
        </p:txBody>
      </p:sp>
      <p:sp>
        <p:nvSpPr>
          <p:cNvPr id="123" name="TextBox 122"/>
          <p:cNvSpPr txBox="1"/>
          <p:nvPr/>
        </p:nvSpPr>
        <p:spPr>
          <a:xfrm>
            <a:off x="20756880" y="7863840"/>
            <a:ext cx="2194560" cy="566928"/>
          </a:xfrm>
          <a:prstGeom prst="rect">
            <a:avLst/>
          </a:prstGeom>
          <a:noFill/>
        </p:spPr>
        <p:txBody>
          <a:bodyPr wrap="square" lIns="0" tIns="0" rIns="0" bIns="0" anchor="ctr">
            <a:spAutoFit/>
          </a:bodyPr>
          <a:lstStyle/>
          <a:p>
            <a:pPr algn="l"/>
            <a:r>
              <a:rPr sz="2100" b="0">
                <a:solidFill>
                  <a:srgbClr val="6E6E6E"/>
                </a:solidFill>
              </a:rPr>
              <a:t>Köpek</a:t>
            </a:r>
          </a:p>
        </p:txBody>
      </p:sp>
      <p:sp>
        <p:nvSpPr>
          <p:cNvPr id="124" name="TextBox 123"/>
          <p:cNvSpPr txBox="1"/>
          <p:nvPr/>
        </p:nvSpPr>
        <p:spPr>
          <a:xfrm>
            <a:off x="18836640" y="8869680"/>
            <a:ext cx="4023360" cy="457200"/>
          </a:xfrm>
          <a:prstGeom prst="rect">
            <a:avLst/>
          </a:prstGeom>
          <a:noFill/>
        </p:spPr>
        <p:txBody>
          <a:bodyPr wrap="square" lIns="0" tIns="0" rIns="0" bIns="0" anchor="t">
            <a:spAutoFit/>
          </a:bodyPr>
          <a:lstStyle/>
          <a:p>
            <a:pPr algn="ctr"/>
            <a:r>
              <a:rPr sz="1900" b="0">
                <a:solidFill>
                  <a:srgbClr val="6E6E6E"/>
                </a:solidFill>
              </a:rPr>
              <a:t>Softmax</a:t>
            </a:r>
          </a:p>
        </p:txBody>
      </p:sp>
      <p:cxnSp>
        <p:nvCxnSpPr>
          <p:cNvPr id="125" name="Connector 124"/>
          <p:cNvCxnSpPr/>
          <p:nvPr/>
        </p:nvCxnSpPr>
        <p:spPr>
          <a:xfrm>
            <a:off x="1463040" y="9829800"/>
            <a:ext cx="1074420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14630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122072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1463040" y="9957816"/>
            <a:ext cx="10744200" cy="457200"/>
          </a:xfrm>
          <a:prstGeom prst="rect">
            <a:avLst/>
          </a:prstGeom>
          <a:noFill/>
        </p:spPr>
        <p:txBody>
          <a:bodyPr wrap="square" lIns="0" tIns="0" rIns="0" bIns="0" anchor="t">
            <a:spAutoFit/>
          </a:bodyPr>
          <a:lstStyle/>
          <a:p>
            <a:pPr algn="ctr"/>
            <a:r>
              <a:rPr sz="2000" b="0">
                <a:solidFill>
                  <a:srgbClr val="6E6E6E"/>
                </a:solidFill>
              </a:rPr>
              <a:t>Öznitelik çıkarımı</a:t>
            </a:r>
          </a:p>
        </p:txBody>
      </p:sp>
      <p:cxnSp>
        <p:nvCxnSpPr>
          <p:cNvPr id="129" name="Connector 128"/>
          <p:cNvCxnSpPr/>
          <p:nvPr/>
        </p:nvCxnSpPr>
        <p:spPr>
          <a:xfrm>
            <a:off x="12435840" y="9829800"/>
            <a:ext cx="603504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1243584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184708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12435840" y="9957816"/>
            <a:ext cx="6035040" cy="457200"/>
          </a:xfrm>
          <a:prstGeom prst="rect">
            <a:avLst/>
          </a:prstGeom>
          <a:noFill/>
        </p:spPr>
        <p:txBody>
          <a:bodyPr wrap="square" lIns="0" tIns="0" rIns="0" bIns="0" anchor="t">
            <a:spAutoFit/>
          </a:bodyPr>
          <a:lstStyle/>
          <a:p>
            <a:pPr algn="ctr"/>
            <a:r>
              <a:rPr sz="2000" b="0">
                <a:solidFill>
                  <a:srgbClr val="6E6E6E"/>
                </a:solidFill>
              </a:rPr>
              <a:t>Sınıflandırma</a:t>
            </a:r>
          </a:p>
        </p:txBody>
      </p:sp>
      <p:cxnSp>
        <p:nvCxnSpPr>
          <p:cNvPr id="133" name="Connector 132"/>
          <p:cNvCxnSpPr/>
          <p:nvPr/>
        </p:nvCxnSpPr>
        <p:spPr>
          <a:xfrm>
            <a:off x="18699480" y="9829800"/>
            <a:ext cx="4343400" cy="0"/>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186994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23042880" y="9628632"/>
            <a:ext cx="0" cy="201168"/>
          </a:xfrm>
          <a:prstGeom prst="line">
            <a:avLst/>
          </a:prstGeom>
          <a:ln w="19050">
            <a:solidFill>
              <a:srgbClr val="D5D5D5"/>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18699480" y="9957816"/>
            <a:ext cx="4343400" cy="457200"/>
          </a:xfrm>
          <a:prstGeom prst="rect">
            <a:avLst/>
          </a:prstGeom>
          <a:noFill/>
        </p:spPr>
        <p:txBody>
          <a:bodyPr wrap="square" lIns="0" tIns="0" rIns="0" bIns="0" anchor="t">
            <a:spAutoFit/>
          </a:bodyPr>
          <a:lstStyle/>
          <a:p>
            <a:pPr algn="ctr"/>
            <a:r>
              <a:rPr sz="2000" b="0">
                <a:solidFill>
                  <a:srgbClr val="6E6E6E"/>
                </a:solidFill>
              </a:rPr>
              <a:t>Olasılık dağılımı</a:t>
            </a:r>
          </a:p>
        </p:txBody>
      </p:sp>
      <p:sp>
        <p:nvSpPr>
          <p:cNvPr id="137" name="TextBox 136"/>
          <p:cNvSpPr txBox="1"/>
          <p:nvPr/>
        </p:nvSpPr>
        <p:spPr>
          <a:xfrm>
            <a:off x="1280160" y="10607040"/>
            <a:ext cx="7275576" cy="411480"/>
          </a:xfrm>
          <a:prstGeom prst="rect">
            <a:avLst/>
          </a:prstGeom>
          <a:noFill/>
        </p:spPr>
        <p:txBody>
          <a:bodyPr wrap="square" lIns="0" tIns="0" rIns="0" bIns="0" anchor="t">
            <a:spAutoFit/>
          </a:bodyPr>
          <a:lstStyle/>
          <a:p>
            <a:pPr algn="ctr"/>
            <a:r>
              <a:rPr sz="1800" b="1">
                <a:solidFill>
                  <a:srgbClr val="C08A2E"/>
                </a:solidFill>
              </a:rPr>
              <a:t>NE İÇİN</a:t>
            </a:r>
          </a:p>
        </p:txBody>
      </p:sp>
      <p:sp>
        <p:nvSpPr>
          <p:cNvPr id="138" name="TextBox 137"/>
          <p:cNvSpPr txBox="1"/>
          <p:nvPr/>
        </p:nvSpPr>
        <p:spPr>
          <a:xfrm>
            <a:off x="1645919"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Görüntü, video, ses spektrogramı</a:t>
            </a:r>
          </a:p>
        </p:txBody>
      </p:sp>
      <p:sp>
        <p:nvSpPr>
          <p:cNvPr id="139" name="TextBox 138"/>
          <p:cNvSpPr txBox="1"/>
          <p:nvPr/>
        </p:nvSpPr>
        <p:spPr>
          <a:xfrm>
            <a:off x="8555736" y="10607040"/>
            <a:ext cx="7275576" cy="411480"/>
          </a:xfrm>
          <a:prstGeom prst="rect">
            <a:avLst/>
          </a:prstGeom>
          <a:noFill/>
        </p:spPr>
        <p:txBody>
          <a:bodyPr wrap="square" lIns="0" tIns="0" rIns="0" bIns="0" anchor="t">
            <a:spAutoFit/>
          </a:bodyPr>
          <a:lstStyle/>
          <a:p>
            <a:pPr algn="ctr"/>
            <a:r>
              <a:rPr sz="1800" b="1">
                <a:solidFill>
                  <a:srgbClr val="C08A2E"/>
                </a:solidFill>
              </a:rPr>
              <a:t>ANAHTAR FİKİR</a:t>
            </a:r>
          </a:p>
        </p:txBody>
      </p:sp>
      <p:sp>
        <p:nvSpPr>
          <p:cNvPr id="140" name="TextBox 139"/>
          <p:cNvSpPr txBox="1"/>
          <p:nvPr/>
        </p:nvSpPr>
        <p:spPr>
          <a:xfrm>
            <a:off x="8921496"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Aynı filtre tüm görüntüde gezer</a:t>
            </a:r>
          </a:p>
        </p:txBody>
      </p:sp>
      <p:sp>
        <p:nvSpPr>
          <p:cNvPr id="141" name="TextBox 140"/>
          <p:cNvSpPr txBox="1"/>
          <p:nvPr/>
        </p:nvSpPr>
        <p:spPr>
          <a:xfrm>
            <a:off x="15831312" y="10607040"/>
            <a:ext cx="7275576" cy="411480"/>
          </a:xfrm>
          <a:prstGeom prst="rect">
            <a:avLst/>
          </a:prstGeom>
          <a:noFill/>
        </p:spPr>
        <p:txBody>
          <a:bodyPr wrap="square" lIns="0" tIns="0" rIns="0" bIns="0" anchor="t">
            <a:spAutoFit/>
          </a:bodyPr>
          <a:lstStyle/>
          <a:p>
            <a:pPr algn="ctr"/>
            <a:r>
              <a:rPr sz="1800" b="1">
                <a:solidFill>
                  <a:srgbClr val="C08A2E"/>
                </a:solidFill>
              </a:rPr>
              <a:t>NEREDE</a:t>
            </a:r>
          </a:p>
        </p:txBody>
      </p:sp>
      <p:sp>
        <p:nvSpPr>
          <p:cNvPr id="142" name="TextBox 141"/>
          <p:cNvSpPr txBox="1"/>
          <p:nvPr/>
        </p:nvSpPr>
        <p:spPr>
          <a:xfrm>
            <a:off x="16197071" y="11082528"/>
            <a:ext cx="6544056" cy="822960"/>
          </a:xfrm>
          <a:prstGeom prst="rect">
            <a:avLst/>
          </a:prstGeom>
          <a:noFill/>
        </p:spPr>
        <p:txBody>
          <a:bodyPr wrap="square" lIns="0" tIns="0" rIns="0" bIns="0" anchor="t">
            <a:spAutoFit/>
          </a:bodyPr>
          <a:lstStyle/>
          <a:p>
            <a:pPr algn="ctr">
              <a:lnSpc>
                <a:spcPct val="120000"/>
              </a:lnSpc>
            </a:pPr>
            <a:r>
              <a:rPr sz="2100" b="0">
                <a:solidFill>
                  <a:srgbClr val="1A1A1A"/>
                </a:solidFill>
              </a:rPr>
              <a:t>Yüz tanıma, tıbbi görüntü, otonom sürüş</a:t>
            </a:r>
          </a:p>
        </p:txBody>
      </p:sp>
      <p:sp>
        <p:nvSpPr>
          <p:cNvPr id="143" name="Rectangle 142"/>
          <p:cNvSpPr/>
          <p:nvPr/>
        </p:nvSpPr>
        <p:spPr>
          <a:xfrm>
            <a:off x="1280160" y="11795760"/>
            <a:ext cx="21826728" cy="114300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endParaRPr/>
          </a:p>
        </p:txBody>
      </p:sp>
      <p:sp>
        <p:nvSpPr>
          <p:cNvPr id="144" name="TextBox 143"/>
          <p:cNvSpPr txBox="1"/>
          <p:nvPr/>
        </p:nvSpPr>
        <p:spPr>
          <a:xfrm>
            <a:off x="2011680" y="11795760"/>
            <a:ext cx="20363688" cy="1143000"/>
          </a:xfrm>
          <a:prstGeom prst="rect">
            <a:avLst/>
          </a:prstGeom>
          <a:noFill/>
        </p:spPr>
        <p:txBody>
          <a:bodyPr wrap="square" lIns="0" tIns="0" rIns="0" bIns="0" anchor="ctr">
            <a:spAutoFit/>
          </a:bodyPr>
          <a:lstStyle/>
          <a:p>
            <a:pPr algn="ctr">
              <a:lnSpc>
                <a:spcPct val="120000"/>
              </a:lnSpc>
            </a:pPr>
            <a:r>
              <a:rPr sz="2300" b="0">
                <a:solidFill>
                  <a:srgbClr val="15263F"/>
                </a:solidFill>
              </a:rPr>
              <a:t>Sondaki sinir ağı bildiğimiz ANN. </a:t>
            </a:r>
            <a:r>
              <a:rPr sz="2300" b="1">
                <a:solidFill>
                  <a:srgbClr val="15263F"/>
                </a:solidFill>
              </a:rPr>
              <a:t>CNN'in yaptığı iş, o ağa vereceği öznitelikleri kendi çıkarmak.</a:t>
            </a:r>
          </a:p>
        </p:txBody>
      </p:sp>
      <p:pic>
        <p:nvPicPr>
          <p:cNvPr id="146" name="Resim 145">
            <a:extLst>
              <a:ext uri="{FF2B5EF4-FFF2-40B4-BE49-F238E27FC236}">
                <a16:creationId xmlns:a16="http://schemas.microsoft.com/office/drawing/2014/main" id="{FD57DEEE-3943-DAD0-BA21-AC5820E5A53F}"/>
              </a:ext>
            </a:extLst>
          </p:cNvPr>
          <p:cNvPicPr>
            <a:picLocks noChangeAspect="1"/>
          </p:cNvPicPr>
          <p:nvPr/>
        </p:nvPicPr>
        <p:blipFill>
          <a:blip r:embed="rId3"/>
          <a:stretch>
            <a:fillRect/>
          </a:stretch>
        </p:blipFill>
        <p:spPr>
          <a:xfrm>
            <a:off x="760138" y="4078264"/>
            <a:ext cx="2960283" cy="3877016"/>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  ·  Şemadaki yeri</a:t>
            </a:r>
          </a:p>
        </p:txBody>
      </p:sp>
      <p:pic>
        <p:nvPicPr>
          <p:cNvPr id="3" name="!!encalt" descr="enc_alt.png"/>
          <p:cNvPicPr>
            <a:picLocks noChangeAspect="1"/>
          </p:cNvPicPr>
          <p:nvPr/>
        </p:nvPicPr>
        <p:blipFill>
          <a:blip r:embed="rId3"/>
          <a:stretch>
            <a:fillRect/>
          </a:stretch>
        </p:blipFill>
        <p:spPr>
          <a:xfrm rot="1800000">
            <a:off x="9453415" y="4038472"/>
            <a:ext cx="5477201" cy="545617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Bloktaki mavi kutu tam olarak buydu.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Multi-Head Attention  ·  Şemadaki yeri</a:t>
            </a:r>
          </a:p>
        </p:txBody>
      </p:sp>
      <p:pic>
        <p:nvPicPr>
          <p:cNvPr id="3" name="!!encalt" descr="enc_alt.png"/>
          <p:cNvPicPr>
            <a:picLocks noChangeAspect="1"/>
          </p:cNvPicPr>
          <p:nvPr/>
        </p:nvPicPr>
        <p:blipFill>
          <a:blip r:embed="rId2"/>
          <a:stretch>
            <a:fillRect/>
          </a:stretch>
        </p:blipFill>
        <p:spPr>
          <a:xfrm>
            <a:off x="9453415" y="4038472"/>
            <a:ext cx="5477201" cy="5456176"/>
          </a:xfrm>
          <a:prstGeom prst="rect">
            <a:avLst/>
          </a:prstGeom>
        </p:spPr>
      </p:pic>
      <p:pic>
        <p:nvPicPr>
          <p:cNvPr id="4" name="!!encust" descr="enc_ust.png"/>
          <p:cNvPicPr>
            <a:picLocks noChangeAspect="1"/>
          </p:cNvPicPr>
          <p:nvPr/>
        </p:nvPicPr>
        <p:blipFill>
          <a:blip r:embed="rId3"/>
          <a:stretch>
            <a:fillRect/>
          </a:stretch>
        </p:blipFill>
        <p:spPr>
          <a:xfrm>
            <a:off x="9453415" y="-5669280"/>
            <a:ext cx="5477201" cy="3322064"/>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Multi-head attention ve Add &amp; norm: bloğun alt yarısı.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Feed-Forward Networks</a:t>
            </a:r>
          </a:p>
        </p:txBody>
      </p:sp>
      <p:pic>
        <p:nvPicPr>
          <p:cNvPr id="3" name="!!encalt" descr="enc_alt.png"/>
          <p:cNvPicPr>
            <a:picLocks noChangeAspect="1"/>
          </p:cNvPicPr>
          <p:nvPr/>
        </p:nvPicPr>
        <p:blipFill>
          <a:blip r:embed="rId3"/>
          <a:stretch>
            <a:fillRect/>
          </a:stretch>
        </p:blipFill>
        <p:spPr>
          <a:xfrm>
            <a:off x="9453415" y="5699504"/>
            <a:ext cx="5477201" cy="5456176"/>
          </a:xfrm>
          <a:prstGeom prst="rect">
            <a:avLst/>
          </a:prstGeom>
        </p:spPr>
      </p:pic>
      <p:pic>
        <p:nvPicPr>
          <p:cNvPr id="4" name="!!encust" descr="enc_ust.png"/>
          <p:cNvPicPr>
            <a:picLocks noChangeAspect="1"/>
          </p:cNvPicPr>
          <p:nvPr/>
        </p:nvPicPr>
        <p:blipFill>
          <a:blip r:embed="rId4"/>
          <a:stretch>
            <a:fillRect/>
          </a:stretch>
        </p:blipFill>
        <p:spPr>
          <a:xfrm>
            <a:off x="9453415" y="2377440"/>
            <a:ext cx="5477201" cy="3322064"/>
          </a:xfrm>
          <a:prstGeom prst="rect">
            <a:avLst/>
          </a:prstGeom>
        </p:spPr>
      </p:pic>
      <p:sp>
        <p:nvSpPr>
          <p:cNvPr id="5" name="TextBox 4"/>
          <p:cNvSpPr txBox="1"/>
          <p:nvPr/>
        </p:nvSpPr>
        <p:spPr>
          <a:xfrm>
            <a:off x="2011680" y="4206240"/>
            <a:ext cx="6949440" cy="2377440"/>
          </a:xfrm>
          <a:prstGeom prst="rect">
            <a:avLst/>
          </a:prstGeom>
          <a:noFill/>
        </p:spPr>
        <p:txBody>
          <a:bodyPr wrap="square" lIns="0" tIns="0" rIns="0" bIns="0">
            <a:spAutoFit/>
          </a:bodyPr>
          <a:lstStyle/>
          <a:p>
            <a:pPr algn="l">
              <a:lnSpc>
                <a:spcPct val="110000"/>
              </a:lnSpc>
            </a:pPr>
            <a:r>
              <a:rPr sz="5200" b="0">
                <a:solidFill>
                  <a:srgbClr val="9A9A9A"/>
                </a:solidFill>
                <a:latin typeface="Helvetica Neue"/>
              </a:rPr>
              <a:t>Feed-Forward</a:t>
            </a:r>
          </a:p>
          <a:p>
            <a:pPr algn="l">
              <a:lnSpc>
                <a:spcPct val="110000"/>
              </a:lnSpc>
            </a:pPr>
            <a:r>
              <a:rPr sz="5200" b="0">
                <a:solidFill>
                  <a:srgbClr val="9A9A9A"/>
                </a:solidFill>
                <a:latin typeface="Helvetica Neue"/>
              </a:rPr>
              <a:t>Networks</a:t>
            </a:r>
          </a:p>
        </p:txBody>
      </p:sp>
      <p:sp>
        <p:nvSpPr>
          <p:cNvPr id="6" name="Rectangle 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Üst yarı yerine oturunca encoder bloğu tamamlanıyor.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Feed-Forward Networks</a:t>
            </a:r>
          </a:p>
        </p:txBody>
      </p:sp>
      <p:pic>
        <p:nvPicPr>
          <p:cNvPr id="3" name="!!sahne" descr="mh08.png"/>
          <p:cNvPicPr>
            <a:picLocks noChangeAspect="1"/>
          </p:cNvPicPr>
          <p:nvPr/>
        </p:nvPicPr>
        <p:blipFill>
          <a:blip r:embed="rId3"/>
          <a:stretch>
            <a:fillRect/>
          </a:stretch>
        </p:blipFill>
        <p:spPr>
          <a:xfrm>
            <a:off x="5759303" y="3118927"/>
            <a:ext cx="12865425" cy="747814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token için ayrı çalışan, ReLU'lu küçük bir ağ.</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Encoder</a:t>
            </a:r>
          </a:p>
        </p:txBody>
      </p:sp>
      <p:pic>
        <p:nvPicPr>
          <p:cNvPr id="3" name="!!sahne" descr="mh09.png"/>
          <p:cNvPicPr>
            <a:picLocks noChangeAspect="1"/>
          </p:cNvPicPr>
          <p:nvPr/>
        </p:nvPicPr>
        <p:blipFill>
          <a:blip r:embed="rId3"/>
          <a:stretch>
            <a:fillRect/>
          </a:stretch>
        </p:blipFill>
        <p:spPr>
          <a:xfrm>
            <a:off x="4186443" y="3702863"/>
            <a:ext cx="16011144" cy="6310274"/>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Multi-Head Attention, Add &amp; Norm, FFN, Add &amp; Norm.</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Encoder</a:t>
            </a:r>
          </a:p>
        </p:txBody>
      </p:sp>
      <p:pic>
        <p:nvPicPr>
          <p:cNvPr id="3" name="!!encY" descr="mh10.png"/>
          <p:cNvPicPr>
            <a:picLocks noChangeAspect="1"/>
          </p:cNvPicPr>
          <p:nvPr/>
        </p:nvPicPr>
        <p:blipFill>
          <a:blip r:embed="rId3"/>
          <a:stretch>
            <a:fillRect/>
          </a:stretch>
        </p:blipFill>
        <p:spPr>
          <a:xfrm>
            <a:off x="5203622" y="2911724"/>
            <a:ext cx="13976787" cy="7892552"/>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Soldan sağa: kaynak metinden encoder çıktısına.</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Encoder</a:t>
            </a:r>
          </a:p>
        </p:txBody>
      </p:sp>
      <p:pic>
        <p:nvPicPr>
          <p:cNvPr id="3" name="!!encY" descr="mh10.png"/>
          <p:cNvPicPr>
            <a:picLocks noChangeAspect="1"/>
          </p:cNvPicPr>
          <p:nvPr/>
        </p:nvPicPr>
        <p:blipFill>
          <a:blip r:embed="rId2"/>
          <a:stretch>
            <a:fillRect/>
          </a:stretch>
        </p:blipFill>
        <p:spPr>
          <a:xfrm rot="16200000">
            <a:off x="7802895" y="4288068"/>
            <a:ext cx="8778240" cy="4956985"/>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blok, dik gösterim. n kez tekrarlanır.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Encoder</a:t>
            </a:r>
          </a:p>
        </p:txBody>
      </p:sp>
      <p:pic>
        <p:nvPicPr>
          <p:cNvPr id="3" name="!!enc12" descr="enc12.png"/>
          <p:cNvPicPr>
            <a:picLocks noChangeAspect="1"/>
          </p:cNvPicPr>
          <p:nvPr/>
        </p:nvPicPr>
        <p:blipFill>
          <a:blip r:embed="rId3"/>
          <a:stretch>
            <a:fillRect/>
          </a:stretch>
        </p:blipFill>
        <p:spPr>
          <a:xfrm>
            <a:off x="8357223" y="2377440"/>
            <a:ext cx="3392157" cy="8778240"/>
          </a:xfrm>
          <a:prstGeom prst="rect">
            <a:avLst/>
          </a:prstGeom>
        </p:spPr>
      </p:pic>
      <p:pic>
        <p:nvPicPr>
          <p:cNvPr id="4" name="!!dec12" descr="dec12.png"/>
          <p:cNvPicPr>
            <a:picLocks noChangeAspect="1"/>
          </p:cNvPicPr>
          <p:nvPr/>
        </p:nvPicPr>
        <p:blipFill>
          <a:blip r:embed="rId4"/>
          <a:stretch>
            <a:fillRect/>
          </a:stretch>
        </p:blipFill>
        <p:spPr>
          <a:xfrm>
            <a:off x="25237440" y="2377440"/>
            <a:ext cx="4277427" cy="8778240"/>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Encoder tamam. Peki üretimi kim yapıyor?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Encoder ve Decoder</a:t>
            </a:r>
          </a:p>
        </p:txBody>
      </p:sp>
      <p:pic>
        <p:nvPicPr>
          <p:cNvPr id="3" name="!!enc12" descr="enc12.png"/>
          <p:cNvPicPr>
            <a:picLocks noChangeAspect="1"/>
          </p:cNvPicPr>
          <p:nvPr/>
        </p:nvPicPr>
        <p:blipFill>
          <a:blip r:embed="rId3"/>
          <a:stretch>
            <a:fillRect/>
          </a:stretch>
        </p:blipFill>
        <p:spPr>
          <a:xfrm>
            <a:off x="8357223" y="2377440"/>
            <a:ext cx="3392157" cy="8778240"/>
          </a:xfrm>
          <a:prstGeom prst="rect">
            <a:avLst/>
          </a:prstGeom>
        </p:spPr>
      </p:pic>
      <p:pic>
        <p:nvPicPr>
          <p:cNvPr id="4" name="!!dec12" descr="dec12.png"/>
          <p:cNvPicPr>
            <a:picLocks noChangeAspect="1"/>
          </p:cNvPicPr>
          <p:nvPr/>
        </p:nvPicPr>
        <p:blipFill>
          <a:blip r:embed="rId4"/>
          <a:stretch>
            <a:fillRect/>
          </a:stretch>
        </p:blipFill>
        <p:spPr>
          <a:xfrm>
            <a:off x="11749380" y="2377440"/>
            <a:ext cx="4277427" cy="8778240"/>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İki blok; aradaki bağ yine attention.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Decoder</a:t>
            </a:r>
          </a:p>
        </p:txBody>
      </p:sp>
      <p:pic>
        <p:nvPicPr>
          <p:cNvPr id="3" name="!!sahne" descr="mh13.png"/>
          <p:cNvPicPr>
            <a:picLocks noChangeAspect="1"/>
          </p:cNvPicPr>
          <p:nvPr/>
        </p:nvPicPr>
        <p:blipFill>
          <a:blip r:embed="rId3"/>
          <a:stretch>
            <a:fillRect/>
          </a:stretch>
        </p:blipFill>
        <p:spPr>
          <a:xfrm>
            <a:off x="7422112" y="2377440"/>
            <a:ext cx="9539806"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Üç kat: masked attention, cross attention, FFN.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Cross Attention</a:t>
            </a:r>
          </a:p>
        </p:txBody>
      </p:sp>
      <p:pic>
        <p:nvPicPr>
          <p:cNvPr id="3" name="!!sahne" descr="mh14.png"/>
          <p:cNvPicPr>
            <a:picLocks noChangeAspect="1"/>
          </p:cNvPicPr>
          <p:nvPr/>
        </p:nvPicPr>
        <p:blipFill>
          <a:blip r:embed="rId3"/>
          <a:stretch>
            <a:fillRect/>
          </a:stretch>
        </p:blipFill>
        <p:spPr>
          <a:xfrm>
            <a:off x="7332162" y="4418655"/>
            <a:ext cx="9719706" cy="487869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Normal Attention</a:t>
            </a:r>
          </a:p>
        </p:txBody>
      </p:sp>
      <p:pic>
        <p:nvPicPr>
          <p:cNvPr id="3" name="!!sahne" descr="mh15.png"/>
          <p:cNvPicPr>
            <a:picLocks noChangeAspect="1"/>
          </p:cNvPicPr>
          <p:nvPr/>
        </p:nvPicPr>
        <p:blipFill>
          <a:blip r:embed="rId3"/>
          <a:stretch>
            <a:fillRect/>
          </a:stretch>
        </p:blipFill>
        <p:spPr>
          <a:xfrm>
            <a:off x="4186443" y="3679317"/>
            <a:ext cx="16011144" cy="6357366"/>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Hatırlatma: üç matris de tek bir kaynaktan geliyordu.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Normal Attention</a:t>
            </a:r>
          </a:p>
        </p:txBody>
      </p:sp>
      <p:pic>
        <p:nvPicPr>
          <p:cNvPr id="3" name="!!sahne" descr="mh16.png"/>
          <p:cNvPicPr>
            <a:picLocks noChangeAspect="1"/>
          </p:cNvPicPr>
          <p:nvPr/>
        </p:nvPicPr>
        <p:blipFill>
          <a:blip r:embed="rId3"/>
          <a:stretch>
            <a:fillRect/>
          </a:stretch>
        </p:blipFill>
        <p:spPr>
          <a:xfrm>
            <a:off x="7412218" y="2841087"/>
            <a:ext cx="9559595" cy="8033827"/>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akış, dikey gösterim.</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Normal Attention</a:t>
            </a:r>
          </a:p>
        </p:txBody>
      </p:sp>
      <p:pic>
        <p:nvPicPr>
          <p:cNvPr id="3" name="!!sahne" descr="mh17.png"/>
          <p:cNvPicPr>
            <a:picLocks noChangeAspect="1"/>
          </p:cNvPicPr>
          <p:nvPr/>
        </p:nvPicPr>
        <p:blipFill>
          <a:blip r:embed="rId3"/>
          <a:stretch>
            <a:fillRect/>
          </a:stretch>
        </p:blipFill>
        <p:spPr>
          <a:xfrm>
            <a:off x="7106122" y="2775158"/>
            <a:ext cx="10171786" cy="816568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Key, Query ve Value'nun üçü de bir önceki katmandan.</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Cross Attention</a:t>
            </a:r>
          </a:p>
        </p:txBody>
      </p:sp>
      <p:pic>
        <p:nvPicPr>
          <p:cNvPr id="3" name="!!sahne" descr="mh18.png"/>
          <p:cNvPicPr>
            <a:picLocks noChangeAspect="1"/>
          </p:cNvPicPr>
          <p:nvPr/>
        </p:nvPicPr>
        <p:blipFill>
          <a:blip r:embed="rId3"/>
          <a:stretch>
            <a:fillRect/>
          </a:stretch>
        </p:blipFill>
        <p:spPr>
          <a:xfrm>
            <a:off x="6300856" y="2775158"/>
            <a:ext cx="11782318" cy="816568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Key ve Value encoder'dan, Query decoder'dan gelir.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Masked Attention</a:t>
            </a:r>
          </a:p>
        </p:txBody>
      </p:sp>
      <p:pic>
        <p:nvPicPr>
          <p:cNvPr id="3" name="!!sahne" descr="mh19.png"/>
          <p:cNvPicPr>
            <a:picLocks noChangeAspect="1"/>
          </p:cNvPicPr>
          <p:nvPr/>
        </p:nvPicPr>
        <p:blipFill>
          <a:blip r:embed="rId3"/>
          <a:stretch>
            <a:fillRect/>
          </a:stretch>
        </p:blipFill>
        <p:spPr>
          <a:xfrm>
            <a:off x="7304132" y="2377440"/>
            <a:ext cx="9775767"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Decoder'ın en alt katmanı.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Masked Attention</a:t>
            </a:r>
          </a:p>
        </p:txBody>
      </p:sp>
      <p:pic>
        <p:nvPicPr>
          <p:cNvPr id="3" name="!!sahne" descr="mh20.png"/>
          <p:cNvPicPr>
            <a:picLocks noChangeAspect="1"/>
          </p:cNvPicPr>
          <p:nvPr/>
        </p:nvPicPr>
        <p:blipFill>
          <a:blip r:embed="rId3"/>
          <a:stretch>
            <a:fillRect/>
          </a:stretch>
        </p:blipFill>
        <p:spPr>
          <a:xfrm>
            <a:off x="7124959" y="4074886"/>
            <a:ext cx="10134112" cy="5566227"/>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Maskeleme tam olarak burada uygulanıyor.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Masked Attention</a:t>
            </a:r>
          </a:p>
        </p:txBody>
      </p:sp>
      <p:pic>
        <p:nvPicPr>
          <p:cNvPr id="3" name="!!sahne" descr="mh21.png"/>
          <p:cNvPicPr>
            <a:picLocks noChangeAspect="1"/>
          </p:cNvPicPr>
          <p:nvPr/>
        </p:nvPicPr>
        <p:blipFill>
          <a:blip r:embed="rId3"/>
          <a:stretch>
            <a:fillRect/>
          </a:stretch>
        </p:blipFill>
        <p:spPr>
          <a:xfrm>
            <a:off x="4186443" y="3279038"/>
            <a:ext cx="16011144" cy="715792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Aynı boru hattı; tek fark maskeleme adımı.</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Unmasked Attention</a:t>
            </a:r>
          </a:p>
        </p:txBody>
      </p:sp>
      <p:pic>
        <p:nvPicPr>
          <p:cNvPr id="3" name="!!sahne" descr="mh22.png"/>
          <p:cNvPicPr>
            <a:picLocks noChangeAspect="1"/>
          </p:cNvPicPr>
          <p:nvPr/>
        </p:nvPicPr>
        <p:blipFill>
          <a:blip r:embed="rId3"/>
          <a:stretch>
            <a:fillRect/>
          </a:stretch>
        </p:blipFill>
        <p:spPr>
          <a:xfrm>
            <a:off x="7478146" y="2963525"/>
            <a:ext cx="9427738" cy="7788951"/>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Maskesiz: her token bütün cümleyi görüyor.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Unmasked vs Masked</a:t>
            </a:r>
          </a:p>
        </p:txBody>
      </p:sp>
      <p:pic>
        <p:nvPicPr>
          <p:cNvPr id="3" name="!!sahne" descr="mh23.png"/>
          <p:cNvPicPr>
            <a:picLocks noChangeAspect="1"/>
          </p:cNvPicPr>
          <p:nvPr/>
        </p:nvPicPr>
        <p:blipFill>
          <a:blip r:embed="rId3"/>
          <a:stretch>
            <a:fillRect/>
          </a:stretch>
        </p:blipFill>
        <p:spPr>
          <a:xfrm>
            <a:off x="4186443" y="3194274"/>
            <a:ext cx="16011144" cy="7327453"/>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Maskeliyken üst üçgen sıfır: gelecek görünmüyor.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a:t>
            </a:r>
          </a:p>
        </p:txBody>
      </p:sp>
      <p:pic>
        <p:nvPicPr>
          <p:cNvPr id="3" name="!!sahne" descr="mh24.png"/>
          <p:cNvPicPr>
            <a:picLocks noChangeAspect="1"/>
          </p:cNvPicPr>
          <p:nvPr/>
        </p:nvPicPr>
        <p:blipFill>
          <a:blip r:embed="rId3"/>
          <a:stretch>
            <a:fillRect/>
          </a:stretch>
        </p:blipFill>
        <p:spPr>
          <a:xfrm>
            <a:off x="6228485" y="2377440"/>
            <a:ext cx="11927061"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Tokenize, embedding, encoder ve decoder.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a:t>
            </a:r>
          </a:p>
        </p:txBody>
      </p:sp>
      <p:pic>
        <p:nvPicPr>
          <p:cNvPr id="3" name="!!sahne" descr="mh25.png"/>
          <p:cNvPicPr>
            <a:picLocks noChangeAspect="1"/>
          </p:cNvPicPr>
          <p:nvPr/>
        </p:nvPicPr>
        <p:blipFill>
          <a:blip r:embed="rId3"/>
          <a:stretch>
            <a:fillRect/>
          </a:stretch>
        </p:blipFill>
        <p:spPr>
          <a:xfrm>
            <a:off x="6231513" y="2377440"/>
            <a:ext cx="11921005"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Decoder çıkışında Linear ve Softmax.</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6.png"/>
          <p:cNvPicPr>
            <a:picLocks noChangeAspect="1"/>
          </p:cNvPicPr>
          <p:nvPr/>
        </p:nvPicPr>
        <p:blipFill>
          <a:blip r:embed="rId3"/>
          <a:stretch>
            <a:fillRect/>
          </a:stretch>
        </p:blipFill>
        <p:spPr>
          <a:xfrm>
            <a:off x="6566755" y="2377440"/>
            <a:ext cx="11250520" cy="8961120"/>
          </a:xfrm>
          <a:prstGeom prst="rect">
            <a:avLst/>
          </a:prstGeom>
        </p:spPr>
      </p:pic>
      <p:pic>
        <p:nvPicPr>
          <p:cNvPr id="4" name="!!urun" descr="urun_jane.png"/>
          <p:cNvPicPr>
            <a:picLocks noChangeAspect="1"/>
          </p:cNvPicPr>
          <p:nvPr/>
        </p:nvPicPr>
        <p:blipFill>
          <a:blip r:embed="rId4"/>
          <a:stretch>
            <a:fillRect/>
          </a:stretch>
        </p:blipFill>
        <p:spPr>
          <a:xfrm>
            <a:off x="15758524" y="2505578"/>
            <a:ext cx="1008019" cy="504010"/>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[BOS] ile başlanır; ilk kelime üretilir.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6.png"/>
          <p:cNvPicPr>
            <a:picLocks noChangeAspect="1"/>
          </p:cNvPicPr>
          <p:nvPr/>
        </p:nvPicPr>
        <p:blipFill>
          <a:blip r:embed="rId2"/>
          <a:stretch>
            <a:fillRect/>
          </a:stretch>
        </p:blipFill>
        <p:spPr>
          <a:xfrm>
            <a:off x="6566755" y="2377440"/>
            <a:ext cx="11250520" cy="8961120"/>
          </a:xfrm>
          <a:prstGeom prst="rect">
            <a:avLst/>
          </a:prstGeom>
        </p:spPr>
      </p:pic>
      <p:sp>
        <p:nvSpPr>
          <p:cNvPr id="4" name="Rectangle 3"/>
          <p:cNvSpPr/>
          <p:nvPr/>
        </p:nvSpPr>
        <p:spPr>
          <a:xfrm>
            <a:off x="15694516" y="2441570"/>
            <a:ext cx="1136035" cy="6320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urun" descr="urun_jane.png"/>
          <p:cNvPicPr>
            <a:picLocks noChangeAspect="1"/>
          </p:cNvPicPr>
          <p:nvPr/>
        </p:nvPicPr>
        <p:blipFill>
          <a:blip r:embed="rId3"/>
          <a:stretch>
            <a:fillRect/>
          </a:stretch>
        </p:blipFill>
        <p:spPr>
          <a:xfrm>
            <a:off x="18151649" y="2505578"/>
            <a:ext cx="1008019" cy="504010"/>
          </a:xfrm>
          <a:prstGeom prst="rect">
            <a:avLst/>
          </a:prstGeom>
        </p:spPr>
      </p:pic>
      <p:sp>
        <p:nvSpPr>
          <p:cNvPr id="6" name="Rectangle 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[BOS] ile başlanır; ilk kelime üretilir.</a:t>
            </a:r>
          </a:p>
        </p:txBody>
      </p:sp>
    </p:spTree>
  </p:cSld>
  <p:clrMapOvr>
    <a:masterClrMapping/>
  </p:clrMapOvr>
  <mc:AlternateContent xmlns:mc="http://schemas.openxmlformats.org/markup-compatibility/2006" xmlns:p159="http://schemas.microsoft.com/office/powerpoint/2015/09/main">
    <mc:Choice Requires="p159">
      <p:transition spd="slow" advTm="10">
        <p159:morph option="byObject"/>
      </p:transition>
    </mc:Choice>
    <mc:Fallback xmlns:p14="http://schemas.microsoft.com/office/powerpoint/2010/main" xmlns="">
      <p:transition spd="slow" advTm="10">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6.png"/>
          <p:cNvPicPr>
            <a:picLocks noChangeAspect="1"/>
          </p:cNvPicPr>
          <p:nvPr/>
        </p:nvPicPr>
        <p:blipFill>
          <a:blip r:embed="rId2"/>
          <a:stretch>
            <a:fillRect/>
          </a:stretch>
        </p:blipFill>
        <p:spPr>
          <a:xfrm>
            <a:off x="6566755" y="2377440"/>
            <a:ext cx="11250520" cy="8961120"/>
          </a:xfrm>
          <a:prstGeom prst="rect">
            <a:avLst/>
          </a:prstGeom>
        </p:spPr>
      </p:pic>
      <p:sp>
        <p:nvSpPr>
          <p:cNvPr id="4" name="Rectangle 3"/>
          <p:cNvSpPr/>
          <p:nvPr/>
        </p:nvSpPr>
        <p:spPr>
          <a:xfrm>
            <a:off x="15694516" y="2441570"/>
            <a:ext cx="1136035" cy="6320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urun" descr="urun_jane.png"/>
          <p:cNvPicPr>
            <a:picLocks noChangeAspect="1"/>
          </p:cNvPicPr>
          <p:nvPr/>
        </p:nvPicPr>
        <p:blipFill>
          <a:blip r:embed="rId3"/>
          <a:stretch>
            <a:fillRect/>
          </a:stretch>
        </p:blipFill>
        <p:spPr>
          <a:xfrm>
            <a:off x="18151649" y="10808794"/>
            <a:ext cx="1059531" cy="529766"/>
          </a:xfrm>
          <a:prstGeom prst="rect">
            <a:avLst/>
          </a:prstGeom>
        </p:spPr>
      </p:pic>
      <p:sp>
        <p:nvSpPr>
          <p:cNvPr id="6" name="Rectangle 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[BOS] ile başlanır; ilk kelime üretilir.</a:t>
            </a:r>
          </a:p>
        </p:txBody>
      </p:sp>
    </p:spTree>
  </p:cSld>
  <p:clrMapOvr>
    <a:masterClrMapping/>
  </p:clrMapOvr>
  <mc:AlternateContent xmlns:mc="http://schemas.openxmlformats.org/markup-compatibility/2006" xmlns:p159="http://schemas.microsoft.com/office/powerpoint/2015/09/main">
    <mc:Choice Requires="p159">
      <p:transition spd="slow" advTm="10">
        <p159:morph option="byObject"/>
      </p:transition>
    </mc:Choice>
    <mc:Fallback xmlns:p14="http://schemas.microsoft.com/office/powerpoint/2010/main" xmlns="">
      <p:transition spd="slow" advTm="10">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7.png"/>
          <p:cNvPicPr>
            <a:picLocks noChangeAspect="1"/>
          </p:cNvPicPr>
          <p:nvPr/>
        </p:nvPicPr>
        <p:blipFill>
          <a:blip r:embed="rId2"/>
          <a:stretch>
            <a:fillRect/>
          </a:stretch>
        </p:blipFill>
        <p:spPr>
          <a:xfrm>
            <a:off x="6297250" y="2377440"/>
            <a:ext cx="11789530" cy="8961120"/>
          </a:xfrm>
          <a:prstGeom prst="rect">
            <a:avLst/>
          </a:prstGeom>
        </p:spPr>
      </p:pic>
      <p:pic>
        <p:nvPicPr>
          <p:cNvPr id="4" name="!!urun" descr="urun_jane.png"/>
          <p:cNvPicPr>
            <a:picLocks noChangeAspect="1"/>
          </p:cNvPicPr>
          <p:nvPr/>
        </p:nvPicPr>
        <p:blipFill>
          <a:blip r:embed="rId3"/>
          <a:stretch>
            <a:fillRect/>
          </a:stretch>
        </p:blipFill>
        <p:spPr>
          <a:xfrm>
            <a:off x="16048529" y="10808794"/>
            <a:ext cx="1059531" cy="529766"/>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Üretilen kelime girdiye geri beslenir.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8.png"/>
          <p:cNvPicPr>
            <a:picLocks noChangeAspect="1"/>
          </p:cNvPicPr>
          <p:nvPr/>
        </p:nvPicPr>
        <p:blipFill>
          <a:blip r:embed="rId3"/>
          <a:stretch>
            <a:fillRect/>
          </a:stretch>
        </p:blipFill>
        <p:spPr>
          <a:xfrm>
            <a:off x="6612530" y="2377440"/>
            <a:ext cx="11158970" cy="8961120"/>
          </a:xfrm>
          <a:prstGeom prst="rect">
            <a:avLst/>
          </a:prstGeom>
        </p:spPr>
      </p:pic>
      <p:pic>
        <p:nvPicPr>
          <p:cNvPr id="4" name="!!urun" descr="urun_visite.png"/>
          <p:cNvPicPr>
            <a:picLocks noChangeAspect="1"/>
          </p:cNvPicPr>
          <p:nvPr/>
        </p:nvPicPr>
        <p:blipFill>
          <a:blip r:embed="rId4"/>
          <a:stretch>
            <a:fillRect/>
          </a:stretch>
        </p:blipFill>
        <p:spPr>
          <a:xfrm>
            <a:off x="15751854" y="2504729"/>
            <a:ext cx="992851" cy="500669"/>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İkinci kelime üretiliyor.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8.png"/>
          <p:cNvPicPr>
            <a:picLocks noChangeAspect="1"/>
          </p:cNvPicPr>
          <p:nvPr/>
        </p:nvPicPr>
        <p:blipFill>
          <a:blip r:embed="rId2"/>
          <a:stretch>
            <a:fillRect/>
          </a:stretch>
        </p:blipFill>
        <p:spPr>
          <a:xfrm>
            <a:off x="6612530" y="2377440"/>
            <a:ext cx="11158970" cy="8961120"/>
          </a:xfrm>
          <a:prstGeom prst="rect">
            <a:avLst/>
          </a:prstGeom>
        </p:spPr>
      </p:pic>
      <p:sp>
        <p:nvSpPr>
          <p:cNvPr id="4" name="Rectangle 3"/>
          <p:cNvSpPr/>
          <p:nvPr/>
        </p:nvSpPr>
        <p:spPr>
          <a:xfrm>
            <a:off x="15687846" y="2440721"/>
            <a:ext cx="1120867" cy="62868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urun" descr="urun_visite.png"/>
          <p:cNvPicPr>
            <a:picLocks noChangeAspect="1"/>
          </p:cNvPicPr>
          <p:nvPr/>
        </p:nvPicPr>
        <p:blipFill>
          <a:blip r:embed="rId3"/>
          <a:stretch>
            <a:fillRect/>
          </a:stretch>
        </p:blipFill>
        <p:spPr>
          <a:xfrm>
            <a:off x="18153646" y="2504729"/>
            <a:ext cx="992851" cy="500669"/>
          </a:xfrm>
          <a:prstGeom prst="rect">
            <a:avLst/>
          </a:prstGeom>
        </p:spPr>
      </p:pic>
      <p:sp>
        <p:nvSpPr>
          <p:cNvPr id="6" name="Rectangle 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İkinci kelime üretiliyor.</a:t>
            </a:r>
          </a:p>
        </p:txBody>
      </p:sp>
    </p:spTree>
  </p:cSld>
  <p:clrMapOvr>
    <a:masterClrMapping/>
  </p:clrMapOvr>
  <mc:AlternateContent xmlns:mc="http://schemas.openxmlformats.org/markup-compatibility/2006" xmlns:p159="http://schemas.microsoft.com/office/powerpoint/2015/09/main">
    <mc:Choice Requires="p159">
      <p:transition spd="slow" advTm="10">
        <p159:morph option="byObject"/>
      </p:transition>
    </mc:Choice>
    <mc:Fallback xmlns:p14="http://schemas.microsoft.com/office/powerpoint/2010/main" xmlns="">
      <p:transition spd="slow" advTm="10">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8.png"/>
          <p:cNvPicPr>
            <a:picLocks noChangeAspect="1"/>
          </p:cNvPicPr>
          <p:nvPr/>
        </p:nvPicPr>
        <p:blipFill>
          <a:blip r:embed="rId2"/>
          <a:stretch>
            <a:fillRect/>
          </a:stretch>
        </p:blipFill>
        <p:spPr>
          <a:xfrm>
            <a:off x="6612530" y="2377440"/>
            <a:ext cx="11158970" cy="8961120"/>
          </a:xfrm>
          <a:prstGeom prst="rect">
            <a:avLst/>
          </a:prstGeom>
        </p:spPr>
      </p:pic>
      <p:sp>
        <p:nvSpPr>
          <p:cNvPr id="4" name="Rectangle 3"/>
          <p:cNvSpPr/>
          <p:nvPr/>
        </p:nvSpPr>
        <p:spPr>
          <a:xfrm>
            <a:off x="15687846" y="2440721"/>
            <a:ext cx="1120867" cy="62868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urun" descr="urun_visite.png"/>
          <p:cNvPicPr>
            <a:picLocks noChangeAspect="1"/>
          </p:cNvPicPr>
          <p:nvPr/>
        </p:nvPicPr>
        <p:blipFill>
          <a:blip r:embed="rId3"/>
          <a:stretch>
            <a:fillRect/>
          </a:stretch>
        </p:blipFill>
        <p:spPr>
          <a:xfrm>
            <a:off x="18153646" y="10833708"/>
            <a:ext cx="1054780" cy="504852"/>
          </a:xfrm>
          <a:prstGeom prst="rect">
            <a:avLst/>
          </a:prstGeom>
        </p:spPr>
      </p:pic>
      <p:sp>
        <p:nvSpPr>
          <p:cNvPr id="6" name="Rectangle 5"/>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İkinci kelime üretiliyor.</a:t>
            </a:r>
          </a:p>
        </p:txBody>
      </p:sp>
    </p:spTree>
  </p:cSld>
  <p:clrMapOvr>
    <a:masterClrMapping/>
  </p:clrMapOvr>
  <mc:AlternateContent xmlns:mc="http://schemas.openxmlformats.org/markup-compatibility/2006" xmlns:p159="http://schemas.microsoft.com/office/powerpoint/2015/09/main">
    <mc:Choice Requires="p159">
      <p:transition spd="slow" advTm="10">
        <p159:morph option="byObject"/>
      </p:transition>
    </mc:Choice>
    <mc:Fallback xmlns:p14="http://schemas.microsoft.com/office/powerpoint/2010/main" xmlns="">
      <p:transition spd="slow" advTm="10">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29.png"/>
          <p:cNvPicPr>
            <a:picLocks noChangeAspect="1"/>
          </p:cNvPicPr>
          <p:nvPr/>
        </p:nvPicPr>
        <p:blipFill>
          <a:blip r:embed="rId2"/>
          <a:stretch>
            <a:fillRect/>
          </a:stretch>
        </p:blipFill>
        <p:spPr>
          <a:xfrm>
            <a:off x="6250991" y="2377440"/>
            <a:ext cx="11882048" cy="8961120"/>
          </a:xfrm>
          <a:prstGeom prst="rect">
            <a:avLst/>
          </a:prstGeom>
        </p:spPr>
      </p:pic>
      <p:pic>
        <p:nvPicPr>
          <p:cNvPr id="4" name="!!urun" descr="urun_visite.png"/>
          <p:cNvPicPr>
            <a:picLocks noChangeAspect="1"/>
          </p:cNvPicPr>
          <p:nvPr/>
        </p:nvPicPr>
        <p:blipFill>
          <a:blip r:embed="rId3"/>
          <a:stretch>
            <a:fillRect/>
          </a:stretch>
        </p:blipFill>
        <p:spPr>
          <a:xfrm>
            <a:off x="16050526" y="10833708"/>
            <a:ext cx="1054780" cy="504852"/>
          </a:xfrm>
          <a:prstGeom prst="rect">
            <a:avLst/>
          </a:prstGeom>
        </p:spPr>
      </p:pic>
      <p:sp>
        <p:nvSpPr>
          <p:cNvPr id="5" name="Rectangle 4"/>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Her adımda girdi bir token uzuyor.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30.png"/>
          <p:cNvPicPr>
            <a:picLocks noChangeAspect="1"/>
          </p:cNvPicPr>
          <p:nvPr/>
        </p:nvPicPr>
        <p:blipFill>
          <a:blip r:embed="rId3"/>
          <a:stretch>
            <a:fillRect/>
          </a:stretch>
        </p:blipFill>
        <p:spPr>
          <a:xfrm>
            <a:off x="6156331" y="2377440"/>
            <a:ext cx="12071368" cy="8961120"/>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Üçüncü kelime.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xmlns:p14="http://schemas.microsoft.com/office/powerpoint/2010/main" xmlns:p159="http://schemas.microsoft.com/office/powerpoint/2015/09/main" xmlns:mc="http://schemas.openxmlformats.org/markup-compatibility/2006" mc:Ignorable="p14 p159">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latin typeface="Helvetica Neue"/>
              </a:rPr>
              <a:t>Transformer  ·  Üretim</a:t>
            </a:r>
          </a:p>
        </p:txBody>
      </p:sp>
      <p:pic>
        <p:nvPicPr>
          <p:cNvPr id="3" name="!!sahne" descr="mh31.png"/>
          <p:cNvPicPr>
            <a:picLocks noChangeAspect="1"/>
          </p:cNvPicPr>
          <p:nvPr/>
        </p:nvPicPr>
        <p:blipFill>
          <a:blip r:embed="rId3"/>
          <a:stretch>
            <a:fillRect/>
          </a:stretch>
        </p:blipFill>
        <p:spPr>
          <a:xfrm>
            <a:off x="4186443" y="2539700"/>
            <a:ext cx="16011144" cy="8636599"/>
          </a:xfrm>
          <a:prstGeom prst="rect">
            <a:avLst/>
          </a:prstGeom>
        </p:spPr>
      </p:pic>
      <p:sp>
        <p:nvSpPr>
          <p:cNvPr id="4" name="Rectangle 3"/>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2011680" y="11521440"/>
            <a:ext cx="20363688" cy="1280160"/>
          </a:xfrm>
          <a:prstGeom prst="rect">
            <a:avLst/>
          </a:prstGeom>
          <a:noFill/>
        </p:spPr>
        <p:txBody>
          <a:bodyPr wrap="square" lIns="0" tIns="0" rIns="0" bIns="0" anchor="ctr">
            <a:spAutoFit/>
          </a:bodyPr>
          <a:lstStyle/>
          <a:p>
            <a:pPr algn="ctr">
              <a:lnSpc>
                <a:spcPct val="120000"/>
              </a:lnSpc>
            </a:pPr>
            <a:r>
              <a:rPr sz="2400" b="0">
                <a:solidFill>
                  <a:srgbClr val="15263F"/>
                </a:solidFill>
                <a:latin typeface="Helvetica Neue"/>
              </a:rPr>
              <a:t>[EOS] gelince üretim biter.</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p14="http://schemas.microsoft.com/office/powerpoint/2010/main" xmlns="">
      <p:transition spd="slow">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22"/>
          </p:nvPr>
        </p:nvSpPr>
        <p:spPr/>
        <p:txBody>
          <a:bodyPr/>
          <a:lstStyle/>
          <a:p>
            <a:r>
              <a:rPr sz="3200">
                <a:solidFill>
                  <a:srgbClr val="1A1A1A"/>
                </a:solidFill>
              </a:rPr>
              <a:t>Transformer'dan Büyük Dil Modeline</a:t>
            </a:r>
          </a:p>
        </p:txBody>
      </p:sp>
      <p:sp>
        <p:nvSpPr>
          <p:cNvPr id="3" name="TextBox 2"/>
          <p:cNvSpPr txBox="1"/>
          <p:nvPr/>
        </p:nvSpPr>
        <p:spPr>
          <a:xfrm>
            <a:off x="2066543" y="1874519"/>
            <a:ext cx="20244816" cy="1737360"/>
          </a:xfrm>
          <a:prstGeom prst="rect">
            <a:avLst/>
          </a:prstGeom>
          <a:noFill/>
        </p:spPr>
        <p:txBody>
          <a:bodyPr wrap="square" lIns="0" tIns="0" rIns="0" bIns="0" anchor="t">
            <a:spAutoFit/>
          </a:bodyPr>
          <a:lstStyle/>
          <a:p>
            <a:pPr algn="ctr">
              <a:lnSpc>
                <a:spcPct val="115000"/>
              </a:lnSpc>
            </a:pPr>
            <a:r>
              <a:rPr sz="3400" b="0">
                <a:solidFill>
                  <a:srgbClr val="1A1A1A"/>
                </a:solidFill>
              </a:rPr>
              <a:t>GPT = </a:t>
            </a:r>
            <a:r>
              <a:rPr sz="3400" b="1">
                <a:solidFill>
                  <a:srgbClr val="1A1A1A"/>
                </a:solidFill>
              </a:rPr>
              <a:t>G</a:t>
            </a:r>
            <a:r>
              <a:rPr sz="3400" b="0">
                <a:solidFill>
                  <a:srgbClr val="1A1A1A"/>
                </a:solidFill>
              </a:rPr>
              <a:t>enerative </a:t>
            </a:r>
            <a:r>
              <a:rPr sz="3400" b="1">
                <a:solidFill>
                  <a:srgbClr val="1A1A1A"/>
                </a:solidFill>
              </a:rPr>
              <a:t>P</a:t>
            </a:r>
            <a:r>
              <a:rPr sz="3400" b="0">
                <a:solidFill>
                  <a:srgbClr val="1A1A1A"/>
                </a:solidFill>
              </a:rPr>
              <a:t>re-trained </a:t>
            </a:r>
            <a:r>
              <a:rPr sz="3400" b="1">
                <a:solidFill>
                  <a:srgbClr val="1A1A1A"/>
                </a:solidFill>
              </a:rPr>
              <a:t>T</a:t>
            </a:r>
            <a:r>
              <a:rPr sz="3400" b="0">
                <a:solidFill>
                  <a:srgbClr val="1A1A1A"/>
                </a:solidFill>
              </a:rPr>
              <a:t>ransformer — aynı mimari, internet ölçeğinde veriyle eğitilince </a:t>
            </a:r>
            <a:r>
              <a:rPr sz="3400" b="1">
                <a:solidFill>
                  <a:srgbClr val="1A1A1A"/>
                </a:solidFill>
              </a:rPr>
              <a:t>büyük dil modeli</a:t>
            </a:r>
            <a:r>
              <a:rPr sz="3400" b="0">
                <a:solidFill>
                  <a:srgbClr val="1A1A1A"/>
                </a:solidFill>
              </a:rPr>
              <a:t> oluyor.</a:t>
            </a:r>
          </a:p>
        </p:txBody>
      </p:sp>
      <p:pic>
        <p:nvPicPr>
          <p:cNvPr id="4" name="Picture 3" descr="llm.png"/>
          <p:cNvPicPr>
            <a:picLocks noChangeAspect="1"/>
          </p:cNvPicPr>
          <p:nvPr/>
        </p:nvPicPr>
        <p:blipFill>
          <a:blip r:embed="rId3"/>
          <a:stretch>
            <a:fillRect/>
          </a:stretch>
        </p:blipFill>
        <p:spPr>
          <a:xfrm>
            <a:off x="3689604" y="4206240"/>
            <a:ext cx="17007840" cy="6903955"/>
          </a:xfrm>
          <a:prstGeom prst="rect">
            <a:avLst/>
          </a:prstGeom>
          <a:ln w="12700">
            <a:solidFill>
              <a:srgbClr val="E2E2E2"/>
            </a:solidFill>
          </a:ln>
        </p:spPr>
      </p:pic>
      <p:sp>
        <p:nvSpPr>
          <p:cNvPr id="5" name="TextBox 4"/>
          <p:cNvSpPr txBox="1"/>
          <p:nvPr/>
        </p:nvSpPr>
        <p:spPr>
          <a:xfrm>
            <a:off x="1280160" y="12710160"/>
            <a:ext cx="12801600" cy="411480"/>
          </a:xfrm>
          <a:prstGeom prst="rect">
            <a:avLst/>
          </a:prstGeom>
          <a:noFill/>
        </p:spPr>
        <p:txBody>
          <a:bodyPr wrap="square" lIns="0" tIns="0" rIns="0" bIns="0" anchor="t">
            <a:spAutoFit/>
          </a:bodyPr>
          <a:lstStyle/>
          <a:p>
            <a:pPr algn="l"/>
            <a:r>
              <a:rPr sz="1500" b="0">
                <a:solidFill>
                  <a:srgbClr val="9A9A9A"/>
                </a:solidFill>
              </a:rPr>
              <a:t>Görsel: 'Klasik vs Üretken Yapay Zekâ' sunumundan</a:t>
            </a:r>
          </a:p>
        </p:txBody>
      </p:sp>
      <p:sp>
        <p:nvSpPr>
          <p:cNvPr id="6" name="Rectangle 5"/>
          <p:cNvSpPr/>
          <p:nvPr/>
        </p:nvSpPr>
        <p:spPr>
          <a:xfrm>
            <a:off x="1280160" y="11384280"/>
            <a:ext cx="21826728" cy="118872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a:p>
        </p:txBody>
      </p:sp>
      <p:sp>
        <p:nvSpPr>
          <p:cNvPr id="7" name="TextBox 6"/>
          <p:cNvSpPr txBox="1"/>
          <p:nvPr/>
        </p:nvSpPr>
        <p:spPr>
          <a:xfrm>
            <a:off x="2011680" y="11384280"/>
            <a:ext cx="20363688" cy="1188720"/>
          </a:xfrm>
          <a:prstGeom prst="rect">
            <a:avLst/>
          </a:prstGeom>
          <a:noFill/>
        </p:spPr>
        <p:txBody>
          <a:bodyPr wrap="square" lIns="0" tIns="0" rIns="0" bIns="0" anchor="ctr">
            <a:spAutoFit/>
          </a:bodyPr>
          <a:lstStyle/>
          <a:p>
            <a:pPr algn="ctr">
              <a:lnSpc>
                <a:spcPct val="120000"/>
              </a:lnSpc>
            </a:pPr>
            <a:r>
              <a:rPr sz="2400" b="0">
                <a:solidFill>
                  <a:srgbClr val="15263F"/>
                </a:solidFill>
              </a:rPr>
              <a:t>Ön eğitim dili öğretir, ince ayar işi öğretir, </a:t>
            </a:r>
            <a:r>
              <a:rPr sz="2400" b="1">
                <a:solidFill>
                  <a:srgbClr val="15263F"/>
                </a:solidFill>
              </a:rPr>
              <a:t>RLHF ise nasıl konuşacağını öğretir.</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rPr sz="3200">
                <a:solidFill>
                  <a:srgbClr val="1A1A1A"/>
                </a:solidFill>
                <a:latin typeface="Helvetica Neue"/>
              </a:rPr>
              <a:t>Eğitim verisi neye benziyor?</a:t>
            </a:r>
          </a:p>
        </p:txBody>
      </p:sp>
      <p:sp>
        <p:nvSpPr>
          <p:cNvPr id="3" name="Rounded Rectangle 2"/>
          <p:cNvSpPr/>
          <p:nvPr/>
        </p:nvSpPr>
        <p:spPr>
          <a:xfrm>
            <a:off x="1280160"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783080" y="2560320"/>
            <a:ext cx="4206240" cy="713232"/>
          </a:xfrm>
          <a:prstGeom prst="roundRect">
            <a:avLst>
              <a:gd name="adj" fmla="val 35000"/>
            </a:avLst>
          </a:prstGeom>
          <a:solidFill>
            <a:srgbClr val="8A3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783080" y="2560320"/>
            <a:ext cx="4206240" cy="713232"/>
          </a:xfrm>
          <a:prstGeom prst="rect">
            <a:avLst/>
          </a:prstGeom>
          <a:noFill/>
        </p:spPr>
        <p:txBody>
          <a:bodyPr wrap="square" lIns="0" rIns="0" tIns="0" bIns="0" anchor="ctr">
            <a:spAutoFit/>
          </a:bodyPr>
          <a:lstStyle/>
          <a:p>
            <a:pPr algn="ctr"/>
            <a:r>
              <a:rPr sz="1900" b="1">
                <a:solidFill>
                  <a:srgbClr val="FFFFFF"/>
                </a:solidFill>
                <a:latin typeface="Helvetica Neue"/>
              </a:rPr>
              <a:t>①  ÖN EĞİTİM</a:t>
            </a:r>
          </a:p>
        </p:txBody>
      </p:sp>
      <p:sp>
        <p:nvSpPr>
          <p:cNvPr id="6" name="TextBox 5"/>
          <p:cNvSpPr txBox="1"/>
          <p:nvPr/>
        </p:nvSpPr>
        <p:spPr>
          <a:xfrm>
            <a:off x="1783080" y="3566160"/>
            <a:ext cx="5897880" cy="640080"/>
          </a:xfrm>
          <a:prstGeom prst="rect">
            <a:avLst/>
          </a:prstGeom>
          <a:noFill/>
        </p:spPr>
        <p:txBody>
          <a:bodyPr wrap="square" lIns="0" rIns="0" tIns="0" bIns="0">
            <a:spAutoFit/>
          </a:bodyPr>
          <a:lstStyle/>
          <a:p>
            <a:pPr algn="l"/>
            <a:r>
              <a:rPr sz="2300" b="1">
                <a:solidFill>
                  <a:srgbClr val="15263F"/>
                </a:solidFill>
                <a:latin typeface="Helvetica Neue"/>
              </a:rPr>
              <a:t>Ham metin — etiket yok</a:t>
            </a:r>
          </a:p>
        </p:txBody>
      </p:sp>
      <p:sp>
        <p:nvSpPr>
          <p:cNvPr id="7" name="Rectangle 6"/>
          <p:cNvSpPr/>
          <p:nvPr/>
        </p:nvSpPr>
        <p:spPr>
          <a:xfrm>
            <a:off x="1783080"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11680" y="4553712"/>
            <a:ext cx="5440680" cy="2697480"/>
          </a:xfrm>
          <a:prstGeom prst="rect">
            <a:avLst/>
          </a:prstGeom>
          <a:noFill/>
        </p:spPr>
        <p:txBody>
          <a:bodyPr wrap="square" lIns="0" rIns="0" tIns="0" bIns="0">
            <a:spAutoFit/>
          </a:bodyPr>
          <a:lstStyle/>
          <a:p>
            <a:pPr algn="l">
              <a:lnSpc>
                <a:spcPct val="130000"/>
              </a:lnSpc>
              <a:spcAft>
                <a:spcPts val="0"/>
              </a:spcAft>
            </a:pPr>
            <a:r>
              <a:rPr sz="1400" b="0">
                <a:solidFill>
                  <a:srgbClr val="1A1A1A"/>
                </a:solidFill>
                <a:latin typeface="Consolas"/>
              </a:rPr>
              <a:t>"...Ankara, Türkiye'nin başkentidir ve</a:t>
            </a:r>
          </a:p>
          <a:p>
            <a:pPr algn="l">
              <a:lnSpc>
                <a:spcPct val="130000"/>
              </a:lnSpc>
              <a:spcAft>
                <a:spcPts val="0"/>
              </a:spcAft>
            </a:pPr>
            <a:r>
              <a:rPr sz="1400" b="0">
                <a:solidFill>
                  <a:srgbClr val="1A1A1A"/>
                </a:solidFill>
                <a:latin typeface="Consolas"/>
              </a:rPr>
              <a:t> ülkenin ikinci büyük şehridir..."</a:t>
            </a:r>
          </a:p>
          <a:p>
            <a:pPr algn="l">
              <a:lnSpc>
                <a:spcPct val="130000"/>
              </a:lnSpc>
              <a:spcAft>
                <a:spcPts val="0"/>
              </a:spcAft>
            </a:pPr>
            <a:r>
              <a:rPr sz="1400" b="0">
                <a:solidFill>
                  <a:srgbClr val="1A1A1A"/>
                </a:solidFill>
                <a:latin typeface="Consolas"/>
              </a:rPr>
              <a:t/>
            </a:r>
          </a:p>
          <a:p>
            <a:pPr algn="l">
              <a:lnSpc>
                <a:spcPct val="130000"/>
              </a:lnSpc>
              <a:spcAft>
                <a:spcPts val="0"/>
              </a:spcAft>
            </a:pPr>
            <a:r>
              <a:rPr sz="1400" b="0">
                <a:solidFill>
                  <a:srgbClr val="1A1A1A"/>
                </a:solidFill>
                <a:latin typeface="Consolas"/>
              </a:rPr>
              <a:t>girdi :  Ankara   ,      Türkiye'nin</a:t>
            </a:r>
          </a:p>
          <a:p>
            <a:pPr algn="l">
              <a:lnSpc>
                <a:spcPct val="130000"/>
              </a:lnSpc>
              <a:spcAft>
                <a:spcPts val="0"/>
              </a:spcAft>
            </a:pPr>
            <a:r>
              <a:rPr sz="1400" b="0">
                <a:solidFill>
                  <a:srgbClr val="1A1A1A"/>
                </a:solidFill>
                <a:latin typeface="Consolas"/>
              </a:rPr>
              <a:t>hedef :  ,     Türkiye'nin  başkentidir</a:t>
            </a:r>
          </a:p>
        </p:txBody>
      </p:sp>
      <p:sp>
        <p:nvSpPr>
          <p:cNvPr id="9" name="TextBox 8"/>
          <p:cNvSpPr txBox="1"/>
          <p:nvPr/>
        </p:nvSpPr>
        <p:spPr>
          <a:xfrm>
            <a:off x="1783080" y="7680960"/>
            <a:ext cx="5897880" cy="1554480"/>
          </a:xfrm>
          <a:prstGeom prst="rect">
            <a:avLst/>
          </a:prstGeom>
          <a:noFill/>
        </p:spPr>
        <p:txBody>
          <a:bodyPr wrap="square" lIns="0" rIns="0" tIns="0" bIns="0">
            <a:spAutoFit/>
          </a:bodyPr>
          <a:lstStyle/>
          <a:p>
            <a:pPr algn="l">
              <a:lnSpc>
                <a:spcPct val="135000"/>
              </a:lnSpc>
            </a:pPr>
            <a:r>
              <a:rPr sz="1800" b="0">
                <a:solidFill>
                  <a:srgbClr val="1A1A1A"/>
                </a:solidFill>
                <a:latin typeface="Helvetica Neue"/>
              </a:rPr>
              <a:t>Etiket, metnin kendisi. Hedef = girdinin bir sağa kaymış hâli.</a:t>
            </a:r>
          </a:p>
          <a:p>
            <a:pPr algn="l">
              <a:lnSpc>
                <a:spcPct val="135000"/>
              </a:lnSpc>
            </a:pPr>
            <a:r>
              <a:rPr sz="1800" b="0">
                <a:solidFill>
                  <a:srgbClr val="1A1A1A"/>
                </a:solidFill>
                <a:latin typeface="Helvetica Neue"/>
              </a:rPr>
              <a:t>İnsan etiketçi: sıfır.</a:t>
            </a:r>
          </a:p>
        </p:txBody>
      </p:sp>
      <p:cxnSp>
        <p:nvCxnSpPr>
          <p:cNvPr id="10" name="Connector 9"/>
          <p:cNvCxnSpPr/>
          <p:nvPr/>
        </p:nvCxnSpPr>
        <p:spPr>
          <a:xfrm>
            <a:off x="1783080"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783080" y="9692640"/>
            <a:ext cx="5897880" cy="411480"/>
          </a:xfrm>
          <a:prstGeom prst="rect">
            <a:avLst/>
          </a:prstGeom>
          <a:noFill/>
        </p:spPr>
        <p:txBody>
          <a:bodyPr wrap="square" lIns="0" rIns="0" tIns="0" bIns="0">
            <a:spAutoFit/>
          </a:bodyPr>
          <a:lstStyle/>
          <a:p>
            <a:pPr algn="l"/>
            <a:r>
              <a:rPr sz="1600" b="1">
                <a:solidFill>
                  <a:srgbClr val="8A8A8A"/>
                </a:solidFill>
                <a:latin typeface="Helvetica Neue"/>
              </a:rPr>
              <a:t>HACİM</a:t>
            </a:r>
          </a:p>
        </p:txBody>
      </p:sp>
      <p:sp>
        <p:nvSpPr>
          <p:cNvPr id="12" name="TextBox 11"/>
          <p:cNvSpPr txBox="1"/>
          <p:nvPr/>
        </p:nvSpPr>
        <p:spPr>
          <a:xfrm>
            <a:off x="1783080" y="10149840"/>
            <a:ext cx="5897880" cy="731520"/>
          </a:xfrm>
          <a:prstGeom prst="rect">
            <a:avLst/>
          </a:prstGeom>
          <a:noFill/>
        </p:spPr>
        <p:txBody>
          <a:bodyPr wrap="square" lIns="0" rIns="0" tIns="0" bIns="0">
            <a:spAutoFit/>
          </a:bodyPr>
          <a:lstStyle/>
          <a:p>
            <a:pPr algn="l"/>
            <a:r>
              <a:rPr sz="2200" b="1">
                <a:solidFill>
                  <a:srgbClr val="8A3B2F"/>
                </a:solidFill>
                <a:latin typeface="Helvetica Neue"/>
              </a:rPr>
              <a:t>trilyonlarca token</a:t>
            </a:r>
          </a:p>
        </p:txBody>
      </p:sp>
      <p:sp>
        <p:nvSpPr>
          <p:cNvPr id="13" name="Rounded Rectangle 12"/>
          <p:cNvSpPr/>
          <p:nvPr/>
        </p:nvSpPr>
        <p:spPr>
          <a:xfrm>
            <a:off x="8741664"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244584" y="2560320"/>
            <a:ext cx="4206240" cy="713232"/>
          </a:xfrm>
          <a:prstGeom prst="roundRect">
            <a:avLst>
              <a:gd name="adj" fmla="val 35000"/>
            </a:avLst>
          </a:prstGeom>
          <a:solidFill>
            <a:srgbClr val="C08A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44584" y="2560320"/>
            <a:ext cx="4206240" cy="713232"/>
          </a:xfrm>
          <a:prstGeom prst="rect">
            <a:avLst/>
          </a:prstGeom>
          <a:noFill/>
        </p:spPr>
        <p:txBody>
          <a:bodyPr wrap="square" lIns="0" rIns="0" tIns="0" bIns="0" anchor="ctr">
            <a:spAutoFit/>
          </a:bodyPr>
          <a:lstStyle/>
          <a:p>
            <a:pPr algn="ctr"/>
            <a:r>
              <a:rPr sz="1900" b="1">
                <a:solidFill>
                  <a:srgbClr val="FFFFFF"/>
                </a:solidFill>
                <a:latin typeface="Helvetica Neue"/>
              </a:rPr>
              <a:t>②  İNCE AYAR  (SFT)</a:t>
            </a:r>
          </a:p>
        </p:txBody>
      </p:sp>
      <p:sp>
        <p:nvSpPr>
          <p:cNvPr id="16" name="TextBox 15"/>
          <p:cNvSpPr txBox="1"/>
          <p:nvPr/>
        </p:nvSpPr>
        <p:spPr>
          <a:xfrm>
            <a:off x="9244584" y="3566160"/>
            <a:ext cx="5897880" cy="640080"/>
          </a:xfrm>
          <a:prstGeom prst="rect">
            <a:avLst/>
          </a:prstGeom>
          <a:noFill/>
        </p:spPr>
        <p:txBody>
          <a:bodyPr wrap="square" lIns="0" rIns="0" tIns="0" bIns="0">
            <a:spAutoFit/>
          </a:bodyPr>
          <a:lstStyle/>
          <a:p>
            <a:pPr algn="l"/>
            <a:r>
              <a:rPr sz="2300" b="1">
                <a:solidFill>
                  <a:srgbClr val="15263F"/>
                </a:solidFill>
                <a:latin typeface="Helvetica Neue"/>
              </a:rPr>
              <a:t>Talimat – cevap çiftleri</a:t>
            </a:r>
          </a:p>
        </p:txBody>
      </p:sp>
      <p:sp>
        <p:nvSpPr>
          <p:cNvPr id="17" name="Rectangle 16"/>
          <p:cNvSpPr/>
          <p:nvPr/>
        </p:nvSpPr>
        <p:spPr>
          <a:xfrm>
            <a:off x="9244584"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73184" y="4553712"/>
            <a:ext cx="5440680" cy="2697480"/>
          </a:xfrm>
          <a:prstGeom prst="rect">
            <a:avLst/>
          </a:prstGeom>
          <a:noFill/>
        </p:spPr>
        <p:txBody>
          <a:bodyPr wrap="square" lIns="0" rIns="0" tIns="0" bIns="0">
            <a:spAutoFit/>
          </a:bodyPr>
          <a:lstStyle/>
          <a:p>
            <a:pPr algn="l">
              <a:lnSpc>
                <a:spcPct val="130000"/>
              </a:lnSpc>
              <a:spcAft>
                <a:spcPts val="0"/>
              </a:spcAft>
            </a:pPr>
            <a:r>
              <a:rPr sz="1400" b="0">
                <a:solidFill>
                  <a:srgbClr val="1A1A1A"/>
                </a:solidFill>
                <a:latin typeface="Consolas"/>
              </a:rPr>
              <a:t>{</a:t>
            </a:r>
          </a:p>
          <a:p>
            <a:pPr algn="l">
              <a:lnSpc>
                <a:spcPct val="130000"/>
              </a:lnSpc>
            </a:pPr>
            <a:r>
              <a:rPr sz="1400" b="0">
                <a:solidFill>
                  <a:srgbClr val="1A1A1A"/>
                </a:solidFill>
                <a:latin typeface="Consolas"/>
              </a:rPr>
              <a:t>  "system"   : "Miuul destek asistanısın.",</a:t>
            </a:r>
          </a:p>
          <a:p>
            <a:pPr algn="l">
              <a:lnSpc>
                <a:spcPct val="130000"/>
              </a:lnSpc>
            </a:pPr>
            <a:r>
              <a:rPr sz="1400" b="0">
                <a:solidFill>
                  <a:srgbClr val="1A1A1A"/>
                </a:solidFill>
                <a:latin typeface="Consolas"/>
              </a:rPr>
              <a:t>  "user"     : "Data Scientist Path kaç saat?",</a:t>
            </a:r>
          </a:p>
          <a:p>
            <a:pPr algn="l">
              <a:lnSpc>
                <a:spcPct val="130000"/>
              </a:lnSpc>
            </a:pPr>
            <a:r>
              <a:rPr sz="1400" b="0">
                <a:solidFill>
                  <a:srgbClr val="1A1A1A"/>
                </a:solidFill>
                <a:latin typeface="Consolas"/>
              </a:rPr>
              <a:t>  "assistant": "68 saat, 9 modül, 300 USD."</a:t>
            </a:r>
          </a:p>
          <a:p>
            <a:pPr algn="l">
              <a:lnSpc>
                <a:spcPct val="130000"/>
              </a:lnSpc>
            </a:pPr>
            <a:r>
              <a:rPr sz="1400" b="0">
                <a:solidFill>
                  <a:srgbClr val="1A1A1A"/>
                </a:solidFill>
                <a:latin typeface="Consolas"/>
              </a:rPr>
              <a:t>}</a:t>
            </a:r>
          </a:p>
        </p:txBody>
      </p:sp>
      <p:sp>
        <p:nvSpPr>
          <p:cNvPr id="19" name="TextBox 18"/>
          <p:cNvSpPr txBox="1"/>
          <p:nvPr/>
        </p:nvSpPr>
        <p:spPr>
          <a:xfrm>
            <a:off x="9244584" y="7680960"/>
            <a:ext cx="5897880" cy="1554480"/>
          </a:xfrm>
          <a:prstGeom prst="rect">
            <a:avLst/>
          </a:prstGeom>
          <a:noFill/>
        </p:spPr>
        <p:txBody>
          <a:bodyPr wrap="square" lIns="0" rIns="0" tIns="0" bIns="0">
            <a:spAutoFit/>
          </a:bodyPr>
          <a:lstStyle/>
          <a:p>
            <a:pPr algn="l">
              <a:lnSpc>
                <a:spcPct val="135000"/>
              </a:lnSpc>
            </a:pPr>
            <a:r>
              <a:rPr sz="1800" b="0">
                <a:solidFill>
                  <a:srgbClr val="1A1A1A"/>
                </a:solidFill>
                <a:latin typeface="Helvetica Neue"/>
              </a:rPr>
              <a:t>Loss sadece assistant satırından hesaplanır — soru maskelenir.</a:t>
            </a:r>
          </a:p>
          <a:p>
            <a:pPr algn="l">
              <a:lnSpc>
                <a:spcPct val="135000"/>
              </a:lnSpc>
            </a:pPr>
            <a:r>
              <a:rPr sz="1800" b="0">
                <a:solidFill>
                  <a:srgbClr val="1A1A1A"/>
                </a:solidFill>
                <a:latin typeface="Helvetica Neue"/>
              </a:rPr>
              <a:t>SFT'nin imzası bu.</a:t>
            </a:r>
          </a:p>
        </p:txBody>
      </p:sp>
      <p:cxnSp>
        <p:nvCxnSpPr>
          <p:cNvPr id="20" name="Connector 19"/>
          <p:cNvCxnSpPr/>
          <p:nvPr/>
        </p:nvCxnSpPr>
        <p:spPr>
          <a:xfrm>
            <a:off x="9244584"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9244584" y="9692640"/>
            <a:ext cx="5897880" cy="411480"/>
          </a:xfrm>
          <a:prstGeom prst="rect">
            <a:avLst/>
          </a:prstGeom>
          <a:noFill/>
        </p:spPr>
        <p:txBody>
          <a:bodyPr wrap="square" lIns="0" rIns="0" tIns="0" bIns="0">
            <a:spAutoFit/>
          </a:bodyPr>
          <a:lstStyle/>
          <a:p>
            <a:pPr algn="l"/>
            <a:r>
              <a:rPr sz="1600" b="1">
                <a:solidFill>
                  <a:srgbClr val="8A8A8A"/>
                </a:solidFill>
                <a:latin typeface="Helvetica Neue"/>
              </a:rPr>
              <a:t>HACİM</a:t>
            </a:r>
          </a:p>
        </p:txBody>
      </p:sp>
      <p:sp>
        <p:nvSpPr>
          <p:cNvPr id="22" name="TextBox 21"/>
          <p:cNvSpPr txBox="1"/>
          <p:nvPr/>
        </p:nvSpPr>
        <p:spPr>
          <a:xfrm>
            <a:off x="9244584" y="10149840"/>
            <a:ext cx="5897880" cy="731520"/>
          </a:xfrm>
          <a:prstGeom prst="rect">
            <a:avLst/>
          </a:prstGeom>
          <a:noFill/>
        </p:spPr>
        <p:txBody>
          <a:bodyPr wrap="square" lIns="0" rIns="0" tIns="0" bIns="0">
            <a:spAutoFit/>
          </a:bodyPr>
          <a:lstStyle/>
          <a:p>
            <a:pPr algn="l"/>
            <a:r>
              <a:rPr sz="2200" b="1">
                <a:solidFill>
                  <a:srgbClr val="C08A2E"/>
                </a:solidFill>
                <a:latin typeface="Helvetica Neue"/>
              </a:rPr>
              <a:t>on binler – yüz binler diyalog</a:t>
            </a:r>
          </a:p>
        </p:txBody>
      </p:sp>
      <p:sp>
        <p:nvSpPr>
          <p:cNvPr id="23" name="Rounded Rectangle 22"/>
          <p:cNvSpPr/>
          <p:nvPr/>
        </p:nvSpPr>
        <p:spPr>
          <a:xfrm>
            <a:off x="16203168" y="2103120"/>
            <a:ext cx="6903720" cy="91440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6706088" y="2560320"/>
            <a:ext cx="4206240" cy="713232"/>
          </a:xfrm>
          <a:prstGeom prst="roundRect">
            <a:avLst>
              <a:gd name="adj" fmla="val 35000"/>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6706088" y="2560320"/>
            <a:ext cx="4206240" cy="713232"/>
          </a:xfrm>
          <a:prstGeom prst="rect">
            <a:avLst/>
          </a:prstGeom>
          <a:noFill/>
        </p:spPr>
        <p:txBody>
          <a:bodyPr wrap="square" lIns="0" rIns="0" tIns="0" bIns="0" anchor="ctr">
            <a:spAutoFit/>
          </a:bodyPr>
          <a:lstStyle/>
          <a:p>
            <a:pPr algn="ctr"/>
            <a:r>
              <a:rPr sz="1900" b="1">
                <a:solidFill>
                  <a:srgbClr val="FFFFFF"/>
                </a:solidFill>
                <a:latin typeface="Helvetica Neue"/>
              </a:rPr>
              <a:t>③  RLHF</a:t>
            </a:r>
          </a:p>
        </p:txBody>
      </p:sp>
      <p:sp>
        <p:nvSpPr>
          <p:cNvPr id="26" name="TextBox 25"/>
          <p:cNvSpPr txBox="1"/>
          <p:nvPr/>
        </p:nvSpPr>
        <p:spPr>
          <a:xfrm>
            <a:off x="16706088" y="3566160"/>
            <a:ext cx="5897880" cy="640080"/>
          </a:xfrm>
          <a:prstGeom prst="rect">
            <a:avLst/>
          </a:prstGeom>
          <a:noFill/>
        </p:spPr>
        <p:txBody>
          <a:bodyPr wrap="square" lIns="0" rIns="0" tIns="0" bIns="0">
            <a:spAutoFit/>
          </a:bodyPr>
          <a:lstStyle/>
          <a:p>
            <a:pPr algn="l"/>
            <a:r>
              <a:rPr sz="2300" b="1">
                <a:solidFill>
                  <a:srgbClr val="15263F"/>
                </a:solidFill>
                <a:latin typeface="Helvetica Neue"/>
              </a:rPr>
              <a:t>Tercih verisi</a:t>
            </a:r>
          </a:p>
        </p:txBody>
      </p:sp>
      <p:sp>
        <p:nvSpPr>
          <p:cNvPr id="27" name="Rectangle 26"/>
          <p:cNvSpPr/>
          <p:nvPr/>
        </p:nvSpPr>
        <p:spPr>
          <a:xfrm>
            <a:off x="16706088" y="4343400"/>
            <a:ext cx="5897880" cy="30632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6934688" y="4553712"/>
            <a:ext cx="5440680" cy="2697480"/>
          </a:xfrm>
          <a:prstGeom prst="rect">
            <a:avLst/>
          </a:prstGeom>
          <a:noFill/>
        </p:spPr>
        <p:txBody>
          <a:bodyPr wrap="square" lIns="0" rIns="0" tIns="0" bIns="0">
            <a:spAutoFit/>
          </a:bodyPr>
          <a:lstStyle/>
          <a:p>
            <a:pPr algn="l">
              <a:lnSpc>
                <a:spcPct val="130000"/>
              </a:lnSpc>
              <a:spcAft>
                <a:spcPts val="0"/>
              </a:spcAft>
            </a:pPr>
            <a:r>
              <a:rPr sz="1400" b="0">
                <a:solidFill>
                  <a:srgbClr val="1A1A1A"/>
                </a:solidFill>
                <a:latin typeface="Consolas"/>
              </a:rPr>
              <a:t>{</a:t>
            </a:r>
          </a:p>
          <a:p>
            <a:pPr algn="l">
              <a:lnSpc>
                <a:spcPct val="130000"/>
              </a:lnSpc>
            </a:pPr>
            <a:r>
              <a:rPr sz="1400" b="0">
                <a:solidFill>
                  <a:srgbClr val="1A1A1A"/>
                </a:solidFill>
                <a:latin typeface="Consolas"/>
              </a:rPr>
              <a:t>  "prompt"  : "Data Scientist Path'i özetle",</a:t>
            </a:r>
          </a:p>
          <a:p>
            <a:pPr algn="l">
              <a:lnSpc>
                <a:spcPct val="130000"/>
              </a:lnSpc>
            </a:pPr>
            <a:r>
              <a:rPr sz="1400" b="0">
                <a:solidFill>
                  <a:srgbClr val="1A1A1A"/>
                </a:solidFill>
                <a:latin typeface="Consolas"/>
              </a:rPr>
              <a:t>  "chosen"  : "68 saat, 9 modül, 300 USD.</a:t>
            </a:r>
          </a:p>
          <a:p>
            <a:pPr algn="l">
              <a:lnSpc>
                <a:spcPct val="130000"/>
              </a:lnSpc>
            </a:pPr>
            <a:r>
              <a:rPr sz="1400" b="0">
                <a:solidFill>
                  <a:srgbClr val="1A1A1A"/>
                </a:solidFill>
                <a:latin typeface="Consolas"/>
              </a:rPr>
              <a:t>               Kaynak: katalog, Eğitim 44.",</a:t>
            </a:r>
          </a:p>
          <a:p>
            <a:pPr algn="l">
              <a:lnSpc>
                <a:spcPct val="130000"/>
              </a:lnSpc>
            </a:pPr>
            <a:r>
              <a:rPr sz="1400" b="0">
                <a:solidFill>
                  <a:srgbClr val="1A1A1A"/>
                </a:solidFill>
                <a:latin typeface="Consolas"/>
              </a:rPr>
              <a:t>  "rejected": "Sanırım 40 saat civarı,</a:t>
            </a:r>
          </a:p>
          <a:p>
            <a:pPr algn="l">
              <a:lnSpc>
                <a:spcPct val="130000"/>
              </a:lnSpc>
            </a:pPr>
            <a:r>
              <a:rPr sz="1400" b="0">
                <a:solidFill>
                  <a:srgbClr val="1A1A1A"/>
                </a:solidFill>
                <a:latin typeface="Consolas"/>
              </a:rPr>
              <a:t>               fiyatını tam bilmiyorum."</a:t>
            </a:r>
          </a:p>
          <a:p>
            <a:pPr algn="l">
              <a:lnSpc>
                <a:spcPct val="130000"/>
              </a:lnSpc>
            </a:pPr>
            <a:r>
              <a:rPr sz="1400" b="0">
                <a:solidFill>
                  <a:srgbClr val="1A1A1A"/>
                </a:solidFill>
                <a:latin typeface="Consolas"/>
              </a:rPr>
              <a:t>}</a:t>
            </a:r>
          </a:p>
        </p:txBody>
      </p:sp>
      <p:sp>
        <p:nvSpPr>
          <p:cNvPr id="29" name="TextBox 28"/>
          <p:cNvSpPr txBox="1"/>
          <p:nvPr/>
        </p:nvSpPr>
        <p:spPr>
          <a:xfrm>
            <a:off x="16706088" y="7680960"/>
            <a:ext cx="5897880" cy="1554480"/>
          </a:xfrm>
          <a:prstGeom prst="rect">
            <a:avLst/>
          </a:prstGeom>
          <a:noFill/>
        </p:spPr>
        <p:txBody>
          <a:bodyPr wrap="square" lIns="0" rIns="0" tIns="0" bIns="0">
            <a:spAutoFit/>
          </a:bodyPr>
          <a:lstStyle/>
          <a:p>
            <a:pPr algn="l">
              <a:lnSpc>
                <a:spcPct val="135000"/>
              </a:lnSpc>
            </a:pPr>
            <a:r>
              <a:rPr sz="1800" b="0">
                <a:solidFill>
                  <a:srgbClr val="1A1A1A"/>
                </a:solidFill>
                <a:latin typeface="Helvetica Neue"/>
              </a:rPr>
              <a:t>Doğru / yanlış yok — tercih edilen ve edilmeyen var.</a:t>
            </a:r>
          </a:p>
          <a:p>
            <a:pPr algn="l">
              <a:lnSpc>
                <a:spcPct val="135000"/>
              </a:lnSpc>
            </a:pPr>
            <a:r>
              <a:rPr sz="1800" b="0">
                <a:solidFill>
                  <a:srgbClr val="1A1A1A"/>
                </a:solidFill>
                <a:latin typeface="Helvetica Neue"/>
              </a:rPr>
              <a:t>Seçimi insan yapıyor.</a:t>
            </a:r>
          </a:p>
        </p:txBody>
      </p:sp>
      <p:cxnSp>
        <p:nvCxnSpPr>
          <p:cNvPr id="30" name="Connector 29"/>
          <p:cNvCxnSpPr/>
          <p:nvPr/>
        </p:nvCxnSpPr>
        <p:spPr>
          <a:xfrm>
            <a:off x="16706088" y="9464040"/>
            <a:ext cx="5897880" cy="0"/>
          </a:xfrm>
          <a:prstGeom prst="line">
            <a:avLst/>
          </a:prstGeom>
          <a:ln w="12700">
            <a:solidFill>
              <a:srgbClr val="D5D5D5"/>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6706088" y="9692640"/>
            <a:ext cx="5897880" cy="411480"/>
          </a:xfrm>
          <a:prstGeom prst="rect">
            <a:avLst/>
          </a:prstGeom>
          <a:noFill/>
        </p:spPr>
        <p:txBody>
          <a:bodyPr wrap="square" lIns="0" rIns="0" tIns="0" bIns="0">
            <a:spAutoFit/>
          </a:bodyPr>
          <a:lstStyle/>
          <a:p>
            <a:pPr algn="l"/>
            <a:r>
              <a:rPr sz="1600" b="1">
                <a:solidFill>
                  <a:srgbClr val="8A8A8A"/>
                </a:solidFill>
                <a:latin typeface="Helvetica Neue"/>
              </a:rPr>
              <a:t>HACİM</a:t>
            </a:r>
          </a:p>
        </p:txBody>
      </p:sp>
      <p:sp>
        <p:nvSpPr>
          <p:cNvPr id="32" name="TextBox 31"/>
          <p:cNvSpPr txBox="1"/>
          <p:nvPr/>
        </p:nvSpPr>
        <p:spPr>
          <a:xfrm>
            <a:off x="16706088" y="10149840"/>
            <a:ext cx="5897880" cy="731520"/>
          </a:xfrm>
          <a:prstGeom prst="rect">
            <a:avLst/>
          </a:prstGeom>
          <a:noFill/>
        </p:spPr>
        <p:txBody>
          <a:bodyPr wrap="square" lIns="0" rIns="0" tIns="0" bIns="0">
            <a:spAutoFit/>
          </a:bodyPr>
          <a:lstStyle/>
          <a:p>
            <a:pPr algn="l"/>
            <a:r>
              <a:rPr sz="2200" b="1">
                <a:solidFill>
                  <a:srgbClr val="15263F"/>
                </a:solidFill>
                <a:latin typeface="Helvetica Neue"/>
              </a:rPr>
              <a:t>on binler karşılaştırma</a:t>
            </a:r>
          </a:p>
        </p:txBody>
      </p:sp>
      <p:sp>
        <p:nvSpPr>
          <p:cNvPr id="33" name="Rectangle 32"/>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011680" y="11521440"/>
            <a:ext cx="20363688" cy="128016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Modelin bildiği her şeyin neredeyse tamamı </a:t>
            </a:r>
            <a:r>
              <a:rPr sz="2400" b="1">
                <a:solidFill>
                  <a:srgbClr val="15263F"/>
                </a:solidFill>
                <a:latin typeface="Helvetica Neue"/>
              </a:rPr>
              <a:t>ilk sütundan geliyor.</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2" sz="quarter"/>
          </p:nvPr>
        </p:nvSpPr>
        <p:spPr/>
        <p:txBody>
          <a:bodyPr/>
          <a:lstStyle/>
          <a:p>
            <a:r>
              <a:rPr sz="3200">
                <a:solidFill>
                  <a:srgbClr val="1A1A1A"/>
                </a:solidFill>
                <a:latin typeface="Helvetica Neue"/>
              </a:rPr>
              <a:t>İnce ayarda ne değişiyor, neye hiç dokunulmuyor?</a:t>
            </a:r>
          </a:p>
        </p:txBody>
      </p:sp>
      <p:sp>
        <p:nvSpPr>
          <p:cNvPr id="3" name="Rounded Rectangle 2"/>
          <p:cNvSpPr/>
          <p:nvPr/>
        </p:nvSpPr>
        <p:spPr>
          <a:xfrm>
            <a:off x="1280160" y="2926080"/>
            <a:ext cx="10625328" cy="3840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057400" y="4320540"/>
            <a:ext cx="1051560" cy="10515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057400" y="4530852"/>
            <a:ext cx="1051560" cy="640080"/>
          </a:xfrm>
          <a:prstGeom prst="rect">
            <a:avLst/>
          </a:prstGeom>
          <a:noFill/>
        </p:spPr>
        <p:txBody>
          <a:bodyPr wrap="square" lIns="0" rIns="0" tIns="0" bIns="0">
            <a:spAutoFit/>
          </a:bodyPr>
          <a:lstStyle/>
          <a:p>
            <a:pPr algn="ctr"/>
            <a:r>
              <a:rPr sz="3200" b="1">
                <a:solidFill>
                  <a:srgbClr val="FFFFFF"/>
                </a:solidFill>
                <a:latin typeface="Helvetica Neue"/>
              </a:rPr>
              <a:t>1</a:t>
            </a:r>
          </a:p>
        </p:txBody>
      </p:sp>
      <p:sp>
        <p:nvSpPr>
          <p:cNvPr id="6" name="TextBox 5"/>
          <p:cNvSpPr txBox="1"/>
          <p:nvPr/>
        </p:nvSpPr>
        <p:spPr>
          <a:xfrm>
            <a:off x="3520440" y="3474720"/>
            <a:ext cx="7699248" cy="2743200"/>
          </a:xfrm>
          <a:prstGeom prst="rect">
            <a:avLst/>
          </a:prstGeom>
          <a:noFill/>
        </p:spPr>
        <p:txBody>
          <a:bodyPr wrap="square" lIns="0" rIns="0" tIns="0" bIns="0" anchor="ctr">
            <a:spAutoFit/>
          </a:bodyPr>
          <a:lstStyle/>
          <a:p>
            <a:pPr algn="l">
              <a:lnSpc>
                <a:spcPct val="130000"/>
              </a:lnSpc>
            </a:pPr>
            <a:r>
              <a:rPr sz="2700" b="1">
                <a:solidFill>
                  <a:srgbClr val="1A1A1A"/>
                </a:solidFill>
                <a:latin typeface="Helvetica Neue"/>
              </a:rPr>
              <a:t>Mimari değişiyor mu?</a:t>
            </a:r>
          </a:p>
          <a:p>
            <a:pPr algn="l">
              <a:lnSpc>
                <a:spcPct val="130000"/>
              </a:lnSpc>
            </a:pPr>
            <a:r>
              <a:rPr sz="2700" b="1">
                <a:solidFill>
                  <a:srgbClr val="1A1A1A"/>
                </a:solidFill>
                <a:latin typeface="Helvetica Neue"/>
              </a:rPr>
              <a:t>Katman ya da head sayısı artıyor mu?</a:t>
            </a:r>
          </a:p>
        </p:txBody>
      </p:sp>
      <p:sp>
        <p:nvSpPr>
          <p:cNvPr id="7" name="Rounded Rectangle 6"/>
          <p:cNvSpPr/>
          <p:nvPr/>
        </p:nvSpPr>
        <p:spPr>
          <a:xfrm>
            <a:off x="12481560" y="2926080"/>
            <a:ext cx="10625328" cy="3840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3258800" y="4320540"/>
            <a:ext cx="1051560" cy="10515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258800" y="4530852"/>
            <a:ext cx="1051560" cy="640080"/>
          </a:xfrm>
          <a:prstGeom prst="rect">
            <a:avLst/>
          </a:prstGeom>
          <a:noFill/>
        </p:spPr>
        <p:txBody>
          <a:bodyPr wrap="square" lIns="0" rIns="0" tIns="0" bIns="0">
            <a:spAutoFit/>
          </a:bodyPr>
          <a:lstStyle/>
          <a:p>
            <a:pPr algn="ctr"/>
            <a:r>
              <a:rPr sz="3200" b="1">
                <a:solidFill>
                  <a:srgbClr val="FFFFFF"/>
                </a:solidFill>
                <a:latin typeface="Helvetica Neue"/>
              </a:rPr>
              <a:t>2</a:t>
            </a:r>
          </a:p>
        </p:txBody>
      </p:sp>
      <p:sp>
        <p:nvSpPr>
          <p:cNvPr id="10" name="TextBox 9"/>
          <p:cNvSpPr txBox="1"/>
          <p:nvPr/>
        </p:nvSpPr>
        <p:spPr>
          <a:xfrm>
            <a:off x="14721840" y="3474720"/>
            <a:ext cx="7699248" cy="2743200"/>
          </a:xfrm>
          <a:prstGeom prst="rect">
            <a:avLst/>
          </a:prstGeom>
          <a:noFill/>
        </p:spPr>
        <p:txBody>
          <a:bodyPr wrap="square" lIns="0" rIns="0" tIns="0" bIns="0" anchor="ctr">
            <a:spAutoFit/>
          </a:bodyPr>
          <a:lstStyle/>
          <a:p>
            <a:pPr algn="l">
              <a:lnSpc>
                <a:spcPct val="130000"/>
              </a:lnSpc>
            </a:pPr>
            <a:r>
              <a:rPr sz="2700" b="1">
                <a:solidFill>
                  <a:srgbClr val="1A1A1A"/>
                </a:solidFill>
                <a:latin typeface="Helvetica Neue"/>
              </a:rPr>
              <a:t>Tokenizer yeniden eğitiliyor mu?</a:t>
            </a:r>
          </a:p>
        </p:txBody>
      </p:sp>
      <p:sp>
        <p:nvSpPr>
          <p:cNvPr id="11" name="Rounded Rectangle 10"/>
          <p:cNvSpPr/>
          <p:nvPr/>
        </p:nvSpPr>
        <p:spPr>
          <a:xfrm>
            <a:off x="1280160" y="7223760"/>
            <a:ext cx="10625328" cy="3840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057400" y="8618220"/>
            <a:ext cx="1051560" cy="10515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057400" y="8828532"/>
            <a:ext cx="1051560" cy="640080"/>
          </a:xfrm>
          <a:prstGeom prst="rect">
            <a:avLst/>
          </a:prstGeom>
          <a:noFill/>
        </p:spPr>
        <p:txBody>
          <a:bodyPr wrap="square" lIns="0" rIns="0" tIns="0" bIns="0">
            <a:spAutoFit/>
          </a:bodyPr>
          <a:lstStyle/>
          <a:p>
            <a:pPr algn="ctr"/>
            <a:r>
              <a:rPr sz="3200" b="1">
                <a:solidFill>
                  <a:srgbClr val="FFFFFF"/>
                </a:solidFill>
                <a:latin typeface="Helvetica Neue"/>
              </a:rPr>
              <a:t>3</a:t>
            </a:r>
          </a:p>
        </p:txBody>
      </p:sp>
      <p:sp>
        <p:nvSpPr>
          <p:cNvPr id="14" name="TextBox 13"/>
          <p:cNvSpPr txBox="1"/>
          <p:nvPr/>
        </p:nvSpPr>
        <p:spPr>
          <a:xfrm>
            <a:off x="3520440" y="7772400"/>
            <a:ext cx="7699248" cy="2743200"/>
          </a:xfrm>
          <a:prstGeom prst="rect">
            <a:avLst/>
          </a:prstGeom>
          <a:noFill/>
        </p:spPr>
        <p:txBody>
          <a:bodyPr wrap="square" lIns="0" rIns="0" tIns="0" bIns="0" anchor="ctr">
            <a:spAutoFit/>
          </a:bodyPr>
          <a:lstStyle/>
          <a:p>
            <a:pPr algn="l">
              <a:lnSpc>
                <a:spcPct val="130000"/>
              </a:lnSpc>
            </a:pPr>
            <a:r>
              <a:rPr sz="2700" b="1">
                <a:solidFill>
                  <a:srgbClr val="1A1A1A"/>
                </a:solidFill>
                <a:latin typeface="Helvetica Neue"/>
              </a:rPr>
              <a:t>Full fine-tuning'de hangi ağırlıklar güncelleniyor?</a:t>
            </a:r>
          </a:p>
        </p:txBody>
      </p:sp>
      <p:sp>
        <p:nvSpPr>
          <p:cNvPr id="15" name="Rounded Rectangle 14"/>
          <p:cNvSpPr/>
          <p:nvPr/>
        </p:nvSpPr>
        <p:spPr>
          <a:xfrm>
            <a:off x="12481560" y="7223760"/>
            <a:ext cx="10625328" cy="38404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0" y="8618220"/>
            <a:ext cx="1051560" cy="1051560"/>
          </a:xfrm>
          <a:prstGeom prst="ellipse">
            <a:avLst/>
          </a:prstGeom>
          <a:solidFill>
            <a:srgbClr val="1526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0" y="8828532"/>
            <a:ext cx="1051560" cy="640080"/>
          </a:xfrm>
          <a:prstGeom prst="rect">
            <a:avLst/>
          </a:prstGeom>
          <a:noFill/>
        </p:spPr>
        <p:txBody>
          <a:bodyPr wrap="square" lIns="0" rIns="0" tIns="0" bIns="0">
            <a:spAutoFit/>
          </a:bodyPr>
          <a:lstStyle/>
          <a:p>
            <a:pPr algn="ctr"/>
            <a:r>
              <a:rPr sz="3200" b="1">
                <a:solidFill>
                  <a:srgbClr val="FFFFFF"/>
                </a:solidFill>
                <a:latin typeface="Helvetica Neue"/>
              </a:rPr>
              <a:t>4</a:t>
            </a:r>
          </a:p>
        </p:txBody>
      </p:sp>
      <p:sp>
        <p:nvSpPr>
          <p:cNvPr id="18" name="TextBox 17"/>
          <p:cNvSpPr txBox="1"/>
          <p:nvPr/>
        </p:nvSpPr>
        <p:spPr>
          <a:xfrm>
            <a:off x="14721840" y="7772400"/>
            <a:ext cx="7699248" cy="2743200"/>
          </a:xfrm>
          <a:prstGeom prst="rect">
            <a:avLst/>
          </a:prstGeom>
          <a:noFill/>
        </p:spPr>
        <p:txBody>
          <a:bodyPr wrap="square" lIns="0" rIns="0" tIns="0" bIns="0" anchor="ctr">
            <a:spAutoFit/>
          </a:bodyPr>
          <a:lstStyle/>
          <a:p>
            <a:pPr algn="l">
              <a:lnSpc>
                <a:spcPct val="130000"/>
              </a:lnSpc>
            </a:pPr>
            <a:r>
              <a:rPr sz="2700" b="1">
                <a:solidFill>
                  <a:srgbClr val="1A1A1A"/>
                </a:solidFill>
                <a:latin typeface="Helvetica Neue"/>
              </a:rPr>
              <a:t>LoRA'da ne oluyor?</a:t>
            </a:r>
          </a:p>
          <a:p>
            <a:pPr algn="l">
              <a:lnSpc>
                <a:spcPct val="130000"/>
              </a:lnSpc>
            </a:pPr>
            <a:r>
              <a:rPr sz="2700" b="1">
                <a:solidFill>
                  <a:srgbClr val="1A1A1A"/>
                </a:solidFill>
                <a:latin typeface="Helvetica Neue"/>
              </a:rPr>
              <a:t>Hangi ağırlıklara hiç dokunulmuyor?</a:t>
            </a:r>
          </a:p>
        </p:txBody>
      </p:sp>
      <p:sp>
        <p:nvSpPr>
          <p:cNvPr id="19" name="Rectangle 18"/>
          <p:cNvSpPr/>
          <p:nvPr/>
        </p:nvSpPr>
        <p:spPr>
          <a:xfrm>
            <a:off x="1280160" y="11521440"/>
            <a:ext cx="21826728" cy="1280160"/>
          </a:xfrm>
          <a:prstGeom prst="rect">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1680" y="11521440"/>
            <a:ext cx="20363688" cy="1280160"/>
          </a:xfrm>
          <a:prstGeom prst="rect">
            <a:avLst/>
          </a:prstGeom>
          <a:noFill/>
        </p:spPr>
        <p:txBody>
          <a:bodyPr wrap="square" lIns="0" rIns="0" tIns="0" bIns="0" anchor="ctr">
            <a:spAutoFit/>
          </a:bodyPr>
          <a:lstStyle/>
          <a:p>
            <a:pPr algn="ctr">
              <a:lnSpc>
                <a:spcPct val="120000"/>
              </a:lnSpc>
            </a:pPr>
            <a:r>
              <a:rPr sz="2400" b="0">
                <a:solidFill>
                  <a:srgbClr val="15263F"/>
                </a:solidFill>
                <a:latin typeface="Helvetica Neue"/>
              </a:rPr>
              <a:t>İnce ayar bilgi öğretmez — </a:t>
            </a:r>
            <a:r>
              <a:rPr sz="2400" b="1">
                <a:solidFill>
                  <a:srgbClr val="15263F"/>
                </a:solidFill>
                <a:latin typeface="Helvetica Neue"/>
              </a:rPr>
              <a:t>davranış öğretir.</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Yer Tutucusu 1">
            <a:extLst>
              <a:ext uri="{FF2B5EF4-FFF2-40B4-BE49-F238E27FC236}">
                <a16:creationId xmlns:a16="http://schemas.microsoft.com/office/drawing/2014/main" id="{017A0868-D031-F8E5-7CAB-27ACF49E7EC1}"/>
              </a:ext>
            </a:extLst>
          </p:cNvPr>
          <p:cNvSpPr>
            <a:spLocks noGrp="1"/>
          </p:cNvSpPr>
          <p:nvPr>
            <p:ph type="body" sz="quarter" idx="22"/>
          </p:nvPr>
        </p:nvSpPr>
        <p:spPr/>
        <p:txBody>
          <a:bodyPr/>
          <a:lstStyle/>
          <a:p>
            <a:r>
              <a:rPr lang="tr-TR" dirty="0" err="1"/>
              <a:t>Taming</a:t>
            </a:r>
            <a:r>
              <a:rPr lang="tr-TR" dirty="0"/>
              <a:t> </a:t>
            </a:r>
            <a:r>
              <a:rPr lang="tr-TR" dirty="0" err="1"/>
              <a:t>The</a:t>
            </a:r>
            <a:r>
              <a:rPr lang="tr-TR" dirty="0"/>
              <a:t> Monster</a:t>
            </a:r>
          </a:p>
        </p:txBody>
      </p:sp>
      <p:pic>
        <p:nvPicPr>
          <p:cNvPr id="4" name="Resim 3">
            <a:extLst>
              <a:ext uri="{FF2B5EF4-FFF2-40B4-BE49-F238E27FC236}">
                <a16:creationId xmlns:a16="http://schemas.microsoft.com/office/drawing/2014/main" id="{EDB3E636-49EE-8974-BCA5-2AE11ACC3514}"/>
              </a:ext>
            </a:extLst>
          </p:cNvPr>
          <p:cNvPicPr>
            <a:picLocks noChangeAspect="1"/>
          </p:cNvPicPr>
          <p:nvPr/>
        </p:nvPicPr>
        <p:blipFill>
          <a:blip r:embed="rId3"/>
          <a:stretch>
            <a:fillRect/>
          </a:stretch>
        </p:blipFill>
        <p:spPr>
          <a:xfrm>
            <a:off x="1049411" y="1882456"/>
            <a:ext cx="21974712" cy="11752220"/>
          </a:xfrm>
          <a:prstGeom prst="rect">
            <a:avLst/>
          </a:prstGeom>
        </p:spPr>
      </p:pic>
    </p:spTree>
    <p:extLst>
      <p:ext uri="{BB962C8B-B14F-4D97-AF65-F5344CB8AC3E}">
        <p14:creationId xmlns:p14="http://schemas.microsoft.com/office/powerpoint/2010/main" val="4114120570"/>
      </p:ext>
    </p:extLst>
  </p:cSld>
  <p:clrMapOvr>
    <a:masterClrMapping/>
  </p:clrMapOvr>
  <p:transition spd="med"/>
</p:sld>
</file>

<file path=ppt/theme/theme1.xml><?xml version="1.0" encoding="utf-8"?>
<a:theme xmlns:a="http://schemas.openxmlformats.org/drawingml/2006/main" name="Eğitim Adı">
  <a:themeElements>
    <a:clrScheme name="Miuul Renk Paleti">
      <a:dk1>
        <a:srgbClr val="5E5E5E"/>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Presentation2" id="{888531EB-B80A-DC4E-87AD-AD8478769648}" vid="{6D0E7461-0100-8046-8FFF-5C1D91E67DDD}"/>
    </a:ext>
  </a:ext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2438338"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5E5E5E"/>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1A34E06-6EF4-0747-BE1A-750CADD77380}">
  <we:reference id="wa200007130" version="1.0.0.1" store="en-GB"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Eğitim Adı</Template>
  <TotalTime>36958</TotalTime>
  <Words>8517</Words>
  <Application>Microsoft Office PowerPoint</Application>
  <PresentationFormat>Özel</PresentationFormat>
  <Paragraphs>1956</Paragraphs>
  <Slides>87</Slides>
  <Notes>78</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87</vt:i4>
      </vt:variant>
    </vt:vector>
  </HeadingPairs>
  <TitlesOfParts>
    <vt:vector size="92" baseType="lpstr">
      <vt:lpstr>Chromatica</vt:lpstr>
      <vt:lpstr>Chromatica Medium</vt:lpstr>
      <vt:lpstr>Helvetica Neue</vt:lpstr>
      <vt:lpstr>Helvetica Neue Medium</vt:lpstr>
      <vt:lpstr>Eğitim Adı</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Veri Bilimciler için Python Programlama</dc:title>
  <dc:creator>oytun@miuul.com</dc:creator>
  <cp:lastModifiedBy>Veysel GORKEN</cp:lastModifiedBy>
  <cp:revision>912</cp:revision>
  <cp:lastPrinted>2026-07-16T05:32:25Z</cp:lastPrinted>
  <dcterms:created xsi:type="dcterms:W3CDTF">2021-05-22T14:24:12Z</dcterms:created>
  <dcterms:modified xsi:type="dcterms:W3CDTF">2026-08-23T22:46:07Z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aa6781e-fd15-4a75-92c1-1621a66939fe_Enabled">
    <vt:lpwstr>true</vt:lpwstr>
  </property>
  <property fmtid="{D5CDD505-2E9C-101B-9397-08002B2CF9AE}" pid="3" name="MSIP_Label_caa6781e-fd15-4a75-92c1-1621a66939fe_SetDate">
    <vt:lpwstr>2026-08-03T13:20:08Z</vt:lpwstr>
  </property>
  <property fmtid="{D5CDD505-2E9C-101B-9397-08002B2CF9AE}" pid="4" name="MSIP_Label_caa6781e-fd15-4a75-92c1-1621a66939fe_Method">
    <vt:lpwstr>Standard</vt:lpwstr>
  </property>
  <property fmtid="{D5CDD505-2E9C-101B-9397-08002B2CF9AE}" pid="5" name="MSIP_Label_caa6781e-fd15-4a75-92c1-1621a66939fe_Name">
    <vt:lpwstr>Internal</vt:lpwstr>
  </property>
  <property fmtid="{D5CDD505-2E9C-101B-9397-08002B2CF9AE}" pid="6" name="MSIP_Label_caa6781e-fd15-4a75-92c1-1621a66939fe_SiteId">
    <vt:lpwstr>9125c4fe-bdb3-4367-a98f-040efd278531</vt:lpwstr>
  </property>
  <property fmtid="{D5CDD505-2E9C-101B-9397-08002B2CF9AE}" pid="7" name="MSIP_Label_caa6781e-fd15-4a75-92c1-1621a66939fe_ActionId">
    <vt:lpwstr>44a5bbbe-bb31-4696-b358-107658b30da5</vt:lpwstr>
  </property>
  <property fmtid="{D5CDD505-2E9C-101B-9397-08002B2CF9AE}" pid="8" name="MSIP_Label_caa6781e-fd15-4a75-92c1-1621a66939fe_ContentBits">
    <vt:lpwstr>0</vt:lpwstr>
  </property>
  <property fmtid="{D5CDD505-2E9C-101B-9397-08002B2CF9AE}" pid="9" name="MSIP_Label_caa6781e-fd15-4a75-92c1-1621a66939fe_Tag">
    <vt:lpwstr>10, 3, 0, 1</vt:lpwstr>
  </property>
</Properties>
</file>